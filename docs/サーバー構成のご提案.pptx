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4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4224528"/>
            <a:ext cx="13716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C7CDD8"/>
                </a:solidFill>
                <a:latin typeface="Meiryo"/>
              </a:rPr>
              <a:t>相続プラットフォーム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サーバー構成のご提案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0">
                <a:solidFill>
                  <a:srgbClr val="C7CDD8"/>
                </a:solidFill>
                <a:latin typeface="Meiryo"/>
              </a:rPr>
              <a:t>新規サーバー契約のご提案／システム構成／安全性／費用試算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ご提案（結論）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既存サーバーではなく、新規にサーバーを契約して構築することをご提案します。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3529584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9385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Meiry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0428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1">
                <a:solidFill>
                  <a:srgbClr val="141A33"/>
                </a:solidFill>
                <a:latin typeface="Meiryo"/>
              </a:rPr>
              <a:t>手間が少ない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89504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既存サーバーは別のシステム会社様の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管理下にあり、設定変更や障害対応の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都度、依頼と調整が発生します。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新規契約なら当方で即時に対応でき、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開発スピードが落ちません。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4256" y="1600200"/>
            <a:ext cx="3529584" cy="82296"/>
          </a:xfrm>
          <a:prstGeom prst="rect">
            <a:avLst/>
          </a:prstGeom>
          <a:solidFill>
            <a:srgbClr val="1F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6864" y="19385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F5E4B"/>
                </a:solidFill>
                <a:latin typeface="Meiry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30428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1">
                <a:solidFill>
                  <a:srgbClr val="141A33"/>
                </a:solidFill>
                <a:latin typeface="Meiryo"/>
              </a:rPr>
              <a:t>料金は変わらない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889504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クラウドは基本料金がなく「使った分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だけ」の従量課金です。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そのため既存サーバーを使っても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新規で契約しても、同じ使い方なら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料金はほぼ変わりません。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600200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600200"/>
            <a:ext cx="3529584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19385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E2761"/>
                </a:solidFill>
                <a:latin typeface="Meiry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30428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1">
                <a:solidFill>
                  <a:srgbClr val="141A33"/>
                </a:solidFill>
                <a:latin typeface="Meiryo"/>
              </a:rPr>
              <a:t>安全性も担保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889504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国内（東京）でのデータ保管、通信の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暗号化、権限による閲覧制御に対応。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AIに送るデータが学習に使われること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はありません。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安全性は既存と同等以上です。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96128"/>
            <a:ext cx="11073384" cy="6583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77900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41A33"/>
                </a:solidFill>
                <a:latin typeface="Meiryo"/>
              </a:rPr>
              <a:t>お支払いは、当初は当方のカードで開始し、後日 御社のクレジットカードへ切り替え可能です。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システム構成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システムは「アプリ本体」「データベース」「AI・OCR」の3つの部品で構成されます。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6583680" cy="3246120"/>
          </a:xfrm>
          <a:prstGeom prst="roundRect">
            <a:avLst>
              <a:gd name="adj" fmla="val 6000"/>
            </a:avLst>
          </a:prstGeom>
          <a:solidFill>
            <a:srgbClr val="F2F4FB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Meiryo"/>
              </a:rPr>
              <a:t>Azure（Microsoft）　※今回 新規契約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67712"/>
            <a:ext cx="2971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51460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41A33"/>
                </a:solidFill>
                <a:latin typeface="Meiryo"/>
              </a:rPr>
              <a:t>アプリ本体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26080"/>
            <a:ext cx="2514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画面を表示して動かす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本体。社員が実際に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触る部分。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endParaRPr sz="1150" b="0">
              <a:solidFill>
                <a:srgbClr val="6B7280"/>
              </a:solidFill>
              <a:latin typeface="Meiryo"/>
            </a:endParaRP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現在：Render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267712"/>
            <a:ext cx="28803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251460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41A33"/>
                </a:solidFill>
                <a:latin typeface="Meiryo"/>
              </a:rPr>
              <a:t>AI・OCR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926080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戸籍の読み取りと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書類の自動作成。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Claude を使用。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endParaRPr sz="1150" b="0">
              <a:solidFill>
                <a:srgbClr val="6B7280"/>
              </a:solidFill>
              <a:latin typeface="Meiryo"/>
            </a:endParaRP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現在：米国／今後：Azure内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3246120"/>
            <a:ext cx="566928" cy="45720"/>
          </a:xfrm>
          <a:prstGeom prst="rect">
            <a:avLst/>
          </a:prstGeom>
          <a:solidFill>
            <a:srgbClr val="C7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36992" y="1572768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F2F8F6"/>
          </a:solidFill>
          <a:ln w="12700">
            <a:solidFill>
              <a:srgbClr val="1F5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F5E4B"/>
                </a:solidFill>
                <a:latin typeface="Meiryo"/>
              </a:rPr>
              <a:t>Supabase（東京リージョン）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67712"/>
            <a:ext cx="31089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251460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41A33"/>
                </a:solidFill>
                <a:latin typeface="Meiryo"/>
              </a:rPr>
              <a:t>データベース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92608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案件・依頼者情報を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保管する倉庫。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ログイン管理と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ファイル保管も担当。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endParaRPr sz="1150" b="0">
              <a:solidFill>
                <a:srgbClr val="6B7280"/>
              </a:solidFill>
              <a:latin typeface="Meiryo"/>
            </a:endParaRP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現在のまま変更なし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4920"/>
            <a:ext cx="11073384" cy="120700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285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>
                <a:solidFill>
                  <a:srgbClr val="141A33"/>
                </a:solidFill>
                <a:latin typeface="Meiryo"/>
              </a:rPr>
              <a:t>今回 Azure に新しく置くのは「アプリ本体」と「AI・OCR」の2つです。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>
                <a:solidFill>
                  <a:srgbClr val="141A33"/>
                </a:solidFill>
                <a:latin typeface="Meiryo"/>
              </a:rPr>
              <a:t>データベースは現在の Supabase（東京リージョン＝国内保管）をそのまま利用するため、移行作業は発生しません。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なぜ「新規契約」なのか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料金は同じため、判断のポイントは「管理のしやすさ」と「対応スピード」です。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Meiryo"/>
              </a:rPr>
              <a:t>比較の観点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536192"/>
            <a:ext cx="3931920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0" y="16459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>
                <a:solidFill>
                  <a:srgbClr val="6B7280"/>
                </a:solidFill>
                <a:latin typeface="Meiryo"/>
              </a:rPr>
              <a:t>既存サーバーを利用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536192"/>
            <a:ext cx="3931920" cy="502920"/>
          </a:xfrm>
          <a:prstGeom prst="roundRect">
            <a:avLst>
              <a:gd name="adj" fmla="val 6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>
                <a:solidFill>
                  <a:srgbClr val="4F46E5"/>
                </a:solidFill>
                <a:latin typeface="Meiryo"/>
              </a:rPr>
              <a:t>新規で契約（ご提案）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128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41A33"/>
                </a:solidFill>
                <a:latin typeface="Meiryo"/>
              </a:rPr>
              <a:t>料金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128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従量課金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128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同じ（従量課金）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862072"/>
            <a:ext cx="11183112" cy="65836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96265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41A33"/>
                </a:solidFill>
                <a:latin typeface="Meiryo"/>
              </a:rPr>
              <a:t>設定変更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962656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他社様へ都度依頼・調整が必要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62656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41A33"/>
                </a:solidFill>
                <a:latin typeface="Meiryo"/>
              </a:rPr>
              <a:t>当方で即時に対応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12463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41A33"/>
                </a:solidFill>
                <a:latin typeface="Meiryo"/>
              </a:rPr>
              <a:t>障害時の対応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12463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連絡と待ち時間が発生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712463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41A33"/>
                </a:solidFill>
                <a:latin typeface="Meiryo"/>
              </a:rPr>
              <a:t>その場で切り分け・復旧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361688"/>
            <a:ext cx="11183112" cy="65836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4622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41A33"/>
                </a:solidFill>
                <a:latin typeface="Meiryo"/>
              </a:rPr>
              <a:t>権限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46227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他社様の管理下で制約あり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46227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41A33"/>
                </a:solidFill>
                <a:latin typeface="Meiryo"/>
              </a:rPr>
              <a:t>必要な権限を自由に設定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212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141A33"/>
                </a:solidFill>
                <a:latin typeface="Meiryo"/>
              </a:rPr>
              <a:t>お支払い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2120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御社アカウントに相乗り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2120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141A33"/>
                </a:solidFill>
                <a:latin typeface="Meiryo"/>
              </a:rPr>
              <a:t>当初は当方 → 御社カードへ切替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925312"/>
            <a:ext cx="11073384" cy="566928"/>
          </a:xfrm>
          <a:prstGeom prst="roundRect">
            <a:avLst>
              <a:gd name="adj" fmla="val 6000"/>
            </a:avLst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60624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4F46E5"/>
                </a:solidFill>
                <a:latin typeface="Meiryo"/>
              </a:rPr>
              <a:t>結論：料金差はありません。新規契約の方が対応が速く、御社側のご負担も少なくなります。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安全性について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新規契約でも、安全性は既存サーバーと同等以上を確保します。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86537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E2761"/>
                </a:solidFill>
                <a:latin typeface="Meiryo"/>
              </a:rPr>
              <a:t>国内保管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267712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50592"/>
            <a:ext cx="30358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データは東京リージョンに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保管。個人情報が海外へ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出ることはありません。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27632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86537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E2761"/>
                </a:solidFill>
                <a:latin typeface="Meiryo"/>
              </a:rPr>
              <a:t>通信の保護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08576" y="2267712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2450592"/>
            <a:ext cx="30358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通信はすべて暗号化。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第三者が内容を読み取る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ことはできません。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27632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5904" y="186537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E2761"/>
                </a:solidFill>
                <a:latin typeface="Meiryo"/>
              </a:rPr>
              <a:t>権限による制御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75904" y="2267712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4" y="2450592"/>
            <a:ext cx="30358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ログイン必須。担当者ごとに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閲覧できる案件をシステム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側で制限しています。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12463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950207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E2761"/>
                </a:solidFill>
                <a:latin typeface="Meiryo"/>
              </a:rPr>
              <a:t>AI利用の安全性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7" y="4352544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535424"/>
            <a:ext cx="30358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AIに送ったデータが学習に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使われることはありません。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処理もAzure内で完結。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3712463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08576" y="3950207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E2761"/>
                </a:solidFill>
                <a:latin typeface="Meiryo"/>
              </a:rPr>
              <a:t>バックアップ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8576" y="4352544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6" y="4535424"/>
            <a:ext cx="30358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自動バックアップと冗長化に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対応。障害時もデータを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保全します。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712463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3950207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>
                <a:solidFill>
                  <a:srgbClr val="1E2761"/>
                </a:solidFill>
                <a:latin typeface="Meiryo"/>
              </a:rPr>
              <a:t>監査・認証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75904" y="4352544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4535424"/>
            <a:ext cx="30358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Azure は国際的なセキュリティ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認証を取得した基盤です。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費用の試算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クラウドは基本料金なしの従量課金です。実際の利用量に応じたお支払いになります。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39496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81051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>
                <a:solidFill>
                  <a:srgbClr val="141A33"/>
                </a:solidFill>
                <a:latin typeface="Meiryo"/>
              </a:rPr>
              <a:t>AI・OCR 利用料（月300回・1回1,000文字）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231136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48716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読み取り（入力）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48716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約90万トークン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8716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約 700円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4436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生成（出力）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94436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約45万トークン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4436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約 1,800円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456432"/>
            <a:ext cx="4846320" cy="18288"/>
          </a:xfrm>
          <a:prstGeom prst="rect">
            <a:avLst/>
          </a:prstGeom>
          <a:solidFill>
            <a:srgbClr val="C7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6118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41A33"/>
                </a:solidFill>
                <a:latin typeface="Meiryo"/>
              </a:rPr>
              <a:t>月額 合計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4787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sz="1900" b="1">
                <a:solidFill>
                  <a:srgbClr val="4F46E5"/>
                </a:solidFill>
                <a:latin typeface="Meiryo"/>
              </a:rPr>
              <a:t>約 2,500円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04164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※多く見積もっても月5,000円以内に収まる想定です。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72768"/>
            <a:ext cx="539496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9672" y="181051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>
                <a:solidFill>
                  <a:srgbClr val="141A33"/>
                </a:solidFill>
                <a:latin typeface="Meiryo"/>
              </a:rPr>
              <a:t>システム全体の月額（目安）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9672" y="2231136"/>
            <a:ext cx="457200" cy="36576"/>
          </a:xfrm>
          <a:prstGeom prst="rect">
            <a:avLst/>
          </a:prstGeom>
          <a:solidFill>
            <a:srgbClr val="1F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アプリ本体（Azure）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4871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3,000 〜 13,000円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9443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AI・OCR（Claude）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9443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約 2,500円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401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データベース（Supabase）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4015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約 4,000円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9672" y="3858768"/>
            <a:ext cx="4846320" cy="18288"/>
          </a:xfrm>
          <a:prstGeom prst="rect">
            <a:avLst/>
          </a:prstGeom>
          <a:solidFill>
            <a:srgbClr val="C7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9672" y="40050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41A33"/>
                </a:solidFill>
                <a:latin typeface="Meiryo"/>
              </a:rPr>
              <a:t>月額 合計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931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sz="1900" b="1">
                <a:solidFill>
                  <a:srgbClr val="1F5E4B"/>
                </a:solidFill>
                <a:latin typeface="Meiryo"/>
              </a:rPr>
              <a:t>約 1万 〜 2万円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617720"/>
            <a:ext cx="11073384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828032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試算の前提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・OCR／AI書類作成：月300回、1回あたり約1,000文字の読み取り・生成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・既存サーバーを利用した場合も同じ従量課金のため、料金差はほぼ発生しません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200" b="0">
                <a:solidFill>
                  <a:srgbClr val="141A33"/>
                </a:solidFill>
                <a:latin typeface="Meiryo"/>
              </a:rPr>
              <a:t>・実際のご利用量が固まった段階で、正式なお見積もりを提出いたします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今後の進め方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ご承認をいただければ、以下の流れで進めます。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2606040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8483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Meiryo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41A33"/>
                </a:solidFill>
                <a:latin typeface="Meiryo"/>
              </a:rPr>
              <a:t>サーバー契約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当方名義でAzureを契約し、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環境を構築します。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8892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000" b="1">
                <a:solidFill>
                  <a:srgbClr val="C7CDD8"/>
                </a:solidFill>
                <a:latin typeface="Meiryo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17830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92424" y="1783080"/>
            <a:ext cx="2606040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8456" y="208483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Meiryo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4505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41A33"/>
                </a:solidFill>
                <a:latin typeface="Meiryo"/>
              </a:rPr>
              <a:t>システム移設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999232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アプリ本体とAI機能を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新サーバーへ移します。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278892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000" b="1">
                <a:solidFill>
                  <a:srgbClr val="C7CDD8"/>
                </a:solidFill>
                <a:latin typeface="Meiryo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830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783080"/>
            <a:ext cx="2606040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08483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Meiryo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4505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41A33"/>
                </a:solidFill>
                <a:latin typeface="Meiryo"/>
              </a:rPr>
              <a:t>動作確認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999232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実際の業務データで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動作と速度を検証します。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78892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000" b="1">
                <a:solidFill>
                  <a:srgbClr val="C7CDD8"/>
                </a:solidFill>
                <a:latin typeface="Meiryo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5" y="17830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43415" y="1783080"/>
            <a:ext cx="2606040" cy="82296"/>
          </a:xfrm>
          <a:prstGeom prst="rect">
            <a:avLst/>
          </a:prstGeom>
          <a:solidFill>
            <a:srgbClr val="1F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9447" y="208483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1F5E4B"/>
                </a:solidFill>
                <a:latin typeface="Meiryo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7" y="24505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41A33"/>
                </a:solidFill>
                <a:latin typeface="Meiryo"/>
              </a:rPr>
              <a:t>カード切替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7" y="2999232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お支払いを御社の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クレジットカードへ変更。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72000"/>
            <a:ext cx="11073384" cy="148132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828032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eiryo"/>
              </a:rPr>
              <a:t>ご確認いただきたい点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eiryo"/>
              </a:rPr>
              <a:t>　保管データについて「必ず御社Azure内に置く」という社内ルールはございますか。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eiryo"/>
              </a:rPr>
              <a:t>　特になければ、現在のSupabase（東京リージョン・国内保管）のまま進めます。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5165</TotalTime>
  <Words>439</Words>
  <Application>Microsoft Office PowerPoint</Application>
  <PresentationFormat>ワイド画面</PresentationFormat>
  <Paragraphs>148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Meiryo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優 福島</cp:lastModifiedBy>
  <cp:revision>1</cp:revision>
  <dcterms:created xsi:type="dcterms:W3CDTF">2013-01-27T09:14:16Z</dcterms:created>
  <dcterms:modified xsi:type="dcterms:W3CDTF">2026-08-09T23:39:43Z</dcterms:modified>
  <cp:category/>
</cp:coreProperties>
</file>