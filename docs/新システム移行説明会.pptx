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70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2F6"/>
    <a:srgbClr val="1B3A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274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479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お集まりいただきありがとうございます。7月6日から新しい業務管理システムのミニマム運用を開始します。本日はその目的・使い方・スケジュール・利用開始方法をご説明します。約1時間、よろしく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本日の流れです。まず『なぜこのシステムに移行するのか』、次に『どう段階的に使っていくか（移行方針）』、そして『スケジュール』『利用開始方法』の順にご説明します。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は、エクセル・手書き・紙が分かれていて、同じことを何度も書き写したり、状況を探すのに時間がかかっています。新システムでは、案件の情報をひとつに集約します。一度入れれば使い回せて、進捗も請求も同じ画面で見えます。目的は皆さんの手間を減らす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大きくは4つ。ひとつに集約する『一元管理』、書き写しをなくす『転記レス』、状況が見える『見える化』、そしてやることを覚えておく『抜け漏れ防止』です。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が機能の全体マップです。青くハイライトしているのが、今回のミニマムで使う機能です。相談案件登録・案件一覧・マイページ・管理担当アサイン・各種請求書、そして任意でAI書類作成。グレーの機能はいったんお休みで、これまで通り各担当で管理し、トライアルを経て約1ヶ月後に解放します。全部を一度に始めず、まず使う範囲を絞る、という考え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1EE6-DC5D-3DCB-D07D-9F4F0201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CDC4E-88C6-8747-7257-36E70F120B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8A391-AC83-E0F2-779A-3DB2B6D0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れが機能の全体マップです。青くハイライトしているのが、今回のミニマムで使う機能です。相談案件登録・案件一覧・マイページ・管理担当アサイン・各種請求書、そして任意でAI書類作成。グレーの機能はいったんお休みで、これまで通り各担当で管理し、トライアルを経て約1ヶ月後に解放します。全部を一度に始めず、まず使う範囲を絞る、という考え方です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F21CC-61E6-1DAF-D628-15B4B9277F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5301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の使い方です。面談結果を登録して案件を作る、管理担当をアサインする、受注になったら前受金請求書を出す、事務管理へ引き継いだら対応中にする、完了したら立替実費を入れて確定請求と立替実費請求書を作る。これだけです。加えて、依頼者と被相続人情報を入れた方は、AIで契約書・委任状・郵送確認票も作れます（任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月6日からミニマム運用を開始します。そこから約1ヶ月トライアルを行い、実際に使いながら課題を洗い出して仕様を調整します。そのうえでフル機能をリリースする予定です。トライアル中に仕様を変える可能性が高いので、フルで使える機能の範囲は変わることがあります、という点はご了承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回アカウントを発行するのは、管理担当・受注担当・LP担当の皆さんです。ID・パスワードとログインURLを、7月6日月曜日の朝までにお送りします。届いたらURLを開いて、IDとパスワードでログインするだけで、すぐに使い始め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についてです。初回はお送りする初期パスワードでログインし、そのあとプロフィール画面から必ずご自分のパスワードに変更してください。もしパスワードを忘れてしまったら、管理者の福島（suguru.fukushima@congen-ai.com）まで連絡ください。こちらで再設定して新しいパスワードをお伝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最初から完璧を目指さず、まず小さく確実に始めます。使ってみて気づいたことは何でも教えてください。トライアル期間で一緒に良いものにしていきましょう。本日はありがとうございました。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8412480" y="4206240"/>
            <a:ext cx="5943600" cy="5943600"/>
          </a:xfrm>
          <a:prstGeom prst="ellipse">
            <a:avLst/>
          </a:prstGeom>
          <a:solidFill>
            <a:srgbClr val="2F58D4">
              <a:alpha val="22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9875520" y="5120640"/>
            <a:ext cx="4114800" cy="4114800"/>
          </a:xfrm>
          <a:prstGeom prst="ellipse">
            <a:avLst/>
          </a:prstGeom>
          <a:solidFill>
            <a:srgbClr val="0092C7">
              <a:alpha val="18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13232" y="685800"/>
            <a:ext cx="2048256" cy="1542288"/>
          </a:xfrm>
          <a:prstGeom prst="roundRect">
            <a:avLst>
              <a:gd name="adj" fmla="val 592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1828800" cy="13594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2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業務管理システム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新システム移行説明会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6868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これまでの管理を、“楽に・確実に”へ。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68680" y="5212080"/>
            <a:ext cx="4297680" cy="685800"/>
          </a:xfrm>
          <a:prstGeom prst="roundRect">
            <a:avLst>
              <a:gd name="adj" fmla="val 1066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1051560" y="52120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ミニマム運用開始  </a:t>
            </a: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2026年7月6日（月）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772400" y="6126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株式会社オーシャン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本日お話しすること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27080" cy="932688"/>
          </a:xfrm>
          <a:prstGeom prst="roundRect">
            <a:avLst>
              <a:gd name="adj" fmla="val 5882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868680" y="1965960"/>
            <a:ext cx="1005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965960" y="2157984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29514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2093976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このシステムが実現すること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743200" y="24688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なぜ移行するのか／何が楽になるのか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3026664"/>
            <a:ext cx="10927080" cy="932688"/>
          </a:xfrm>
          <a:prstGeom prst="roundRect">
            <a:avLst>
              <a:gd name="adj" fmla="val 5882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8"/>
          <p:cNvSpPr/>
          <p:nvPr/>
        </p:nvSpPr>
        <p:spPr>
          <a:xfrm>
            <a:off x="868680" y="3026664"/>
            <a:ext cx="1005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1965960" y="3218688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335584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43200" y="31546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移行方針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2743200" y="3529584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ミニマム運用 → 1ヶ月後のフル機能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4087368"/>
            <a:ext cx="10927080" cy="932688"/>
          </a:xfrm>
          <a:prstGeom prst="roundRect">
            <a:avLst>
              <a:gd name="adj" fmla="val 5882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3"/>
          <p:cNvSpPr/>
          <p:nvPr/>
        </p:nvSpPr>
        <p:spPr>
          <a:xfrm>
            <a:off x="868680" y="4087368"/>
            <a:ext cx="1005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1965960" y="4279392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120" y="441655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743200" y="4215384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スケジュール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2743200" y="459028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7/6 開始とトライアル期間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40080" y="5148072"/>
            <a:ext cx="10927080" cy="932688"/>
          </a:xfrm>
          <a:prstGeom prst="roundRect">
            <a:avLst>
              <a:gd name="adj" fmla="val 5882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8"/>
          <p:cNvSpPr/>
          <p:nvPr/>
        </p:nvSpPr>
        <p:spPr>
          <a:xfrm>
            <a:off x="868680" y="5148072"/>
            <a:ext cx="1005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1965960" y="5340096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0" y="5477256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743200" y="52760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利用開始方法</a:t>
            </a:r>
            <a:endParaRPr lang="en-US" sz="1900" dirty="0"/>
          </a:p>
        </p:txBody>
      </p:sp>
      <p:sp>
        <p:nvSpPr>
          <p:cNvPr id="27" name="Text 21"/>
          <p:cNvSpPr/>
          <p:nvPr/>
        </p:nvSpPr>
        <p:spPr>
          <a:xfrm>
            <a:off x="2743200" y="56509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アカウント発行と初回ログイン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474720"/>
            <a:ext cx="5486400" cy="5486400"/>
          </a:xfrm>
          <a:prstGeom prst="ellipse">
            <a:avLst/>
          </a:prstGeom>
          <a:solidFill>
            <a:srgbClr val="2F58D4">
              <a:alpha val="20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5029200" cy="5029200"/>
          </a:xfrm>
          <a:prstGeom prst="ellipse">
            <a:avLst/>
          </a:prstGeom>
          <a:solidFill>
            <a:srgbClr val="0092C7">
              <a:alpha val="16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FFFFFF">
                    <a:alpha val="18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6868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PURPOSE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このシステムが実現すること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「管理のための作業」を減らし、本来の業務に集中できるように。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92640" y="365760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40416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WHY WE MOVE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なぜ、新しいシステムに移行するのか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0" cy="4480560"/>
          </a:xfrm>
          <a:prstGeom prst="roundRect">
            <a:avLst>
              <a:gd name="adj" fmla="val 1224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960120" y="205740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20370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848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いままで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エクセル・手書き・紙がバラバラ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18211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1089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同じ情報を何度も転記している</a:t>
            </a:r>
            <a:endParaRPr lang="en-US" sz="14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9319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385876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「あの案件どうなってる？」を探すのに時間がかかる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68172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4608576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担当者しか分からず、属人化している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431536"/>
            <a:ext cx="256032" cy="2560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53583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転記ミス・対応の抜け漏れが起きやすい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6519672" y="1783080"/>
            <a:ext cx="5029200" cy="4480560"/>
          </a:xfrm>
          <a:prstGeom prst="roundRect">
            <a:avLst>
              <a:gd name="adj" fmla="val 1224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1"/>
          <p:cNvSpPr/>
          <p:nvPr/>
        </p:nvSpPr>
        <p:spPr>
          <a:xfrm>
            <a:off x="6839712" y="2057400"/>
            <a:ext cx="566928" cy="566928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2203704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571232" y="20848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このシステム</a:t>
            </a:r>
            <a:endParaRPr lang="en-US" sz="2000" dirty="0"/>
          </a:p>
        </p:txBody>
      </p:sp>
      <p:sp>
        <p:nvSpPr>
          <p:cNvPr id="21" name="Text 13"/>
          <p:cNvSpPr/>
          <p:nvPr/>
        </p:nvSpPr>
        <p:spPr>
          <a:xfrm>
            <a:off x="7571232" y="2542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0D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案件情報をひとつの画面に集約</a:t>
            </a:r>
            <a:endParaRPr lang="en-US" sz="125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182112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7296912" y="310896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入力は一度だけ。転記の手間がなくなる</a:t>
            </a:r>
            <a:endParaRPr lang="en-US" sz="14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931920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296912" y="385876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進捗・請求・書類が同じ画面で一目で分かる</a:t>
            </a:r>
            <a:endParaRPr lang="en-US" sz="14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4681728"/>
            <a:ext cx="256032" cy="25603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7296912" y="4608576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誰が見ても状況が分かり、引き継ぎが楽</a:t>
            </a:r>
            <a:endParaRPr lang="en-US" sz="1400" dirty="0"/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5431536"/>
            <a:ext cx="256032" cy="256032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7296912" y="53583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やること・期日が明確で、抜け漏れが減る</a:t>
            </a:r>
            <a:endParaRPr lang="en-US" sz="1400" dirty="0"/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703320"/>
            <a:ext cx="502920" cy="502920"/>
          </a:xfrm>
          <a:prstGeom prst="rect">
            <a:avLst/>
          </a:prstGeom>
        </p:spPr>
      </p:pic>
      <p:sp>
        <p:nvSpPr>
          <p:cNvPr id="31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WHAT IT BRINGS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移行で、こう変わります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70048" cy="35661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472184" y="2377440"/>
            <a:ext cx="1005840" cy="1005840"/>
          </a:xfrm>
          <a:prstGeom prst="ellipse">
            <a:avLst/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6517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56616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一元管理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96112" y="4069080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案件・依頼者・請求・書類をひとつの場所に。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483864" y="1965960"/>
            <a:ext cx="2670048" cy="35661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1005840" cy="1005840"/>
          </a:xfrm>
          <a:prstGeom prst="ellipse">
            <a:avLst/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26517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3864" y="356616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転記レス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3739896" y="4069080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一度入力すれば、契約書や請求書に自動で反映。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327648" y="1965960"/>
            <a:ext cx="2670048" cy="35661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1"/>
          <p:cNvSpPr/>
          <p:nvPr/>
        </p:nvSpPr>
        <p:spPr>
          <a:xfrm>
            <a:off x="7159752" y="2377440"/>
            <a:ext cx="1005840" cy="1005840"/>
          </a:xfrm>
          <a:prstGeom prst="ellipse">
            <a:avLst/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072" y="265176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7648" y="356616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見える化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6583680" y="4069080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進捗・担当・期日がひと目で分かる。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9171432" y="1965960"/>
            <a:ext cx="2670048" cy="35661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5"/>
          <p:cNvSpPr/>
          <p:nvPr/>
        </p:nvSpPr>
        <p:spPr>
          <a:xfrm>
            <a:off x="10003536" y="2377440"/>
            <a:ext cx="1005840" cy="1005840"/>
          </a:xfrm>
          <a:prstGeom prst="ellipse">
            <a:avLst/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77856" y="265176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71432" y="356616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抜け漏れ防止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9427464" y="4069080"/>
            <a:ext cx="2157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やること・期日をシステムが覚えておく。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5806440"/>
            <a:ext cx="10927080" cy="640080"/>
          </a:xfrm>
          <a:prstGeom prst="roundRect">
            <a:avLst>
              <a:gd name="adj" fmla="val 8571"/>
            </a:avLst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9"/>
          <p:cNvSpPr/>
          <p:nvPr/>
        </p:nvSpPr>
        <p:spPr>
          <a:xfrm>
            <a:off x="91440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➡  “管理のための作業”を減らし、皆さんが本来の業務に集中できるようにするのが目的です。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474720"/>
            <a:ext cx="5486400" cy="5486400"/>
          </a:xfrm>
          <a:prstGeom prst="ellipse">
            <a:avLst/>
          </a:prstGeom>
          <a:solidFill>
            <a:srgbClr val="2F58D4">
              <a:alpha val="20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5029200" cy="5029200"/>
          </a:xfrm>
          <a:prstGeom prst="ellipse">
            <a:avLst/>
          </a:prstGeom>
          <a:solidFill>
            <a:srgbClr val="0092C7">
              <a:alpha val="16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FFFFFF">
                    <a:alpha val="18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6868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ROLLOUT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移行方針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まずは小さく確実に。1ヶ月後にフル機能へ広げます。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92640" y="365760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40416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FEATURE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使う機能マップ ── 今回はここだけ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0" y="60350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8119872" y="53949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今回のミニマム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21240" y="60350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FF2F6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0268712" y="53949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1ヶ月後に解放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841248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2455164"/>
            <a:ext cx="246888" cy="2468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相談案件登録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58963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0"/>
          <p:cNvSpPr/>
          <p:nvPr/>
        </p:nvSpPr>
        <p:spPr>
          <a:xfrm>
            <a:off x="3060131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575" y="2455164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41843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案件一覧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077846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5279014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2458" y="2455164"/>
            <a:ext cx="246888" cy="2468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260726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マイページ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296729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6"/>
          <p:cNvSpPr/>
          <p:nvPr/>
        </p:nvSpPr>
        <p:spPr>
          <a:xfrm>
            <a:off x="7497897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1341" y="2455164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79609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管理担当アサイン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9515612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19"/>
          <p:cNvSpPr/>
          <p:nvPr/>
        </p:nvSpPr>
        <p:spPr>
          <a:xfrm>
            <a:off x="9716780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0224" y="2455164"/>
            <a:ext cx="246888" cy="2468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98492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前受金請求書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40080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2"/>
          <p:cNvSpPr/>
          <p:nvPr/>
        </p:nvSpPr>
        <p:spPr>
          <a:xfrm>
            <a:off x="841248" y="3685032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" y="3808476"/>
            <a:ext cx="246888" cy="24688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22960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確定・立替実費請求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858963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5"/>
          <p:cNvSpPr/>
          <p:nvPr/>
        </p:nvSpPr>
        <p:spPr>
          <a:xfrm>
            <a:off x="4181734" y="3648456"/>
            <a:ext cx="566928" cy="274320"/>
          </a:xfrm>
          <a:prstGeom prst="roundRect">
            <a:avLst>
              <a:gd name="adj" fmla="val 26667"/>
            </a:avLst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4" name="Text 26"/>
          <p:cNvSpPr/>
          <p:nvPr/>
        </p:nvSpPr>
        <p:spPr>
          <a:xfrm>
            <a:off x="4181734" y="36484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50" b="1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一部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3060131" y="3685032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3575" y="3808476"/>
            <a:ext cx="246888" cy="24688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3041843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AI書類作成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5077846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0"/>
          <p:cNvSpPr/>
          <p:nvPr/>
        </p:nvSpPr>
        <p:spPr>
          <a:xfrm>
            <a:off x="6254313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1"/>
          <p:cNvSpPr/>
          <p:nvPr/>
        </p:nvSpPr>
        <p:spPr>
          <a:xfrm>
            <a:off x="6254313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5279014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2458" y="3808476"/>
            <a:ext cx="246888" cy="24688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260726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タスク進捗管理</a:t>
            </a:r>
            <a:endParaRPr lang="en-US" sz="1200" dirty="0"/>
          </a:p>
        </p:txBody>
      </p:sp>
      <p:sp>
        <p:nvSpPr>
          <p:cNvPr id="44" name="Shape 34"/>
          <p:cNvSpPr/>
          <p:nvPr/>
        </p:nvSpPr>
        <p:spPr>
          <a:xfrm>
            <a:off x="7296729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35"/>
          <p:cNvSpPr/>
          <p:nvPr/>
        </p:nvSpPr>
        <p:spPr>
          <a:xfrm>
            <a:off x="8473196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6"/>
          <p:cNvSpPr/>
          <p:nvPr/>
        </p:nvSpPr>
        <p:spPr>
          <a:xfrm>
            <a:off x="8473196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47" name="Shape 37"/>
          <p:cNvSpPr/>
          <p:nvPr/>
        </p:nvSpPr>
        <p:spPr>
          <a:xfrm>
            <a:off x="7497897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1341" y="3808476"/>
            <a:ext cx="246888" cy="24688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7479609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到着物受信簿</a:t>
            </a:r>
            <a:endParaRPr lang="en-US" sz="1200" dirty="0"/>
          </a:p>
        </p:txBody>
      </p:sp>
      <p:sp>
        <p:nvSpPr>
          <p:cNvPr id="50" name="Shape 39"/>
          <p:cNvSpPr/>
          <p:nvPr/>
        </p:nvSpPr>
        <p:spPr>
          <a:xfrm>
            <a:off x="9515612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0"/>
          <p:cNvSpPr/>
          <p:nvPr/>
        </p:nvSpPr>
        <p:spPr>
          <a:xfrm>
            <a:off x="10692079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2" name="Text 41"/>
          <p:cNvSpPr/>
          <p:nvPr/>
        </p:nvSpPr>
        <p:spPr>
          <a:xfrm>
            <a:off x="10692079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53" name="Shape 42"/>
          <p:cNvSpPr/>
          <p:nvPr/>
        </p:nvSpPr>
        <p:spPr>
          <a:xfrm>
            <a:off x="9716780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0224" y="3808476"/>
            <a:ext cx="246888" cy="24688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9698492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オーダーシート</a:t>
            </a:r>
            <a:endParaRPr lang="en-US" sz="1200" dirty="0"/>
          </a:p>
        </p:txBody>
      </p:sp>
      <p:sp>
        <p:nvSpPr>
          <p:cNvPr id="56" name="Shape 44"/>
          <p:cNvSpPr/>
          <p:nvPr/>
        </p:nvSpPr>
        <p:spPr>
          <a:xfrm>
            <a:off x="640080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45"/>
          <p:cNvSpPr/>
          <p:nvPr/>
        </p:nvSpPr>
        <p:spPr>
          <a:xfrm>
            <a:off x="1816547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8" name="Text 46"/>
          <p:cNvSpPr/>
          <p:nvPr/>
        </p:nvSpPr>
        <p:spPr>
          <a:xfrm>
            <a:off x="1816547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59" name="Shape 47"/>
          <p:cNvSpPr/>
          <p:nvPr/>
        </p:nvSpPr>
        <p:spPr>
          <a:xfrm>
            <a:off x="841248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0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692" y="5161788"/>
            <a:ext cx="246888" cy="246888"/>
          </a:xfrm>
          <a:prstGeom prst="rect">
            <a:avLst/>
          </a:prstGeom>
        </p:spPr>
      </p:pic>
      <p:sp>
        <p:nvSpPr>
          <p:cNvPr id="61" name="Text 48"/>
          <p:cNvSpPr/>
          <p:nvPr/>
        </p:nvSpPr>
        <p:spPr>
          <a:xfrm>
            <a:off x="822960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事務管理タスク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管理機能</a:t>
            </a:r>
            <a:endParaRPr lang="en-US" sz="1200" dirty="0"/>
          </a:p>
        </p:txBody>
      </p:sp>
      <p:sp>
        <p:nvSpPr>
          <p:cNvPr id="62" name="Shape 49"/>
          <p:cNvSpPr/>
          <p:nvPr/>
        </p:nvSpPr>
        <p:spPr>
          <a:xfrm>
            <a:off x="2858963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50"/>
          <p:cNvSpPr/>
          <p:nvPr/>
        </p:nvSpPr>
        <p:spPr>
          <a:xfrm>
            <a:off x="4035430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4" name="Text 51"/>
          <p:cNvSpPr/>
          <p:nvPr/>
        </p:nvSpPr>
        <p:spPr>
          <a:xfrm>
            <a:off x="4035430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65" name="Shape 52"/>
          <p:cNvSpPr/>
          <p:nvPr/>
        </p:nvSpPr>
        <p:spPr>
          <a:xfrm>
            <a:off x="3060131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6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83575" y="5161788"/>
            <a:ext cx="246888" cy="246888"/>
          </a:xfrm>
          <a:prstGeom prst="rect">
            <a:avLst/>
          </a:prstGeom>
        </p:spPr>
      </p:pic>
      <p:sp>
        <p:nvSpPr>
          <p:cNvPr id="67" name="Text 53"/>
          <p:cNvSpPr/>
          <p:nvPr/>
        </p:nvSpPr>
        <p:spPr>
          <a:xfrm>
            <a:off x="3041843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5000"/>
              </a:lnSpc>
            </a:pPr>
            <a:r>
              <a:rPr lang="en-US" altLang="ja-JP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各手続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の詳細管理機能</a:t>
            </a:r>
            <a:endParaRPr lang="en-US" altLang="ja-JP" sz="1200" dirty="0"/>
          </a:p>
        </p:txBody>
      </p:sp>
      <p:sp>
        <p:nvSpPr>
          <p:cNvPr id="68" name="Shape 54"/>
          <p:cNvSpPr/>
          <p:nvPr/>
        </p:nvSpPr>
        <p:spPr>
          <a:xfrm>
            <a:off x="5077846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55"/>
          <p:cNvSpPr/>
          <p:nvPr/>
        </p:nvSpPr>
        <p:spPr>
          <a:xfrm>
            <a:off x="6254313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0" name="Text 56"/>
          <p:cNvSpPr/>
          <p:nvPr/>
        </p:nvSpPr>
        <p:spPr>
          <a:xfrm>
            <a:off x="6254313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71" name="Shape 57"/>
          <p:cNvSpPr/>
          <p:nvPr/>
        </p:nvSpPr>
        <p:spPr>
          <a:xfrm>
            <a:off x="5279014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2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02458" y="5161788"/>
            <a:ext cx="246888" cy="246888"/>
          </a:xfrm>
          <a:prstGeom prst="rect">
            <a:avLst/>
          </a:prstGeom>
        </p:spPr>
      </p:pic>
      <p:sp>
        <p:nvSpPr>
          <p:cNvPr id="73" name="Text 58"/>
          <p:cNvSpPr/>
          <p:nvPr/>
        </p:nvSpPr>
        <p:spPr>
          <a:xfrm>
            <a:off x="5260726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5000"/>
              </a:lnSpc>
            </a:pPr>
            <a:r>
              <a:rPr lang="en-US" altLang="ja-JP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ダッシュボード／稼働状況</a:t>
            </a:r>
            <a:endParaRPr lang="en-US" altLang="ja-JP" sz="1200" dirty="0"/>
          </a:p>
        </p:txBody>
      </p:sp>
      <p:sp>
        <p:nvSpPr>
          <p:cNvPr id="74" name="Shape 59"/>
          <p:cNvSpPr/>
          <p:nvPr/>
        </p:nvSpPr>
        <p:spPr>
          <a:xfrm>
            <a:off x="7296729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60"/>
          <p:cNvSpPr/>
          <p:nvPr/>
        </p:nvSpPr>
        <p:spPr>
          <a:xfrm>
            <a:off x="8473196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6" name="Text 61"/>
          <p:cNvSpPr/>
          <p:nvPr/>
        </p:nvSpPr>
        <p:spPr>
          <a:xfrm>
            <a:off x="8473196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77" name="Shape 62"/>
          <p:cNvSpPr/>
          <p:nvPr/>
        </p:nvSpPr>
        <p:spPr>
          <a:xfrm>
            <a:off x="7497897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8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21341" y="5161788"/>
            <a:ext cx="246888" cy="246888"/>
          </a:xfrm>
          <a:prstGeom prst="rect">
            <a:avLst/>
          </a:prstGeom>
        </p:spPr>
      </p:pic>
      <p:sp>
        <p:nvSpPr>
          <p:cNvPr id="79" name="Text 63"/>
          <p:cNvSpPr/>
          <p:nvPr/>
        </p:nvSpPr>
        <p:spPr>
          <a:xfrm>
            <a:off x="7479609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</a:rPr>
              <a:t>レポート作成機能</a:t>
            </a:r>
            <a:endParaRPr lang="en-US" sz="1200" dirty="0"/>
          </a:p>
        </p:txBody>
      </p:sp>
      <p:sp>
        <p:nvSpPr>
          <p:cNvPr id="80" name="Shape 64"/>
          <p:cNvSpPr/>
          <p:nvPr/>
        </p:nvSpPr>
        <p:spPr>
          <a:xfrm>
            <a:off x="9515612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65"/>
          <p:cNvSpPr/>
          <p:nvPr/>
        </p:nvSpPr>
        <p:spPr>
          <a:xfrm>
            <a:off x="10692079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2" name="Text 66"/>
          <p:cNvSpPr/>
          <p:nvPr/>
        </p:nvSpPr>
        <p:spPr>
          <a:xfrm>
            <a:off x="10692079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83" name="Shape 67"/>
          <p:cNvSpPr/>
          <p:nvPr/>
        </p:nvSpPr>
        <p:spPr>
          <a:xfrm>
            <a:off x="9716780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84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0224" y="5161788"/>
            <a:ext cx="246888" cy="246888"/>
          </a:xfrm>
          <a:prstGeom prst="rect">
            <a:avLst/>
          </a:prstGeom>
        </p:spPr>
      </p:pic>
      <p:sp>
        <p:nvSpPr>
          <p:cNvPr id="85" name="Text 68"/>
          <p:cNvSpPr/>
          <p:nvPr/>
        </p:nvSpPr>
        <p:spPr>
          <a:xfrm>
            <a:off x="9698492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チャットサポート</a:t>
            </a:r>
            <a:r>
              <a:rPr lang="en-US" altLang="ja-JP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</a:t>
            </a:r>
          </a:p>
          <a:p>
            <a:pPr marL="0" indent="0">
              <a:lnSpc>
                <a:spcPct val="95000"/>
              </a:lnSpc>
              <a:buNone/>
            </a:pPr>
            <a:r>
              <a:rPr lang="en-US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マニュアル</a:t>
            </a:r>
            <a:endParaRPr lang="en-US" sz="1200" dirty="0"/>
          </a:p>
        </p:txBody>
      </p:sp>
      <p:sp>
        <p:nvSpPr>
          <p:cNvPr id="86" name="Shape 69"/>
          <p:cNvSpPr/>
          <p:nvPr/>
        </p:nvSpPr>
        <p:spPr>
          <a:xfrm>
            <a:off x="640080" y="6199632"/>
            <a:ext cx="10927080" cy="457200"/>
          </a:xfrm>
          <a:prstGeom prst="roundRect">
            <a:avLst>
              <a:gd name="adj" fmla="val 10000"/>
            </a:avLst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7" name="Text 70"/>
          <p:cNvSpPr/>
          <p:nvPr/>
        </p:nvSpPr>
        <p:spPr>
          <a:xfrm>
            <a:off x="914400" y="61996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5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まずは小さく。 </a:t>
            </a:r>
            <a:r>
              <a:rPr lang="en-US" sz="12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青の機能から運用を開始し、進行ゲート等の自動制御を含む残りは、トライアル後（約1ヶ月）に解放します。</a:t>
            </a:r>
            <a:endParaRPr lang="en-US" sz="1250" dirty="0"/>
          </a:p>
        </p:txBody>
      </p:sp>
      <p:sp>
        <p:nvSpPr>
          <p:cNvPr id="88" name="Text 71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B66A-42AC-B413-F437-E4E9F2AFF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ABD912-C6B7-6C8B-4ED8-2524CDCD81B1}"/>
              </a:ext>
            </a:extLst>
          </p:cNvPr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FEATURE MAP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A01F3DE-87F4-0159-DA17-19B15A44A714}"/>
              </a:ext>
            </a:extLst>
          </p:cNvPr>
          <p:cNvSpPr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使う機能マップ ── 今回はここだけ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1044C9A-2990-E852-01CA-BE38422A98EB}"/>
              </a:ext>
            </a:extLst>
          </p:cNvPr>
          <p:cNvSpPr/>
          <p:nvPr/>
        </p:nvSpPr>
        <p:spPr>
          <a:xfrm>
            <a:off x="7772400" y="60350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2B72EB-1BB2-7170-A0BB-5D229DB9810E}"/>
              </a:ext>
            </a:extLst>
          </p:cNvPr>
          <p:cNvSpPr/>
          <p:nvPr/>
        </p:nvSpPr>
        <p:spPr>
          <a:xfrm>
            <a:off x="8119872" y="539496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今回のミニマム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9AD292-0EB2-31D5-B3F0-11C2D960639C}"/>
              </a:ext>
            </a:extLst>
          </p:cNvPr>
          <p:cNvSpPr/>
          <p:nvPr/>
        </p:nvSpPr>
        <p:spPr>
          <a:xfrm>
            <a:off x="9921240" y="60350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EFF2F6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4CCD56-391D-F17E-B42C-654B280F3C15}"/>
              </a:ext>
            </a:extLst>
          </p:cNvPr>
          <p:cNvSpPr/>
          <p:nvPr/>
        </p:nvSpPr>
        <p:spPr>
          <a:xfrm>
            <a:off x="10268712" y="53949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1ヶ月後に解放</a:t>
            </a:r>
            <a:endParaRPr lang="en-US" sz="12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ABB5289-C2D3-8347-7DA3-FD318523962E}"/>
              </a:ext>
            </a:extLst>
          </p:cNvPr>
          <p:cNvSpPr/>
          <p:nvPr/>
        </p:nvSpPr>
        <p:spPr>
          <a:xfrm>
            <a:off x="640080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FFC000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136965D-361F-4256-4A15-3AE3004853FB}"/>
              </a:ext>
            </a:extLst>
          </p:cNvPr>
          <p:cNvSpPr/>
          <p:nvPr/>
        </p:nvSpPr>
        <p:spPr>
          <a:xfrm>
            <a:off x="841248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8CE68077-5357-1CC2-C080-4725CB229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2455164"/>
            <a:ext cx="246888" cy="246888"/>
          </a:xfrm>
          <a:prstGeom prst="rect">
            <a:avLst/>
          </a:prstGeom>
        </p:spPr>
      </p:pic>
      <p:sp>
        <p:nvSpPr>
          <p:cNvPr id="11" name="Text 8">
            <a:extLst>
              <a:ext uri="{FF2B5EF4-FFF2-40B4-BE49-F238E27FC236}">
                <a16:creationId xmlns:a16="http://schemas.microsoft.com/office/drawing/2014/main" id="{0AE74EC2-5CA3-FB6E-104F-12BA4E294DA3}"/>
              </a:ext>
            </a:extLst>
          </p:cNvPr>
          <p:cNvSpPr/>
          <p:nvPr/>
        </p:nvSpPr>
        <p:spPr>
          <a:xfrm>
            <a:off x="822960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相談案件登録</a:t>
            </a:r>
            <a:endParaRPr lang="en-US" sz="12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0BDEBE5D-878C-1BB3-762A-CAFFECE41A00}"/>
              </a:ext>
            </a:extLst>
          </p:cNvPr>
          <p:cNvSpPr/>
          <p:nvPr/>
        </p:nvSpPr>
        <p:spPr>
          <a:xfrm>
            <a:off x="2858963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45CA8BEE-D0E9-BE59-93FB-134FA200F0CF}"/>
              </a:ext>
            </a:extLst>
          </p:cNvPr>
          <p:cNvSpPr/>
          <p:nvPr/>
        </p:nvSpPr>
        <p:spPr>
          <a:xfrm>
            <a:off x="3060131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D0D3751D-58BC-2650-B6C0-8A8732597B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575" y="2455164"/>
            <a:ext cx="246888" cy="246888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DE64D54A-4487-DE8C-1BA1-FDD6F0CAED1B}"/>
              </a:ext>
            </a:extLst>
          </p:cNvPr>
          <p:cNvSpPr/>
          <p:nvPr/>
        </p:nvSpPr>
        <p:spPr>
          <a:xfrm>
            <a:off x="3041843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案件一覧</a:t>
            </a:r>
            <a:endParaRPr lang="en-US" sz="12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98A2BF8A-BE4D-0B3C-57C8-554263F8A971}"/>
              </a:ext>
            </a:extLst>
          </p:cNvPr>
          <p:cNvSpPr/>
          <p:nvPr/>
        </p:nvSpPr>
        <p:spPr>
          <a:xfrm>
            <a:off x="5077846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E7C1D5A1-9108-7AB7-34CF-9167322637E8}"/>
              </a:ext>
            </a:extLst>
          </p:cNvPr>
          <p:cNvSpPr/>
          <p:nvPr/>
        </p:nvSpPr>
        <p:spPr>
          <a:xfrm>
            <a:off x="5279014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8" name="Image 2" descr="preencoded.png">
            <a:extLst>
              <a:ext uri="{FF2B5EF4-FFF2-40B4-BE49-F238E27FC236}">
                <a16:creationId xmlns:a16="http://schemas.microsoft.com/office/drawing/2014/main" id="{1B5C83CA-2304-84D4-6DFA-755742CCE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2458" y="2455164"/>
            <a:ext cx="246888" cy="246888"/>
          </a:xfrm>
          <a:prstGeom prst="rect">
            <a:avLst/>
          </a:prstGeom>
        </p:spPr>
      </p:pic>
      <p:sp>
        <p:nvSpPr>
          <p:cNvPr id="19" name="Text 14">
            <a:extLst>
              <a:ext uri="{FF2B5EF4-FFF2-40B4-BE49-F238E27FC236}">
                <a16:creationId xmlns:a16="http://schemas.microsoft.com/office/drawing/2014/main" id="{B8D4439B-54F4-9816-722D-3F5F3F6FA7CF}"/>
              </a:ext>
            </a:extLst>
          </p:cNvPr>
          <p:cNvSpPr/>
          <p:nvPr/>
        </p:nvSpPr>
        <p:spPr>
          <a:xfrm>
            <a:off x="5260726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マイページ</a:t>
            </a:r>
            <a:endParaRPr lang="en-US" sz="12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FE1F6B58-8B11-E851-2145-4B6632748815}"/>
              </a:ext>
            </a:extLst>
          </p:cNvPr>
          <p:cNvSpPr/>
          <p:nvPr/>
        </p:nvSpPr>
        <p:spPr>
          <a:xfrm>
            <a:off x="7296729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1A19B2F2-4CAF-4186-1BA5-862898351E49}"/>
              </a:ext>
            </a:extLst>
          </p:cNvPr>
          <p:cNvSpPr/>
          <p:nvPr/>
        </p:nvSpPr>
        <p:spPr>
          <a:xfrm>
            <a:off x="7497897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B15115D9-877F-2DA9-F59D-71EFBCDE9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1341" y="2455164"/>
            <a:ext cx="246888" cy="246888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3701BA05-9856-5DE0-BB23-4CB56120B8C7}"/>
              </a:ext>
            </a:extLst>
          </p:cNvPr>
          <p:cNvSpPr/>
          <p:nvPr/>
        </p:nvSpPr>
        <p:spPr>
          <a:xfrm>
            <a:off x="7479609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管理担当アサイン</a:t>
            </a:r>
            <a:endParaRPr lang="en-US" sz="12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F6A3DDAE-624F-2CBC-A427-47D594C2113D}"/>
              </a:ext>
            </a:extLst>
          </p:cNvPr>
          <p:cNvSpPr/>
          <p:nvPr/>
        </p:nvSpPr>
        <p:spPr>
          <a:xfrm>
            <a:off x="9515612" y="2148840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D7DEAE1E-5071-5682-A51C-163F0802AE86}"/>
              </a:ext>
            </a:extLst>
          </p:cNvPr>
          <p:cNvSpPr/>
          <p:nvPr/>
        </p:nvSpPr>
        <p:spPr>
          <a:xfrm>
            <a:off x="9716780" y="2331720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915818D3-7846-0945-47EE-C8E787FD36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0224" y="2455164"/>
            <a:ext cx="246888" cy="246888"/>
          </a:xfrm>
          <a:prstGeom prst="rect">
            <a:avLst/>
          </a:prstGeom>
        </p:spPr>
      </p:pic>
      <p:sp>
        <p:nvSpPr>
          <p:cNvPr id="27" name="Text 20">
            <a:extLst>
              <a:ext uri="{FF2B5EF4-FFF2-40B4-BE49-F238E27FC236}">
                <a16:creationId xmlns:a16="http://schemas.microsoft.com/office/drawing/2014/main" id="{F5F662F3-C225-3A85-ACED-63D301726FBE}"/>
              </a:ext>
            </a:extLst>
          </p:cNvPr>
          <p:cNvSpPr/>
          <p:nvPr/>
        </p:nvSpPr>
        <p:spPr>
          <a:xfrm>
            <a:off x="9698492" y="2898648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前受金請求書</a:t>
            </a:r>
            <a:endParaRPr lang="en-US" sz="120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9A9F9484-7573-A4DC-39EB-F3074E273203}"/>
              </a:ext>
            </a:extLst>
          </p:cNvPr>
          <p:cNvSpPr/>
          <p:nvPr/>
        </p:nvSpPr>
        <p:spPr>
          <a:xfrm>
            <a:off x="640080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9ACE2EBB-A7FE-4B7A-1633-3EBC4EB8DE87}"/>
              </a:ext>
            </a:extLst>
          </p:cNvPr>
          <p:cNvSpPr/>
          <p:nvPr/>
        </p:nvSpPr>
        <p:spPr>
          <a:xfrm>
            <a:off x="841248" y="3685032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01BF20F6-BA6C-A83A-BE8F-14CBA03894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" y="3808476"/>
            <a:ext cx="246888" cy="246888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BC04E107-DD53-A93E-5DDB-6D66FF2F4A80}"/>
              </a:ext>
            </a:extLst>
          </p:cNvPr>
          <p:cNvSpPr/>
          <p:nvPr/>
        </p:nvSpPr>
        <p:spPr>
          <a:xfrm>
            <a:off x="822960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確定・立替実費請求</a:t>
            </a:r>
            <a:endParaRPr lang="en-US" sz="1200" dirty="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D1C7EF18-7B8A-A26F-D8AD-ACCF9816CB58}"/>
              </a:ext>
            </a:extLst>
          </p:cNvPr>
          <p:cNvSpPr/>
          <p:nvPr/>
        </p:nvSpPr>
        <p:spPr>
          <a:xfrm>
            <a:off x="2858963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2F58D4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16DBFA0-0342-AE7B-A704-F558C6972AC0}"/>
              </a:ext>
            </a:extLst>
          </p:cNvPr>
          <p:cNvSpPr/>
          <p:nvPr/>
        </p:nvSpPr>
        <p:spPr>
          <a:xfrm>
            <a:off x="4181734" y="3648456"/>
            <a:ext cx="566928" cy="274320"/>
          </a:xfrm>
          <a:prstGeom prst="roundRect">
            <a:avLst>
              <a:gd name="adj" fmla="val 26667"/>
            </a:avLst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108CC430-EE10-5A13-B46A-F9B3EE54E911}"/>
              </a:ext>
            </a:extLst>
          </p:cNvPr>
          <p:cNvSpPr/>
          <p:nvPr/>
        </p:nvSpPr>
        <p:spPr>
          <a:xfrm>
            <a:off x="4181734" y="36484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50" b="1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一部</a:t>
            </a:r>
            <a:endParaRPr lang="en-US" sz="950" dirty="0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E32B9D2B-978D-995D-6A54-3446FAC8A675}"/>
              </a:ext>
            </a:extLst>
          </p:cNvPr>
          <p:cNvSpPr/>
          <p:nvPr/>
        </p:nvSpPr>
        <p:spPr>
          <a:xfrm>
            <a:off x="3060131" y="3685032"/>
            <a:ext cx="493776" cy="49377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36" name="Image 6" descr="preencoded.png">
            <a:extLst>
              <a:ext uri="{FF2B5EF4-FFF2-40B4-BE49-F238E27FC236}">
                <a16:creationId xmlns:a16="http://schemas.microsoft.com/office/drawing/2014/main" id="{2086893A-1F96-02B7-2A50-5DAC8E78B4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3575" y="3808476"/>
            <a:ext cx="246888" cy="246888"/>
          </a:xfrm>
          <a:prstGeom prst="rect">
            <a:avLst/>
          </a:prstGeom>
        </p:spPr>
      </p:pic>
      <p:sp>
        <p:nvSpPr>
          <p:cNvPr id="37" name="Text 28">
            <a:extLst>
              <a:ext uri="{FF2B5EF4-FFF2-40B4-BE49-F238E27FC236}">
                <a16:creationId xmlns:a16="http://schemas.microsoft.com/office/drawing/2014/main" id="{D79A182D-EAA5-38B9-FCDB-3C581AF72349}"/>
              </a:ext>
            </a:extLst>
          </p:cNvPr>
          <p:cNvSpPr/>
          <p:nvPr/>
        </p:nvSpPr>
        <p:spPr>
          <a:xfrm>
            <a:off x="3041843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AI書類作成</a:t>
            </a:r>
            <a:endParaRPr lang="en-US" sz="1200" dirty="0"/>
          </a:p>
        </p:txBody>
      </p:sp>
      <p:sp>
        <p:nvSpPr>
          <p:cNvPr id="38" name="Shape 29">
            <a:extLst>
              <a:ext uri="{FF2B5EF4-FFF2-40B4-BE49-F238E27FC236}">
                <a16:creationId xmlns:a16="http://schemas.microsoft.com/office/drawing/2014/main" id="{30BC781F-6301-6FED-09EE-7BE464C28C79}"/>
              </a:ext>
            </a:extLst>
          </p:cNvPr>
          <p:cNvSpPr/>
          <p:nvPr/>
        </p:nvSpPr>
        <p:spPr>
          <a:xfrm>
            <a:off x="5077846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30">
            <a:extLst>
              <a:ext uri="{FF2B5EF4-FFF2-40B4-BE49-F238E27FC236}">
                <a16:creationId xmlns:a16="http://schemas.microsoft.com/office/drawing/2014/main" id="{9566F342-AA99-CBA3-4496-A867334347CC}"/>
              </a:ext>
            </a:extLst>
          </p:cNvPr>
          <p:cNvSpPr/>
          <p:nvPr/>
        </p:nvSpPr>
        <p:spPr>
          <a:xfrm>
            <a:off x="6254313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1562E472-7450-0077-7F4C-B4C68AEF34F5}"/>
              </a:ext>
            </a:extLst>
          </p:cNvPr>
          <p:cNvSpPr/>
          <p:nvPr/>
        </p:nvSpPr>
        <p:spPr>
          <a:xfrm>
            <a:off x="6254313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41" name="Shape 32">
            <a:extLst>
              <a:ext uri="{FF2B5EF4-FFF2-40B4-BE49-F238E27FC236}">
                <a16:creationId xmlns:a16="http://schemas.microsoft.com/office/drawing/2014/main" id="{398432D9-48F3-51C9-FC35-331E9F42D763}"/>
              </a:ext>
            </a:extLst>
          </p:cNvPr>
          <p:cNvSpPr/>
          <p:nvPr/>
        </p:nvSpPr>
        <p:spPr>
          <a:xfrm>
            <a:off x="5279014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42" name="Image 7" descr="preencoded.png">
            <a:extLst>
              <a:ext uri="{FF2B5EF4-FFF2-40B4-BE49-F238E27FC236}">
                <a16:creationId xmlns:a16="http://schemas.microsoft.com/office/drawing/2014/main" id="{A891E4FD-251A-66A3-2DA2-843158DE01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2458" y="3808476"/>
            <a:ext cx="246888" cy="246888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B29D8B71-5043-FA9D-1C85-906106848B18}"/>
              </a:ext>
            </a:extLst>
          </p:cNvPr>
          <p:cNvSpPr/>
          <p:nvPr/>
        </p:nvSpPr>
        <p:spPr>
          <a:xfrm>
            <a:off x="5260726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タスク進捗管理</a:t>
            </a:r>
            <a:endParaRPr lang="en-US" sz="1200" dirty="0"/>
          </a:p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979C4E4A-92E5-5C38-23BC-535F5C0B4760}"/>
              </a:ext>
            </a:extLst>
          </p:cNvPr>
          <p:cNvSpPr/>
          <p:nvPr/>
        </p:nvSpPr>
        <p:spPr>
          <a:xfrm>
            <a:off x="7296729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35">
            <a:extLst>
              <a:ext uri="{FF2B5EF4-FFF2-40B4-BE49-F238E27FC236}">
                <a16:creationId xmlns:a16="http://schemas.microsoft.com/office/drawing/2014/main" id="{529FF17D-2965-32FA-A25D-3460BFF5905B}"/>
              </a:ext>
            </a:extLst>
          </p:cNvPr>
          <p:cNvSpPr/>
          <p:nvPr/>
        </p:nvSpPr>
        <p:spPr>
          <a:xfrm>
            <a:off x="8473196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6">
            <a:extLst>
              <a:ext uri="{FF2B5EF4-FFF2-40B4-BE49-F238E27FC236}">
                <a16:creationId xmlns:a16="http://schemas.microsoft.com/office/drawing/2014/main" id="{89A50B2E-CFCC-FC8E-86E9-C7C8B21E4EEB}"/>
              </a:ext>
            </a:extLst>
          </p:cNvPr>
          <p:cNvSpPr/>
          <p:nvPr/>
        </p:nvSpPr>
        <p:spPr>
          <a:xfrm>
            <a:off x="8473196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47" name="Shape 37">
            <a:extLst>
              <a:ext uri="{FF2B5EF4-FFF2-40B4-BE49-F238E27FC236}">
                <a16:creationId xmlns:a16="http://schemas.microsoft.com/office/drawing/2014/main" id="{220CEBCB-0259-394A-52B4-432C7E86CF5F}"/>
              </a:ext>
            </a:extLst>
          </p:cNvPr>
          <p:cNvSpPr/>
          <p:nvPr/>
        </p:nvSpPr>
        <p:spPr>
          <a:xfrm>
            <a:off x="7497897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48" name="Image 8" descr="preencoded.png">
            <a:extLst>
              <a:ext uri="{FF2B5EF4-FFF2-40B4-BE49-F238E27FC236}">
                <a16:creationId xmlns:a16="http://schemas.microsoft.com/office/drawing/2014/main" id="{42EE0FE3-4660-E16C-8820-998F2B42D33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1341" y="3808476"/>
            <a:ext cx="246888" cy="246888"/>
          </a:xfrm>
          <a:prstGeom prst="rect">
            <a:avLst/>
          </a:prstGeom>
        </p:spPr>
      </p:pic>
      <p:sp>
        <p:nvSpPr>
          <p:cNvPr id="49" name="Text 38">
            <a:extLst>
              <a:ext uri="{FF2B5EF4-FFF2-40B4-BE49-F238E27FC236}">
                <a16:creationId xmlns:a16="http://schemas.microsoft.com/office/drawing/2014/main" id="{D6451C6B-0B06-647E-198D-0393F08C720E}"/>
              </a:ext>
            </a:extLst>
          </p:cNvPr>
          <p:cNvSpPr/>
          <p:nvPr/>
        </p:nvSpPr>
        <p:spPr>
          <a:xfrm>
            <a:off x="7479609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到着物受信簿</a:t>
            </a:r>
            <a:endParaRPr lang="en-US" sz="1200" dirty="0"/>
          </a:p>
        </p:txBody>
      </p:sp>
      <p:sp>
        <p:nvSpPr>
          <p:cNvPr id="50" name="Shape 39">
            <a:extLst>
              <a:ext uri="{FF2B5EF4-FFF2-40B4-BE49-F238E27FC236}">
                <a16:creationId xmlns:a16="http://schemas.microsoft.com/office/drawing/2014/main" id="{777FF1E3-BB4D-03CC-BE59-7ABADF9CB987}"/>
              </a:ext>
            </a:extLst>
          </p:cNvPr>
          <p:cNvSpPr/>
          <p:nvPr/>
        </p:nvSpPr>
        <p:spPr>
          <a:xfrm>
            <a:off x="9515612" y="3502152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0">
            <a:extLst>
              <a:ext uri="{FF2B5EF4-FFF2-40B4-BE49-F238E27FC236}">
                <a16:creationId xmlns:a16="http://schemas.microsoft.com/office/drawing/2014/main" id="{7312EB5A-24C8-C4DA-3740-183D3AA9FDE0}"/>
              </a:ext>
            </a:extLst>
          </p:cNvPr>
          <p:cNvSpPr/>
          <p:nvPr/>
        </p:nvSpPr>
        <p:spPr>
          <a:xfrm>
            <a:off x="10692079" y="3648456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2" name="Text 41">
            <a:extLst>
              <a:ext uri="{FF2B5EF4-FFF2-40B4-BE49-F238E27FC236}">
                <a16:creationId xmlns:a16="http://schemas.microsoft.com/office/drawing/2014/main" id="{8FF1CE51-838E-1F72-F567-32A38C7E2912}"/>
              </a:ext>
            </a:extLst>
          </p:cNvPr>
          <p:cNvSpPr/>
          <p:nvPr/>
        </p:nvSpPr>
        <p:spPr>
          <a:xfrm>
            <a:off x="10692079" y="36484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53" name="Shape 42">
            <a:extLst>
              <a:ext uri="{FF2B5EF4-FFF2-40B4-BE49-F238E27FC236}">
                <a16:creationId xmlns:a16="http://schemas.microsoft.com/office/drawing/2014/main" id="{262FD4FB-B4F1-C3FE-28DC-CC4C831E57FA}"/>
              </a:ext>
            </a:extLst>
          </p:cNvPr>
          <p:cNvSpPr/>
          <p:nvPr/>
        </p:nvSpPr>
        <p:spPr>
          <a:xfrm>
            <a:off x="9716780" y="3685032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54" name="Image 9" descr="preencoded.png">
            <a:extLst>
              <a:ext uri="{FF2B5EF4-FFF2-40B4-BE49-F238E27FC236}">
                <a16:creationId xmlns:a16="http://schemas.microsoft.com/office/drawing/2014/main" id="{2AB74412-D5A5-B5A3-F582-9718104AB1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40224" y="3808476"/>
            <a:ext cx="246888" cy="246888"/>
          </a:xfrm>
          <a:prstGeom prst="rect">
            <a:avLst/>
          </a:prstGeom>
        </p:spPr>
      </p:pic>
      <p:sp>
        <p:nvSpPr>
          <p:cNvPr id="55" name="Text 43">
            <a:extLst>
              <a:ext uri="{FF2B5EF4-FFF2-40B4-BE49-F238E27FC236}">
                <a16:creationId xmlns:a16="http://schemas.microsoft.com/office/drawing/2014/main" id="{EA393353-3A68-0ACA-7CA3-D542DF60AC99}"/>
              </a:ext>
            </a:extLst>
          </p:cNvPr>
          <p:cNvSpPr/>
          <p:nvPr/>
        </p:nvSpPr>
        <p:spPr>
          <a:xfrm>
            <a:off x="9698492" y="4251960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オーダーシート</a:t>
            </a:r>
            <a:endParaRPr lang="en-US" sz="1200" dirty="0"/>
          </a:p>
        </p:txBody>
      </p:sp>
      <p:sp>
        <p:nvSpPr>
          <p:cNvPr id="56" name="Shape 44">
            <a:extLst>
              <a:ext uri="{FF2B5EF4-FFF2-40B4-BE49-F238E27FC236}">
                <a16:creationId xmlns:a16="http://schemas.microsoft.com/office/drawing/2014/main" id="{73FD3F9C-D84E-B3C4-C26B-6458D367351F}"/>
              </a:ext>
            </a:extLst>
          </p:cNvPr>
          <p:cNvSpPr/>
          <p:nvPr/>
        </p:nvSpPr>
        <p:spPr>
          <a:xfrm>
            <a:off x="640080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45">
            <a:extLst>
              <a:ext uri="{FF2B5EF4-FFF2-40B4-BE49-F238E27FC236}">
                <a16:creationId xmlns:a16="http://schemas.microsoft.com/office/drawing/2014/main" id="{5FFE34F8-EFE4-43F5-D23D-5F213DDC0F09}"/>
              </a:ext>
            </a:extLst>
          </p:cNvPr>
          <p:cNvSpPr/>
          <p:nvPr/>
        </p:nvSpPr>
        <p:spPr>
          <a:xfrm>
            <a:off x="1816547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8" name="Text 46">
            <a:extLst>
              <a:ext uri="{FF2B5EF4-FFF2-40B4-BE49-F238E27FC236}">
                <a16:creationId xmlns:a16="http://schemas.microsoft.com/office/drawing/2014/main" id="{BC5E7355-734A-BB10-A694-FE9B1F706A7C}"/>
              </a:ext>
            </a:extLst>
          </p:cNvPr>
          <p:cNvSpPr/>
          <p:nvPr/>
        </p:nvSpPr>
        <p:spPr>
          <a:xfrm>
            <a:off x="1816547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59" name="Shape 47">
            <a:extLst>
              <a:ext uri="{FF2B5EF4-FFF2-40B4-BE49-F238E27FC236}">
                <a16:creationId xmlns:a16="http://schemas.microsoft.com/office/drawing/2014/main" id="{BD5FE51D-8329-FA11-BD34-EF860A2C9C91}"/>
              </a:ext>
            </a:extLst>
          </p:cNvPr>
          <p:cNvSpPr/>
          <p:nvPr/>
        </p:nvSpPr>
        <p:spPr>
          <a:xfrm>
            <a:off x="841248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0" name="Image 10" descr="preencoded.png">
            <a:extLst>
              <a:ext uri="{FF2B5EF4-FFF2-40B4-BE49-F238E27FC236}">
                <a16:creationId xmlns:a16="http://schemas.microsoft.com/office/drawing/2014/main" id="{584231C7-BEE3-5B4D-E7A3-F11D535317D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692" y="5161788"/>
            <a:ext cx="246888" cy="246888"/>
          </a:xfrm>
          <a:prstGeom prst="rect">
            <a:avLst/>
          </a:prstGeom>
        </p:spPr>
      </p:pic>
      <p:sp>
        <p:nvSpPr>
          <p:cNvPr id="61" name="Text 48">
            <a:extLst>
              <a:ext uri="{FF2B5EF4-FFF2-40B4-BE49-F238E27FC236}">
                <a16:creationId xmlns:a16="http://schemas.microsoft.com/office/drawing/2014/main" id="{CDE48122-8478-23B6-2660-00AD5037ACA9}"/>
              </a:ext>
            </a:extLst>
          </p:cNvPr>
          <p:cNvSpPr/>
          <p:nvPr/>
        </p:nvSpPr>
        <p:spPr>
          <a:xfrm>
            <a:off x="822960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事務管理タスク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管理機能</a:t>
            </a:r>
            <a:endParaRPr lang="en-US" sz="1200" dirty="0"/>
          </a:p>
        </p:txBody>
      </p:sp>
      <p:sp>
        <p:nvSpPr>
          <p:cNvPr id="62" name="Shape 49">
            <a:extLst>
              <a:ext uri="{FF2B5EF4-FFF2-40B4-BE49-F238E27FC236}">
                <a16:creationId xmlns:a16="http://schemas.microsoft.com/office/drawing/2014/main" id="{61B797E1-E144-3FAF-3957-FE2DA5345DB2}"/>
              </a:ext>
            </a:extLst>
          </p:cNvPr>
          <p:cNvSpPr/>
          <p:nvPr/>
        </p:nvSpPr>
        <p:spPr>
          <a:xfrm>
            <a:off x="2858963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50">
            <a:extLst>
              <a:ext uri="{FF2B5EF4-FFF2-40B4-BE49-F238E27FC236}">
                <a16:creationId xmlns:a16="http://schemas.microsoft.com/office/drawing/2014/main" id="{175A0ED9-6E98-041F-C4ED-B782B3665E0F}"/>
              </a:ext>
            </a:extLst>
          </p:cNvPr>
          <p:cNvSpPr/>
          <p:nvPr/>
        </p:nvSpPr>
        <p:spPr>
          <a:xfrm>
            <a:off x="4035430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4" name="Text 51">
            <a:extLst>
              <a:ext uri="{FF2B5EF4-FFF2-40B4-BE49-F238E27FC236}">
                <a16:creationId xmlns:a16="http://schemas.microsoft.com/office/drawing/2014/main" id="{1FD160A4-D126-74EC-E48B-03FE9FAB73EC}"/>
              </a:ext>
            </a:extLst>
          </p:cNvPr>
          <p:cNvSpPr/>
          <p:nvPr/>
        </p:nvSpPr>
        <p:spPr>
          <a:xfrm>
            <a:off x="4035430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65" name="Shape 52">
            <a:extLst>
              <a:ext uri="{FF2B5EF4-FFF2-40B4-BE49-F238E27FC236}">
                <a16:creationId xmlns:a16="http://schemas.microsoft.com/office/drawing/2014/main" id="{258A96C0-8DB7-29B9-06F1-4C48926A66FF}"/>
              </a:ext>
            </a:extLst>
          </p:cNvPr>
          <p:cNvSpPr/>
          <p:nvPr/>
        </p:nvSpPr>
        <p:spPr>
          <a:xfrm>
            <a:off x="3060131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6" name="Image 11" descr="preencoded.png">
            <a:extLst>
              <a:ext uri="{FF2B5EF4-FFF2-40B4-BE49-F238E27FC236}">
                <a16:creationId xmlns:a16="http://schemas.microsoft.com/office/drawing/2014/main" id="{DDCE83A1-05F4-7E68-D6D6-FA724C31BB9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83575" y="5161788"/>
            <a:ext cx="246888" cy="246888"/>
          </a:xfrm>
          <a:prstGeom prst="rect">
            <a:avLst/>
          </a:prstGeom>
        </p:spPr>
      </p:pic>
      <p:sp>
        <p:nvSpPr>
          <p:cNvPr id="67" name="Text 53">
            <a:extLst>
              <a:ext uri="{FF2B5EF4-FFF2-40B4-BE49-F238E27FC236}">
                <a16:creationId xmlns:a16="http://schemas.microsoft.com/office/drawing/2014/main" id="{ADF2E880-6492-2853-13FB-8BC214A224FA}"/>
              </a:ext>
            </a:extLst>
          </p:cNvPr>
          <p:cNvSpPr/>
          <p:nvPr/>
        </p:nvSpPr>
        <p:spPr>
          <a:xfrm>
            <a:off x="3041843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5000"/>
              </a:lnSpc>
            </a:pPr>
            <a:r>
              <a:rPr lang="en-US" altLang="ja-JP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各手続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の詳細管理機能</a:t>
            </a:r>
            <a:endParaRPr lang="en-US" altLang="ja-JP" sz="1200" dirty="0"/>
          </a:p>
        </p:txBody>
      </p:sp>
      <p:sp>
        <p:nvSpPr>
          <p:cNvPr id="68" name="Shape 54">
            <a:extLst>
              <a:ext uri="{FF2B5EF4-FFF2-40B4-BE49-F238E27FC236}">
                <a16:creationId xmlns:a16="http://schemas.microsoft.com/office/drawing/2014/main" id="{DCCC17B5-343C-8FBD-08A9-92A376E8B892}"/>
              </a:ext>
            </a:extLst>
          </p:cNvPr>
          <p:cNvSpPr/>
          <p:nvPr/>
        </p:nvSpPr>
        <p:spPr>
          <a:xfrm>
            <a:off x="5077846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55">
            <a:extLst>
              <a:ext uri="{FF2B5EF4-FFF2-40B4-BE49-F238E27FC236}">
                <a16:creationId xmlns:a16="http://schemas.microsoft.com/office/drawing/2014/main" id="{5992FA9A-D29E-0C9A-84B0-E284282467DF}"/>
              </a:ext>
            </a:extLst>
          </p:cNvPr>
          <p:cNvSpPr/>
          <p:nvPr/>
        </p:nvSpPr>
        <p:spPr>
          <a:xfrm>
            <a:off x="6254313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0" name="Text 56">
            <a:extLst>
              <a:ext uri="{FF2B5EF4-FFF2-40B4-BE49-F238E27FC236}">
                <a16:creationId xmlns:a16="http://schemas.microsoft.com/office/drawing/2014/main" id="{E2E0E6B6-38A5-B650-B08E-392DF28D645E}"/>
              </a:ext>
            </a:extLst>
          </p:cNvPr>
          <p:cNvSpPr/>
          <p:nvPr/>
        </p:nvSpPr>
        <p:spPr>
          <a:xfrm>
            <a:off x="6254313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71" name="Shape 57">
            <a:extLst>
              <a:ext uri="{FF2B5EF4-FFF2-40B4-BE49-F238E27FC236}">
                <a16:creationId xmlns:a16="http://schemas.microsoft.com/office/drawing/2014/main" id="{00D7DBA5-6120-8D5C-6FEE-A1E2032B2D1D}"/>
              </a:ext>
            </a:extLst>
          </p:cNvPr>
          <p:cNvSpPr/>
          <p:nvPr/>
        </p:nvSpPr>
        <p:spPr>
          <a:xfrm>
            <a:off x="5279014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2" name="Image 12" descr="preencoded.png">
            <a:extLst>
              <a:ext uri="{FF2B5EF4-FFF2-40B4-BE49-F238E27FC236}">
                <a16:creationId xmlns:a16="http://schemas.microsoft.com/office/drawing/2014/main" id="{4165F81B-00DC-B966-AD38-222EDDF02A2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02458" y="5161788"/>
            <a:ext cx="246888" cy="246888"/>
          </a:xfrm>
          <a:prstGeom prst="rect">
            <a:avLst/>
          </a:prstGeom>
        </p:spPr>
      </p:pic>
      <p:sp>
        <p:nvSpPr>
          <p:cNvPr id="73" name="Text 58">
            <a:extLst>
              <a:ext uri="{FF2B5EF4-FFF2-40B4-BE49-F238E27FC236}">
                <a16:creationId xmlns:a16="http://schemas.microsoft.com/office/drawing/2014/main" id="{C3466B49-285B-42E7-45F7-B31C30B09421}"/>
              </a:ext>
            </a:extLst>
          </p:cNvPr>
          <p:cNvSpPr/>
          <p:nvPr/>
        </p:nvSpPr>
        <p:spPr>
          <a:xfrm>
            <a:off x="5260726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5000"/>
              </a:lnSpc>
            </a:pPr>
            <a:r>
              <a:rPr lang="en-US" altLang="ja-JP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ダッシュボード／稼働状況</a:t>
            </a:r>
            <a:endParaRPr lang="en-US" altLang="ja-JP" sz="1200" dirty="0"/>
          </a:p>
        </p:txBody>
      </p:sp>
      <p:sp>
        <p:nvSpPr>
          <p:cNvPr id="74" name="Shape 59">
            <a:extLst>
              <a:ext uri="{FF2B5EF4-FFF2-40B4-BE49-F238E27FC236}">
                <a16:creationId xmlns:a16="http://schemas.microsoft.com/office/drawing/2014/main" id="{914CD549-46A8-5416-B0C3-E6D37BA13C70}"/>
              </a:ext>
            </a:extLst>
          </p:cNvPr>
          <p:cNvSpPr/>
          <p:nvPr/>
        </p:nvSpPr>
        <p:spPr>
          <a:xfrm>
            <a:off x="7296729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60">
            <a:extLst>
              <a:ext uri="{FF2B5EF4-FFF2-40B4-BE49-F238E27FC236}">
                <a16:creationId xmlns:a16="http://schemas.microsoft.com/office/drawing/2014/main" id="{526C8BE6-D09A-8943-C3C5-DBD87914ECC3}"/>
              </a:ext>
            </a:extLst>
          </p:cNvPr>
          <p:cNvSpPr/>
          <p:nvPr/>
        </p:nvSpPr>
        <p:spPr>
          <a:xfrm>
            <a:off x="8473196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6" name="Text 61">
            <a:extLst>
              <a:ext uri="{FF2B5EF4-FFF2-40B4-BE49-F238E27FC236}">
                <a16:creationId xmlns:a16="http://schemas.microsoft.com/office/drawing/2014/main" id="{1B620E4E-1411-77BD-4F65-77F2FFF14EEF}"/>
              </a:ext>
            </a:extLst>
          </p:cNvPr>
          <p:cNvSpPr/>
          <p:nvPr/>
        </p:nvSpPr>
        <p:spPr>
          <a:xfrm>
            <a:off x="8473196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77" name="Shape 62">
            <a:extLst>
              <a:ext uri="{FF2B5EF4-FFF2-40B4-BE49-F238E27FC236}">
                <a16:creationId xmlns:a16="http://schemas.microsoft.com/office/drawing/2014/main" id="{01B10A75-84DD-65BB-816C-B563BF6D2B01}"/>
              </a:ext>
            </a:extLst>
          </p:cNvPr>
          <p:cNvSpPr/>
          <p:nvPr/>
        </p:nvSpPr>
        <p:spPr>
          <a:xfrm>
            <a:off x="7497897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78" name="Image 13" descr="preencoded.png">
            <a:extLst>
              <a:ext uri="{FF2B5EF4-FFF2-40B4-BE49-F238E27FC236}">
                <a16:creationId xmlns:a16="http://schemas.microsoft.com/office/drawing/2014/main" id="{4A9B0065-6748-38F9-60D3-FD9330CA9F1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21341" y="5161788"/>
            <a:ext cx="246888" cy="246888"/>
          </a:xfrm>
          <a:prstGeom prst="rect">
            <a:avLst/>
          </a:prstGeom>
        </p:spPr>
      </p:pic>
      <p:sp>
        <p:nvSpPr>
          <p:cNvPr id="79" name="Text 63">
            <a:extLst>
              <a:ext uri="{FF2B5EF4-FFF2-40B4-BE49-F238E27FC236}">
                <a16:creationId xmlns:a16="http://schemas.microsoft.com/office/drawing/2014/main" id="{57D7A800-9A9F-21A3-EAD7-38A18338C834}"/>
              </a:ext>
            </a:extLst>
          </p:cNvPr>
          <p:cNvSpPr/>
          <p:nvPr/>
        </p:nvSpPr>
        <p:spPr>
          <a:xfrm>
            <a:off x="7479609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</a:rPr>
              <a:t>レポート作成機能</a:t>
            </a:r>
            <a:endParaRPr lang="en-US" sz="1200" dirty="0"/>
          </a:p>
        </p:txBody>
      </p:sp>
      <p:sp>
        <p:nvSpPr>
          <p:cNvPr id="80" name="Shape 64">
            <a:extLst>
              <a:ext uri="{FF2B5EF4-FFF2-40B4-BE49-F238E27FC236}">
                <a16:creationId xmlns:a16="http://schemas.microsoft.com/office/drawing/2014/main" id="{54C333C0-4947-D275-811C-E3AB78C0F6FE}"/>
              </a:ext>
            </a:extLst>
          </p:cNvPr>
          <p:cNvSpPr/>
          <p:nvPr/>
        </p:nvSpPr>
        <p:spPr>
          <a:xfrm>
            <a:off x="9515612" y="4855464"/>
            <a:ext cx="2036003" cy="1170432"/>
          </a:xfrm>
          <a:prstGeom prst="roundRect">
            <a:avLst>
              <a:gd name="adj" fmla="val 5469"/>
            </a:avLst>
          </a:prstGeom>
          <a:solidFill>
            <a:srgbClr val="EFF2F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65">
            <a:extLst>
              <a:ext uri="{FF2B5EF4-FFF2-40B4-BE49-F238E27FC236}">
                <a16:creationId xmlns:a16="http://schemas.microsoft.com/office/drawing/2014/main" id="{B84013BA-A8AD-8FF0-5EFE-B27E17D0F3F1}"/>
              </a:ext>
            </a:extLst>
          </p:cNvPr>
          <p:cNvSpPr/>
          <p:nvPr/>
        </p:nvSpPr>
        <p:spPr>
          <a:xfrm>
            <a:off x="10692079" y="5001768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2" name="Text 66">
            <a:extLst>
              <a:ext uri="{FF2B5EF4-FFF2-40B4-BE49-F238E27FC236}">
                <a16:creationId xmlns:a16="http://schemas.microsoft.com/office/drawing/2014/main" id="{37482869-E8F2-7503-3B25-D8AD3C9689BE}"/>
              </a:ext>
            </a:extLst>
          </p:cNvPr>
          <p:cNvSpPr/>
          <p:nvPr/>
        </p:nvSpPr>
        <p:spPr>
          <a:xfrm>
            <a:off x="10692079" y="5001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1ヶ月後</a:t>
            </a:r>
            <a:endParaRPr lang="en-US" sz="900" dirty="0"/>
          </a:p>
        </p:txBody>
      </p:sp>
      <p:sp>
        <p:nvSpPr>
          <p:cNvPr id="83" name="Shape 67">
            <a:extLst>
              <a:ext uri="{FF2B5EF4-FFF2-40B4-BE49-F238E27FC236}">
                <a16:creationId xmlns:a16="http://schemas.microsoft.com/office/drawing/2014/main" id="{1FB2760D-33FE-A417-290D-0EB59CA19B78}"/>
              </a:ext>
            </a:extLst>
          </p:cNvPr>
          <p:cNvSpPr/>
          <p:nvPr/>
        </p:nvSpPr>
        <p:spPr>
          <a:xfrm>
            <a:off x="9716780" y="5038344"/>
            <a:ext cx="493776" cy="493776"/>
          </a:xfrm>
          <a:prstGeom prst="ellipse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84" name="Image 14" descr="preencoded.png">
            <a:extLst>
              <a:ext uri="{FF2B5EF4-FFF2-40B4-BE49-F238E27FC236}">
                <a16:creationId xmlns:a16="http://schemas.microsoft.com/office/drawing/2014/main" id="{C95AA06F-9292-B516-D715-E9B9CAF1641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40224" y="5161788"/>
            <a:ext cx="246888" cy="246888"/>
          </a:xfrm>
          <a:prstGeom prst="rect">
            <a:avLst/>
          </a:prstGeom>
        </p:spPr>
      </p:pic>
      <p:sp>
        <p:nvSpPr>
          <p:cNvPr id="85" name="Text 68">
            <a:extLst>
              <a:ext uri="{FF2B5EF4-FFF2-40B4-BE49-F238E27FC236}">
                <a16:creationId xmlns:a16="http://schemas.microsoft.com/office/drawing/2014/main" id="{FD34BFB4-4FD4-F115-1A43-D83D50B867A4}"/>
              </a:ext>
            </a:extLst>
          </p:cNvPr>
          <p:cNvSpPr/>
          <p:nvPr/>
        </p:nvSpPr>
        <p:spPr>
          <a:xfrm>
            <a:off x="9698492" y="5605272"/>
            <a:ext cx="1688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</a:t>
            </a:r>
            <a:r>
              <a:rPr lang="ja-JP" altLang="en-US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チャットサポート</a:t>
            </a:r>
            <a:r>
              <a:rPr lang="en-US" altLang="ja-JP" sz="12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/</a:t>
            </a:r>
          </a:p>
          <a:p>
            <a:pPr marL="0" indent="0">
              <a:lnSpc>
                <a:spcPct val="95000"/>
              </a:lnSpc>
              <a:buNone/>
            </a:pPr>
            <a:r>
              <a:rPr lang="en-US" sz="1200" b="1" dirty="0" err="1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マニュアル</a:t>
            </a:r>
            <a:endParaRPr lang="en-US" sz="1200" dirty="0"/>
          </a:p>
        </p:txBody>
      </p:sp>
      <p:sp>
        <p:nvSpPr>
          <p:cNvPr id="86" name="Shape 69">
            <a:extLst>
              <a:ext uri="{FF2B5EF4-FFF2-40B4-BE49-F238E27FC236}">
                <a16:creationId xmlns:a16="http://schemas.microsoft.com/office/drawing/2014/main" id="{D1FF4FC7-7187-AFAC-EB41-2645B8E8BCFD}"/>
              </a:ext>
            </a:extLst>
          </p:cNvPr>
          <p:cNvSpPr/>
          <p:nvPr/>
        </p:nvSpPr>
        <p:spPr>
          <a:xfrm>
            <a:off x="640080" y="6199632"/>
            <a:ext cx="10927080" cy="457200"/>
          </a:xfrm>
          <a:prstGeom prst="roundRect">
            <a:avLst>
              <a:gd name="adj" fmla="val 10000"/>
            </a:avLst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7" name="Text 70">
            <a:extLst>
              <a:ext uri="{FF2B5EF4-FFF2-40B4-BE49-F238E27FC236}">
                <a16:creationId xmlns:a16="http://schemas.microsoft.com/office/drawing/2014/main" id="{F6BD9D09-92A0-34AE-7F51-6D54A5F98D78}"/>
              </a:ext>
            </a:extLst>
          </p:cNvPr>
          <p:cNvSpPr/>
          <p:nvPr/>
        </p:nvSpPr>
        <p:spPr>
          <a:xfrm>
            <a:off x="914400" y="61996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5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まずは小さく。 </a:t>
            </a:r>
            <a:r>
              <a:rPr lang="en-US" sz="12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青の機能から運用を開始し、進行ゲート等の自動制御を含む残りは、トライアル後（約1ヶ月）に解放します。</a:t>
            </a:r>
            <a:endParaRPr lang="en-US" sz="1250" dirty="0"/>
          </a:p>
        </p:txBody>
      </p:sp>
      <p:sp>
        <p:nvSpPr>
          <p:cNvPr id="88" name="Text 71">
            <a:extLst>
              <a:ext uri="{FF2B5EF4-FFF2-40B4-BE49-F238E27FC236}">
                <a16:creationId xmlns:a16="http://schemas.microsoft.com/office/drawing/2014/main" id="{C84190DF-C3BF-47AD-A4D1-4272FAAE73AF}"/>
              </a:ext>
            </a:extLst>
          </p:cNvPr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97280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89D1D98-1E65-F39F-7278-28F1F8C01A6F}"/>
              </a:ext>
            </a:extLst>
          </p:cNvPr>
          <p:cNvSpPr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F3AFC549-DF9F-4115-81A6-FED29F90110A}"/>
              </a:ext>
            </a:extLst>
          </p:cNvPr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POINT</a:t>
            </a:r>
            <a:endParaRPr lang="en-US" sz="12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A4B8CD0F-3930-60DC-93BC-083B44B9CE67}"/>
              </a:ext>
            </a:extLst>
          </p:cNvPr>
          <p:cNvSpPr/>
          <p:nvPr/>
        </p:nvSpPr>
        <p:spPr>
          <a:xfrm>
            <a:off x="792480" y="929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</a:rPr>
              <a:t>相談案件登録アプリ</a:t>
            </a:r>
            <a:endParaRPr lang="en-US" sz="2800" dirty="0"/>
          </a:p>
        </p:txBody>
      </p:sp>
      <p:sp>
        <p:nvSpPr>
          <p:cNvPr id="8" name="円柱 7">
            <a:extLst>
              <a:ext uri="{FF2B5EF4-FFF2-40B4-BE49-F238E27FC236}">
                <a16:creationId xmlns:a16="http://schemas.microsoft.com/office/drawing/2014/main" id="{E91AC462-0B22-962C-D54B-C6729E91598F}"/>
              </a:ext>
            </a:extLst>
          </p:cNvPr>
          <p:cNvSpPr/>
          <p:nvPr/>
        </p:nvSpPr>
        <p:spPr>
          <a:xfrm>
            <a:off x="914400" y="2730857"/>
            <a:ext cx="1579528" cy="1165634"/>
          </a:xfrm>
          <a:prstGeom prst="can">
            <a:avLst>
              <a:gd name="adj" fmla="val 195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相続ステーション</a:t>
            </a:r>
          </a:p>
        </p:txBody>
      </p:sp>
      <p:sp>
        <p:nvSpPr>
          <p:cNvPr id="9" name="円柱 8">
            <a:extLst>
              <a:ext uri="{FF2B5EF4-FFF2-40B4-BE49-F238E27FC236}">
                <a16:creationId xmlns:a16="http://schemas.microsoft.com/office/drawing/2014/main" id="{CC72A9A9-910B-50CD-1112-82536DE6FA0C}"/>
              </a:ext>
            </a:extLst>
          </p:cNvPr>
          <p:cNvSpPr/>
          <p:nvPr/>
        </p:nvSpPr>
        <p:spPr>
          <a:xfrm>
            <a:off x="4592672" y="2730857"/>
            <a:ext cx="1579528" cy="1165634"/>
          </a:xfrm>
          <a:prstGeom prst="can">
            <a:avLst>
              <a:gd name="adj" fmla="val 195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新システム</a:t>
            </a:r>
            <a:endParaRPr kumimoji="1" lang="en-US" altLang="ja-JP" sz="11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sz="11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相続案件管理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31CA59A0-6EEC-CBB9-7973-1F8A8D3C7E75}"/>
              </a:ext>
            </a:extLst>
          </p:cNvPr>
          <p:cNvCxnSpPr>
            <a:stCxn id="8" idx="4"/>
            <a:endCxn id="9" idx="2"/>
          </p:cNvCxnSpPr>
          <p:nvPr/>
        </p:nvCxnSpPr>
        <p:spPr>
          <a:xfrm>
            <a:off x="2493928" y="3313674"/>
            <a:ext cx="2098744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4A3B2400-99D6-9A48-25DF-B15CAFFE58F2}"/>
              </a:ext>
            </a:extLst>
          </p:cNvPr>
          <p:cNvSpPr/>
          <p:nvPr/>
        </p:nvSpPr>
        <p:spPr>
          <a:xfrm>
            <a:off x="2966519" y="3141658"/>
            <a:ext cx="1077362" cy="344032"/>
          </a:xfrm>
          <a:prstGeom prst="roundRect">
            <a:avLst>
              <a:gd name="adj" fmla="val 50000"/>
            </a:avLst>
          </a:prstGeom>
          <a:solidFill>
            <a:srgbClr val="1B3A8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latin typeface="Meiryo UI" panose="020B0604030504040204" pitchFamily="50" charset="-128"/>
                <a:ea typeface="Meiryo UI" panose="020B0604030504040204" pitchFamily="50" charset="-128"/>
              </a:rPr>
              <a:t>システム連携</a:t>
            </a:r>
          </a:p>
        </p:txBody>
      </p:sp>
      <p:sp>
        <p:nvSpPr>
          <p:cNvPr id="16" name="四角形: メモ 15">
            <a:extLst>
              <a:ext uri="{FF2B5EF4-FFF2-40B4-BE49-F238E27FC236}">
                <a16:creationId xmlns:a16="http://schemas.microsoft.com/office/drawing/2014/main" id="{1FD036EA-C560-9CD3-F8E1-0DFD5C6472DA}"/>
              </a:ext>
            </a:extLst>
          </p:cNvPr>
          <p:cNvSpPr/>
          <p:nvPr/>
        </p:nvSpPr>
        <p:spPr>
          <a:xfrm>
            <a:off x="2320063" y="4068508"/>
            <a:ext cx="2370273" cy="1072474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相続ステーションでアポ完了済の相談案件が新システムに連携されます。</a:t>
            </a:r>
            <a: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※7/6</a:t>
            </a:r>
            <a:r>
              <a:rPr kumimoji="1" lang="ja-JP" altLang="en-US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以降に相続ステーションでアポ完了済にした案件情報が自動連携</a:t>
            </a:r>
            <a:br>
              <a:rPr kumimoji="1" lang="en-US" altLang="ja-JP" sz="12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endParaRPr kumimoji="1" lang="en-US" altLang="ja-JP" sz="12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2B3F2C1A-AE2E-8B9C-23C2-2397CE70B019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3505200" y="3485690"/>
            <a:ext cx="0" cy="5828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427B228-8CCE-D209-F4CC-39B7D5202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350" y="2225065"/>
            <a:ext cx="1849085" cy="3410661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9C2E9D60-F97B-A9A8-7EEF-F61F4427E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3497" y="3169553"/>
            <a:ext cx="1971429" cy="1971429"/>
          </a:xfrm>
          <a:prstGeom prst="rect">
            <a:avLst/>
          </a:prstGeom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2970D9A-EFB9-4441-3C54-15DD86F7CE61}"/>
              </a:ext>
            </a:extLst>
          </p:cNvPr>
          <p:cNvSpPr txBox="1"/>
          <p:nvPr/>
        </p:nvSpPr>
        <p:spPr>
          <a:xfrm>
            <a:off x="9413423" y="2395906"/>
            <a:ext cx="131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b="1" dirty="0">
                <a:latin typeface="Meiryo UI" panose="020B0604030504040204" pitchFamily="50" charset="-128"/>
                <a:ea typeface="Meiryo UI" panose="020B0604030504040204" pitchFamily="50" charset="-128"/>
              </a:rPr>
              <a:t>アプリ</a:t>
            </a:r>
            <a:endParaRPr kumimoji="1" lang="en-US" altLang="ja-JP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ja-JP" altLang="en-US" b="1" dirty="0">
                <a:latin typeface="Meiryo UI" panose="020B0604030504040204" pitchFamily="50" charset="-128"/>
                <a:ea typeface="Meiryo UI" panose="020B0604030504040204" pitchFamily="50" charset="-128"/>
              </a:rPr>
              <a:t>インストール</a:t>
            </a:r>
          </a:p>
        </p:txBody>
      </p:sp>
      <p:sp>
        <p:nvSpPr>
          <p:cNvPr id="32" name="Shape 69">
            <a:extLst>
              <a:ext uri="{FF2B5EF4-FFF2-40B4-BE49-F238E27FC236}">
                <a16:creationId xmlns:a16="http://schemas.microsoft.com/office/drawing/2014/main" id="{63A09E09-1B84-13D4-3256-E09F3023C8E7}"/>
              </a:ext>
            </a:extLst>
          </p:cNvPr>
          <p:cNvSpPr/>
          <p:nvPr/>
        </p:nvSpPr>
        <p:spPr>
          <a:xfrm>
            <a:off x="640080" y="6199632"/>
            <a:ext cx="10927080" cy="457200"/>
          </a:xfrm>
          <a:prstGeom prst="roundRect">
            <a:avLst>
              <a:gd name="adj" fmla="val 10000"/>
            </a:avLst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4" name="Text 70">
            <a:extLst>
              <a:ext uri="{FF2B5EF4-FFF2-40B4-BE49-F238E27FC236}">
                <a16:creationId xmlns:a16="http://schemas.microsoft.com/office/drawing/2014/main" id="{A03B9675-979F-BF94-C963-B64DF196D7DA}"/>
              </a:ext>
            </a:extLst>
          </p:cNvPr>
          <p:cNvSpPr/>
          <p:nvPr/>
        </p:nvSpPr>
        <p:spPr>
          <a:xfrm>
            <a:off x="914400" y="61996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250" b="1" dirty="0">
                <a:solidFill>
                  <a:srgbClr val="2F58D4"/>
                </a:solidFill>
                <a:latin typeface="Meiryo UI" pitchFamily="34" charset="0"/>
                <a:ea typeface="Meiryo UI" pitchFamily="34" charset="-122"/>
              </a:rPr>
              <a:t>専用アプリで出先でも、相談案件の登録が可能に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719701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7A65577-73AC-CE08-9700-4D9D94E8B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857" y="1859280"/>
            <a:ext cx="2277291" cy="4200492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B94253C3-18A9-7283-54DF-E1CC41D89640}"/>
              </a:ext>
            </a:extLst>
          </p:cNvPr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</a:rPr>
              <a:t>APP Image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CCEF49A1-8DB9-543B-CC05-54C736848110}"/>
              </a:ext>
            </a:extLst>
          </p:cNvPr>
          <p:cNvSpPr/>
          <p:nvPr/>
        </p:nvSpPr>
        <p:spPr>
          <a:xfrm>
            <a:off x="792480" y="929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</a:rPr>
              <a:t>いつでもどこでも相談案件登録</a:t>
            </a:r>
            <a:endParaRPr lang="en-US" sz="28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EC2EDCC-7D41-43C6-418C-E14B4AB73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9" y="1859280"/>
            <a:ext cx="2277291" cy="420049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BB4507A7-319F-53A8-CB96-E6AF9D77E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3559" y="1859280"/>
            <a:ext cx="2244521" cy="4140048"/>
          </a:xfrm>
          <a:prstGeom prst="rect">
            <a:avLst/>
          </a:prstGeom>
        </p:spPr>
      </p:pic>
      <p:sp>
        <p:nvSpPr>
          <p:cNvPr id="12" name="矢印: 右 11">
            <a:extLst>
              <a:ext uri="{FF2B5EF4-FFF2-40B4-BE49-F238E27FC236}">
                <a16:creationId xmlns:a16="http://schemas.microsoft.com/office/drawing/2014/main" id="{13E3C115-91CC-6874-B786-44FAB9888016}"/>
              </a:ext>
            </a:extLst>
          </p:cNvPr>
          <p:cNvSpPr/>
          <p:nvPr/>
        </p:nvSpPr>
        <p:spPr>
          <a:xfrm>
            <a:off x="3846286" y="3319704"/>
            <a:ext cx="899885" cy="60960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8BD3B973-EA37-B654-A8FE-3E6B1C8BE972}"/>
              </a:ext>
            </a:extLst>
          </p:cNvPr>
          <p:cNvSpPr/>
          <p:nvPr/>
        </p:nvSpPr>
        <p:spPr>
          <a:xfrm>
            <a:off x="7802911" y="3349926"/>
            <a:ext cx="899885" cy="60960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4062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MINIMUM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ミニマム運用 ── この流れで使います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270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41248" y="1993392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41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0756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19202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面談結果を登録して案件を作る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011680" y="226771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「相談案件登録」から面談結果を入力（受注／依頼確定待ち／検討中 など）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706624"/>
            <a:ext cx="109270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8"/>
          <p:cNvSpPr/>
          <p:nvPr/>
        </p:nvSpPr>
        <p:spPr>
          <a:xfrm>
            <a:off x="841248" y="2871216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/>
          <p:nvPr/>
        </p:nvSpPr>
        <p:spPr>
          <a:xfrm>
            <a:off x="841248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8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760" y="295351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11680" y="2798064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管理担当をアサインする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2011680" y="3145536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案件に管理担当を割り当てる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3584448"/>
            <a:ext cx="109270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841248" y="3749040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4"/>
          <p:cNvSpPr/>
          <p:nvPr/>
        </p:nvSpPr>
        <p:spPr>
          <a:xfrm>
            <a:off x="84124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760" y="3831336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11680" y="367588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受注になったら前受金請求書を発行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2011680" y="402336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管理担当が「請求」タブから前受金請求書を作成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4462272"/>
            <a:ext cx="109270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18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19"/>
          <p:cNvSpPr/>
          <p:nvPr/>
        </p:nvSpPr>
        <p:spPr>
          <a:xfrm>
            <a:off x="841248" y="4626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8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470916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11680" y="4553712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事務管理へ引き継ぎ、対応中に変更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2011680" y="4901184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手動でステータスを「対応中」へ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40080" y="5340096"/>
            <a:ext cx="1092708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3"/>
          <p:cNvSpPr/>
          <p:nvPr/>
        </p:nvSpPr>
        <p:spPr>
          <a:xfrm>
            <a:off x="841248" y="5504688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4"/>
          <p:cNvSpPr/>
          <p:nvPr/>
        </p:nvSpPr>
        <p:spPr>
          <a:xfrm>
            <a:off x="841248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8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8760" y="5586984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11680" y="5431536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完了時に確定＋立替実費を請求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2011680" y="5779008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立替実費を入力し、確定請求書・立替実費請求書を作成して完了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640080" y="6263640"/>
            <a:ext cx="10927080" cy="457200"/>
          </a:xfrm>
          <a:prstGeom prst="roundRect">
            <a:avLst>
              <a:gd name="adj" fmla="val 10000"/>
            </a:avLst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5" name="Text 28"/>
          <p:cNvSpPr/>
          <p:nvPr/>
        </p:nvSpPr>
        <p:spPr>
          <a:xfrm>
            <a:off x="914400" y="6263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任意：  </a:t>
            </a: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依頼者・被相続人情報をきちんと入れた方は、AIで契約書・委任状・郵送確認票も作成できます。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474720"/>
            <a:ext cx="5486400" cy="5486400"/>
          </a:xfrm>
          <a:prstGeom prst="ellipse">
            <a:avLst/>
          </a:prstGeom>
          <a:solidFill>
            <a:srgbClr val="2F58D4">
              <a:alpha val="20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5029200" cy="5029200"/>
          </a:xfrm>
          <a:prstGeom prst="ellipse">
            <a:avLst/>
          </a:prstGeom>
          <a:solidFill>
            <a:srgbClr val="0092C7">
              <a:alpha val="16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FFFFFF">
                    <a:alpha val="18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6868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SCHEDULE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スケジュール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まず7/6から。1ヶ月のトライアルを経てフル機能へ。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92640" y="365760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40416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スケジュール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80160" y="3611880"/>
            <a:ext cx="9601200" cy="54864"/>
          </a:xfrm>
          <a:prstGeom prst="rect">
            <a:avLst/>
          </a:prstGeom>
          <a:solidFill>
            <a:srgbClr val="D9E2F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1408176" y="3493008"/>
            <a:ext cx="292608" cy="292608"/>
          </a:xfrm>
          <a:prstGeom prst="ellipse">
            <a:avLst/>
          </a:prstGeom>
          <a:solidFill>
            <a:srgbClr val="2F58D4"/>
          </a:solidFill>
          <a:ln w="31750">
            <a:solidFill>
              <a:srgbClr val="2F58D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705856" y="3493008"/>
            <a:ext cx="292608" cy="292608"/>
          </a:xfrm>
          <a:prstGeom prst="ellipse">
            <a:avLst/>
          </a:prstGeom>
          <a:solidFill>
            <a:srgbClr val="2F58D4"/>
          </a:solidFill>
          <a:ln w="31750">
            <a:solidFill>
              <a:srgbClr val="2F58D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912096" y="3493008"/>
            <a:ext cx="292608" cy="29260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58D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429000" cy="1600200"/>
          </a:xfrm>
          <a:prstGeom prst="roundRect">
            <a:avLst>
              <a:gd name="adj" fmla="val 3429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5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7/6</a:t>
            </a:r>
            <a:r>
              <a:rPr lang="en-US" sz="1300" dirty="0">
                <a:solidFill>
                  <a:srgbClr val="3D60D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（月）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ミニマム運用開始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2852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面談登録・管理担当アサイン・請求発行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554480" y="3429000"/>
            <a:ext cx="0" cy="182880"/>
          </a:xfrm>
          <a:prstGeom prst="line">
            <a:avLst/>
          </a:prstGeom>
          <a:noFill/>
          <a:ln w="19050">
            <a:solidFill>
              <a:srgbClr val="D9E2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137660" y="4114800"/>
            <a:ext cx="3429000" cy="1600200"/>
          </a:xfrm>
          <a:prstGeom prst="roundRect">
            <a:avLst>
              <a:gd name="adj" fmla="val 3429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4366260" y="42611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5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7月</a:t>
            </a:r>
            <a:r>
              <a:rPr lang="en-US" sz="1300" dirty="0">
                <a:solidFill>
                  <a:srgbClr val="3D60D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366260" y="4773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トライアル期間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66260" y="5138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実運用しながら課題を洗い出し、仕様を調整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52160" y="3611880"/>
            <a:ext cx="0" cy="502920"/>
          </a:xfrm>
          <a:prstGeom prst="line">
            <a:avLst/>
          </a:prstGeom>
          <a:noFill/>
          <a:ln w="19050">
            <a:solidFill>
              <a:srgbClr val="D9E2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8122615" y="1828800"/>
            <a:ext cx="3429000" cy="1600200"/>
          </a:xfrm>
          <a:prstGeom prst="roundRect">
            <a:avLst>
              <a:gd name="adj" fmla="val 3429"/>
            </a:avLst>
          </a:prstGeom>
          <a:solidFill>
            <a:srgbClr val="EFF2F6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8351215" y="19751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約1ヶ月後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51215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フル機能リリース（予定）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51215" y="2852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実務・書類管理まで全機能を解放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58400" y="3429000"/>
            <a:ext cx="0" cy="182880"/>
          </a:xfrm>
          <a:prstGeom prst="line">
            <a:avLst/>
          </a:prstGeom>
          <a:noFill/>
          <a:ln w="19050">
            <a:solidFill>
              <a:srgbClr val="D9E2F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640080" y="5989320"/>
            <a:ext cx="10927080" cy="640080"/>
          </a:xfrm>
          <a:prstGeom prst="roundRect">
            <a:avLst>
              <a:gd name="adj" fmla="val 8571"/>
            </a:avLst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914400" y="5989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ご注意：  </a:t>
            </a:r>
            <a:r>
              <a:rPr lang="en-US" sz="135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トライアル中に仕様変更を行う可能性が高いため、フル機能で使える範囲は変更になる場合があります。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474720"/>
            <a:ext cx="5486400" cy="5486400"/>
          </a:xfrm>
          <a:prstGeom prst="ellipse">
            <a:avLst/>
          </a:prstGeom>
          <a:solidFill>
            <a:srgbClr val="2F58D4">
              <a:alpha val="20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9601200" y="-1828800"/>
            <a:ext cx="5029200" cy="5029200"/>
          </a:xfrm>
          <a:prstGeom prst="ellipse">
            <a:avLst/>
          </a:prstGeom>
          <a:solidFill>
            <a:srgbClr val="0092C7">
              <a:alpha val="16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0" b="1" dirty="0">
                <a:solidFill>
                  <a:srgbClr val="FFFFFF">
                    <a:alpha val="18000"/>
                  </a:srgbClr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68680" y="3200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利用開始方法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アカウントを発行します。7/6の朝までにお届けします。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92640" y="365760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4041648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ACCOUNTS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アカウントの発行について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4206240"/>
          </a:xfrm>
          <a:prstGeom prst="roundRect">
            <a:avLst>
              <a:gd name="adj" fmla="val 1304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発行の対象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743200"/>
            <a:ext cx="4800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097280" y="2916936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3054096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743200"/>
            <a:ext cx="3749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14400" y="3767328"/>
            <a:ext cx="4800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8"/>
          <p:cNvSpPr/>
          <p:nvPr/>
        </p:nvSpPr>
        <p:spPr>
          <a:xfrm>
            <a:off x="1097280" y="3941064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0782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28800" y="3767328"/>
            <a:ext cx="3749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914400" y="4791456"/>
            <a:ext cx="48006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1"/>
          <p:cNvSpPr/>
          <p:nvPr/>
        </p:nvSpPr>
        <p:spPr>
          <a:xfrm>
            <a:off x="1097280" y="4965192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510235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791456"/>
            <a:ext cx="3749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LP担当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6217920" y="1828800"/>
            <a:ext cx="534924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4"/>
          <p:cNvSpPr/>
          <p:nvPr/>
        </p:nvSpPr>
        <p:spPr>
          <a:xfrm>
            <a:off x="649224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お届けとログイン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492240" y="2743200"/>
            <a:ext cx="566928" cy="566928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288950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69480" y="27066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ID・パスワードとURLを送付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269480" y="30723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7月6日（月）の朝までにお届けします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92240" y="3767328"/>
            <a:ext cx="566928" cy="566928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3913632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269480" y="3730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URLを開く</a:t>
            </a:r>
            <a:endParaRPr lang="en-US" sz="1550" dirty="0"/>
          </a:p>
        </p:txBody>
      </p:sp>
      <p:sp>
        <p:nvSpPr>
          <p:cNvPr id="27" name="Text 20"/>
          <p:cNvSpPr/>
          <p:nvPr/>
        </p:nvSpPr>
        <p:spPr>
          <a:xfrm>
            <a:off x="7269480" y="4096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お使いのPCのブラウザからアクセス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492240" y="4791456"/>
            <a:ext cx="566928" cy="566928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937760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6948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IDとパスワードでログイン</a:t>
            </a:r>
            <a:endParaRPr lang="en-US" sz="1550" dirty="0"/>
          </a:p>
        </p:txBody>
      </p:sp>
      <p:sp>
        <p:nvSpPr>
          <p:cNvPr id="31" name="Text 23"/>
          <p:cNvSpPr/>
          <p:nvPr/>
        </p:nvSpPr>
        <p:spPr>
          <a:xfrm>
            <a:off x="7269480" y="5120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そのまますぐにご利用いただけます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PASSWORD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パスワードの設定と再発行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355080" cy="4297680"/>
          </a:xfrm>
          <a:prstGeom prst="roundRect">
            <a:avLst>
              <a:gd name="adj" fmla="val 1277"/>
            </a:avLst>
          </a:prstGeom>
          <a:solidFill>
            <a:srgbClr val="EEF2FE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914400" y="2057400"/>
            <a:ext cx="548640" cy="54864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945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574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初回ログインとパスワード設定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/>
          <p:nvPr/>
        </p:nvSpPr>
        <p:spPr>
          <a:xfrm>
            <a:off x="91440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54480" y="282549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届いたURLを開く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554480" y="319125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PCのブラウザからアクセス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14400" y="3840480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0"/>
          <p:cNvSpPr/>
          <p:nvPr/>
        </p:nvSpPr>
        <p:spPr>
          <a:xfrm>
            <a:off x="9144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55448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初期パスワードでログイン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554480" y="415137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配布したID・パスワードを入力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4400" y="4800600"/>
            <a:ext cx="457200" cy="45720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4"/>
          <p:cNvSpPr/>
          <p:nvPr/>
        </p:nvSpPr>
        <p:spPr>
          <a:xfrm>
            <a:off x="91440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54480" y="474573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自分のパスワードに変更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54480" y="511149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プロフィール画面「パスワード変更」から（8文字以上）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178040" y="1828800"/>
            <a:ext cx="438912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8"/>
          <p:cNvSpPr/>
          <p:nvPr/>
        </p:nvSpPr>
        <p:spPr>
          <a:xfrm>
            <a:off x="7452360" y="2057400"/>
            <a:ext cx="548640" cy="548640"/>
          </a:xfrm>
          <a:prstGeom prst="ellipse">
            <a:avLst/>
          </a:prstGeom>
          <a:solidFill>
            <a:srgbClr val="E6F7FC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19456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138160" y="2057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パスワードを忘れたら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7452360" y="2788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管理者に連絡してください。すぐに再設定して、新しいパスワードをお伝えします。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7452360" y="3611880"/>
            <a:ext cx="3840480" cy="1600200"/>
          </a:xfrm>
          <a:prstGeom prst="roundRect">
            <a:avLst>
              <a:gd name="adj" fmla="val 3429"/>
            </a:avLst>
          </a:prstGeom>
          <a:solidFill>
            <a:srgbClr val="EEF2F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2"/>
          <p:cNvSpPr/>
          <p:nvPr/>
        </p:nvSpPr>
        <p:spPr>
          <a:xfrm>
            <a:off x="7680960" y="3749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60D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再発行の依頼先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680960" y="4114800"/>
            <a:ext cx="502920" cy="502920"/>
          </a:xfrm>
          <a:prstGeom prst="ellipse">
            <a:avLst/>
          </a:prstGeom>
          <a:solidFill>
            <a:srgbClr val="2F58D4"/>
          </a:solidFill>
          <a:ln/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6" y="4242816"/>
            <a:ext cx="246888" cy="2468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21040" y="41148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8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管理者　福島</a:t>
            </a:r>
            <a:endParaRPr lang="en-US" sz="1500" dirty="0"/>
          </a:p>
        </p:txBody>
      </p:sp>
      <p:sp>
        <p:nvSpPr>
          <p:cNvPr id="30" name="Text 25"/>
          <p:cNvSpPr/>
          <p:nvPr/>
        </p:nvSpPr>
        <p:spPr>
          <a:xfrm>
            <a:off x="7680960" y="47091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92C7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suguru.fukushima@congen-ai.com</a:t>
            </a:r>
            <a:endParaRPr lang="en-US" sz="1250" dirty="0"/>
          </a:p>
        </p:txBody>
      </p:sp>
      <p:sp>
        <p:nvSpPr>
          <p:cNvPr id="31" name="Text 26"/>
          <p:cNvSpPr/>
          <p:nvPr/>
        </p:nvSpPr>
        <p:spPr>
          <a:xfrm>
            <a:off x="7452360" y="5394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 連絡いただければ、こちらで再設定します。</a:t>
            </a:r>
            <a:endParaRPr lang="en-US" sz="1150" dirty="0"/>
          </a:p>
        </p:txBody>
      </p:sp>
      <p:sp>
        <p:nvSpPr>
          <p:cNvPr id="32" name="Text 2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023360"/>
            <a:ext cx="5943600" cy="5943600"/>
          </a:xfrm>
          <a:prstGeom prst="ellipse">
            <a:avLst/>
          </a:prstGeom>
          <a:solidFill>
            <a:srgbClr val="2F58D4">
              <a:alpha val="20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9966960" y="4846320"/>
            <a:ext cx="3840480" cy="3840480"/>
          </a:xfrm>
          <a:prstGeom prst="ellipse">
            <a:avLst/>
          </a:prstGeom>
          <a:solidFill>
            <a:srgbClr val="0092C7">
              <a:alpha val="16000"/>
            </a:srgbClr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713232" y="685800"/>
            <a:ext cx="1865376" cy="1406347"/>
          </a:xfrm>
          <a:prstGeom prst="roundRect">
            <a:avLst>
              <a:gd name="adj" fmla="val 6502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1B3A8A">
                <a:alpha val="14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77240"/>
            <a:ext cx="1645920" cy="12234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まずは小さく、確実に。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3611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F7F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一緒に、日々の業務を楽にしていきましょう。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68680" y="43434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2F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使ってみて気づいたこと・困ったことは、遠慮なくお知らせください。トライアルで一緒に良くしていきます。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2026年7月6日（月）ミニマム運用開始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850</Words>
  <Application>Microsoft Office PowerPoint</Application>
  <PresentationFormat>ワイド画面</PresentationFormat>
  <Paragraphs>232</Paragraphs>
  <Slides>17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 UI</vt:lpstr>
      <vt:lpstr>Arial</vt:lpstr>
      <vt:lpstr>Wingdings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新システム移行説明会</dc:title>
  <dc:subject>PptxGenJS Presentation</dc:subject>
  <dc:creator>オーシャン</dc:creator>
  <cp:lastModifiedBy>優 福島</cp:lastModifiedBy>
  <cp:revision>2</cp:revision>
  <dcterms:created xsi:type="dcterms:W3CDTF">2026-07-02T15:24:42Z</dcterms:created>
  <dcterms:modified xsi:type="dcterms:W3CDTF">2026-07-03T02:11:00Z</dcterms:modified>
</cp:coreProperties>
</file>