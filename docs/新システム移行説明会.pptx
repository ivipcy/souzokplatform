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掴み：今日は細かい操作は教えません。「なぜ・どう運用するか」と「どう移行していくか」を共有します。所要90〜120分。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3番が今日の一番の価値。機能紹介ではなく「ボールが落ちない仕組み」として話す。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「仕事が増える」不安を、可視化と自動化で「むしろ抜けが減る」に転換して伝える。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この1枚が背骨。以降のルールはこの流れのどこの話かを都度指させる。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新システムの一番の価値。ここは熱量を上げて。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報連相は案件詳細を見ながら書けるフローティングウィンドウ。至急は要注意バナーに出る。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明日のテストシナリオ（docs/テストシナリオ_面談から納品まで.md）をそのまま実演。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669280" cy="56692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108960"/>
            <a:ext cx="3840480" cy="3840480"/>
          </a:xfrm>
          <a:prstGeom prst="ellipse">
            <a:avLst/>
          </a:prstGeom>
          <a:solidFill>
            <a:srgbClr val="232C6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相続プラットフォーム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新システム 移行説明会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業務運用の方針とルール ／ 段階移行のスケジュール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5760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相続事業部</a:t>
            </a:r>
            <a:pPr indent="0" marL="0">
              <a:buNone/>
            </a:pPr>
            <a:r>
              <a:rPr lang="en-US" sz="1400" dirty="0">
                <a:solidFill>
                  <a:srgbClr val="9AA6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   20XX年X月X日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今日の流れ（約90〜120分）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17320" y="153619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なぜ変えるのか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17320" y="186537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紙・チャット・属人化からの脱却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234086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232257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全体像と3つのロール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17320" y="26517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案件はこう進む／誰が何を担う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3127248"/>
            <a:ext cx="548640" cy="548640"/>
          </a:xfrm>
          <a:prstGeom prst="ellipse">
            <a:avLst/>
          </a:prstGeom>
          <a:solidFill>
            <a:srgbClr val="E1A3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17320" y="3108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止めない・みんなでフォローする仕組み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17320" y="343814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記録・アラート・マイページ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39136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389534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運用ルール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17320" y="422452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こう使う、を6つ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470001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468172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ライブデモ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17320" y="501091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1件を面談→納品まで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54864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17320" y="546811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移行方針とロードマップ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417320" y="579729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まず少数から、一緒に育てる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772400" y="1554480"/>
            <a:ext cx="3749040" cy="4572000"/>
          </a:xfrm>
          <a:prstGeom prst="roundRect">
            <a:avLst>
              <a:gd name="adj" fmla="val 1463"/>
            </a:avLst>
          </a:prstGeom>
          <a:solidFill>
            <a:srgbClr val="EEF3FC"/>
          </a:solidFill>
          <a:ln w="15875">
            <a:solidFill>
              <a:srgbClr val="CADCFC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▲  </a:t>
            </a:r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システムのトップ画面など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なぜ変えるのか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BF2F2"/>
          </a:solidFill>
          <a:ln w="12700">
            <a:solidFill>
              <a:srgbClr val="F0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914400" cy="457200"/>
          </a:xfrm>
          <a:prstGeom prst="roundRect">
            <a:avLst>
              <a:gd name="adj" fmla="val 100000"/>
            </a:avLst>
          </a:prstGeom>
          <a:solidFill>
            <a:srgbClr val="D645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5146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450" dirty="0">
                <a:solidFill>
                  <a:srgbClr val="7A3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面談は紙に記録 → あとで転記（二度手間・抜け）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05840" y="317296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450" dirty="0">
                <a:solidFill>
                  <a:srgbClr val="7A3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相談はチャットワーク → 会話が流れて消える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05840" y="3831336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450" dirty="0">
                <a:solidFill>
                  <a:srgbClr val="7A3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重要タスクが人の頭の中だけ → 漏れる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05840" y="4489704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450" dirty="0">
                <a:solidFill>
                  <a:srgbClr val="7A3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案件の進捗が横から見えない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63640" y="155448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0F7F3"/>
          </a:solidFill>
          <a:ln w="12700">
            <a:solidFill>
              <a:srgbClr val="D5E7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828800"/>
            <a:ext cx="1463040" cy="457200"/>
          </a:xfrm>
          <a:prstGeom prst="roundRect">
            <a:avLst>
              <a:gd name="adj" fmla="val 100000"/>
            </a:avLst>
          </a:prstGeom>
          <a:solidFill>
            <a:srgbClr val="2E8B6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これから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29400" y="25146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450" dirty="0">
                <a:solidFill>
                  <a:srgbClr val="2C5A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面談シートに即入力 → そのままオーダーシートに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629400" y="317296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450" dirty="0">
                <a:solidFill>
                  <a:srgbClr val="2C5A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報告・相談は案件に記録 → 必要な人へ通知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629400" y="3831336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450" dirty="0">
                <a:solidFill>
                  <a:srgbClr val="2C5A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タスクが自動で設計され、抜けはアラートで通知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29400" y="4489704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450" dirty="0">
                <a:solidFill>
                  <a:srgbClr val="2C5A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進捗・フラグ（黄/赤/紫）でみんなが見える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案件はこう進む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673352" cy="3566160"/>
          </a:xfrm>
          <a:prstGeom prst="roundRect">
            <a:avLst>
              <a:gd name="adj" fmla="val 4372"/>
            </a:avLst>
          </a:prstGeom>
          <a:solidFill>
            <a:srgbClr val="F5F7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20724" y="205740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3520440"/>
            <a:ext cx="14538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紙をやめ即入力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295144" y="3108960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32304" y="1828800"/>
            <a:ext cx="1673352" cy="3566160"/>
          </a:xfrm>
          <a:prstGeom prst="roundRect">
            <a:avLst>
              <a:gd name="adj" fmla="val 4372"/>
            </a:avLst>
          </a:prstGeom>
          <a:solidFill>
            <a:srgbClr val="F5F7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2948" y="205740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32304" y="269748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432304" y="310896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42032" y="3520440"/>
            <a:ext cx="14538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即アサインで体制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087368" y="3108960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24528" y="1828800"/>
            <a:ext cx="1673352" cy="3566160"/>
          </a:xfrm>
          <a:prstGeom prst="roundRect">
            <a:avLst>
              <a:gd name="adj" fmla="val 4372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5172" y="2057400"/>
            <a:ext cx="512064" cy="512064"/>
          </a:xfrm>
          <a:prstGeom prst="ellipse">
            <a:avLst/>
          </a:prstGeom>
          <a:solidFill>
            <a:srgbClr val="E1A3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24528" y="269748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着手準備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224528" y="310896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事務管理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34256" y="3520440"/>
            <a:ext cx="14538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揃って初めて着手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879592" y="3108960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16752" y="1828800"/>
            <a:ext cx="1673352" cy="3566160"/>
          </a:xfrm>
          <a:prstGeom prst="roundRect">
            <a:avLst>
              <a:gd name="adj" fmla="val 4372"/>
            </a:avLst>
          </a:prstGeom>
          <a:solidFill>
            <a:srgbClr val="F5F7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97396" y="205740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016752" y="269748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対応中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16752" y="310896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26480" y="3520440"/>
            <a:ext cx="14538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確認簿で二重確認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671816" y="3108960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808976" y="1828800"/>
            <a:ext cx="1673352" cy="3566160"/>
          </a:xfrm>
          <a:prstGeom prst="roundRect">
            <a:avLst>
              <a:gd name="adj" fmla="val 4372"/>
            </a:avLst>
          </a:prstGeom>
          <a:solidFill>
            <a:srgbClr val="F5F7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89620" y="205740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808976" y="269748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業務完了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808976" y="310896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管理→受注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918704" y="3520440"/>
            <a:ext cx="14538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請求→申請→承認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464040" y="3108960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601200" y="1828800"/>
            <a:ext cx="1673352" cy="3566160"/>
          </a:xfrm>
          <a:prstGeom prst="roundRect">
            <a:avLst>
              <a:gd name="adj" fmla="val 4372"/>
            </a:avLst>
          </a:prstGeom>
          <a:solidFill>
            <a:srgbClr val="F5F7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181844" y="205740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601200" y="269748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納品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601200" y="310896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710928" y="3520440"/>
            <a:ext cx="14538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確認→納品完了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細かい画面・ボタンは日々改善中。今日は「流れ」で押さえてください。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3つのロールと責任分担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29000" cy="40233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342900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受注担当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2880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面談・受注・オーダーシート作成。業務完了の承認。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429000" cy="40233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737360"/>
            <a:ext cx="3429000" cy="822960"/>
          </a:xfrm>
          <a:prstGeom prst="roundRect">
            <a:avLst>
              <a:gd name="adj" fmla="val 8889"/>
            </a:avLst>
          </a:prstGeom>
          <a:solidFill>
            <a:srgbClr val="2C6E8F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173736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管理担当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17720" y="2743200"/>
            <a:ext cx="2880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実務（財産調査・目録・請求）・案件報告・納品。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429000" cy="40233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737360"/>
            <a:ext cx="3429000" cy="822960"/>
          </a:xfrm>
          <a:prstGeom prst="roundRect">
            <a:avLst>
              <a:gd name="adj" fmla="val 8889"/>
            </a:avLst>
          </a:prstGeom>
          <a:solidFill>
            <a:srgbClr val="2E8B6F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173736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事務管理担当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21040" y="2743200"/>
            <a:ext cx="2880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契約書類/前受金/ファイル化の確認と「着手OK」。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受注になった瞬間に「割振り担当（菅家／上田）→ 管理担当アサイン」でフォロー体制を作るのが肝。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0" y="731520"/>
            <a:ext cx="822960" cy="822960"/>
          </a:xfrm>
          <a:prstGeom prst="ellipse">
            <a:avLst/>
          </a:prstGeom>
          <a:solidFill>
            <a:srgbClr val="E1A3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止めない・みんなでフォローする仕組み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記録に残る  →  気づける  →  その場でタスクになる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RECORD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口頭・チャットで終わらせない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57800" cy="4206240"/>
          </a:xfrm>
          <a:prstGeom prst="roundRect">
            <a:avLst>
              <a:gd name="adj" fmla="val 1739"/>
            </a:avLst>
          </a:prstGeom>
          <a:solidFill>
            <a:srgbClr val="FBF2F2"/>
          </a:solidFill>
          <a:ln w="12700">
            <a:solidFill>
              <a:srgbClr val="F0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4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チャットワーク（今）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450" dirty="0">
                <a:solidFill>
                  <a:srgbClr val="7A3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会話が時系列で流れる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05840" y="312724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450" dirty="0">
                <a:solidFill>
                  <a:srgbClr val="7A3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どの案件の話か紐づかない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05840" y="378561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450" dirty="0">
                <a:solidFill>
                  <a:srgbClr val="7A3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あとで探せない・記録が残らない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05840" y="444398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450" dirty="0">
                <a:solidFill>
                  <a:srgbClr val="7A3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「言った/言わない」になりがち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63640" y="1645920"/>
            <a:ext cx="5257800" cy="4206240"/>
          </a:xfrm>
          <a:prstGeom prst="roundRect">
            <a:avLst>
              <a:gd name="adj" fmla="val 1739"/>
            </a:avLst>
          </a:prstGeom>
          <a:solidFill>
            <a:srgbClr val="F0F5FC"/>
          </a:solidFill>
          <a:ln w="12700">
            <a:solidFill>
              <a:srgbClr val="D5E2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新システム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9400" y="2468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450" dirty="0">
                <a:solidFill>
                  <a:srgbClr val="234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報告・相談が「案件」に記録として残る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629400" y="312724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450" dirty="0">
                <a:solidFill>
                  <a:srgbClr val="234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宛先に通知が飛ぶ（受けたら確認）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629400" y="378561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450" dirty="0">
                <a:solidFill>
                  <a:srgbClr val="234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放置はアラートで自動的に赤くなる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29400" y="444398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450" dirty="0">
                <a:solidFill>
                  <a:srgbClr val="234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そのままタスクにできる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ALERT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アラート ＝ 気づける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7B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26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要確認案件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少し放置。早めに見る（黄）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749040" y="164592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584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要注意案件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749040" y="2560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放置が続いた／至急（赤）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何で光る？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タスクの期日超過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1148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入金（請求）の期日超過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572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管理担当が未アサインのまま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029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案件報告の「至急！！」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4864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前受金の未請求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9893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651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放置が続くと 黄 → 赤 に自動で昇格。誰かが忘れても、システムが赤で知らせます。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92240" y="1645920"/>
            <a:ext cx="5029200" cy="4480560"/>
          </a:xfrm>
          <a:prstGeom prst="roundRect">
            <a:avLst>
              <a:gd name="adj" fmla="val 1224"/>
            </a:avLst>
          </a:prstGeom>
          <a:solidFill>
            <a:srgbClr val="EEF3FC"/>
          </a:solidFill>
          <a:ln w="15875">
            <a:solidFill>
              <a:srgbClr val="CADCFC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▲  </a:t>
            </a:r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マイページ上部の 要確認/要注意 バナー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REPORT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報告・相談 ＝ 残せる・助けを呼べる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46304" cy="566928"/>
          </a:xfrm>
          <a:prstGeom prst="roundRect">
            <a:avLst>
              <a:gd name="adj" fmla="val 3125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64592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進捗サマリー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389120" y="16459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週次報告がワンクリック（AI要約つき）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395728"/>
            <a:ext cx="146304" cy="566928"/>
          </a:xfrm>
          <a:prstGeom prst="roundRect">
            <a:avLst>
              <a:gd name="adj" fmla="val 3125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39572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報連相（報告/連絡/相談）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89120" y="239572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適宜。宛先を選んで送る・受けたら確認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145536"/>
            <a:ext cx="146304" cy="566928"/>
          </a:xfrm>
          <a:prstGeom prst="roundRect">
            <a:avLst>
              <a:gd name="adj" fmla="val 3125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14553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管理担当ヘルプ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389120" y="314553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詰まったら助けを求める（至急は赤バナー直結）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895344"/>
            <a:ext cx="146304" cy="566928"/>
          </a:xfrm>
          <a:prstGeom prst="roundRect">
            <a:avLst>
              <a:gd name="adj" fmla="val 3125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89534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クレーム報告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89120" y="389534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記録する（重いと案件が紫フラグ）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645152"/>
            <a:ext cx="146304" cy="566928"/>
          </a:xfrm>
          <a:prstGeom prst="roundRect">
            <a:avLst>
              <a:gd name="adj" fmla="val 3125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64515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依頼者連絡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89120" y="464515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お客様とのやり取りを記録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585216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どの報連相からでも </a:t>
            </a:r>
            <a:pPr indent="0" marL="0">
              <a:buNone/>
            </a:pPr>
            <a:r>
              <a:rPr lang="en-US" sz="1400" b="1" dirty="0">
                <a:solidFill>
                  <a:srgbClr val="2E8B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その場でタスク化</a:t>
            </a:r>
            <a:pPr indent="0" marL="0">
              <a:buNone/>
            </a:pPr>
            <a:r>
              <a:rPr lang="en-US" sz="1400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できる。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0" y="1645920"/>
            <a:ext cx="4023360" cy="4206240"/>
          </a:xfrm>
          <a:prstGeom prst="roundRect">
            <a:avLst>
              <a:gd name="adj" fmla="val 1364"/>
            </a:avLst>
          </a:prstGeom>
          <a:solidFill>
            <a:srgbClr val="EEF3FC"/>
          </a:solidFill>
          <a:ln w="15875">
            <a:solidFill>
              <a:srgbClr val="CADCFC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▲  </a:t>
            </a:r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案件報告 / 報連相ウィンドウ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MYPAGE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マイページ ＝ 自分の司令塔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74920" cy="1691640"/>
          </a:xfrm>
          <a:prstGeom prst="roundRect">
            <a:avLst>
              <a:gd name="adj" fmla="val 4324"/>
            </a:avLst>
          </a:prstGeom>
          <a:solidFill>
            <a:srgbClr val="F5F7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2996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45920" y="20116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自分の案件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5146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色（黄/赤/紫）で優先が一目で分かる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35040" y="1737360"/>
            <a:ext cx="5074920" cy="1691640"/>
          </a:xfrm>
          <a:prstGeom prst="roundRect">
            <a:avLst>
              <a:gd name="adj" fmla="val 4324"/>
            </a:avLst>
          </a:prstGeom>
          <a:solidFill>
            <a:srgbClr val="F5F7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02996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0" y="20116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出した報告 / 受けた報告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40880" y="25146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案件報告・報連相の送受信を管理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5074920" cy="1691640"/>
          </a:xfrm>
          <a:prstGeom prst="roundRect">
            <a:avLst>
              <a:gd name="adj" fmla="val 4324"/>
            </a:avLst>
          </a:prstGeom>
          <a:solidFill>
            <a:srgbClr val="F5F7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95020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45920" y="3931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自分のタスク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45920" y="44348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やることを一元管理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3657600"/>
            <a:ext cx="5074920" cy="1691640"/>
          </a:xfrm>
          <a:prstGeom prst="roundRect">
            <a:avLst>
              <a:gd name="adj" fmla="val 4324"/>
            </a:avLst>
          </a:prstGeom>
          <a:solidFill>
            <a:srgbClr val="F5F7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395020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40880" y="3931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アラート＋通知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0880" y="44348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「やること」と「履歴」を集約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ここ1つで、自分の案件・報告・タスク・気づきが全部そろう。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運用ルール（こう使う）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7E8"/>
          </a:solidFill>
          <a:ln w="12700">
            <a:solidFill>
              <a:srgbClr val="E1A3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828800"/>
            <a:ext cx="502920" cy="502920"/>
          </a:xfrm>
          <a:prstGeom prst="ellipse">
            <a:avLst/>
          </a:prstGeom>
          <a:solidFill>
            <a:srgbClr val="E1A3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508760" y="185623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面談は"その場で"入力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96112" y="25603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紙をやめる。面談シート＝オーダーシート＝タスクの設計図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212080" y="185623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オーダーシートを埋める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99432" y="25603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財産調査の設計図（不動産は市区町村ごと・金融は口座ごと）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60020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02752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915400" y="185623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受注したら即アサイン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02752" y="25603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割振り担当→管理担当。着手前提（契約書類/前受金/ファイル化）を揃える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74904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977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08760" y="400507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実務は確認簿で二重確認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96112" y="470916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発送✓/着✓/残高確定/凍結してよいか。ミス防止は仕組みで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43400" y="374904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9432" y="3977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12080" y="400507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進捗は報告・報連相で残す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599432" y="470916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口頭で終わらせない。至急は要注意バナーで拾う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46720" y="374904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02752" y="3977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915400" y="400507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請求〜完了〜納品はゲート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302752" y="470916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全請求発行→業務完了申請→承認→納品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651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★ルール1が最重要：面談直後の入力で、後工程が自動で組み上がります。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291840"/>
            <a:ext cx="5029200" cy="5029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1A3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1件を、面談から納品まで通します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サンプル案件：田中家 相続手続き（横浜市の不動産・みずほ銀行）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面談登録 → オーダーシート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206240" y="3657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 → 割り振り → 着手準備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0" y="3657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対応中：財産調査（確認簿）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45262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請求 → 業務完了申請 → 承認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206240" y="45262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納品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MIGRATION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移行方針：まず少数から、一緒に育てる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29000" cy="3657600"/>
          </a:xfrm>
          <a:prstGeom prst="roundRect">
            <a:avLst>
              <a:gd name="adj" fmla="val 2133"/>
            </a:avLst>
          </a:prstGeom>
          <a:solidFill>
            <a:srgbClr val="F5F7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65960"/>
            <a:ext cx="2011680" cy="502920"/>
          </a:xfrm>
          <a:prstGeom prst="roundRect">
            <a:avLst>
              <a:gd name="adj" fmla="val 90909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〜1ヶ月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各チーム 1〜2件だけ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14400" y="388620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新規案件のうち"事故が少なそうなもの"を投入して慣れる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69080" y="3291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43400" y="1737360"/>
            <a:ext cx="3429000" cy="3657600"/>
          </a:xfrm>
          <a:prstGeom prst="roundRect">
            <a:avLst>
              <a:gd name="adj" fmla="val 2133"/>
            </a:avLst>
          </a:prstGeom>
          <a:solidFill>
            <a:srgbClr val="F5F7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965960"/>
            <a:ext cx="2011680" cy="502920"/>
          </a:xfrm>
          <a:prstGeom prst="roundRect">
            <a:avLst>
              <a:gd name="adj" fmla="val 90909"/>
            </a:avLst>
          </a:prstGeom>
          <a:solidFill>
            <a:srgbClr val="E1A3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アンケート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26517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1ヶ月後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17720" y="30632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要望を集めて改善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617720" y="388620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現場の声を元にアップデート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0" y="3291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46720" y="1737360"/>
            <a:ext cx="3429000" cy="3657600"/>
          </a:xfrm>
          <a:prstGeom prst="roundRect">
            <a:avLst>
              <a:gd name="adj" fmla="val 2133"/>
            </a:avLst>
          </a:prstGeom>
          <a:solidFill>
            <a:srgbClr val="F5F7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1965960"/>
            <a:ext cx="2011680" cy="502920"/>
          </a:xfrm>
          <a:prstGeom prst="roundRect">
            <a:avLst>
              <a:gd name="adj" fmla="val 90909"/>
            </a:avLst>
          </a:prstGeom>
          <a:solidFill>
            <a:srgbClr val="2E8B6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21040" y="26517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〜3ヶ月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30632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件数を増やしながら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8321040" y="388620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アップデートを回し続ける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完璧じゃなくていい。まず少数で慣れて、すぐ直す。それを繰り返します。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今後のアップデート予定（便利機能）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9000" cy="3108960"/>
          </a:xfrm>
          <a:prstGeom prst="roundRect">
            <a:avLst>
              <a:gd name="adj" fmla="val 2353"/>
            </a:avLst>
          </a:prstGeom>
          <a:solidFill>
            <a:srgbClr val="F5F7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0" y="21945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AI書類作成の拡大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74904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対応する書類を増やし、作成の手間をさらに削減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429000" cy="3108960"/>
          </a:xfrm>
          <a:prstGeom prst="roundRect">
            <a:avLst>
              <a:gd name="adj" fmla="val 2353"/>
            </a:avLst>
          </a:prstGeom>
          <a:solidFill>
            <a:srgbClr val="F5F7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15000" y="21945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26280" y="30632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AIナビ（業務相談）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17720" y="374904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「この案件どう進める？」をその場で相談できる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1920240"/>
            <a:ext cx="3429000" cy="3108960"/>
          </a:xfrm>
          <a:prstGeom prst="roundRect">
            <a:avLst>
              <a:gd name="adj" fmla="val 2353"/>
            </a:avLst>
          </a:prstGeom>
          <a:solidFill>
            <a:srgbClr val="F5F7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0" y="21945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0" y="30632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現場の要望で改善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21040" y="374904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アンケート・フィードバックを継続反映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577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使いながら、どんどん便利にしていきます。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SUPPORT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困ったとき・お願い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5F7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011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91640" y="173736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操作で迷ったら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120640" y="173736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アプリ内マニュアル（/manual）を見る／検索する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5F7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246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91640" y="297180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うまくいかない・要望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20640" y="297180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遠慮なくフィードバック。改善の材料にします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2062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5F7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480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91640" y="420624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まず慣れる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20640" y="420624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各チーム 1〜2件から。抱え込まず報連相で共有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「完璧じゃなくていい、一緒に育てる」— それが今日一番のお願いです。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943600" cy="5943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 &amp; A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ご質問・ご不安、なんでもどうぞ。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6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まず1〜2件、一緒に動かしてみましょう。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2026-08-03T19:16:00Z</dcterms:created>
  <dcterms:modified xsi:type="dcterms:W3CDTF">2026-08-03T19:16:00Z</dcterms:modified>
</cp:coreProperties>
</file>