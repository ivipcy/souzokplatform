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59" r:id="rId4"/>
    <p:sldId id="264" r:id="rId5"/>
    <p:sldId id="263" r:id="rId6"/>
    <p:sldId id="262" r:id="rId7"/>
    <p:sldId id="265" r:id="rId8"/>
    <p:sldId id="267" r:id="rId9"/>
    <p:sldId id="266" r:id="rId10"/>
    <p:sldId id="26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5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BB8B48-22FC-C64F-6D13-92E37DE4D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17DF35-6B92-9AFA-CC3D-3D898A21B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0E92C9-7514-51C9-64D9-9F25A319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96FCA2-2449-D480-A500-95698183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612F4-88EB-D627-2C62-D181448C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31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DCC43-204C-BF18-6603-29C2386D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8345A6-AE40-E2A3-37D0-4BA8EDABA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9B81CC-2417-B23A-9DFF-9F9A16E9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79BF0A-0E0E-1B67-8038-F2C21327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23FF60-B856-1D9A-C8CC-DD6282E0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84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4B47FC-7299-3372-527F-6A825002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078004-1835-09E3-9E36-34D8CF0B4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1C3312-1703-9363-02C3-94F3F5DF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31CBF9-2969-1673-FB93-8781601A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89EE8E-5FAA-C78E-B15C-5EA0E194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59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ABB94-81CF-80C8-06E6-81427949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8D697F-3AD1-7D76-6521-F9134BB59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6076CB-77B0-0186-712E-72062D5B6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A44CB7-9B3B-944F-1994-46B2DAD5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9B3136-B6ED-8D42-EA4B-96830B9F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C8D1A1-BDDC-A88D-7A01-B3917FC5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6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69C175-60B3-96E9-819E-2C0FAE84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416169-9C5C-8405-E736-3EC6C1F5D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E5F7E1-A6D5-51A8-7CA8-8FCACAE7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A0C388-29D1-986E-F5F1-F8AFB8372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E28972E-C6D4-D87D-BEEE-997808682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46AD5FB-93A7-2E9D-110E-31C8698E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EDD049-FECE-3CE9-D315-3F38F814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B464A4-A72E-9FCA-6292-4FFDD71D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82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29436-686C-7B9C-3D5E-D027503C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F2DD4C-A768-6BA3-DAA4-524A4029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F66115-E38A-F1F0-7A0D-CA79D6E2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E7303D-5184-9403-A68B-3840AD66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75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E93FB3-A9AC-F0AB-744C-021A3757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03EAB94-9AC1-1E8F-EC06-A7310361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4E4B7B-242E-AFEB-4D3D-E54B8A15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5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215130-BEE8-0C69-B696-C63D64D2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7E0BFB-7473-32A3-2BE8-A8F4BA48A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D88E30-7157-60FC-D15D-18F14DCE4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EF7646-BF1D-8156-68B7-D91A9796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07F6CE-72DA-0B84-9EC3-A00B6832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F6D5D2-4165-5A15-6025-AAD13FAE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927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8E9D38-7838-7C64-1155-5A2097EF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E5134E-DE37-74FE-A1FF-8D03C6819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D6AF8F-1A96-B797-64ED-2722E936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F595A5-0F1D-A260-4462-DAB885C9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FC8181-D926-58DB-E1A5-1451E1491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5D62C1-C679-9607-3059-C627E86C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059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B2BB30-FAFD-557C-D9CE-8B6955059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30ACC2-F086-8371-0680-61D6B937C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3B7086-E495-27AD-B22F-A9991A90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F0D326-69BB-2619-5F82-321AF4EF2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0F4859-3C3E-4B20-464B-6C85C79C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59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492815-C232-743E-B8BF-28ED0576D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CB2DF7-D323-5F27-C2CA-E87359C22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5EF16A-F7AF-2021-EC80-61A86442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BA8249-29A8-E107-7F08-F2668261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E78718-CC87-93CA-BA7E-66253ECF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33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CD48726-F3D2-7DA3-81F9-7FB99BCB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B26F35-93E7-DB50-2D09-088D3E6EC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03D2D8-4CC8-B7D0-444C-C6D601B3DF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C2EDA-34E9-498C-97F5-4EE106D36889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77E319-F723-9393-6AE8-8AAAF5337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3B43EB-4B18-FEAA-CAD7-0AC54DA66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27221-E140-4CCA-B866-5444959E7E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495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9F3DC961-263F-1FAD-E80A-1123D2F03ED5}"/>
              </a:ext>
            </a:extLst>
          </p:cNvPr>
          <p:cNvSpPr/>
          <p:nvPr/>
        </p:nvSpPr>
        <p:spPr>
          <a:xfrm>
            <a:off x="546937" y="2807459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EFFB1BE-550E-28AB-871D-6634531E2DD8}"/>
              </a:ext>
            </a:extLst>
          </p:cNvPr>
          <p:cNvSpPr/>
          <p:nvPr/>
        </p:nvSpPr>
        <p:spPr>
          <a:xfrm>
            <a:off x="1890225" y="2807459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作成日</a:t>
            </a:r>
            <a:endParaRPr kumimoji="1" lang="ja-JP" altLang="en-US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CA46585F-5E86-38BE-57DB-9093019D425B}"/>
              </a:ext>
            </a:extLst>
          </p:cNvPr>
          <p:cNvSpPr/>
          <p:nvPr/>
        </p:nvSpPr>
        <p:spPr>
          <a:xfrm>
            <a:off x="3233514" y="2807459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29" name="二等辺三角形 28">
            <a:extLst>
              <a:ext uri="{FF2B5EF4-FFF2-40B4-BE49-F238E27FC236}">
                <a16:creationId xmlns:a16="http://schemas.microsoft.com/office/drawing/2014/main" id="{3943914B-EDD8-5327-AADC-83F07DEDFF27}"/>
              </a:ext>
            </a:extLst>
          </p:cNvPr>
          <p:cNvSpPr/>
          <p:nvPr/>
        </p:nvSpPr>
        <p:spPr>
          <a:xfrm rot="10800000">
            <a:off x="1583255" y="3085015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384B385-EBB2-804B-8D68-C64552D58015}"/>
              </a:ext>
            </a:extLst>
          </p:cNvPr>
          <p:cNvSpPr/>
          <p:nvPr/>
        </p:nvSpPr>
        <p:spPr>
          <a:xfrm>
            <a:off x="4576803" y="2802833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発送ステータス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B9F856E-E2EF-56AC-840F-91842746EFC2}"/>
              </a:ext>
            </a:extLst>
          </p:cNvPr>
          <p:cNvSpPr/>
          <p:nvPr/>
        </p:nvSpPr>
        <p:spPr>
          <a:xfrm>
            <a:off x="546937" y="3295494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5A233CD-9C9E-B68C-5A5B-D62D5A0D1365}"/>
              </a:ext>
            </a:extLst>
          </p:cNvPr>
          <p:cNvSpPr/>
          <p:nvPr/>
        </p:nvSpPr>
        <p:spPr>
          <a:xfrm>
            <a:off x="1890225" y="3295494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発送日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4429958-F01A-9A46-D37F-FE3D1937B460}"/>
              </a:ext>
            </a:extLst>
          </p:cNvPr>
          <p:cNvSpPr/>
          <p:nvPr/>
        </p:nvSpPr>
        <p:spPr>
          <a:xfrm>
            <a:off x="3233514" y="3295494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47" name="二等辺三角形 46">
            <a:extLst>
              <a:ext uri="{FF2B5EF4-FFF2-40B4-BE49-F238E27FC236}">
                <a16:creationId xmlns:a16="http://schemas.microsoft.com/office/drawing/2014/main" id="{8ECCD235-01F3-49CA-E797-BC8511FEB0BE}"/>
              </a:ext>
            </a:extLst>
          </p:cNvPr>
          <p:cNvSpPr/>
          <p:nvPr/>
        </p:nvSpPr>
        <p:spPr>
          <a:xfrm rot="10800000">
            <a:off x="1583255" y="3573049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746F2E0-DDA7-E52E-B349-325347A43AB1}"/>
              </a:ext>
            </a:extLst>
          </p:cNvPr>
          <p:cNvSpPr/>
          <p:nvPr/>
        </p:nvSpPr>
        <p:spPr>
          <a:xfrm>
            <a:off x="4576803" y="3290868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通数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8F6D19E-C413-8F78-C9B4-2EAB4781AFA8}"/>
              </a:ext>
            </a:extLst>
          </p:cNvPr>
          <p:cNvSpPr/>
          <p:nvPr/>
        </p:nvSpPr>
        <p:spPr>
          <a:xfrm>
            <a:off x="546937" y="3783529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07D28FC-3B98-7F3A-C9BE-891E9611470B}"/>
              </a:ext>
            </a:extLst>
          </p:cNvPr>
          <p:cNvSpPr/>
          <p:nvPr/>
        </p:nvSpPr>
        <p:spPr>
          <a:xfrm>
            <a:off x="1890225" y="3783529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発送日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2DD1255-747A-D238-040A-6B6862A9EA4A}"/>
              </a:ext>
            </a:extLst>
          </p:cNvPr>
          <p:cNvSpPr/>
          <p:nvPr/>
        </p:nvSpPr>
        <p:spPr>
          <a:xfrm>
            <a:off x="3233514" y="3783529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52" name="二等辺三角形 51">
            <a:extLst>
              <a:ext uri="{FF2B5EF4-FFF2-40B4-BE49-F238E27FC236}">
                <a16:creationId xmlns:a16="http://schemas.microsoft.com/office/drawing/2014/main" id="{8204B6AD-6C49-865E-446E-6B7B27E17BEC}"/>
              </a:ext>
            </a:extLst>
          </p:cNvPr>
          <p:cNvSpPr/>
          <p:nvPr/>
        </p:nvSpPr>
        <p:spPr>
          <a:xfrm rot="10800000">
            <a:off x="1583255" y="4061084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EC50739-5012-3B15-2A81-24F8290E30AA}"/>
              </a:ext>
            </a:extLst>
          </p:cNvPr>
          <p:cNvSpPr/>
          <p:nvPr/>
        </p:nvSpPr>
        <p:spPr>
          <a:xfrm>
            <a:off x="4576803" y="3778903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通数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D44ACD4-8830-ABD4-AF0B-0294B1770033}"/>
              </a:ext>
            </a:extLst>
          </p:cNvPr>
          <p:cNvSpPr/>
          <p:nvPr/>
        </p:nvSpPr>
        <p:spPr>
          <a:xfrm>
            <a:off x="546937" y="4271564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A4041CF-EA02-C459-5DD6-3FAC747D28AF}"/>
              </a:ext>
            </a:extLst>
          </p:cNvPr>
          <p:cNvSpPr/>
          <p:nvPr/>
        </p:nvSpPr>
        <p:spPr>
          <a:xfrm>
            <a:off x="1890225" y="4271564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発送日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FD620727-D2DF-57D5-582A-00A4EB6052CA}"/>
              </a:ext>
            </a:extLst>
          </p:cNvPr>
          <p:cNvSpPr/>
          <p:nvPr/>
        </p:nvSpPr>
        <p:spPr>
          <a:xfrm>
            <a:off x="3233514" y="4271564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E1238CF9-2703-13D3-2187-B45D773CECCA}"/>
              </a:ext>
            </a:extLst>
          </p:cNvPr>
          <p:cNvSpPr/>
          <p:nvPr/>
        </p:nvSpPr>
        <p:spPr>
          <a:xfrm rot="10800000">
            <a:off x="1583255" y="4549119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CCFB921-646E-DA96-4B53-30DD4AD7C675}"/>
              </a:ext>
            </a:extLst>
          </p:cNvPr>
          <p:cNvSpPr/>
          <p:nvPr/>
        </p:nvSpPr>
        <p:spPr>
          <a:xfrm>
            <a:off x="4576803" y="4266937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通数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BD430D0-9A68-1C0D-A4BA-177D44951B2F}"/>
              </a:ext>
            </a:extLst>
          </p:cNvPr>
          <p:cNvSpPr/>
          <p:nvPr/>
        </p:nvSpPr>
        <p:spPr>
          <a:xfrm>
            <a:off x="546937" y="4759598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8862EAA8-52B1-A2ED-D152-6975A1295BEA}"/>
              </a:ext>
            </a:extLst>
          </p:cNvPr>
          <p:cNvSpPr/>
          <p:nvPr/>
        </p:nvSpPr>
        <p:spPr>
          <a:xfrm>
            <a:off x="1890225" y="4759598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発送日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A815323F-D65A-27B6-8EF2-0E7DC63AD705}"/>
              </a:ext>
            </a:extLst>
          </p:cNvPr>
          <p:cNvSpPr/>
          <p:nvPr/>
        </p:nvSpPr>
        <p:spPr>
          <a:xfrm>
            <a:off x="3233514" y="4759598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62" name="二等辺三角形 61">
            <a:extLst>
              <a:ext uri="{FF2B5EF4-FFF2-40B4-BE49-F238E27FC236}">
                <a16:creationId xmlns:a16="http://schemas.microsoft.com/office/drawing/2014/main" id="{885CD406-1B6C-1519-C171-27F5594D1CC0}"/>
              </a:ext>
            </a:extLst>
          </p:cNvPr>
          <p:cNvSpPr/>
          <p:nvPr/>
        </p:nvSpPr>
        <p:spPr>
          <a:xfrm rot="10800000">
            <a:off x="1583255" y="5037154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1E6AD708-79A8-9554-4009-8EF5A4E4D802}"/>
              </a:ext>
            </a:extLst>
          </p:cNvPr>
          <p:cNvSpPr/>
          <p:nvPr/>
        </p:nvSpPr>
        <p:spPr>
          <a:xfrm>
            <a:off x="4576803" y="4754972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通数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ED406885-D0BF-8EB9-497F-C227DA26073B}"/>
              </a:ext>
            </a:extLst>
          </p:cNvPr>
          <p:cNvSpPr/>
          <p:nvPr/>
        </p:nvSpPr>
        <p:spPr>
          <a:xfrm>
            <a:off x="546937" y="5247633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書類名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FC2C01A-21A4-7934-A098-5CCACF74A1A9}"/>
              </a:ext>
            </a:extLst>
          </p:cNvPr>
          <p:cNvSpPr/>
          <p:nvPr/>
        </p:nvSpPr>
        <p:spPr>
          <a:xfrm>
            <a:off x="1890225" y="5247633"/>
            <a:ext cx="1234161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発送日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00BA372-3DA2-BE76-66D9-73B7D205B1ED}"/>
              </a:ext>
            </a:extLst>
          </p:cNvPr>
          <p:cNvSpPr/>
          <p:nvPr/>
        </p:nvSpPr>
        <p:spPr>
          <a:xfrm>
            <a:off x="3233514" y="5247633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発送先</a:t>
            </a: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128E0571-1713-C62D-49CB-3757BF17A19B}"/>
              </a:ext>
            </a:extLst>
          </p:cNvPr>
          <p:cNvSpPr/>
          <p:nvPr/>
        </p:nvSpPr>
        <p:spPr>
          <a:xfrm rot="10800000">
            <a:off x="1583255" y="5525188"/>
            <a:ext cx="136606" cy="9714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6C9A7DD-25E1-AB5A-1C0A-6CFFA4774914}"/>
              </a:ext>
            </a:extLst>
          </p:cNvPr>
          <p:cNvSpPr/>
          <p:nvPr/>
        </p:nvSpPr>
        <p:spPr>
          <a:xfrm>
            <a:off x="4576803" y="5243007"/>
            <a:ext cx="1234162" cy="420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通数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5A80249-A067-E26F-DF40-5573EEA47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7" y="827870"/>
            <a:ext cx="7182219" cy="15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6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E26582-D809-1E03-F564-6D35FD895CA4}"/>
              </a:ext>
            </a:extLst>
          </p:cNvPr>
          <p:cNvSpPr/>
          <p:nvPr/>
        </p:nvSpPr>
        <p:spPr>
          <a:xfrm>
            <a:off x="1809064" y="1243321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35F39A-9BC1-E2B2-833E-C911721C02D7}"/>
              </a:ext>
            </a:extLst>
          </p:cNvPr>
          <p:cNvSpPr/>
          <p:nvPr/>
        </p:nvSpPr>
        <p:spPr>
          <a:xfrm>
            <a:off x="3152352" y="1243321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DABBE4-8E8A-6590-61D1-C04470441750}"/>
              </a:ext>
            </a:extLst>
          </p:cNvPr>
          <p:cNvSpPr/>
          <p:nvPr/>
        </p:nvSpPr>
        <p:spPr>
          <a:xfrm>
            <a:off x="4495641" y="1243321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929976F1-83D6-3EC7-4519-F4442809EA1B}"/>
              </a:ext>
            </a:extLst>
          </p:cNvPr>
          <p:cNvSpPr/>
          <p:nvPr/>
        </p:nvSpPr>
        <p:spPr>
          <a:xfrm rot="10800000">
            <a:off x="2845382" y="1638026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0ABA68E-1D95-6916-30FD-90075782BAB1}"/>
              </a:ext>
            </a:extLst>
          </p:cNvPr>
          <p:cNvSpPr/>
          <p:nvPr/>
        </p:nvSpPr>
        <p:spPr>
          <a:xfrm>
            <a:off x="5838930" y="1236742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27676D7-4F2C-25FA-9553-43571DC68415}"/>
              </a:ext>
            </a:extLst>
          </p:cNvPr>
          <p:cNvSpPr/>
          <p:nvPr/>
        </p:nvSpPr>
        <p:spPr>
          <a:xfrm>
            <a:off x="1809064" y="1937344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55A63C5-204C-F97B-AA1E-66B805FCD190}"/>
              </a:ext>
            </a:extLst>
          </p:cNvPr>
          <p:cNvSpPr/>
          <p:nvPr/>
        </p:nvSpPr>
        <p:spPr>
          <a:xfrm>
            <a:off x="3152352" y="1937344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A379382-07D4-75C0-8BCD-F3C0B2C995E1}"/>
              </a:ext>
            </a:extLst>
          </p:cNvPr>
          <p:cNvSpPr/>
          <p:nvPr/>
        </p:nvSpPr>
        <p:spPr>
          <a:xfrm>
            <a:off x="4495641" y="1937344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B20DD765-44C9-1EA4-452C-ECF5CE7256D8}"/>
              </a:ext>
            </a:extLst>
          </p:cNvPr>
          <p:cNvSpPr/>
          <p:nvPr/>
        </p:nvSpPr>
        <p:spPr>
          <a:xfrm rot="10800000">
            <a:off x="2845382" y="2332049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19CD6F8-2B45-F9DD-B73E-6FD210CED467}"/>
              </a:ext>
            </a:extLst>
          </p:cNvPr>
          <p:cNvSpPr/>
          <p:nvPr/>
        </p:nvSpPr>
        <p:spPr>
          <a:xfrm>
            <a:off x="5838930" y="1930765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297BD01-D310-2A2A-238A-8538913065C9}"/>
              </a:ext>
            </a:extLst>
          </p:cNvPr>
          <p:cNvSpPr/>
          <p:nvPr/>
        </p:nvSpPr>
        <p:spPr>
          <a:xfrm>
            <a:off x="1809064" y="2631367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E113209-C4AB-8F7F-2CAC-BA5C331DBE7E}"/>
              </a:ext>
            </a:extLst>
          </p:cNvPr>
          <p:cNvSpPr/>
          <p:nvPr/>
        </p:nvSpPr>
        <p:spPr>
          <a:xfrm>
            <a:off x="3152352" y="2631367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F4B161C-53C4-4490-46CB-CA86FA76F08B}"/>
              </a:ext>
            </a:extLst>
          </p:cNvPr>
          <p:cNvSpPr/>
          <p:nvPr/>
        </p:nvSpPr>
        <p:spPr>
          <a:xfrm>
            <a:off x="4495641" y="2631367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BAB7EE65-A1D7-DD0D-B7A6-566B0D4E9864}"/>
              </a:ext>
            </a:extLst>
          </p:cNvPr>
          <p:cNvSpPr/>
          <p:nvPr/>
        </p:nvSpPr>
        <p:spPr>
          <a:xfrm rot="10800000">
            <a:off x="2845382" y="3026072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B6C483-FA36-BA47-6C89-0A72B903AE5A}"/>
              </a:ext>
            </a:extLst>
          </p:cNvPr>
          <p:cNvSpPr/>
          <p:nvPr/>
        </p:nvSpPr>
        <p:spPr>
          <a:xfrm>
            <a:off x="5838930" y="2624788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33E0C1-12FF-36F4-834C-64D97AED3D54}"/>
              </a:ext>
            </a:extLst>
          </p:cNvPr>
          <p:cNvSpPr/>
          <p:nvPr/>
        </p:nvSpPr>
        <p:spPr>
          <a:xfrm>
            <a:off x="1809064" y="3325390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5B8F2A3-F4A6-D8AB-4EBF-5D924D6A7DF6}"/>
              </a:ext>
            </a:extLst>
          </p:cNvPr>
          <p:cNvSpPr/>
          <p:nvPr/>
        </p:nvSpPr>
        <p:spPr>
          <a:xfrm>
            <a:off x="3152352" y="3325390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D93E3EA-897A-B63B-47F4-5C7D1B68206A}"/>
              </a:ext>
            </a:extLst>
          </p:cNvPr>
          <p:cNvSpPr/>
          <p:nvPr/>
        </p:nvSpPr>
        <p:spPr>
          <a:xfrm>
            <a:off x="4495641" y="3325390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47615B83-25F0-D52B-D045-9441B2726FDA}"/>
              </a:ext>
            </a:extLst>
          </p:cNvPr>
          <p:cNvSpPr/>
          <p:nvPr/>
        </p:nvSpPr>
        <p:spPr>
          <a:xfrm rot="10800000">
            <a:off x="2845382" y="3720095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E59EC50-0CB5-24D6-7BDB-F2385B46A6AE}"/>
              </a:ext>
            </a:extLst>
          </p:cNvPr>
          <p:cNvSpPr/>
          <p:nvPr/>
        </p:nvSpPr>
        <p:spPr>
          <a:xfrm>
            <a:off x="5838930" y="3318811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3129585-854B-4B81-21D1-B2C278916008}"/>
              </a:ext>
            </a:extLst>
          </p:cNvPr>
          <p:cNvSpPr/>
          <p:nvPr/>
        </p:nvSpPr>
        <p:spPr>
          <a:xfrm>
            <a:off x="1809064" y="4019413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BB58348-9FDC-96F2-E5D3-4757CC80EBB8}"/>
              </a:ext>
            </a:extLst>
          </p:cNvPr>
          <p:cNvSpPr/>
          <p:nvPr/>
        </p:nvSpPr>
        <p:spPr>
          <a:xfrm>
            <a:off x="3152352" y="4019413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AD3731D-66A4-F0FC-E254-CE8A94A586B5}"/>
              </a:ext>
            </a:extLst>
          </p:cNvPr>
          <p:cNvSpPr/>
          <p:nvPr/>
        </p:nvSpPr>
        <p:spPr>
          <a:xfrm>
            <a:off x="4495641" y="4019413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27" name="二等辺三角形 26">
            <a:extLst>
              <a:ext uri="{FF2B5EF4-FFF2-40B4-BE49-F238E27FC236}">
                <a16:creationId xmlns:a16="http://schemas.microsoft.com/office/drawing/2014/main" id="{BBD2F9AB-ED55-CE6B-890B-75883957993A}"/>
              </a:ext>
            </a:extLst>
          </p:cNvPr>
          <p:cNvSpPr/>
          <p:nvPr/>
        </p:nvSpPr>
        <p:spPr>
          <a:xfrm rot="10800000">
            <a:off x="2845382" y="4414118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28F8B02-1EBA-B089-7F51-77C3C3E08242}"/>
              </a:ext>
            </a:extLst>
          </p:cNvPr>
          <p:cNvSpPr/>
          <p:nvPr/>
        </p:nvSpPr>
        <p:spPr>
          <a:xfrm>
            <a:off x="5838930" y="4012834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2F9A70-7C50-2CFA-6E43-2AEB401EEC9C}"/>
              </a:ext>
            </a:extLst>
          </p:cNvPr>
          <p:cNvSpPr/>
          <p:nvPr/>
        </p:nvSpPr>
        <p:spPr>
          <a:xfrm>
            <a:off x="1809064" y="4713436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書類名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E6F6A5C-C4E4-CB1B-A3C9-6CA4E2029B2C}"/>
              </a:ext>
            </a:extLst>
          </p:cNvPr>
          <p:cNvSpPr/>
          <p:nvPr/>
        </p:nvSpPr>
        <p:spPr>
          <a:xfrm>
            <a:off x="3152352" y="4713436"/>
            <a:ext cx="1234161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発送日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47CD8BF-D188-6418-20F5-6878F32281BF}"/>
              </a:ext>
            </a:extLst>
          </p:cNvPr>
          <p:cNvSpPr/>
          <p:nvPr/>
        </p:nvSpPr>
        <p:spPr>
          <a:xfrm>
            <a:off x="4495641" y="4713436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発送先</a:t>
            </a:r>
          </a:p>
        </p:txBody>
      </p:sp>
      <p:sp>
        <p:nvSpPr>
          <p:cNvPr id="32" name="二等辺三角形 31">
            <a:extLst>
              <a:ext uri="{FF2B5EF4-FFF2-40B4-BE49-F238E27FC236}">
                <a16:creationId xmlns:a16="http://schemas.microsoft.com/office/drawing/2014/main" id="{E7201D06-F190-4C96-ABBB-505AE16EA05A}"/>
              </a:ext>
            </a:extLst>
          </p:cNvPr>
          <p:cNvSpPr/>
          <p:nvPr/>
        </p:nvSpPr>
        <p:spPr>
          <a:xfrm rot="10800000">
            <a:off x="2845382" y="5108141"/>
            <a:ext cx="136606" cy="1381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46D665E-AD26-22D2-D253-B1C9C4363072}"/>
              </a:ext>
            </a:extLst>
          </p:cNvPr>
          <p:cNvSpPr/>
          <p:nvPr/>
        </p:nvSpPr>
        <p:spPr>
          <a:xfrm>
            <a:off x="5838930" y="4706857"/>
            <a:ext cx="1234162" cy="598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通数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FAF0CC9-5058-1B46-63B0-ED02566F7922}"/>
              </a:ext>
            </a:extLst>
          </p:cNvPr>
          <p:cNvSpPr/>
          <p:nvPr/>
        </p:nvSpPr>
        <p:spPr>
          <a:xfrm>
            <a:off x="361813" y="1243321"/>
            <a:ext cx="1338123" cy="200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案件</a:t>
            </a:r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4B12806-B36B-781B-9793-DF0288C30AA9}"/>
              </a:ext>
            </a:extLst>
          </p:cNvPr>
          <p:cNvSpPr/>
          <p:nvPr/>
        </p:nvSpPr>
        <p:spPr>
          <a:xfrm>
            <a:off x="361812" y="3308121"/>
            <a:ext cx="1338123" cy="20080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案件</a:t>
            </a:r>
            <a:r>
              <a:rPr lang="en-US" altLang="ja-JP" dirty="0"/>
              <a:t>B</a:t>
            </a:r>
            <a:endParaRPr kumimoji="1" lang="ja-JP" altLang="en-US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DD0F292-4BC0-E56A-F2D9-A1DFADE4A2E6}"/>
              </a:ext>
            </a:extLst>
          </p:cNvPr>
          <p:cNvSpPr/>
          <p:nvPr/>
        </p:nvSpPr>
        <p:spPr>
          <a:xfrm>
            <a:off x="8782187" y="368391"/>
            <a:ext cx="2006417" cy="493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新規作成</a:t>
            </a:r>
          </a:p>
        </p:txBody>
      </p:sp>
    </p:spTree>
    <p:extLst>
      <p:ext uri="{BB962C8B-B14F-4D97-AF65-F5344CB8AC3E}">
        <p14:creationId xmlns:p14="http://schemas.microsoft.com/office/powerpoint/2010/main" val="42066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821C-8A41-412D-C353-8F7A85CF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CB00DD-FF07-D3E8-39D0-B9485009D95D}"/>
              </a:ext>
            </a:extLst>
          </p:cNvPr>
          <p:cNvSpPr/>
          <p:nvPr/>
        </p:nvSpPr>
        <p:spPr>
          <a:xfrm>
            <a:off x="934278" y="636104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C0717D-3E78-4693-480B-42DCB82D2D7D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相続不動産</a:t>
            </a:r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B613CE1-AD76-82BF-6239-0E1F6EC5D6B4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D85B7A-52E9-FFB1-046C-8A441289931F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当月の査定獲得件数</a:t>
            </a:r>
            <a:r>
              <a:rPr kumimoji="1" lang="ja-JP" altLang="en-US" sz="1200" dirty="0"/>
              <a:t>　　　　　　　受注率　　　　　単価　　　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AFAE25-A192-A930-80D9-467D9EC05246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２８</a:t>
            </a:r>
            <a:r>
              <a:rPr kumimoji="1" lang="ja-JP" altLang="en-US" sz="2400" b="1" dirty="0"/>
              <a:t>／５０　　　５０　　</a:t>
            </a:r>
            <a:r>
              <a:rPr lang="ja-JP" altLang="en-US" sz="2400" b="1" dirty="0"/>
              <a:t>　</a:t>
            </a:r>
            <a:r>
              <a:rPr kumimoji="1" lang="ja-JP" altLang="en-US" sz="2400" b="1" dirty="0"/>
              <a:t>５０　　</a:t>
            </a:r>
            <a:r>
              <a:rPr lang="ja-JP" altLang="en-US" sz="2400" b="1" dirty="0"/>
              <a:t>２０　　４</a:t>
            </a:r>
            <a:r>
              <a:rPr lang="en-US" altLang="ja-JP" sz="2400" b="1" dirty="0"/>
              <a:t>.</a:t>
            </a:r>
            <a:r>
              <a:rPr lang="ja-JP" altLang="en-US" sz="2400" b="1" dirty="0"/>
              <a:t>３</a:t>
            </a:r>
            <a:endParaRPr kumimoji="1" lang="ja-JP" altLang="en-US" sz="2400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E1A2CF7-7C33-2CC9-33A6-22DF1F589F72}"/>
              </a:ext>
            </a:extLst>
          </p:cNvPr>
          <p:cNvSpPr/>
          <p:nvPr/>
        </p:nvSpPr>
        <p:spPr>
          <a:xfrm>
            <a:off x="1272209" y="2643809"/>
            <a:ext cx="8090452" cy="3727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A43DE8E-F782-E72C-09F1-653734DA9A1C}"/>
              </a:ext>
            </a:extLst>
          </p:cNvPr>
          <p:cNvCxnSpPr>
            <a:cxnSpLocks/>
          </p:cNvCxnSpPr>
          <p:nvPr/>
        </p:nvCxnSpPr>
        <p:spPr>
          <a:xfrm>
            <a:off x="1500808" y="349857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19E2959-21DB-5BA6-C1E7-9BFFF84CEA61}"/>
              </a:ext>
            </a:extLst>
          </p:cNvPr>
          <p:cNvCxnSpPr>
            <a:cxnSpLocks/>
          </p:cNvCxnSpPr>
          <p:nvPr/>
        </p:nvCxnSpPr>
        <p:spPr>
          <a:xfrm>
            <a:off x="1500808" y="435002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54DF2C6-B1FB-41CB-6590-C59A20C7C84C}"/>
              </a:ext>
            </a:extLst>
          </p:cNvPr>
          <p:cNvCxnSpPr>
            <a:cxnSpLocks/>
          </p:cNvCxnSpPr>
          <p:nvPr/>
        </p:nvCxnSpPr>
        <p:spPr>
          <a:xfrm>
            <a:off x="1500808" y="520147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80E5189-8B27-F6A1-D230-B71080A2E78B}"/>
              </a:ext>
            </a:extLst>
          </p:cNvPr>
          <p:cNvCxnSpPr>
            <a:cxnSpLocks/>
          </p:cNvCxnSpPr>
          <p:nvPr/>
        </p:nvCxnSpPr>
        <p:spPr>
          <a:xfrm>
            <a:off x="1500808" y="605293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F40DFA-2238-0D5E-5DE9-EE65ED49BBBF}"/>
              </a:ext>
            </a:extLst>
          </p:cNvPr>
          <p:cNvSpPr txBox="1"/>
          <p:nvPr/>
        </p:nvSpPr>
        <p:spPr>
          <a:xfrm>
            <a:off x="1585291" y="278228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１５／２０　　　　　　うううう　　おおおお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F32E163-D496-C80F-0D60-8650860A443C}"/>
              </a:ext>
            </a:extLst>
          </p:cNvPr>
          <p:cNvSpPr txBox="1"/>
          <p:nvPr/>
        </p:nvSpPr>
        <p:spPr>
          <a:xfrm>
            <a:off x="1625047" y="3181337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</a:t>
            </a:r>
            <a:r>
              <a:rPr lang="ja-JP" altLang="en-US" sz="1400" dirty="0"/>
              <a:t>黒田　泰　　　</a:t>
            </a:r>
            <a:r>
              <a:rPr kumimoji="1" lang="ja-JP" altLang="en-US" sz="1400" dirty="0"/>
              <a:t>うううう　　おおおお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75BB270-6C4E-AA80-5E3B-573C98C01735}"/>
              </a:ext>
            </a:extLst>
          </p:cNvPr>
          <p:cNvSpPr txBox="1"/>
          <p:nvPr/>
        </p:nvSpPr>
        <p:spPr>
          <a:xfrm>
            <a:off x="1625047" y="396936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　　おおおお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D417F7D-D554-EAE3-C0EB-D9D30F912441}"/>
              </a:ext>
            </a:extLst>
          </p:cNvPr>
          <p:cNvSpPr txBox="1"/>
          <p:nvPr/>
        </p:nvSpPr>
        <p:spPr>
          <a:xfrm>
            <a:off x="1625047" y="361534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うううう　　おおおお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DA98C660-148D-90F0-AA2E-86F3BBAC18E4}"/>
              </a:ext>
            </a:extLst>
          </p:cNvPr>
          <p:cNvCxnSpPr>
            <a:cxnSpLocks/>
          </p:cNvCxnSpPr>
          <p:nvPr/>
        </p:nvCxnSpPr>
        <p:spPr>
          <a:xfrm>
            <a:off x="1530626" y="308194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C7674D5-C7AF-2FCA-2701-793CF42C41FE}"/>
              </a:ext>
            </a:extLst>
          </p:cNvPr>
          <p:cNvCxnSpPr>
            <a:cxnSpLocks/>
          </p:cNvCxnSpPr>
          <p:nvPr/>
        </p:nvCxnSpPr>
        <p:spPr>
          <a:xfrm>
            <a:off x="1530626" y="393339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054AE29-82C8-F6A3-108D-9388EF4C7567}"/>
              </a:ext>
            </a:extLst>
          </p:cNvPr>
          <p:cNvCxnSpPr>
            <a:cxnSpLocks/>
          </p:cNvCxnSpPr>
          <p:nvPr/>
        </p:nvCxnSpPr>
        <p:spPr>
          <a:xfrm>
            <a:off x="1530626" y="478484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3D8CF78-AE7C-3546-281E-68A6AB36C00E}"/>
              </a:ext>
            </a:extLst>
          </p:cNvPr>
          <p:cNvCxnSpPr>
            <a:cxnSpLocks/>
          </p:cNvCxnSpPr>
          <p:nvPr/>
        </p:nvCxnSpPr>
        <p:spPr>
          <a:xfrm>
            <a:off x="1530626" y="563630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9633449-B34D-D44E-D238-6F44408693A0}"/>
              </a:ext>
            </a:extLst>
          </p:cNvPr>
          <p:cNvSpPr txBox="1"/>
          <p:nvPr/>
        </p:nvSpPr>
        <p:spPr>
          <a:xfrm>
            <a:off x="1625047" y="438512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3727C0E-9342-39E4-4690-7E651809AA61}"/>
              </a:ext>
            </a:extLst>
          </p:cNvPr>
          <p:cNvSpPr txBox="1"/>
          <p:nvPr/>
        </p:nvSpPr>
        <p:spPr>
          <a:xfrm>
            <a:off x="1625047" y="482670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D4DFA4A-2D9B-5B2F-66B0-6223CEFD820B}"/>
              </a:ext>
            </a:extLst>
          </p:cNvPr>
          <p:cNvSpPr txBox="1"/>
          <p:nvPr/>
        </p:nvSpPr>
        <p:spPr>
          <a:xfrm>
            <a:off x="1659835" y="521532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874DC48-BC3A-E39B-1524-AF911E608B29}"/>
              </a:ext>
            </a:extLst>
          </p:cNvPr>
          <p:cNvSpPr txBox="1"/>
          <p:nvPr/>
        </p:nvSpPr>
        <p:spPr>
          <a:xfrm>
            <a:off x="1659835" y="563108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3F2AB1C-8638-0316-37EC-0608123AEB3C}"/>
              </a:ext>
            </a:extLst>
          </p:cNvPr>
          <p:cNvSpPr txBox="1"/>
          <p:nvPr/>
        </p:nvSpPr>
        <p:spPr>
          <a:xfrm>
            <a:off x="1659835" y="607266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229485E7-5A2B-06B9-5E42-F68334FA30DF}"/>
              </a:ext>
            </a:extLst>
          </p:cNvPr>
          <p:cNvSpPr/>
          <p:nvPr/>
        </p:nvSpPr>
        <p:spPr>
          <a:xfrm>
            <a:off x="861390" y="2699109"/>
            <a:ext cx="821635" cy="2922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赤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黄色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青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FD7FEDE-E8FF-D1D3-5B7D-440AABA62265}"/>
              </a:ext>
            </a:extLst>
          </p:cNvPr>
          <p:cNvSpPr txBox="1"/>
          <p:nvPr/>
        </p:nvSpPr>
        <p:spPr>
          <a:xfrm>
            <a:off x="4681331" y="2045827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BAAFF30-CB00-0566-9CC7-298E10594289}"/>
              </a:ext>
            </a:extLst>
          </p:cNvPr>
          <p:cNvSpPr txBox="1"/>
          <p:nvPr/>
        </p:nvSpPr>
        <p:spPr>
          <a:xfrm>
            <a:off x="6162262" y="2050702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</p:spTree>
    <p:extLst>
      <p:ext uri="{BB962C8B-B14F-4D97-AF65-F5344CB8AC3E}">
        <p14:creationId xmlns:p14="http://schemas.microsoft.com/office/powerpoint/2010/main" val="143394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DF989-A44D-093F-1D0F-B660DA36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20CA1C-0013-0FD4-558A-AE5E50F12E34}"/>
              </a:ext>
            </a:extLst>
          </p:cNvPr>
          <p:cNvSpPr/>
          <p:nvPr/>
        </p:nvSpPr>
        <p:spPr>
          <a:xfrm>
            <a:off x="934278" y="636104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7523F9-F815-1D94-8DBD-A07DB12ECF16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受注担当者</a:t>
            </a:r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6CF95EA-2444-7210-AE1B-E660DFF74343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AEB886-6871-8323-D1F8-E8C4F4FD2109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当月の面談件数</a:t>
            </a:r>
            <a:r>
              <a:rPr kumimoji="1" lang="ja-JP" altLang="en-US" sz="1200" dirty="0"/>
              <a:t>　　　　　　　　受注率　　　　　単価　　　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3E74B8-CF2E-5722-1C9F-3830A92F88D1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２２</a:t>
            </a:r>
            <a:r>
              <a:rPr kumimoji="1" lang="ja-JP" altLang="en-US" sz="2400" b="1" dirty="0"/>
              <a:t>０／２５０　５０　　</a:t>
            </a:r>
            <a:r>
              <a:rPr lang="ja-JP" altLang="en-US" sz="2400" b="1" dirty="0"/>
              <a:t>　</a:t>
            </a:r>
            <a:r>
              <a:rPr kumimoji="1" lang="ja-JP" altLang="en-US" sz="2400" b="1" dirty="0"/>
              <a:t>５０　　</a:t>
            </a:r>
            <a:r>
              <a:rPr lang="ja-JP" altLang="en-US" sz="2400" b="1" dirty="0"/>
              <a:t>２０　　４</a:t>
            </a:r>
            <a:r>
              <a:rPr lang="en-US" altLang="ja-JP" sz="2400" b="1" dirty="0"/>
              <a:t>.</a:t>
            </a:r>
            <a:r>
              <a:rPr lang="ja-JP" altLang="en-US" sz="2400" b="1" dirty="0"/>
              <a:t>３</a:t>
            </a:r>
            <a:endParaRPr kumimoji="1" lang="ja-JP" altLang="en-US" sz="2400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F4A3AD4-87AB-1451-E0CE-D0D56D3077C3}"/>
              </a:ext>
            </a:extLst>
          </p:cNvPr>
          <p:cNvSpPr/>
          <p:nvPr/>
        </p:nvSpPr>
        <p:spPr>
          <a:xfrm>
            <a:off x="1272209" y="2643809"/>
            <a:ext cx="8090452" cy="3727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B03BC35-EF4E-4A2A-1ABE-842A15285413}"/>
              </a:ext>
            </a:extLst>
          </p:cNvPr>
          <p:cNvCxnSpPr>
            <a:cxnSpLocks/>
          </p:cNvCxnSpPr>
          <p:nvPr/>
        </p:nvCxnSpPr>
        <p:spPr>
          <a:xfrm>
            <a:off x="1500808" y="349857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6DBD8EB-14CB-FED0-5BC9-49DEDA94EA7B}"/>
              </a:ext>
            </a:extLst>
          </p:cNvPr>
          <p:cNvCxnSpPr>
            <a:cxnSpLocks/>
          </p:cNvCxnSpPr>
          <p:nvPr/>
        </p:nvCxnSpPr>
        <p:spPr>
          <a:xfrm>
            <a:off x="1500808" y="435002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98C0A00-9443-6FED-F7BF-187AF446E603}"/>
              </a:ext>
            </a:extLst>
          </p:cNvPr>
          <p:cNvCxnSpPr>
            <a:cxnSpLocks/>
          </p:cNvCxnSpPr>
          <p:nvPr/>
        </p:nvCxnSpPr>
        <p:spPr>
          <a:xfrm>
            <a:off x="1500808" y="520147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84D81A9-CE42-7641-1D33-853A2137A156}"/>
              </a:ext>
            </a:extLst>
          </p:cNvPr>
          <p:cNvCxnSpPr>
            <a:cxnSpLocks/>
          </p:cNvCxnSpPr>
          <p:nvPr/>
        </p:nvCxnSpPr>
        <p:spPr>
          <a:xfrm>
            <a:off x="1500808" y="605293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E6C6DC7-F805-1BB3-A4B0-48157555548A}"/>
              </a:ext>
            </a:extLst>
          </p:cNvPr>
          <p:cNvSpPr txBox="1"/>
          <p:nvPr/>
        </p:nvSpPr>
        <p:spPr>
          <a:xfrm>
            <a:off x="1585291" y="278228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１５／２０　　　　　　うううう　　おおおお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8E7BA5F-41B7-7B46-AE62-E234FA38C362}"/>
              </a:ext>
            </a:extLst>
          </p:cNvPr>
          <p:cNvSpPr txBox="1"/>
          <p:nvPr/>
        </p:nvSpPr>
        <p:spPr>
          <a:xfrm>
            <a:off x="1625047" y="3181337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</a:t>
            </a:r>
            <a:r>
              <a:rPr lang="ja-JP" altLang="en-US" sz="1400" dirty="0"/>
              <a:t>黒田　泰　　　</a:t>
            </a:r>
            <a:r>
              <a:rPr kumimoji="1" lang="ja-JP" altLang="en-US" sz="1400" dirty="0"/>
              <a:t>うううう　　おおおお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CF3F3C-3F29-93B9-2B26-4D7F6556CE66}"/>
              </a:ext>
            </a:extLst>
          </p:cNvPr>
          <p:cNvSpPr txBox="1"/>
          <p:nvPr/>
        </p:nvSpPr>
        <p:spPr>
          <a:xfrm>
            <a:off x="1625047" y="396936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　　おおおお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E45567C-E741-8FAF-88F5-F9EF963BCA28}"/>
              </a:ext>
            </a:extLst>
          </p:cNvPr>
          <p:cNvSpPr txBox="1"/>
          <p:nvPr/>
        </p:nvSpPr>
        <p:spPr>
          <a:xfrm>
            <a:off x="1625047" y="361534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うううう　　おおおお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03B36E2-A503-7FF1-D701-C80840EAD25D}"/>
              </a:ext>
            </a:extLst>
          </p:cNvPr>
          <p:cNvCxnSpPr>
            <a:cxnSpLocks/>
          </p:cNvCxnSpPr>
          <p:nvPr/>
        </p:nvCxnSpPr>
        <p:spPr>
          <a:xfrm>
            <a:off x="1530626" y="308194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8A05353-5286-511B-79EC-D27F6EE9BA5D}"/>
              </a:ext>
            </a:extLst>
          </p:cNvPr>
          <p:cNvCxnSpPr>
            <a:cxnSpLocks/>
          </p:cNvCxnSpPr>
          <p:nvPr/>
        </p:nvCxnSpPr>
        <p:spPr>
          <a:xfrm>
            <a:off x="1530626" y="393339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0F08CE7-7807-444C-F671-39639C457510}"/>
              </a:ext>
            </a:extLst>
          </p:cNvPr>
          <p:cNvCxnSpPr>
            <a:cxnSpLocks/>
          </p:cNvCxnSpPr>
          <p:nvPr/>
        </p:nvCxnSpPr>
        <p:spPr>
          <a:xfrm>
            <a:off x="1530626" y="478484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399B28B-4FAF-F552-6EB2-8A2B1B104045}"/>
              </a:ext>
            </a:extLst>
          </p:cNvPr>
          <p:cNvCxnSpPr>
            <a:cxnSpLocks/>
          </p:cNvCxnSpPr>
          <p:nvPr/>
        </p:nvCxnSpPr>
        <p:spPr>
          <a:xfrm>
            <a:off x="1530626" y="563630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2932DE7-AD06-1C75-FDF7-6C556663CD17}"/>
              </a:ext>
            </a:extLst>
          </p:cNvPr>
          <p:cNvSpPr txBox="1"/>
          <p:nvPr/>
        </p:nvSpPr>
        <p:spPr>
          <a:xfrm>
            <a:off x="1625047" y="438512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E304A2F-E981-617B-60FC-A9F7865D0ACF}"/>
              </a:ext>
            </a:extLst>
          </p:cNvPr>
          <p:cNvSpPr txBox="1"/>
          <p:nvPr/>
        </p:nvSpPr>
        <p:spPr>
          <a:xfrm>
            <a:off x="1625047" y="482670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3BCF3E2-9EF8-7414-FE27-812E8DE16DFA}"/>
              </a:ext>
            </a:extLst>
          </p:cNvPr>
          <p:cNvSpPr txBox="1"/>
          <p:nvPr/>
        </p:nvSpPr>
        <p:spPr>
          <a:xfrm>
            <a:off x="1659835" y="521532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9D142AA-A842-9EAE-D9C6-CB0BE2426544}"/>
              </a:ext>
            </a:extLst>
          </p:cNvPr>
          <p:cNvSpPr txBox="1"/>
          <p:nvPr/>
        </p:nvSpPr>
        <p:spPr>
          <a:xfrm>
            <a:off x="1659835" y="563108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0C58D22-3636-2DF6-699A-1891907A0AAC}"/>
              </a:ext>
            </a:extLst>
          </p:cNvPr>
          <p:cNvSpPr txBox="1"/>
          <p:nvPr/>
        </p:nvSpPr>
        <p:spPr>
          <a:xfrm>
            <a:off x="1659835" y="607266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35997F2C-5311-C71F-6D72-F7BBE598FBE5}"/>
              </a:ext>
            </a:extLst>
          </p:cNvPr>
          <p:cNvSpPr/>
          <p:nvPr/>
        </p:nvSpPr>
        <p:spPr>
          <a:xfrm>
            <a:off x="861390" y="2699109"/>
            <a:ext cx="821635" cy="2922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赤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黄色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青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DB59F76-ED97-D6F5-BF25-8844ECA4C9DD}"/>
              </a:ext>
            </a:extLst>
          </p:cNvPr>
          <p:cNvSpPr txBox="1"/>
          <p:nvPr/>
        </p:nvSpPr>
        <p:spPr>
          <a:xfrm>
            <a:off x="4681331" y="2045827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32FCAAB-4C73-F9DE-EA89-C52FC012CEC1}"/>
              </a:ext>
            </a:extLst>
          </p:cNvPr>
          <p:cNvSpPr txBox="1"/>
          <p:nvPr/>
        </p:nvSpPr>
        <p:spPr>
          <a:xfrm>
            <a:off x="6162262" y="2050702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</p:spTree>
    <p:extLst>
      <p:ext uri="{BB962C8B-B14F-4D97-AF65-F5344CB8AC3E}">
        <p14:creationId xmlns:p14="http://schemas.microsoft.com/office/powerpoint/2010/main" val="769658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B388C-A86E-5C85-1BD9-CEEEF172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8F4A0A-089B-BEBC-46A9-7A92B12FDAEC}"/>
              </a:ext>
            </a:extLst>
          </p:cNvPr>
          <p:cNvSpPr/>
          <p:nvPr/>
        </p:nvSpPr>
        <p:spPr>
          <a:xfrm>
            <a:off x="934278" y="636104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CF7738-EF79-7573-929F-CA4CFBA699B2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新井チーム</a:t>
            </a:r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48E5F0D-7132-F16E-0EA0-0A4AE1F65806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9DC31C-DBCD-5B20-F307-C5B49FF2CC2D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担当件数　　　　　　　青件数　　　　　　黄色件数　　　　　</a:t>
            </a:r>
            <a:r>
              <a:rPr lang="ja-JP" altLang="en-US" sz="1200" dirty="0"/>
              <a:t>赤件数　　　　　業完対象　　　業完サイクル　　　　</a:t>
            </a:r>
            <a:r>
              <a:rPr kumimoji="1" lang="ja-JP" altLang="en-US" sz="12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014C41D-C630-2B73-442F-722D44F7BB62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</a:t>
            </a:r>
            <a:r>
              <a:rPr kumimoji="1" lang="ja-JP" altLang="en-US" sz="2400" b="1" dirty="0"/>
              <a:t>５０　</a:t>
            </a:r>
            <a:r>
              <a:rPr lang="ja-JP" altLang="en-US" sz="2400" b="1" dirty="0"/>
              <a:t>　１</a:t>
            </a:r>
            <a:r>
              <a:rPr kumimoji="1" lang="ja-JP" altLang="en-US" sz="2400" b="1" dirty="0"/>
              <a:t>５０　　５０　　</a:t>
            </a:r>
            <a:r>
              <a:rPr lang="ja-JP" altLang="en-US" sz="2400" b="1" dirty="0"/>
              <a:t>　</a:t>
            </a:r>
            <a:r>
              <a:rPr kumimoji="1" lang="ja-JP" altLang="en-US" sz="2400" b="1" dirty="0"/>
              <a:t>５０　　</a:t>
            </a:r>
            <a:r>
              <a:rPr lang="ja-JP" altLang="en-US" sz="2400" b="1" dirty="0"/>
              <a:t>２０　　４</a:t>
            </a:r>
            <a:r>
              <a:rPr lang="en-US" altLang="ja-JP" sz="2400" b="1" dirty="0"/>
              <a:t>.</a:t>
            </a:r>
            <a:r>
              <a:rPr lang="ja-JP" altLang="en-US" sz="2400" b="1" dirty="0"/>
              <a:t>３</a:t>
            </a:r>
            <a:endParaRPr kumimoji="1" lang="ja-JP" altLang="en-US" sz="2400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0B69670-88CD-1CDF-3745-396C826D678D}"/>
              </a:ext>
            </a:extLst>
          </p:cNvPr>
          <p:cNvSpPr/>
          <p:nvPr/>
        </p:nvSpPr>
        <p:spPr>
          <a:xfrm>
            <a:off x="1272209" y="2643809"/>
            <a:ext cx="8090452" cy="3727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1BBF4E8-4CEB-D86F-7038-7052774EAC8F}"/>
              </a:ext>
            </a:extLst>
          </p:cNvPr>
          <p:cNvCxnSpPr>
            <a:cxnSpLocks/>
          </p:cNvCxnSpPr>
          <p:nvPr/>
        </p:nvCxnSpPr>
        <p:spPr>
          <a:xfrm>
            <a:off x="1500808" y="349857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7D7DCE9-C3DB-E451-C9DA-D9A2023B4198}"/>
              </a:ext>
            </a:extLst>
          </p:cNvPr>
          <p:cNvCxnSpPr>
            <a:cxnSpLocks/>
          </p:cNvCxnSpPr>
          <p:nvPr/>
        </p:nvCxnSpPr>
        <p:spPr>
          <a:xfrm>
            <a:off x="1500808" y="435002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2D2D7EE-7309-843A-DCD9-3D633A6F1C50}"/>
              </a:ext>
            </a:extLst>
          </p:cNvPr>
          <p:cNvCxnSpPr>
            <a:cxnSpLocks/>
          </p:cNvCxnSpPr>
          <p:nvPr/>
        </p:nvCxnSpPr>
        <p:spPr>
          <a:xfrm>
            <a:off x="1500808" y="520147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15B7960-EA1F-0ACA-F3D7-C08D113F9974}"/>
              </a:ext>
            </a:extLst>
          </p:cNvPr>
          <p:cNvCxnSpPr>
            <a:cxnSpLocks/>
          </p:cNvCxnSpPr>
          <p:nvPr/>
        </p:nvCxnSpPr>
        <p:spPr>
          <a:xfrm>
            <a:off x="1500808" y="605293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15B3F66-DD88-DF11-C953-5C455835B3A8}"/>
              </a:ext>
            </a:extLst>
          </p:cNvPr>
          <p:cNvSpPr txBox="1"/>
          <p:nvPr/>
        </p:nvSpPr>
        <p:spPr>
          <a:xfrm>
            <a:off x="1585291" y="278228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黒田　泰　　　うううう　　おおおお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F2F1D25-E97E-F66B-D8B1-21F17ADC4263}"/>
              </a:ext>
            </a:extLst>
          </p:cNvPr>
          <p:cNvSpPr txBox="1"/>
          <p:nvPr/>
        </p:nvSpPr>
        <p:spPr>
          <a:xfrm>
            <a:off x="1625047" y="3181337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</a:t>
            </a:r>
            <a:r>
              <a:rPr lang="ja-JP" altLang="en-US" sz="1400" dirty="0"/>
              <a:t>黒田　泰　　　</a:t>
            </a:r>
            <a:r>
              <a:rPr kumimoji="1" lang="ja-JP" altLang="en-US" sz="1400" dirty="0"/>
              <a:t>うううう　　おおおお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9C0FFCB-5A91-475E-3721-2C8829BC265F}"/>
              </a:ext>
            </a:extLst>
          </p:cNvPr>
          <p:cNvSpPr txBox="1"/>
          <p:nvPr/>
        </p:nvSpPr>
        <p:spPr>
          <a:xfrm>
            <a:off x="1625047" y="396936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　　おおおお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CA835B7-E123-DDB8-E047-A55558C0EFF1}"/>
              </a:ext>
            </a:extLst>
          </p:cNvPr>
          <p:cNvSpPr txBox="1"/>
          <p:nvPr/>
        </p:nvSpPr>
        <p:spPr>
          <a:xfrm>
            <a:off x="1625047" y="361534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うううう　　おおおお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E2F5EDE-BDE1-92B1-D87A-3CDD405709EF}"/>
              </a:ext>
            </a:extLst>
          </p:cNvPr>
          <p:cNvCxnSpPr>
            <a:cxnSpLocks/>
          </p:cNvCxnSpPr>
          <p:nvPr/>
        </p:nvCxnSpPr>
        <p:spPr>
          <a:xfrm>
            <a:off x="1530626" y="308194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BB31A66-D5F7-90A0-22A0-552886FEF418}"/>
              </a:ext>
            </a:extLst>
          </p:cNvPr>
          <p:cNvCxnSpPr>
            <a:cxnSpLocks/>
          </p:cNvCxnSpPr>
          <p:nvPr/>
        </p:nvCxnSpPr>
        <p:spPr>
          <a:xfrm>
            <a:off x="1530626" y="393339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51A802F-F693-E0C3-030B-0FDE0D77F283}"/>
              </a:ext>
            </a:extLst>
          </p:cNvPr>
          <p:cNvCxnSpPr>
            <a:cxnSpLocks/>
          </p:cNvCxnSpPr>
          <p:nvPr/>
        </p:nvCxnSpPr>
        <p:spPr>
          <a:xfrm>
            <a:off x="1530626" y="478484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277E6AD-B6B5-9F3F-9A65-67DC143A22BB}"/>
              </a:ext>
            </a:extLst>
          </p:cNvPr>
          <p:cNvCxnSpPr>
            <a:cxnSpLocks/>
          </p:cNvCxnSpPr>
          <p:nvPr/>
        </p:nvCxnSpPr>
        <p:spPr>
          <a:xfrm>
            <a:off x="1530626" y="563630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B0FCF77-E8B3-ECB4-63D3-6F8F8C8F94E3}"/>
              </a:ext>
            </a:extLst>
          </p:cNvPr>
          <p:cNvSpPr txBox="1"/>
          <p:nvPr/>
        </p:nvSpPr>
        <p:spPr>
          <a:xfrm>
            <a:off x="1625047" y="438512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138DAB6-A349-F025-41CF-BE42A3B5A1E0}"/>
              </a:ext>
            </a:extLst>
          </p:cNvPr>
          <p:cNvSpPr txBox="1"/>
          <p:nvPr/>
        </p:nvSpPr>
        <p:spPr>
          <a:xfrm>
            <a:off x="1625047" y="482670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ABA2036-F9F6-63A2-2213-34552FB7A25C}"/>
              </a:ext>
            </a:extLst>
          </p:cNvPr>
          <p:cNvSpPr txBox="1"/>
          <p:nvPr/>
        </p:nvSpPr>
        <p:spPr>
          <a:xfrm>
            <a:off x="1659835" y="521532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25C5C28B-52B5-E5D2-654D-E6AA52AD4BF5}"/>
              </a:ext>
            </a:extLst>
          </p:cNvPr>
          <p:cNvSpPr txBox="1"/>
          <p:nvPr/>
        </p:nvSpPr>
        <p:spPr>
          <a:xfrm>
            <a:off x="1659835" y="563108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66B3A54-4C16-A9CB-E124-5845B5D09B68}"/>
              </a:ext>
            </a:extLst>
          </p:cNvPr>
          <p:cNvSpPr txBox="1"/>
          <p:nvPr/>
        </p:nvSpPr>
        <p:spPr>
          <a:xfrm>
            <a:off x="1659835" y="607266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ECDD8D00-11DC-3801-4371-599ED2641B90}"/>
              </a:ext>
            </a:extLst>
          </p:cNvPr>
          <p:cNvSpPr/>
          <p:nvPr/>
        </p:nvSpPr>
        <p:spPr>
          <a:xfrm>
            <a:off x="861390" y="2699109"/>
            <a:ext cx="821635" cy="2922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赤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黄色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青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11374DD-9E1C-150C-27CB-085D5FB55243}"/>
              </a:ext>
            </a:extLst>
          </p:cNvPr>
          <p:cNvSpPr txBox="1"/>
          <p:nvPr/>
        </p:nvSpPr>
        <p:spPr>
          <a:xfrm>
            <a:off x="4681331" y="2045827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65F7B65-8FBE-6A25-1BFC-7C3FDD77D8C4}"/>
              </a:ext>
            </a:extLst>
          </p:cNvPr>
          <p:cNvSpPr txBox="1"/>
          <p:nvPr/>
        </p:nvSpPr>
        <p:spPr>
          <a:xfrm>
            <a:off x="6162262" y="2050702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</p:spTree>
    <p:extLst>
      <p:ext uri="{BB962C8B-B14F-4D97-AF65-F5344CB8AC3E}">
        <p14:creationId xmlns:p14="http://schemas.microsoft.com/office/powerpoint/2010/main" val="992907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A5FD-99DC-3012-091E-05717691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CB1D5BD-7D0C-7918-70E1-10B720344851}"/>
              </a:ext>
            </a:extLst>
          </p:cNvPr>
          <p:cNvSpPr/>
          <p:nvPr/>
        </p:nvSpPr>
        <p:spPr>
          <a:xfrm>
            <a:off x="934278" y="636104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CA65786-D036-D5C7-17CD-223D0392124E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渡邉チーム</a:t>
            </a:r>
            <a:endParaRPr kumimoji="1" lang="ja-JP" altLang="en-US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093ECF3-8361-42B3-8FE5-1F84D38741DF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21CC69-F04A-EAE7-FFFF-B8B9069E344E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担当件数　　　　　　　青件数　　　　　　黄色件数　　　　　</a:t>
            </a:r>
            <a:r>
              <a:rPr lang="ja-JP" altLang="en-US" sz="1200" dirty="0"/>
              <a:t>赤件数　　　　　業完対象　　　業完サイクル　　　　</a:t>
            </a:r>
            <a:r>
              <a:rPr kumimoji="1" lang="ja-JP" altLang="en-US" sz="12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D3F08C-B138-F330-3EEA-C884BEDB996B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２０</a:t>
            </a:r>
            <a:r>
              <a:rPr kumimoji="1" lang="ja-JP" altLang="en-US" sz="2400" b="1" dirty="0"/>
              <a:t>０　</a:t>
            </a:r>
            <a:r>
              <a:rPr lang="ja-JP" altLang="en-US" sz="2400" b="1" dirty="0"/>
              <a:t>　１２</a:t>
            </a:r>
            <a:r>
              <a:rPr kumimoji="1" lang="ja-JP" altLang="en-US" sz="2400" b="1" dirty="0"/>
              <a:t>０　　</a:t>
            </a:r>
            <a:r>
              <a:rPr lang="ja-JP" altLang="en-US" sz="2400" b="1" dirty="0"/>
              <a:t>３</a:t>
            </a:r>
            <a:r>
              <a:rPr kumimoji="1" lang="ja-JP" altLang="en-US" sz="2400" b="1" dirty="0"/>
              <a:t>０　　</a:t>
            </a:r>
            <a:r>
              <a:rPr lang="ja-JP" altLang="en-US" sz="2400" b="1" dirty="0"/>
              <a:t>　２</a:t>
            </a:r>
            <a:r>
              <a:rPr kumimoji="1" lang="ja-JP" altLang="en-US" sz="2400" b="1" dirty="0"/>
              <a:t>０　　１５</a:t>
            </a:r>
            <a:r>
              <a:rPr lang="ja-JP" altLang="en-US" sz="2400" b="1" dirty="0"/>
              <a:t>　　５</a:t>
            </a:r>
            <a:r>
              <a:rPr lang="en-US" altLang="ja-JP" sz="2400" b="1" dirty="0"/>
              <a:t>.</a:t>
            </a:r>
            <a:r>
              <a:rPr lang="ja-JP" altLang="en-US" sz="2400" b="1" dirty="0"/>
              <a:t>０</a:t>
            </a:r>
            <a:endParaRPr kumimoji="1" lang="ja-JP" altLang="en-US" sz="2400" b="1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CFF03D8-0031-082C-1168-1DA60306B75B}"/>
              </a:ext>
            </a:extLst>
          </p:cNvPr>
          <p:cNvSpPr/>
          <p:nvPr/>
        </p:nvSpPr>
        <p:spPr>
          <a:xfrm>
            <a:off x="1272209" y="2643809"/>
            <a:ext cx="8090452" cy="3727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E91349C-B7C8-A349-808B-0B78366AB3D4}"/>
              </a:ext>
            </a:extLst>
          </p:cNvPr>
          <p:cNvCxnSpPr>
            <a:cxnSpLocks/>
          </p:cNvCxnSpPr>
          <p:nvPr/>
        </p:nvCxnSpPr>
        <p:spPr>
          <a:xfrm>
            <a:off x="1500808" y="349857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5411FB2C-D193-32D2-570C-CCEB1AD28E7C}"/>
              </a:ext>
            </a:extLst>
          </p:cNvPr>
          <p:cNvCxnSpPr>
            <a:cxnSpLocks/>
          </p:cNvCxnSpPr>
          <p:nvPr/>
        </p:nvCxnSpPr>
        <p:spPr>
          <a:xfrm>
            <a:off x="1500808" y="435002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99CDA2D-DD2E-DE03-3918-27D9CF9553A9}"/>
              </a:ext>
            </a:extLst>
          </p:cNvPr>
          <p:cNvCxnSpPr>
            <a:cxnSpLocks/>
          </p:cNvCxnSpPr>
          <p:nvPr/>
        </p:nvCxnSpPr>
        <p:spPr>
          <a:xfrm>
            <a:off x="1500808" y="520147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A6141E7-90E0-3D16-50C3-44CDD9E0F563}"/>
              </a:ext>
            </a:extLst>
          </p:cNvPr>
          <p:cNvCxnSpPr>
            <a:cxnSpLocks/>
          </p:cNvCxnSpPr>
          <p:nvPr/>
        </p:nvCxnSpPr>
        <p:spPr>
          <a:xfrm>
            <a:off x="1500808" y="605293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D3F6D70-CDEE-8B42-4ABD-52D3F83A1EA3}"/>
              </a:ext>
            </a:extLst>
          </p:cNvPr>
          <p:cNvSpPr txBox="1"/>
          <p:nvPr/>
        </p:nvSpPr>
        <p:spPr>
          <a:xfrm>
            <a:off x="1585291" y="278228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黒田　泰　　　うううう　　おおおお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7D929E-7B91-F5B0-3F42-7A9F6FFC02A5}"/>
              </a:ext>
            </a:extLst>
          </p:cNvPr>
          <p:cNvSpPr txBox="1"/>
          <p:nvPr/>
        </p:nvSpPr>
        <p:spPr>
          <a:xfrm>
            <a:off x="1625047" y="3181337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</a:t>
            </a:r>
            <a:r>
              <a:rPr lang="ja-JP" altLang="en-US" sz="1400" dirty="0"/>
              <a:t>黒田　泰　　　</a:t>
            </a:r>
            <a:r>
              <a:rPr kumimoji="1" lang="ja-JP" altLang="en-US" sz="1400" dirty="0"/>
              <a:t>うううう　　おおおお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2D14DAA-1DBD-F523-ED8D-D7F1FD21C960}"/>
              </a:ext>
            </a:extLst>
          </p:cNvPr>
          <p:cNvSpPr txBox="1"/>
          <p:nvPr/>
        </p:nvSpPr>
        <p:spPr>
          <a:xfrm>
            <a:off x="1625047" y="396936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　　おおおお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3F28C77-9EFF-8BFD-C7FD-4CF015A5AE05}"/>
              </a:ext>
            </a:extLst>
          </p:cNvPr>
          <p:cNvSpPr txBox="1"/>
          <p:nvPr/>
        </p:nvSpPr>
        <p:spPr>
          <a:xfrm>
            <a:off x="1625047" y="361534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石井　二郎　　　うううう　　おおおお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36903D3-A0AF-BFA6-4F33-F620DB0B0872}"/>
              </a:ext>
            </a:extLst>
          </p:cNvPr>
          <p:cNvCxnSpPr>
            <a:cxnSpLocks/>
          </p:cNvCxnSpPr>
          <p:nvPr/>
        </p:nvCxnSpPr>
        <p:spPr>
          <a:xfrm>
            <a:off x="1530626" y="308194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5837DC5-A13F-D613-8DA1-3293643CAD92}"/>
              </a:ext>
            </a:extLst>
          </p:cNvPr>
          <p:cNvCxnSpPr>
            <a:cxnSpLocks/>
          </p:cNvCxnSpPr>
          <p:nvPr/>
        </p:nvCxnSpPr>
        <p:spPr>
          <a:xfrm>
            <a:off x="1530626" y="393339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EDA5C96-7C51-87F7-F51E-FAD43D665BEB}"/>
              </a:ext>
            </a:extLst>
          </p:cNvPr>
          <p:cNvCxnSpPr>
            <a:cxnSpLocks/>
          </p:cNvCxnSpPr>
          <p:nvPr/>
        </p:nvCxnSpPr>
        <p:spPr>
          <a:xfrm>
            <a:off x="1530626" y="478484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1C50B56-03BE-84B1-7B27-BD397BA75F6F}"/>
              </a:ext>
            </a:extLst>
          </p:cNvPr>
          <p:cNvCxnSpPr>
            <a:cxnSpLocks/>
          </p:cNvCxnSpPr>
          <p:nvPr/>
        </p:nvCxnSpPr>
        <p:spPr>
          <a:xfrm>
            <a:off x="1530626" y="5636300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5621102-76F5-9321-5A40-1A6DBCB8BE5E}"/>
              </a:ext>
            </a:extLst>
          </p:cNvPr>
          <p:cNvSpPr txBox="1"/>
          <p:nvPr/>
        </p:nvSpPr>
        <p:spPr>
          <a:xfrm>
            <a:off x="1625047" y="438512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F0170E1-5CBE-611A-BA8E-AFFC9586DAA8}"/>
              </a:ext>
            </a:extLst>
          </p:cNvPr>
          <p:cNvSpPr txBox="1"/>
          <p:nvPr/>
        </p:nvSpPr>
        <p:spPr>
          <a:xfrm>
            <a:off x="1625047" y="482670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A251D52-1FE6-8E7A-E893-6F0805795BC5}"/>
              </a:ext>
            </a:extLst>
          </p:cNvPr>
          <p:cNvSpPr txBox="1"/>
          <p:nvPr/>
        </p:nvSpPr>
        <p:spPr>
          <a:xfrm>
            <a:off x="1659835" y="521532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99BBB54-43EC-C64B-F1C6-62D4035EE7B5}"/>
              </a:ext>
            </a:extLst>
          </p:cNvPr>
          <p:cNvSpPr txBox="1"/>
          <p:nvPr/>
        </p:nvSpPr>
        <p:spPr>
          <a:xfrm>
            <a:off x="1659835" y="563108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7C19C9F-E200-C14E-6343-AB2ABF6AC1AB}"/>
              </a:ext>
            </a:extLst>
          </p:cNvPr>
          <p:cNvSpPr txBox="1"/>
          <p:nvPr/>
        </p:nvSpPr>
        <p:spPr>
          <a:xfrm>
            <a:off x="1659835" y="6072666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C000"/>
                </a:solidFill>
              </a:rPr>
              <a:t>山田太郎　</a:t>
            </a:r>
            <a:r>
              <a:rPr kumimoji="1" lang="ja-JP" altLang="en-US" sz="1400" dirty="0">
                <a:solidFill>
                  <a:srgbClr val="FFC000"/>
                </a:solidFill>
              </a:rPr>
              <a:t>　　</a:t>
            </a:r>
            <a:r>
              <a:rPr kumimoji="1" lang="ja-JP" altLang="en-US" sz="1400" dirty="0"/>
              <a:t>おおおお　　　いいいいい　　　うううう　　おおおお</a:t>
            </a:r>
          </a:p>
        </p:txBody>
      </p:sp>
      <p:sp>
        <p:nvSpPr>
          <p:cNvPr id="35" name="矢印: 下 34">
            <a:extLst>
              <a:ext uri="{FF2B5EF4-FFF2-40B4-BE49-F238E27FC236}">
                <a16:creationId xmlns:a16="http://schemas.microsoft.com/office/drawing/2014/main" id="{B5BBFEC6-792E-6E54-C295-47AB61000B4B}"/>
              </a:ext>
            </a:extLst>
          </p:cNvPr>
          <p:cNvSpPr/>
          <p:nvPr/>
        </p:nvSpPr>
        <p:spPr>
          <a:xfrm>
            <a:off x="861390" y="2699109"/>
            <a:ext cx="821635" cy="29221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赤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黄色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青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67E380E-AAF4-CE5B-E308-D6254E46998F}"/>
              </a:ext>
            </a:extLst>
          </p:cNvPr>
          <p:cNvSpPr txBox="1"/>
          <p:nvPr/>
        </p:nvSpPr>
        <p:spPr>
          <a:xfrm>
            <a:off x="4681331" y="2045827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6AA1065-F724-5E65-8953-A1A329712A9D}"/>
              </a:ext>
            </a:extLst>
          </p:cNvPr>
          <p:cNvSpPr txBox="1"/>
          <p:nvPr/>
        </p:nvSpPr>
        <p:spPr>
          <a:xfrm>
            <a:off x="6162262" y="2050702"/>
            <a:ext cx="86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33</a:t>
            </a:r>
            <a:r>
              <a:rPr kumimoji="1" lang="ja-JP" altLang="en-US" dirty="0"/>
              <a:t>％</a:t>
            </a:r>
          </a:p>
        </p:txBody>
      </p:sp>
    </p:spTree>
    <p:extLst>
      <p:ext uri="{BB962C8B-B14F-4D97-AF65-F5344CB8AC3E}">
        <p14:creationId xmlns:p14="http://schemas.microsoft.com/office/powerpoint/2010/main" val="2896790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1AC6-5923-C433-E902-C2EC3A65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0DF09F3-5F17-821C-AE51-A833AFBFAB36}"/>
              </a:ext>
            </a:extLst>
          </p:cNvPr>
          <p:cNvSpPr/>
          <p:nvPr/>
        </p:nvSpPr>
        <p:spPr>
          <a:xfrm>
            <a:off x="959125" y="571500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1BECDC-F096-D1BD-0810-00005671BB16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相続事業部　本日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0755A64-6FBB-40BA-A543-C47862A76159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E6F3F2-936E-F301-A8DF-602597723DA3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新規　　　　　　管理　　　　　　　完了　　　　　</a:t>
            </a:r>
            <a:r>
              <a:rPr lang="ja-JP" altLang="en-US" sz="1200" dirty="0"/>
              <a:t>　</a:t>
            </a:r>
            <a:r>
              <a:rPr kumimoji="1" lang="ja-JP" altLang="en-US" sz="12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13AA4A-5003-D140-FC2D-7D859723FEC1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２０</a:t>
            </a:r>
            <a:r>
              <a:rPr kumimoji="1" lang="ja-JP" altLang="en-US" sz="2400" b="1" dirty="0"/>
              <a:t>０　９５０　１７０　　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2396ECA-3ED4-B058-A622-3CF8256D6AB6}"/>
              </a:ext>
            </a:extLst>
          </p:cNvPr>
          <p:cNvSpPr/>
          <p:nvPr/>
        </p:nvSpPr>
        <p:spPr>
          <a:xfrm>
            <a:off x="1272209" y="2459566"/>
            <a:ext cx="8090452" cy="4140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E4E867C-E0A3-FD5D-91E3-D1ACA4BE1E09}"/>
              </a:ext>
            </a:extLst>
          </p:cNvPr>
          <p:cNvCxnSpPr>
            <a:cxnSpLocks/>
          </p:cNvCxnSpPr>
          <p:nvPr/>
        </p:nvCxnSpPr>
        <p:spPr>
          <a:xfrm>
            <a:off x="1500808" y="372717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3AB0C2-2DB7-2044-4886-DA17356EF791}"/>
              </a:ext>
            </a:extLst>
          </p:cNvPr>
          <p:cNvCxnSpPr>
            <a:cxnSpLocks/>
          </p:cNvCxnSpPr>
          <p:nvPr/>
        </p:nvCxnSpPr>
        <p:spPr>
          <a:xfrm>
            <a:off x="1500808" y="457862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04703AB-212B-B29F-457F-44B19DB0ECC0}"/>
              </a:ext>
            </a:extLst>
          </p:cNvPr>
          <p:cNvCxnSpPr>
            <a:cxnSpLocks/>
          </p:cNvCxnSpPr>
          <p:nvPr/>
        </p:nvCxnSpPr>
        <p:spPr>
          <a:xfrm>
            <a:off x="1500808" y="543007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E24264D-6860-09D8-72D0-5884E91624A8}"/>
              </a:ext>
            </a:extLst>
          </p:cNvPr>
          <p:cNvCxnSpPr>
            <a:cxnSpLocks/>
          </p:cNvCxnSpPr>
          <p:nvPr/>
        </p:nvCxnSpPr>
        <p:spPr>
          <a:xfrm>
            <a:off x="1500808" y="628152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1E8BAD-CE57-3A85-756C-65F844AD822B}"/>
              </a:ext>
            </a:extLst>
          </p:cNvPr>
          <p:cNvSpPr txBox="1"/>
          <p:nvPr/>
        </p:nvSpPr>
        <p:spPr>
          <a:xfrm>
            <a:off x="1515718" y="3010881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黒田　泰　 総合職・１年半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7 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10</a:t>
            </a:r>
            <a:r>
              <a:rPr lang="ja-JP" altLang="en-US" sz="1200" dirty="0"/>
              <a:t>／</a:t>
            </a:r>
            <a:r>
              <a:rPr lang="en-US" altLang="ja-JP" sz="1200" dirty="0"/>
              <a:t>48</a:t>
            </a:r>
            <a:r>
              <a:rPr lang="ja-JP" altLang="en-US" sz="1200" dirty="0"/>
              <a:t>／</a:t>
            </a:r>
            <a:r>
              <a:rPr lang="en-US" altLang="ja-JP" sz="1200" dirty="0"/>
              <a:t>8</a:t>
            </a:r>
            <a:r>
              <a:rPr lang="ja-JP" altLang="en-US" sz="1200" dirty="0"/>
              <a:t>　　　　　　　　　</a:t>
            </a:r>
            <a:r>
              <a:rPr lang="en-US" altLang="ja-JP" sz="1200" dirty="0"/>
              <a:t>4.5</a:t>
            </a:r>
            <a:endParaRPr kumimoji="1" lang="ja-JP" altLang="en-US" sz="12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95A5C2-7BE4-D95E-FD06-D36DE870E73D}"/>
              </a:ext>
            </a:extLst>
          </p:cNvPr>
          <p:cNvSpPr txBox="1"/>
          <p:nvPr/>
        </p:nvSpPr>
        <p:spPr>
          <a:xfrm>
            <a:off x="1625047" y="4197961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川田　</a:t>
            </a:r>
            <a:r>
              <a:rPr lang="en-US" altLang="ja-JP" sz="1400" b="1" dirty="0"/>
              <a:t>×</a:t>
            </a:r>
            <a:r>
              <a:rPr lang="ja-JP" altLang="en-US" sz="1400" b="1" dirty="0"/>
              <a:t>　　　５０</a:t>
            </a:r>
            <a:r>
              <a:rPr kumimoji="1" lang="ja-JP" altLang="en-US" sz="1400" b="1" dirty="0"/>
              <a:t>　</a:t>
            </a:r>
            <a:r>
              <a:rPr kumimoji="1" lang="ja-JP" altLang="en-US" sz="1400" dirty="0"/>
              <a:t>　　おおおお　　　石井　二郎　　　ううう　　おおおお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29C3356-5BCD-DA61-5917-5ED2C8450495}"/>
              </a:ext>
            </a:extLst>
          </p:cNvPr>
          <p:cNvCxnSpPr>
            <a:cxnSpLocks/>
          </p:cNvCxnSpPr>
          <p:nvPr/>
        </p:nvCxnSpPr>
        <p:spPr>
          <a:xfrm>
            <a:off x="1530626" y="331054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9F9C34C-A59A-8075-049D-880A7E3C64E9}"/>
              </a:ext>
            </a:extLst>
          </p:cNvPr>
          <p:cNvCxnSpPr>
            <a:cxnSpLocks/>
          </p:cNvCxnSpPr>
          <p:nvPr/>
        </p:nvCxnSpPr>
        <p:spPr>
          <a:xfrm>
            <a:off x="1530626" y="416199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2B25A9D-5669-B296-EA94-4C9CCB5B60B4}"/>
              </a:ext>
            </a:extLst>
          </p:cNvPr>
          <p:cNvCxnSpPr>
            <a:cxnSpLocks/>
          </p:cNvCxnSpPr>
          <p:nvPr/>
        </p:nvCxnSpPr>
        <p:spPr>
          <a:xfrm>
            <a:off x="1530626" y="501344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DA1916F-6767-8362-4865-FDF732241995}"/>
              </a:ext>
            </a:extLst>
          </p:cNvPr>
          <p:cNvCxnSpPr>
            <a:cxnSpLocks/>
          </p:cNvCxnSpPr>
          <p:nvPr/>
        </p:nvCxnSpPr>
        <p:spPr>
          <a:xfrm>
            <a:off x="1530626" y="586489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A2643AC-C04F-5F95-7F7B-1BB29D527535}"/>
              </a:ext>
            </a:extLst>
          </p:cNvPr>
          <p:cNvSpPr txBox="1"/>
          <p:nvPr/>
        </p:nvSpPr>
        <p:spPr>
          <a:xfrm>
            <a:off x="1625047" y="4613718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DD4CF76-B9F3-7540-6C71-6150D7EE0B42}"/>
              </a:ext>
            </a:extLst>
          </p:cNvPr>
          <p:cNvSpPr txBox="1"/>
          <p:nvPr/>
        </p:nvSpPr>
        <p:spPr>
          <a:xfrm>
            <a:off x="1625047" y="505530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AC09A4D-7B7D-2710-A006-337F8C15E74F}"/>
              </a:ext>
            </a:extLst>
          </p:cNvPr>
          <p:cNvSpPr txBox="1"/>
          <p:nvPr/>
        </p:nvSpPr>
        <p:spPr>
          <a:xfrm>
            <a:off x="1659835" y="5443921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072655-679E-258A-CBD1-7BB9F6163FD9}"/>
              </a:ext>
            </a:extLst>
          </p:cNvPr>
          <p:cNvSpPr txBox="1"/>
          <p:nvPr/>
        </p:nvSpPr>
        <p:spPr>
          <a:xfrm>
            <a:off x="1659835" y="5859678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52886CC-4D52-3E40-014C-045CBD853220}"/>
              </a:ext>
            </a:extLst>
          </p:cNvPr>
          <p:cNvSpPr txBox="1"/>
          <p:nvPr/>
        </p:nvSpPr>
        <p:spPr>
          <a:xfrm>
            <a:off x="1659835" y="630126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0D94AA-9766-DF80-B1E7-FBDEC18E6EA4}"/>
              </a:ext>
            </a:extLst>
          </p:cNvPr>
          <p:cNvSpPr txBox="1"/>
          <p:nvPr/>
        </p:nvSpPr>
        <p:spPr>
          <a:xfrm>
            <a:off x="3667538" y="2685173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新規／管理／完了</a:t>
            </a:r>
            <a:r>
              <a:rPr kumimoji="1" lang="ja-JP" altLang="en-US" sz="1200" dirty="0"/>
              <a:t>　　新規／管理／完了　　　</a:t>
            </a:r>
            <a:r>
              <a:rPr lang="ja-JP" altLang="en-US" sz="1200" dirty="0"/>
              <a:t>新規／管理／完了　　サイクル　　　　</a:t>
            </a:r>
            <a:endParaRPr kumimoji="1" lang="ja-JP" altLang="en-US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568B301-FB68-1F15-23B0-950B0514D627}"/>
              </a:ext>
            </a:extLst>
          </p:cNvPr>
          <p:cNvSpPr txBox="1"/>
          <p:nvPr/>
        </p:nvSpPr>
        <p:spPr>
          <a:xfrm>
            <a:off x="3727172" y="2468170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月　</a:t>
            </a:r>
            <a:r>
              <a:rPr kumimoji="1" lang="en-US" altLang="ja-JP" sz="1200" dirty="0"/>
              <a:t>24</a:t>
            </a:r>
            <a:r>
              <a:rPr kumimoji="1" lang="ja-JP" altLang="en-US" sz="1200" dirty="0"/>
              <a:t>日　　　　　　　３月　　　　　　　　２月　　　　　　　１月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26DD9F-5521-736B-32B1-5CA54142A70B}"/>
              </a:ext>
            </a:extLst>
          </p:cNvPr>
          <p:cNvSpPr txBox="1"/>
          <p:nvPr/>
        </p:nvSpPr>
        <p:spPr>
          <a:xfrm>
            <a:off x="2451654" y="2709889"/>
            <a:ext cx="1436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働き・在籍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951A4E-DB52-D72B-A721-4D6AB75FCFD7}"/>
              </a:ext>
            </a:extLst>
          </p:cNvPr>
          <p:cNvSpPr txBox="1"/>
          <p:nvPr/>
        </p:nvSpPr>
        <p:spPr>
          <a:xfrm>
            <a:off x="1500807" y="3391788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佐藤　太郎　 総合職・３年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6 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6</a:t>
            </a:r>
            <a:r>
              <a:rPr kumimoji="1" lang="en-US" altLang="ja-JP" sz="1200" dirty="0"/>
              <a:t>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lang="en-US" altLang="ja-JP" sz="1200" dirty="0"/>
              <a:t>6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62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　　　　　　</a:t>
            </a:r>
            <a:r>
              <a:rPr kumimoji="1" lang="en-US" altLang="ja-JP" sz="1200" dirty="0"/>
              <a:t>6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5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4E4AB7-36C6-CC87-C01C-869A0AF1A071}"/>
              </a:ext>
            </a:extLst>
          </p:cNvPr>
          <p:cNvSpPr txBox="1"/>
          <p:nvPr/>
        </p:nvSpPr>
        <p:spPr>
          <a:xfrm>
            <a:off x="1494183" y="3812543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川上　二郎　 総合職・２年</a:t>
            </a:r>
            <a:r>
              <a:rPr kumimoji="1" lang="ja-JP" altLang="en-US" sz="1200" dirty="0"/>
              <a:t>　　</a:t>
            </a:r>
            <a:r>
              <a:rPr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62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10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10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6</a:t>
            </a:r>
            <a:r>
              <a:rPr lang="en-US" altLang="ja-JP" sz="1200" dirty="0"/>
              <a:t>3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9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12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6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4098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F10E8-2BE8-1F8F-76F5-D40ED436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D7BBF7-8BBD-9635-D9C6-67EF77FA9C54}"/>
              </a:ext>
            </a:extLst>
          </p:cNvPr>
          <p:cNvSpPr/>
          <p:nvPr/>
        </p:nvSpPr>
        <p:spPr>
          <a:xfrm>
            <a:off x="959125" y="571500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0CADF3-D4B2-2580-BCB0-E3451BEC4552}"/>
              </a:ext>
            </a:extLst>
          </p:cNvPr>
          <p:cNvSpPr txBox="1"/>
          <p:nvPr/>
        </p:nvSpPr>
        <p:spPr>
          <a:xfrm>
            <a:off x="1351722" y="884583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相続事業部　　新井チーム　当日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E0AD348-926E-45E7-B987-ABA2B6387267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DB8053-3CB7-49D9-9B92-AA2F966C47C7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新規　　　　　　管理　　　　　　　完了　　　　　　業務完了金額　　　　</a:t>
            </a:r>
            <a:r>
              <a:rPr lang="ja-JP" altLang="en-US" sz="1200" dirty="0"/>
              <a:t>　</a:t>
            </a:r>
            <a:r>
              <a:rPr kumimoji="1" lang="ja-JP" altLang="en-US" sz="12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B50E60-5518-2703-98C3-E513334103AE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５０　２００　　４０　　９５０万円　　　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8D85EFD-B700-BE16-924D-47E7B310C6A5}"/>
              </a:ext>
            </a:extLst>
          </p:cNvPr>
          <p:cNvSpPr/>
          <p:nvPr/>
        </p:nvSpPr>
        <p:spPr>
          <a:xfrm>
            <a:off x="1272209" y="2459566"/>
            <a:ext cx="8090452" cy="4140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09597DE-72AA-F1E9-2666-B32604B1B663}"/>
              </a:ext>
            </a:extLst>
          </p:cNvPr>
          <p:cNvCxnSpPr>
            <a:cxnSpLocks/>
          </p:cNvCxnSpPr>
          <p:nvPr/>
        </p:nvCxnSpPr>
        <p:spPr>
          <a:xfrm>
            <a:off x="1500808" y="372717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FFFFB4-C971-81C1-ED3F-36913EC4FC40}"/>
              </a:ext>
            </a:extLst>
          </p:cNvPr>
          <p:cNvCxnSpPr>
            <a:cxnSpLocks/>
          </p:cNvCxnSpPr>
          <p:nvPr/>
        </p:nvCxnSpPr>
        <p:spPr>
          <a:xfrm>
            <a:off x="1500808" y="457862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DFC9E73-47C2-34CE-59FB-7DAD95F47A42}"/>
              </a:ext>
            </a:extLst>
          </p:cNvPr>
          <p:cNvSpPr txBox="1"/>
          <p:nvPr/>
        </p:nvSpPr>
        <p:spPr>
          <a:xfrm>
            <a:off x="1515718" y="3010881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黒田　泰　 総合職・１年半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7 </a:t>
            </a:r>
            <a:r>
              <a:rPr kumimoji="1" lang="ja-JP" altLang="en-US" sz="1200" dirty="0"/>
              <a:t>／</a:t>
            </a:r>
            <a:r>
              <a:rPr kumimoji="1" lang="en-US" altLang="ja-JP" sz="1200" b="1" dirty="0"/>
              <a:t>50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10</a:t>
            </a:r>
            <a:r>
              <a:rPr lang="ja-JP" altLang="en-US" sz="1200" dirty="0"/>
              <a:t>／</a:t>
            </a:r>
            <a:r>
              <a:rPr lang="en-US" altLang="ja-JP" sz="1200" dirty="0"/>
              <a:t>48</a:t>
            </a:r>
            <a:r>
              <a:rPr lang="ja-JP" altLang="en-US" sz="1200" dirty="0"/>
              <a:t>／</a:t>
            </a:r>
            <a:r>
              <a:rPr lang="en-US" altLang="ja-JP" sz="1200" dirty="0"/>
              <a:t>8</a:t>
            </a:r>
            <a:r>
              <a:rPr lang="ja-JP" altLang="en-US" sz="1200" dirty="0"/>
              <a:t>　　　　　　　　　</a:t>
            </a:r>
            <a:r>
              <a:rPr lang="en-US" altLang="ja-JP" sz="1200" dirty="0"/>
              <a:t>4.5</a:t>
            </a:r>
            <a:endParaRPr kumimoji="1" lang="ja-JP" altLang="en-US" sz="120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A6D1A2E-0FC2-8FEE-B763-0534AD31BBD8}"/>
              </a:ext>
            </a:extLst>
          </p:cNvPr>
          <p:cNvCxnSpPr>
            <a:cxnSpLocks/>
          </p:cNvCxnSpPr>
          <p:nvPr/>
        </p:nvCxnSpPr>
        <p:spPr>
          <a:xfrm>
            <a:off x="1530626" y="331054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074EE37-C64F-9406-FDA6-52EE50A8506B}"/>
              </a:ext>
            </a:extLst>
          </p:cNvPr>
          <p:cNvCxnSpPr>
            <a:cxnSpLocks/>
          </p:cNvCxnSpPr>
          <p:nvPr/>
        </p:nvCxnSpPr>
        <p:spPr>
          <a:xfrm>
            <a:off x="1530626" y="416199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0050FB-605C-9B72-56A6-854A3DF20839}"/>
              </a:ext>
            </a:extLst>
          </p:cNvPr>
          <p:cNvSpPr txBox="1"/>
          <p:nvPr/>
        </p:nvSpPr>
        <p:spPr>
          <a:xfrm>
            <a:off x="3667538" y="2685173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新規／管理／完了</a:t>
            </a:r>
            <a:r>
              <a:rPr kumimoji="1" lang="ja-JP" altLang="en-US" sz="1200" dirty="0"/>
              <a:t>　　新規／管理／完了　　　</a:t>
            </a:r>
            <a:r>
              <a:rPr lang="ja-JP" altLang="en-US" sz="1200" dirty="0"/>
              <a:t>新規／管理／完了　　サイクル　　　　</a:t>
            </a:r>
            <a:endParaRPr kumimoji="1" lang="ja-JP" altLang="en-US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9E35BA-6591-ECF8-4246-2FF945729508}"/>
              </a:ext>
            </a:extLst>
          </p:cNvPr>
          <p:cNvSpPr txBox="1"/>
          <p:nvPr/>
        </p:nvSpPr>
        <p:spPr>
          <a:xfrm>
            <a:off x="3727172" y="2468170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月　</a:t>
            </a:r>
            <a:r>
              <a:rPr kumimoji="1" lang="en-US" altLang="ja-JP" sz="1200" dirty="0"/>
              <a:t>24</a:t>
            </a:r>
            <a:r>
              <a:rPr kumimoji="1" lang="ja-JP" altLang="en-US" sz="1200" dirty="0"/>
              <a:t>日　　　　　　　３月　　　　　　　　２月　　　　　　　１月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75CEFE-C96F-7EA0-72C9-C9F9E59530BD}"/>
              </a:ext>
            </a:extLst>
          </p:cNvPr>
          <p:cNvSpPr txBox="1"/>
          <p:nvPr/>
        </p:nvSpPr>
        <p:spPr>
          <a:xfrm>
            <a:off x="2451654" y="2709889"/>
            <a:ext cx="1436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働き・在籍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510EDBE-118E-1C37-0452-B8AB3FF3AF22}"/>
              </a:ext>
            </a:extLst>
          </p:cNvPr>
          <p:cNvSpPr txBox="1"/>
          <p:nvPr/>
        </p:nvSpPr>
        <p:spPr>
          <a:xfrm>
            <a:off x="1500807" y="3391788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佐藤　太郎　 総合職・３年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6 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6</a:t>
            </a:r>
            <a:r>
              <a:rPr kumimoji="1" lang="en-US" altLang="ja-JP" sz="1200" b="1" dirty="0"/>
              <a:t>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lang="en-US" altLang="ja-JP" sz="1200" dirty="0"/>
              <a:t>6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62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　　　　　　</a:t>
            </a:r>
            <a:r>
              <a:rPr kumimoji="1" lang="en-US" altLang="ja-JP" sz="1200" dirty="0"/>
              <a:t>6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5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658C66-0FF1-CB2B-45BA-F83FF4ADC089}"/>
              </a:ext>
            </a:extLst>
          </p:cNvPr>
          <p:cNvSpPr txBox="1"/>
          <p:nvPr/>
        </p:nvSpPr>
        <p:spPr>
          <a:xfrm>
            <a:off x="1494183" y="3812543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川上　花子　 事務職・３年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6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42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6</a:t>
            </a:r>
            <a:r>
              <a:rPr kumimoji="1" lang="ja-JP" altLang="en-US" sz="1200" dirty="0"/>
              <a:t>　　　　</a:t>
            </a:r>
            <a:r>
              <a:rPr lang="en-US" altLang="ja-JP" sz="1200" dirty="0"/>
              <a:t>6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43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5</a:t>
            </a:r>
            <a:r>
              <a:rPr kumimoji="1" lang="ja-JP" altLang="en-US" sz="1200" dirty="0"/>
              <a:t>　　　　　　</a:t>
            </a:r>
            <a:r>
              <a:rPr kumimoji="1" lang="en-US" altLang="ja-JP" sz="1200" dirty="0"/>
              <a:t>6</a:t>
            </a:r>
            <a:r>
              <a:rPr lang="ja-JP" altLang="en-US" sz="1200" dirty="0"/>
              <a:t>／</a:t>
            </a:r>
            <a:r>
              <a:rPr lang="en-US" altLang="ja-JP" sz="1200" dirty="0"/>
              <a:t>40</a:t>
            </a:r>
            <a:r>
              <a:rPr lang="ja-JP" altLang="en-US" sz="1200" dirty="0"/>
              <a:t>／</a:t>
            </a:r>
            <a:r>
              <a:rPr lang="en-US" altLang="ja-JP" sz="1200" dirty="0"/>
              <a:t>6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04E234-EE4D-5117-8A5B-4F76E0792D7C}"/>
              </a:ext>
            </a:extLst>
          </p:cNvPr>
          <p:cNvSpPr txBox="1"/>
          <p:nvPr/>
        </p:nvSpPr>
        <p:spPr>
          <a:xfrm>
            <a:off x="1500807" y="4191298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新卒</a:t>
            </a:r>
            <a:r>
              <a:rPr kumimoji="1" lang="ja-JP" altLang="en-US" sz="1200" b="1" dirty="0"/>
              <a:t>　太郎　 総合職・１ヶ月</a:t>
            </a:r>
            <a:r>
              <a:rPr kumimoji="1" lang="ja-JP" altLang="en-US" sz="1200" dirty="0"/>
              <a:t>　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15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0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10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0</a:t>
            </a:r>
            <a:r>
              <a:rPr kumimoji="1" lang="ja-JP" altLang="en-US" sz="1200" dirty="0"/>
              <a:t>　　　　　　　</a:t>
            </a:r>
            <a:r>
              <a:rPr kumimoji="1" lang="en-US" altLang="ja-JP" sz="1200" dirty="0"/>
              <a:t>5</a:t>
            </a:r>
            <a:r>
              <a:rPr lang="ja-JP" altLang="en-US" sz="1200" dirty="0"/>
              <a:t>／</a:t>
            </a:r>
            <a:r>
              <a:rPr lang="en-US" altLang="ja-JP" sz="1200" dirty="0"/>
              <a:t>5</a:t>
            </a:r>
            <a:r>
              <a:rPr lang="ja-JP" altLang="en-US" sz="1200" dirty="0"/>
              <a:t>／</a:t>
            </a:r>
            <a:r>
              <a:rPr lang="en-US" altLang="ja-JP" sz="1200" dirty="0"/>
              <a:t>0</a:t>
            </a:r>
            <a:endParaRPr kumimoji="1"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B85AB01-09F7-15E5-BC03-6CAAF9C5C5E1}"/>
              </a:ext>
            </a:extLst>
          </p:cNvPr>
          <p:cNvSpPr txBox="1"/>
          <p:nvPr/>
        </p:nvSpPr>
        <p:spPr>
          <a:xfrm>
            <a:off x="2241274" y="4823811"/>
            <a:ext cx="5710031" cy="367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200</a:t>
            </a:r>
            <a:r>
              <a:rPr kumimoji="1" lang="ja-JP" altLang="en-US" dirty="0"/>
              <a:t>Ｈ</a:t>
            </a:r>
            <a:r>
              <a:rPr kumimoji="1" lang="en-US" altLang="ja-JP" dirty="0"/>
              <a:t>×</a:t>
            </a:r>
            <a:r>
              <a:rPr kumimoji="1" lang="ja-JP" altLang="en-US" dirty="0"/>
              <a:t>４名＝</a:t>
            </a:r>
            <a:r>
              <a:rPr kumimoji="1" lang="en-US" altLang="ja-JP" dirty="0"/>
              <a:t>800</a:t>
            </a:r>
            <a:r>
              <a:rPr kumimoji="1" lang="ja-JP" altLang="en-US" dirty="0"/>
              <a:t>Ｈ　　→処理してるの？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1C8FA60-849B-4C58-D9F2-66E4960A3F4C}"/>
              </a:ext>
            </a:extLst>
          </p:cNvPr>
          <p:cNvSpPr txBox="1"/>
          <p:nvPr/>
        </p:nvSpPr>
        <p:spPr>
          <a:xfrm>
            <a:off x="2102126" y="5216186"/>
            <a:ext cx="6544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４ヶ月　　　　６ヶ月　　　　８ヶ月　　　１０　　　１２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C136FC9-DFE9-B9B5-C9DE-606D9FF65F9D}"/>
              </a:ext>
            </a:extLst>
          </p:cNvPr>
          <p:cNvSpPr txBox="1"/>
          <p:nvPr/>
        </p:nvSpPr>
        <p:spPr>
          <a:xfrm>
            <a:off x="2099641" y="5534661"/>
            <a:ext cx="6544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１５～２０</a:t>
            </a:r>
            <a:r>
              <a:rPr kumimoji="1" lang="ja-JP" altLang="en-US" dirty="0"/>
              <a:t>　　　３０　　　　　３８　　　</a:t>
            </a:r>
            <a:r>
              <a:rPr lang="ja-JP" altLang="en-US" dirty="0"/>
              <a:t>４５　　　５５</a:t>
            </a:r>
            <a:endParaRPr lang="en-US" altLang="ja-JP" dirty="0"/>
          </a:p>
          <a:p>
            <a:r>
              <a:rPr kumimoji="1" lang="ja-JP" altLang="en-US" dirty="0"/>
              <a:t>→熟練度≠在籍期間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4911C4-BCED-7CA6-3841-B76F5BFC7EBC}"/>
              </a:ext>
            </a:extLst>
          </p:cNvPr>
          <p:cNvSpPr txBox="1"/>
          <p:nvPr/>
        </p:nvSpPr>
        <p:spPr>
          <a:xfrm>
            <a:off x="2314161" y="6159662"/>
            <a:ext cx="5710031" cy="367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新卒　</a:t>
            </a:r>
            <a:r>
              <a:rPr kumimoji="1" lang="en-US" altLang="ja-JP" dirty="0"/>
              <a:t>200</a:t>
            </a:r>
            <a:r>
              <a:rPr kumimoji="1" lang="ja-JP" altLang="en-US" dirty="0"/>
              <a:t>Ｈ</a:t>
            </a:r>
            <a:r>
              <a:rPr kumimoji="1" lang="en-US" altLang="ja-JP" dirty="0"/>
              <a:t>×</a:t>
            </a:r>
            <a:r>
              <a:rPr kumimoji="1" lang="ja-JP" altLang="en-US" dirty="0"/>
              <a:t>４名＝</a:t>
            </a:r>
            <a:r>
              <a:rPr kumimoji="1" lang="en-US" altLang="ja-JP" dirty="0"/>
              <a:t>800</a:t>
            </a:r>
            <a:r>
              <a:rPr kumimoji="1" lang="ja-JP" altLang="en-US" dirty="0"/>
              <a:t>Ｈ　　→</a:t>
            </a:r>
            <a:r>
              <a:rPr kumimoji="1" lang="en-US" altLang="ja-JP" dirty="0"/>
              <a:t>450</a:t>
            </a:r>
            <a:r>
              <a:rPr kumimoji="1" lang="ja-JP" altLang="en-US" dirty="0"/>
              <a:t>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28F873F-A18F-2D76-F5DB-6031494111C5}"/>
              </a:ext>
            </a:extLst>
          </p:cNvPr>
          <p:cNvSpPr txBox="1"/>
          <p:nvPr/>
        </p:nvSpPr>
        <p:spPr>
          <a:xfrm>
            <a:off x="1530626" y="6479327"/>
            <a:ext cx="6493566" cy="367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在籍平均３年</a:t>
            </a:r>
            <a:r>
              <a:rPr kumimoji="1" lang="ja-JP" altLang="en-US" dirty="0"/>
              <a:t>　</a:t>
            </a:r>
            <a:r>
              <a:rPr kumimoji="1" lang="en-US" altLang="ja-JP" dirty="0"/>
              <a:t>200</a:t>
            </a:r>
            <a:r>
              <a:rPr kumimoji="1" lang="ja-JP" altLang="en-US" dirty="0"/>
              <a:t>Ｈ</a:t>
            </a:r>
            <a:r>
              <a:rPr kumimoji="1" lang="en-US" altLang="ja-JP" dirty="0"/>
              <a:t>×</a:t>
            </a:r>
            <a:r>
              <a:rPr kumimoji="1" lang="ja-JP" altLang="en-US" dirty="0"/>
              <a:t>４名＝</a:t>
            </a:r>
            <a:r>
              <a:rPr kumimoji="1" lang="en-US" altLang="ja-JP" dirty="0"/>
              <a:t>800</a:t>
            </a:r>
            <a:r>
              <a:rPr kumimoji="1" lang="ja-JP" altLang="en-US" dirty="0"/>
              <a:t>Ｈ　　→</a:t>
            </a:r>
            <a:r>
              <a:rPr kumimoji="1" lang="en-US" altLang="ja-JP" dirty="0"/>
              <a:t>780</a:t>
            </a:r>
            <a:r>
              <a:rPr kumimoji="1" lang="ja-JP" altLang="en-US" dirty="0"/>
              <a:t>Ｈ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3EED061-1965-CC9F-8579-10BFA166CF73}"/>
              </a:ext>
            </a:extLst>
          </p:cNvPr>
          <p:cNvSpPr/>
          <p:nvPr/>
        </p:nvSpPr>
        <p:spPr>
          <a:xfrm>
            <a:off x="4271340" y="3040989"/>
            <a:ext cx="278296" cy="15431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1762588-81F7-1123-D9AE-142FFEFC885F}"/>
              </a:ext>
            </a:extLst>
          </p:cNvPr>
          <p:cNvSpPr/>
          <p:nvPr/>
        </p:nvSpPr>
        <p:spPr>
          <a:xfrm>
            <a:off x="3667538" y="3022892"/>
            <a:ext cx="278296" cy="154310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708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A4EB-2659-6F9F-4284-F1E3FE30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6C4571-BE94-DB87-E6C4-0B08A5E81EDD}"/>
              </a:ext>
            </a:extLst>
          </p:cNvPr>
          <p:cNvSpPr/>
          <p:nvPr/>
        </p:nvSpPr>
        <p:spPr>
          <a:xfrm>
            <a:off x="959125" y="571500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6BF401-6915-CF87-D4CD-E17648B4983D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相続事業部　３月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4E101B9-1C3A-609A-FE0D-B8724ABB415F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084D61-AEA5-3F16-5092-D80CDFFDE226}"/>
              </a:ext>
            </a:extLst>
          </p:cNvPr>
          <p:cNvSpPr txBox="1"/>
          <p:nvPr/>
        </p:nvSpPr>
        <p:spPr>
          <a:xfrm>
            <a:off x="1351722" y="1490869"/>
            <a:ext cx="8875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新規　　　　　　管理　　　　　　　完了　　　　　　業務完了金額　　　　</a:t>
            </a:r>
            <a:r>
              <a:rPr lang="ja-JP" altLang="en-US" sz="1200" dirty="0"/>
              <a:t>　</a:t>
            </a:r>
            <a:r>
              <a:rPr kumimoji="1" lang="ja-JP" altLang="en-US" sz="12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D10298-2EA7-0A23-8269-BAA9467398D6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２５</a:t>
            </a:r>
            <a:r>
              <a:rPr kumimoji="1" lang="ja-JP" altLang="en-US" sz="2400" b="1" dirty="0"/>
              <a:t>０　９６０　</a:t>
            </a:r>
            <a:r>
              <a:rPr lang="ja-JP" altLang="en-US" sz="2400" b="1" dirty="0"/>
              <a:t>２１</a:t>
            </a:r>
            <a:r>
              <a:rPr kumimoji="1" lang="ja-JP" altLang="en-US" sz="2400" b="1" dirty="0"/>
              <a:t>０　４９５０万円　　　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605DFB6-5CDE-2F24-D7DF-0E85ED8DA75C}"/>
              </a:ext>
            </a:extLst>
          </p:cNvPr>
          <p:cNvSpPr/>
          <p:nvPr/>
        </p:nvSpPr>
        <p:spPr>
          <a:xfrm>
            <a:off x="1272209" y="2459566"/>
            <a:ext cx="8090452" cy="41400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C2E99EE-66C1-A545-171E-46715CA7AEC8}"/>
              </a:ext>
            </a:extLst>
          </p:cNvPr>
          <p:cNvCxnSpPr>
            <a:cxnSpLocks/>
          </p:cNvCxnSpPr>
          <p:nvPr/>
        </p:nvCxnSpPr>
        <p:spPr>
          <a:xfrm>
            <a:off x="1500808" y="372717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C9EE2BF-CAD9-6DF4-64F2-7A91E489986A}"/>
              </a:ext>
            </a:extLst>
          </p:cNvPr>
          <p:cNvCxnSpPr>
            <a:cxnSpLocks/>
          </p:cNvCxnSpPr>
          <p:nvPr/>
        </p:nvCxnSpPr>
        <p:spPr>
          <a:xfrm>
            <a:off x="1500808" y="457862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E92350-8B4B-F6EA-F7C1-CA15AA2ACB66}"/>
              </a:ext>
            </a:extLst>
          </p:cNvPr>
          <p:cNvSpPr txBox="1"/>
          <p:nvPr/>
        </p:nvSpPr>
        <p:spPr>
          <a:xfrm>
            <a:off x="1515718" y="3010881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黒田　泰　 総合職・１年半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7 </a:t>
            </a:r>
            <a:r>
              <a:rPr kumimoji="1" lang="ja-JP" altLang="en-US" sz="1200" dirty="0"/>
              <a:t>／</a:t>
            </a:r>
            <a:r>
              <a:rPr kumimoji="1" lang="en-US" altLang="ja-JP" sz="1200" b="1" dirty="0"/>
              <a:t>50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8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10</a:t>
            </a:r>
            <a:r>
              <a:rPr lang="ja-JP" altLang="en-US" sz="1200" dirty="0"/>
              <a:t>／</a:t>
            </a:r>
            <a:r>
              <a:rPr lang="en-US" altLang="ja-JP" sz="1200" dirty="0"/>
              <a:t>48</a:t>
            </a:r>
            <a:r>
              <a:rPr lang="ja-JP" altLang="en-US" sz="1200" dirty="0"/>
              <a:t>／</a:t>
            </a:r>
            <a:r>
              <a:rPr lang="en-US" altLang="ja-JP" sz="1200" dirty="0"/>
              <a:t>8</a:t>
            </a:r>
            <a:r>
              <a:rPr lang="ja-JP" altLang="en-US" sz="1200" dirty="0"/>
              <a:t>　　　　　　　　　</a:t>
            </a:r>
            <a:r>
              <a:rPr lang="en-US" altLang="ja-JP" sz="1200" dirty="0"/>
              <a:t>4.5</a:t>
            </a:r>
            <a:endParaRPr kumimoji="1" lang="ja-JP" altLang="en-US" sz="120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CDD84E6-5A68-0283-06F4-30F358C32CE3}"/>
              </a:ext>
            </a:extLst>
          </p:cNvPr>
          <p:cNvCxnSpPr>
            <a:cxnSpLocks/>
          </p:cNvCxnSpPr>
          <p:nvPr/>
        </p:nvCxnSpPr>
        <p:spPr>
          <a:xfrm>
            <a:off x="1530626" y="3310542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E884582-E1DD-EB2E-67B0-9DCA6FB7E259}"/>
              </a:ext>
            </a:extLst>
          </p:cNvPr>
          <p:cNvCxnSpPr>
            <a:cxnSpLocks/>
          </p:cNvCxnSpPr>
          <p:nvPr/>
        </p:nvCxnSpPr>
        <p:spPr>
          <a:xfrm>
            <a:off x="1530626" y="416199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1336EC4-1E15-C8B2-4FD5-26860FF71AEC}"/>
              </a:ext>
            </a:extLst>
          </p:cNvPr>
          <p:cNvSpPr txBox="1"/>
          <p:nvPr/>
        </p:nvSpPr>
        <p:spPr>
          <a:xfrm>
            <a:off x="3667538" y="2685173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新規／管理／完了</a:t>
            </a:r>
            <a:r>
              <a:rPr kumimoji="1" lang="ja-JP" altLang="en-US" sz="1200" dirty="0"/>
              <a:t>　　新規／管理／完了　　　</a:t>
            </a:r>
            <a:r>
              <a:rPr lang="ja-JP" altLang="en-US" sz="1200" dirty="0"/>
              <a:t>新規／管理／完了　　サイクル　　　　</a:t>
            </a:r>
            <a:endParaRPr kumimoji="1" lang="ja-JP" altLang="en-US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DCE52A-0D6B-83E1-0631-A95DDD65273D}"/>
              </a:ext>
            </a:extLst>
          </p:cNvPr>
          <p:cNvSpPr txBox="1"/>
          <p:nvPr/>
        </p:nvSpPr>
        <p:spPr>
          <a:xfrm>
            <a:off x="3727172" y="2468170"/>
            <a:ext cx="6013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月　</a:t>
            </a:r>
            <a:r>
              <a:rPr kumimoji="1" lang="en-US" altLang="ja-JP" sz="1200" dirty="0"/>
              <a:t>24</a:t>
            </a:r>
            <a:r>
              <a:rPr kumimoji="1" lang="ja-JP" altLang="en-US" sz="1200" dirty="0"/>
              <a:t>日　　　　　　　３月　　　　　　　　２月　　　　　　　１月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29210E-5ADD-6E1B-AF21-FFF3F0AF17E7}"/>
              </a:ext>
            </a:extLst>
          </p:cNvPr>
          <p:cNvSpPr txBox="1"/>
          <p:nvPr/>
        </p:nvSpPr>
        <p:spPr>
          <a:xfrm>
            <a:off x="2451654" y="2709889"/>
            <a:ext cx="14362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働き・在籍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9DC0DF-B6BA-FCAF-50B0-B734004F706C}"/>
              </a:ext>
            </a:extLst>
          </p:cNvPr>
          <p:cNvSpPr txBox="1"/>
          <p:nvPr/>
        </p:nvSpPr>
        <p:spPr>
          <a:xfrm>
            <a:off x="1500807" y="3391788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佐藤　太郎　 総合職・３年</a:t>
            </a:r>
            <a:r>
              <a:rPr kumimoji="1" lang="ja-JP" altLang="en-US" sz="1200" dirty="0"/>
              <a:t>　　</a:t>
            </a:r>
            <a:r>
              <a:rPr kumimoji="1" lang="en-US" altLang="ja-JP" sz="1200" dirty="0"/>
              <a:t>6 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6</a:t>
            </a:r>
            <a:r>
              <a:rPr kumimoji="1" lang="en-US" altLang="ja-JP" sz="1200" b="1" dirty="0"/>
              <a:t>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5</a:t>
            </a:r>
            <a:r>
              <a:rPr kumimoji="1" lang="ja-JP" altLang="en-US" sz="1200" dirty="0"/>
              <a:t>　　　　</a:t>
            </a:r>
            <a:r>
              <a:rPr lang="en-US" altLang="ja-JP" sz="1200" dirty="0"/>
              <a:t>6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62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4</a:t>
            </a:r>
            <a:r>
              <a:rPr kumimoji="1" lang="ja-JP" altLang="en-US" sz="1200" dirty="0"/>
              <a:t>　　　　　　</a:t>
            </a:r>
            <a:r>
              <a:rPr kumimoji="1" lang="en-US" altLang="ja-JP" sz="1200" dirty="0"/>
              <a:t>6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5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B25B669-E8A1-0A22-E535-08D95023DEFF}"/>
              </a:ext>
            </a:extLst>
          </p:cNvPr>
          <p:cNvSpPr txBox="1"/>
          <p:nvPr/>
        </p:nvSpPr>
        <p:spPr>
          <a:xfrm>
            <a:off x="1494183" y="3812543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川上　二郎　 総合職・２年</a:t>
            </a:r>
            <a:r>
              <a:rPr kumimoji="1" lang="ja-JP" altLang="en-US" sz="1200" dirty="0"/>
              <a:t>　　</a:t>
            </a:r>
            <a:r>
              <a:rPr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62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10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10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6</a:t>
            </a:r>
            <a:r>
              <a:rPr lang="en-US" altLang="ja-JP" sz="1200" dirty="0"/>
              <a:t>3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9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12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6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4D013A-23E1-CF6B-2E23-BE3D540DEBFA}"/>
              </a:ext>
            </a:extLst>
          </p:cNvPr>
          <p:cNvSpPr txBox="1"/>
          <p:nvPr/>
        </p:nvSpPr>
        <p:spPr>
          <a:xfrm>
            <a:off x="1500807" y="4191298"/>
            <a:ext cx="757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/>
              <a:t>川上　二郎　 総合職・２年</a:t>
            </a:r>
            <a:r>
              <a:rPr kumimoji="1" lang="ja-JP" altLang="en-US" sz="1200" dirty="0"/>
              <a:t>　　</a:t>
            </a:r>
            <a:r>
              <a:rPr lang="en-US" altLang="ja-JP" sz="1200" dirty="0"/>
              <a:t>8</a:t>
            </a:r>
            <a:r>
              <a:rPr kumimoji="1" lang="ja-JP" altLang="en-US" sz="1200" dirty="0"/>
              <a:t>／</a:t>
            </a:r>
            <a:r>
              <a:rPr lang="en-US" altLang="ja-JP" sz="1200" b="1" dirty="0"/>
              <a:t>62</a:t>
            </a:r>
            <a:r>
              <a:rPr kumimoji="1" lang="ja-JP" altLang="en-US" sz="1200" dirty="0"/>
              <a:t>／</a:t>
            </a:r>
            <a:r>
              <a:rPr lang="en-US" altLang="ja-JP" sz="1200" dirty="0"/>
              <a:t>10</a:t>
            </a:r>
            <a:r>
              <a:rPr kumimoji="1" lang="ja-JP" altLang="en-US" sz="1200" dirty="0"/>
              <a:t>　　　　</a:t>
            </a:r>
            <a:r>
              <a:rPr kumimoji="1" lang="en-US" altLang="ja-JP" sz="1200" dirty="0"/>
              <a:t>10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6</a:t>
            </a:r>
            <a:r>
              <a:rPr lang="en-US" altLang="ja-JP" sz="1200" dirty="0"/>
              <a:t>3</a:t>
            </a:r>
            <a:r>
              <a:rPr kumimoji="1" lang="ja-JP" altLang="en-US" sz="1200" dirty="0"/>
              <a:t>／</a:t>
            </a:r>
            <a:r>
              <a:rPr kumimoji="1" lang="en-US" altLang="ja-JP" sz="1200" dirty="0"/>
              <a:t>9</a:t>
            </a:r>
            <a:r>
              <a:rPr kumimoji="1" lang="ja-JP" altLang="en-US" sz="1200" dirty="0"/>
              <a:t>　　　　　　</a:t>
            </a:r>
            <a:r>
              <a:rPr lang="en-US" altLang="ja-JP" sz="1200" dirty="0"/>
              <a:t>12</a:t>
            </a:r>
            <a:r>
              <a:rPr lang="ja-JP" altLang="en-US" sz="1200" dirty="0"/>
              <a:t>／</a:t>
            </a:r>
            <a:r>
              <a:rPr lang="en-US" altLang="ja-JP" sz="1200" dirty="0"/>
              <a:t>60</a:t>
            </a:r>
            <a:r>
              <a:rPr lang="ja-JP" altLang="en-US" sz="1200" dirty="0"/>
              <a:t>／</a:t>
            </a:r>
            <a:r>
              <a:rPr lang="en-US" altLang="ja-JP" sz="1200" dirty="0"/>
              <a:t>6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3382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531BE-0096-67C3-DF3F-32978EF8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45CAE1-3C52-3780-B214-D6E720D476C1}"/>
              </a:ext>
            </a:extLst>
          </p:cNvPr>
          <p:cNvSpPr/>
          <p:nvPr/>
        </p:nvSpPr>
        <p:spPr>
          <a:xfrm>
            <a:off x="934278" y="636104"/>
            <a:ext cx="8656983" cy="585414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0D98DD7-2924-CBAC-745D-5561096F01F4}"/>
              </a:ext>
            </a:extLst>
          </p:cNvPr>
          <p:cNvSpPr txBox="1"/>
          <p:nvPr/>
        </p:nvSpPr>
        <p:spPr>
          <a:xfrm>
            <a:off x="1351722" y="884583"/>
            <a:ext cx="393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根本　●●　　新卒２年目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E59D77E-FCB3-4479-DCE3-1CC58F886718}"/>
              </a:ext>
            </a:extLst>
          </p:cNvPr>
          <p:cNvSpPr/>
          <p:nvPr/>
        </p:nvSpPr>
        <p:spPr>
          <a:xfrm>
            <a:off x="1113183" y="1461052"/>
            <a:ext cx="8358808" cy="8647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86AE82-8785-90CC-D44F-9C767F2D76B3}"/>
              </a:ext>
            </a:extLst>
          </p:cNvPr>
          <p:cNvSpPr txBox="1"/>
          <p:nvPr/>
        </p:nvSpPr>
        <p:spPr>
          <a:xfrm>
            <a:off x="1351722" y="1461052"/>
            <a:ext cx="8120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担当件数　　　　　青件数　　　　　黄色件数　　　　　</a:t>
            </a:r>
            <a:r>
              <a:rPr lang="ja-JP" altLang="en-US" sz="1400" dirty="0"/>
              <a:t>赤件数　　　　　業完対象　　　　</a:t>
            </a:r>
            <a:r>
              <a:rPr kumimoji="1" lang="ja-JP" altLang="en-US" sz="1400" dirty="0"/>
              <a:t>　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F394D7-59EB-4551-4AE1-F71088AFF9FD}"/>
              </a:ext>
            </a:extLst>
          </p:cNvPr>
          <p:cNvSpPr txBox="1"/>
          <p:nvPr/>
        </p:nvSpPr>
        <p:spPr>
          <a:xfrm>
            <a:off x="1272209" y="1768829"/>
            <a:ext cx="819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５０　　</a:t>
            </a:r>
            <a:r>
              <a:rPr lang="ja-JP" altLang="en-US" sz="2400" b="1" dirty="0"/>
              <a:t>　　３５</a:t>
            </a:r>
            <a:r>
              <a:rPr kumimoji="1" lang="ja-JP" altLang="en-US" sz="2400" b="1" dirty="0"/>
              <a:t>　　  </a:t>
            </a:r>
            <a:r>
              <a:rPr lang="ja-JP" altLang="en-US" sz="2400" b="1" dirty="0"/>
              <a:t>１</a:t>
            </a:r>
            <a:r>
              <a:rPr kumimoji="1" lang="ja-JP" altLang="en-US" sz="2400" b="1" dirty="0"/>
              <a:t>０　　</a:t>
            </a:r>
            <a:r>
              <a:rPr lang="ja-JP" altLang="en-US" sz="2400" b="1" dirty="0"/>
              <a:t>　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５</a:t>
            </a:r>
            <a:r>
              <a:rPr kumimoji="1" lang="ja-JP" altLang="en-US" sz="2400" b="1" dirty="0"/>
              <a:t>　　　　４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AA1A4CD-C39B-4CB8-9789-F353CC779AB3}"/>
              </a:ext>
            </a:extLst>
          </p:cNvPr>
          <p:cNvSpPr/>
          <p:nvPr/>
        </p:nvSpPr>
        <p:spPr>
          <a:xfrm>
            <a:off x="1272209" y="2643809"/>
            <a:ext cx="8090452" cy="37271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18E0D75-988E-3036-EDBD-A77C3BDD5CDD}"/>
              </a:ext>
            </a:extLst>
          </p:cNvPr>
          <p:cNvCxnSpPr>
            <a:cxnSpLocks/>
          </p:cNvCxnSpPr>
          <p:nvPr/>
        </p:nvCxnSpPr>
        <p:spPr>
          <a:xfrm>
            <a:off x="1500808" y="349857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8722028-041A-4A7E-9956-EA40A280B6A3}"/>
              </a:ext>
            </a:extLst>
          </p:cNvPr>
          <p:cNvCxnSpPr>
            <a:cxnSpLocks/>
          </p:cNvCxnSpPr>
          <p:nvPr/>
        </p:nvCxnSpPr>
        <p:spPr>
          <a:xfrm>
            <a:off x="1500808" y="435002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B2FC22-385B-5538-81DA-3D0AE721CA38}"/>
              </a:ext>
            </a:extLst>
          </p:cNvPr>
          <p:cNvSpPr txBox="1"/>
          <p:nvPr/>
        </p:nvSpPr>
        <p:spPr>
          <a:xfrm>
            <a:off x="1585291" y="278228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7361DE6-A561-B235-E109-E8740FA9C846}"/>
              </a:ext>
            </a:extLst>
          </p:cNvPr>
          <p:cNvSpPr txBox="1"/>
          <p:nvPr/>
        </p:nvSpPr>
        <p:spPr>
          <a:xfrm>
            <a:off x="1625047" y="3181337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1F57DA-8C60-C536-8754-B9E4AA3692A2}"/>
              </a:ext>
            </a:extLst>
          </p:cNvPr>
          <p:cNvSpPr txBox="1"/>
          <p:nvPr/>
        </p:nvSpPr>
        <p:spPr>
          <a:xfrm>
            <a:off x="1625047" y="3969363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B6CED96-F8C3-F442-C9EE-13FE2E1CB325}"/>
              </a:ext>
            </a:extLst>
          </p:cNvPr>
          <p:cNvSpPr txBox="1"/>
          <p:nvPr/>
        </p:nvSpPr>
        <p:spPr>
          <a:xfrm>
            <a:off x="1625047" y="3615344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B2DC145-7C82-43B9-27A3-7743B88C1E5A}"/>
              </a:ext>
            </a:extLst>
          </p:cNvPr>
          <p:cNvCxnSpPr>
            <a:cxnSpLocks/>
          </p:cNvCxnSpPr>
          <p:nvPr/>
        </p:nvCxnSpPr>
        <p:spPr>
          <a:xfrm>
            <a:off x="1530626" y="3081944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59FAFB7-E896-F43C-FCB0-0B896E0063A1}"/>
              </a:ext>
            </a:extLst>
          </p:cNvPr>
          <p:cNvCxnSpPr>
            <a:cxnSpLocks/>
          </p:cNvCxnSpPr>
          <p:nvPr/>
        </p:nvCxnSpPr>
        <p:spPr>
          <a:xfrm>
            <a:off x="1530626" y="3933396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6A06DE3-5778-C187-54D5-EE02B805D500}"/>
              </a:ext>
            </a:extLst>
          </p:cNvPr>
          <p:cNvCxnSpPr>
            <a:cxnSpLocks/>
          </p:cNvCxnSpPr>
          <p:nvPr/>
        </p:nvCxnSpPr>
        <p:spPr>
          <a:xfrm>
            <a:off x="1530626" y="4784848"/>
            <a:ext cx="75736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C4E77DA-6BF2-2336-316E-994178D3317D}"/>
              </a:ext>
            </a:extLst>
          </p:cNvPr>
          <p:cNvSpPr txBox="1"/>
          <p:nvPr/>
        </p:nvSpPr>
        <p:spPr>
          <a:xfrm>
            <a:off x="1625047" y="4385120"/>
            <a:ext cx="7573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rgbClr val="FF0000"/>
                </a:solidFill>
              </a:rPr>
              <a:t>山田太郎　</a:t>
            </a:r>
            <a:r>
              <a:rPr kumimoji="1" lang="ja-JP" altLang="en-US" sz="1400" dirty="0"/>
              <a:t>　　おおおお　　　いいいいい　　　うううう　　おおおお</a:t>
            </a:r>
          </a:p>
        </p:txBody>
      </p:sp>
    </p:spTree>
    <p:extLst>
      <p:ext uri="{BB962C8B-B14F-4D97-AF65-F5344CB8AC3E}">
        <p14:creationId xmlns:p14="http://schemas.microsoft.com/office/powerpoint/2010/main" val="4048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14583</TotalTime>
  <Words>1055</Words>
  <Application>Microsoft Office PowerPoint</Application>
  <PresentationFormat>ワイド画面</PresentationFormat>
  <Paragraphs>176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泰 黒田</dc:creator>
  <cp:lastModifiedBy>優 福島</cp:lastModifiedBy>
  <cp:revision>3</cp:revision>
  <dcterms:created xsi:type="dcterms:W3CDTF">2026-04-24T01:45:45Z</dcterms:created>
  <dcterms:modified xsi:type="dcterms:W3CDTF">2026-05-19T12:06:13Z</dcterms:modified>
</cp:coreProperties>
</file>