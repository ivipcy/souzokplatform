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14450"/>
          </a:xfrm>
          <a:prstGeom prst="rect">
            <a:avLst/>
          </a:prstGeom>
          <a:solidFill>
            <a:srgbClr val="23272C"/>
          </a:solidFill>
          <a:ln/>
        </p:spPr>
      </p:sp>
      <p:sp>
        <p:nvSpPr>
          <p:cNvPr id="3" name="Text 1"/>
          <p:cNvSpPr/>
          <p:nvPr/>
        </p:nvSpPr>
        <p:spPr>
          <a:xfrm>
            <a:off x="419100" y="190500"/>
            <a:ext cx="5715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60" kern="0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かがやき社会保険労務士法人 御中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0" y="200025"/>
            <a:ext cx="3390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株式会社CONGEN　／　2026年8月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9100" y="3810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AIネイティブな業務管理システム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9100" y="781050"/>
            <a:ext cx="11353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専門業務はAIがサポートし、分業のフローはシステムが支える。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少ない人数のまま、多くの案件を効率的に運用管理できます。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9100" y="990600"/>
            <a:ext cx="11353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相続手続きの実務会社が、自社の業務に合わせて内製し、いま稼働させているシステムです。汎用SaaSに業務を合わせるのではなく、業務にシステムを合わせました。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9100" y="14097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9100" y="1619250"/>
            <a:ext cx="1066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9100" y="180975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なぜ作ったのか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00200" y="1466850"/>
            <a:ext cx="38100" cy="38100"/>
          </a:xfrm>
          <a:prstGeom prst="rect">
            <a:avLst/>
          </a:prstGeom>
          <a:solidFill>
            <a:srgbClr val="A8552A"/>
          </a:solidFill>
          <a:ln/>
        </p:spPr>
      </p:sp>
      <p:sp>
        <p:nvSpPr>
          <p:cNvPr id="12" name="Text 10"/>
          <p:cNvSpPr/>
          <p:nvPr/>
        </p:nvSpPr>
        <p:spPr>
          <a:xfrm>
            <a:off x="1714500" y="1409700"/>
            <a:ext cx="317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進捗が、人の頭の中にある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14500" y="1638300"/>
            <a:ext cx="317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案件管理 → 事務作業と手が渡るたび、いまどこまで進んだのかを担当者に聞かないと分からない。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41900" y="1466850"/>
            <a:ext cx="38100" cy="38100"/>
          </a:xfrm>
          <a:prstGeom prst="rect">
            <a:avLst/>
          </a:prstGeom>
          <a:solidFill>
            <a:srgbClr val="A8552A"/>
          </a:solidFill>
          <a:ln/>
        </p:spPr>
      </p:sp>
      <p:sp>
        <p:nvSpPr>
          <p:cNvPr id="15" name="Text 13"/>
          <p:cNvSpPr/>
          <p:nvPr/>
        </p:nvSpPr>
        <p:spPr>
          <a:xfrm>
            <a:off x="5156200" y="1409700"/>
            <a:ext cx="317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同じ情報を、何度も打ち直す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56200" y="1638300"/>
            <a:ext cx="317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面談メモの清書と転記、書類への手打ち。同じ内容を、場所を変えて何度も入力し直している。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483600" y="1466850"/>
            <a:ext cx="38100" cy="38100"/>
          </a:xfrm>
          <a:prstGeom prst="rect">
            <a:avLst/>
          </a:prstGeom>
          <a:solidFill>
            <a:srgbClr val="A8552A"/>
          </a:solidFill>
          <a:ln/>
        </p:spPr>
      </p:sp>
      <p:sp>
        <p:nvSpPr>
          <p:cNvPr id="18" name="Text 16"/>
          <p:cNvSpPr/>
          <p:nvPr/>
        </p:nvSpPr>
        <p:spPr>
          <a:xfrm>
            <a:off x="8597900" y="1409700"/>
            <a:ext cx="317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確認と探し物に、時間が溶ける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7900" y="1638300"/>
            <a:ext cx="317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入金の目視での突合、紙書類の探索と保管、進捗を知るための問い合わせと報告。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9100" y="2286000"/>
            <a:ext cx="11353800" cy="9525"/>
          </a:xfrm>
          <a:prstGeom prst="rect">
            <a:avLst/>
          </a:prstGeom>
          <a:solidFill>
            <a:srgbClr val="E4E5E3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" y="23812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9100" y="2590800"/>
            <a:ext cx="1066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9100" y="27813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どう作ったのか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600200" y="2381250"/>
            <a:ext cx="2457450" cy="1028700"/>
          </a:xfrm>
          <a:prstGeom prst="roundRect">
            <a:avLst>
              <a:gd name="adj" fmla="val 3704"/>
            </a:avLst>
          </a:prstGeom>
          <a:solidFill>
            <a:srgbClr val="F1F2F1"/>
          </a:solidFill>
          <a:ln/>
        </p:spPr>
      </p:sp>
      <p:sp>
        <p:nvSpPr>
          <p:cNvPr id="25" name="Text 23"/>
          <p:cNvSpPr/>
          <p:nvPr/>
        </p:nvSpPr>
        <p:spPr>
          <a:xfrm>
            <a:off x="1752600" y="2514600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分業フローを、システムに組み込む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52600" y="2838450"/>
            <a:ext cx="2152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 → 案件管理担当 → 事務作業担当の業務パスをそのまま画面にした。引き継ぎで止まっていた案件が、待ちなく次の担当へ流れる。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71950" y="2381250"/>
            <a:ext cx="2457450" cy="1028700"/>
          </a:xfrm>
          <a:prstGeom prst="roundRect">
            <a:avLst>
              <a:gd name="adj" fmla="val 3704"/>
            </a:avLst>
          </a:prstGeom>
          <a:solidFill>
            <a:srgbClr val="F1F2F1"/>
          </a:solidFill>
          <a:ln/>
        </p:spPr>
      </p:sp>
      <p:sp>
        <p:nvSpPr>
          <p:cNvPr id="28" name="Text 26"/>
          <p:cNvSpPr/>
          <p:nvPr/>
        </p:nvSpPr>
        <p:spPr>
          <a:xfrm>
            <a:off x="4324350" y="2514600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定型書類は、AIが案件情報から作る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24350" y="2838450"/>
            <a:ext cx="2152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契約書・委任状・請求書など12種を、案件データの差し込みで自動作成。書類への手打ちと転記ミスをなくす。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743700" y="2381250"/>
            <a:ext cx="2457450" cy="1028700"/>
          </a:xfrm>
          <a:prstGeom prst="roundRect">
            <a:avLst>
              <a:gd name="adj" fmla="val 3704"/>
            </a:avLst>
          </a:prstGeom>
          <a:solidFill>
            <a:srgbClr val="F1F2F1"/>
          </a:solidFill>
          <a:ln/>
        </p:spPr>
      </p:sp>
      <p:sp>
        <p:nvSpPr>
          <p:cNvPr id="31" name="Text 29"/>
          <p:cNvSpPr/>
          <p:nvPr/>
        </p:nvSpPr>
        <p:spPr>
          <a:xfrm>
            <a:off x="6896100" y="2514600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すべての文書を、案件に紐づける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96100" y="2838450"/>
            <a:ext cx="2152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作った書類も預かった書類も、案件ごとのフォルダに電子保管。受信簿で、届いた書類と未着の書類まで管理する。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315450" y="2381250"/>
            <a:ext cx="2457450" cy="1028700"/>
          </a:xfrm>
          <a:prstGeom prst="roundRect">
            <a:avLst>
              <a:gd name="adj" fmla="val 3704"/>
            </a:avLst>
          </a:prstGeom>
          <a:solidFill>
            <a:srgbClr val="F1F2F1"/>
          </a:solidFill>
          <a:ln/>
        </p:spPr>
      </p:sp>
      <p:sp>
        <p:nvSpPr>
          <p:cNvPr id="34" name="Text 32"/>
          <p:cNvSpPr/>
          <p:nvPr/>
        </p:nvSpPr>
        <p:spPr>
          <a:xfrm>
            <a:off x="9467850" y="2514600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柔軟に、仕様を追加できる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67850" y="2838450"/>
            <a:ext cx="2152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業務の変化に合わせて、これまで255回の機能追加・改修。汎用SaaSと違い、システム側が業務を追いかける。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600200" y="3505200"/>
            <a:ext cx="10172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実装ずみの範囲　</a:t>
            </a:r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顧客・案件情報／タスクと進捗／書類12種の自動作成／請求と入金のCSV突合／受信簿と案件フォルダの電子保管／役割別ダッシュボードと期限アラート／アプリ内ナレッジベース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9100" y="3638550"/>
            <a:ext cx="11353800" cy="9525"/>
          </a:xfrm>
          <a:prstGeom prst="rect">
            <a:avLst/>
          </a:prstGeom>
          <a:solidFill>
            <a:srgbClr val="E4E5E3"/>
          </a:solidFill>
          <a:ln/>
        </p:spPr>
      </p:sp>
      <p:sp>
        <p:nvSpPr>
          <p:cNvPr id="38" name="Text 36"/>
          <p:cNvSpPr/>
          <p:nvPr/>
        </p:nvSpPr>
        <p:spPr>
          <a:xfrm>
            <a:off x="419100" y="37338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19100" y="3943350"/>
            <a:ext cx="1066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AIの実装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9100" y="413385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何が自動になったか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600200" y="3733800"/>
            <a:ext cx="2457450" cy="990600"/>
          </a:xfrm>
          <a:prstGeom prst="roundRect">
            <a:avLst>
              <a:gd name="adj" fmla="val 3846"/>
            </a:avLst>
          </a:prstGeom>
          <a:solidFill>
            <a:srgbClr val="F1F2F1"/>
          </a:solidFill>
          <a:ln/>
        </p:spPr>
      </p:sp>
      <p:sp>
        <p:nvSpPr>
          <p:cNvPr id="42" name="Text 40"/>
          <p:cNvSpPr/>
          <p:nvPr/>
        </p:nvSpPr>
        <p:spPr>
          <a:xfrm>
            <a:off x="1752600" y="3867150"/>
            <a:ext cx="2152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手書きメモのAI反映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752600" y="4095750"/>
            <a:ext cx="2152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タブレットの専用アプリで、面談中の手書きメモをその場でテキスト化。氏名・住所などをAIが読み取り、案件情報へ自動反映する。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171950" y="3733800"/>
            <a:ext cx="2457450" cy="990600"/>
          </a:xfrm>
          <a:prstGeom prst="roundRect">
            <a:avLst>
              <a:gd name="adj" fmla="val 3846"/>
            </a:avLst>
          </a:prstGeom>
          <a:solidFill>
            <a:srgbClr val="F1F2F1"/>
          </a:solidFill>
          <a:ln/>
        </p:spPr>
      </p:sp>
      <p:sp>
        <p:nvSpPr>
          <p:cNvPr id="45" name="Text 43"/>
          <p:cNvSpPr/>
          <p:nvPr/>
        </p:nvSpPr>
        <p:spPr>
          <a:xfrm>
            <a:off x="4324350" y="3867150"/>
            <a:ext cx="2152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324350" y="4095750"/>
            <a:ext cx="2152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案件情報を差し込んで、契約書・委任状・請求書など定型12種を自動作成。できた書類はそのまま案件に添付・保管される。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743700" y="3733800"/>
            <a:ext cx="2457450" cy="990600"/>
          </a:xfrm>
          <a:prstGeom prst="roundRect">
            <a:avLst>
              <a:gd name="adj" fmla="val 3846"/>
            </a:avLst>
          </a:prstGeom>
          <a:solidFill>
            <a:srgbClr val="F1F2F1"/>
          </a:solidFill>
          <a:ln/>
        </p:spPr>
      </p:sp>
      <p:sp>
        <p:nvSpPr>
          <p:cNvPr id="48" name="Text 46"/>
          <p:cNvSpPr/>
          <p:nvPr/>
        </p:nvSpPr>
        <p:spPr>
          <a:xfrm>
            <a:off x="6896100" y="3867150"/>
            <a:ext cx="2152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案件サマリAI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896100" y="4095750"/>
            <a:ext cx="2152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案件を開くと、工程ごとの作業メモと実施結果をAIが要約。「いまどこまで進んでいるか」が全体1〜2文＋工程ごと1文で分かる。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9315450" y="3733800"/>
            <a:ext cx="2457450" cy="990600"/>
          </a:xfrm>
          <a:prstGeom prst="roundRect">
            <a:avLst>
              <a:gd name="adj" fmla="val 3846"/>
            </a:avLst>
          </a:prstGeom>
          <a:solidFill>
            <a:srgbClr val="F1F2F1"/>
          </a:solidFill>
          <a:ln/>
        </p:spPr>
      </p:sp>
      <p:sp>
        <p:nvSpPr>
          <p:cNvPr id="51" name="Text 49"/>
          <p:cNvSpPr/>
          <p:nvPr/>
        </p:nvSpPr>
        <p:spPr>
          <a:xfrm>
            <a:off x="9467850" y="3867150"/>
            <a:ext cx="2152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ナレッジベース×AI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467850" y="4095750"/>
            <a:ext cx="2152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業務ナレッジを検索付きマニュアルとしてアプリ内に集約。執筆・整理・要約はAIがサポートし、ノウハウが個人に溜まらず残る。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19100" y="4743450"/>
            <a:ext cx="11353800" cy="9525"/>
          </a:xfrm>
          <a:prstGeom prst="rect">
            <a:avLst/>
          </a:prstGeom>
          <a:solidFill>
            <a:srgbClr val="E4E5E3"/>
          </a:solidFill>
          <a:ln/>
        </p:spPr>
      </p:sp>
      <p:sp>
        <p:nvSpPr>
          <p:cNvPr id="54" name="Text 52"/>
          <p:cNvSpPr/>
          <p:nvPr/>
        </p:nvSpPr>
        <p:spPr>
          <a:xfrm>
            <a:off x="419100" y="48387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19100" y="5048250"/>
            <a:ext cx="1066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結果と応用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19100" y="523875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どうなったか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600200" y="4838700"/>
            <a:ext cx="3810000" cy="1066800"/>
          </a:xfrm>
          <a:prstGeom prst="roundRect">
            <a:avLst>
              <a:gd name="adj" fmla="val 3571"/>
            </a:avLst>
          </a:prstGeom>
          <a:solidFill>
            <a:srgbClr val="23272C"/>
          </a:solidFill>
          <a:ln/>
        </p:spPr>
      </p:sp>
      <p:sp>
        <p:nvSpPr>
          <p:cNvPr id="58" name="Text 56"/>
          <p:cNvSpPr/>
          <p:nvPr/>
        </p:nvSpPr>
        <p:spPr>
          <a:xfrm>
            <a:off x="1790700" y="49339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結果（試算）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790700" y="5095875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約10%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の稼働削減を見込む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1790700" y="5419725"/>
            <a:ext cx="3429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従来100人体制での試算・目標値です。実測値ではありません。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790700" y="558165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消えるのは　</a:t>
            </a:r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清書と転記／二重入力／書類の手打ち／目視での突合／進捗の問い合わせ／紙の探索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524500" y="4838700"/>
            <a:ext cx="6248400" cy="1066800"/>
          </a:xfrm>
          <a:prstGeom prst="roundRect">
            <a:avLst>
              <a:gd name="adj" fmla="val 3571"/>
            </a:avLst>
          </a:prstGeom>
          <a:solidFill>
            <a:srgbClr val="F1F2F1"/>
          </a:solidFill>
          <a:ln/>
        </p:spPr>
      </p:sp>
      <p:sp>
        <p:nvSpPr>
          <p:cNvPr id="63" name="Text 61"/>
          <p:cNvSpPr/>
          <p:nvPr/>
        </p:nvSpPr>
        <p:spPr>
          <a:xfrm>
            <a:off x="5715000" y="4953000"/>
            <a:ext cx="3810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社労士事務所では、こう使えます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715000" y="5133975"/>
            <a:ext cx="5867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左＝相続業務での実装（稼働中）　→　右＝社労士業務での応用イメージ（ご提案）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715000" y="5286375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案件＝相続手続き1件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658100" y="5286375"/>
            <a:ext cx="152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829550" y="5286375"/>
            <a:ext cx="37528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顧問先ごとの手続き（入退社・算定基礎・年度更新・就業規則改定・助成金申請）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715000" y="5406390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面談メモの手書き→AI反映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658100" y="5406390"/>
            <a:ext cx="152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829550" y="5406390"/>
            <a:ext cx="37528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顧問先訪問・労務相談のヒアリング。その場のメモをAIが項目化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715000" y="5526405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必要書類の受領管理／期限アラート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658100" y="5526405"/>
            <a:ext cx="152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829550" y="5526405"/>
            <a:ext cx="37528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顧問先からの預かり書類の抜け漏れ防止。法定期限の遅延は色で把握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715000" y="5646420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書類の自動作成（12種）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658100" y="5646420"/>
            <a:ext cx="152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829550" y="5646420"/>
            <a:ext cx="37528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36協定・雇用契約書・就業規則の変更届・委任状などの差し込み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715000" y="5766435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請求パターン＋入金のCSV突合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658100" y="5766435"/>
            <a:ext cx="152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855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829550" y="5766435"/>
            <a:ext cx="37528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73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顧問料（月額）＋スポット報酬の請求と、入金消込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0" y="5981700"/>
            <a:ext cx="12192000" cy="876300"/>
          </a:xfrm>
          <a:prstGeom prst="rect">
            <a:avLst/>
          </a:prstGeom>
          <a:solidFill>
            <a:srgbClr val="23272C"/>
          </a:solidFill>
          <a:ln/>
        </p:spPr>
      </p:sp>
      <p:sp>
        <p:nvSpPr>
          <p:cNvPr id="81" name="Text 79"/>
          <p:cNvSpPr/>
          <p:nvPr/>
        </p:nvSpPr>
        <p:spPr>
          <a:xfrm>
            <a:off x="419100" y="6191250"/>
            <a:ext cx="11353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会社概要　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株式会社CONGEN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34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代表者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福島 優（Fukushima Suguru）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34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設立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2024年12月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34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AIソリューション開発／AIアバター事業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19100" y="6400800"/>
            <a:ext cx="11353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企業課題を解くAIを自社開発・実装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34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実装実績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大手リース会社・京セラ等との取引実績。京都市の課題解決にもAIを活用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19100" y="6610350"/>
            <a:ext cx="7429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797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創業2か月でIBMスタートアップアクセラ採択　／　IVS登壇・京セラ賞受賞　／　京都市補助金採択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191500" y="6610350"/>
            <a:ext cx="3581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C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稼働環境：Azure（東京）　／　AIはClaudeを利用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2026-08-25T09:57:31Z</dcterms:created>
  <dcterms:modified xsi:type="dcterms:W3CDTF">2026-08-25T09:57:31Z</dcterms:modified>
</cp:coreProperties>
</file>