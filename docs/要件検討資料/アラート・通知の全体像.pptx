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400" b="1" i="0">
                <a:solidFill>
                  <a:srgbClr val="0C447C"/>
                </a:solidFill>
                <a:latin typeface="Meiryo"/>
                <a:ea typeface="Meiryo"/>
              </a:rPr>
              <a:t>アラートと通知の全体像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4B5563"/>
                </a:solidFill>
                <a:latin typeface="Meiryo"/>
                <a:ea typeface="Meiryo"/>
              </a:rPr>
              <a:t>何が・いつ・誰に出るのか／案件の色のルール／3つの入力の役割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C447C"/>
                </a:solidFill>
                <a:latin typeface="Meiryo"/>
                <a:ea typeface="Meiryo"/>
              </a:rPr>
              <a:t>この資料でわかること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4B5563"/>
                </a:solidFill>
                <a:latin typeface="Meiryo"/>
                <a:ea typeface="Meiryo"/>
              </a:rPr>
              <a:t>・ アラート（やること）と通知（できごと）の違い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4B5563"/>
                </a:solidFill>
                <a:latin typeface="Meiryo"/>
                <a:ea typeface="Meiryo"/>
              </a:rPr>
              <a:t>・ 深刻度4段階と、要注意／要確認バナー・案件の色の関係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4B5563"/>
                </a:solidFill>
                <a:latin typeface="Meiryo"/>
                <a:ea typeface="Meiryo"/>
              </a:rPr>
              <a:t>・ 全20種類のアラートが、どのくらい放置されると鳴るのか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4B5563"/>
                </a:solidFill>
                <a:latin typeface="Meiryo"/>
                <a:ea typeface="Meiryo"/>
              </a:rPr>
              <a:t>・ 面談シート／面談結果登録／オーダーシートの役割分担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CA3AF"/>
                </a:solidFill>
                <a:latin typeface="Meiryo"/>
                <a:ea typeface="Meiryo"/>
              </a:rPr>
              <a:t>相続プラットフォーム　運用説明資料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4023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C447C"/>
                </a:solidFill>
                <a:latin typeface="Meiryo"/>
                <a:ea typeface="Meiryo"/>
              </a:rPr>
              <a:t>①  アラートと通知は別物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CA3AF"/>
                </a:solidFill>
                <a:latin typeface="Meiryo"/>
                <a:ea typeface="Meiryo"/>
              </a:rPr>
              <a:t>ベルの中で上下に分かれています。上が「やること」、下が「履歴」。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12064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Meiryo"/>
                <a:ea typeface="Meiryo"/>
              </a:rPr>
              <a:t>アラート（やること）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状態から毎回その場で計算する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データとして保存していない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状態が直れば自動で消える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例：受注から3営業日たっても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　　オーダーシートが未完成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554480"/>
            <a:ext cx="512064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55448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7335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Meiryo"/>
                <a:ea typeface="Meiryo"/>
              </a:rPr>
              <a:t>通知（できごと）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212848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誰かが操作した瞬間に1件つくられる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そのまま履歴として残る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既読にすると消える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例：◯◯さんが案件報告を送りました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26280"/>
            <a:ext cx="10789920" cy="13716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70916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C447C"/>
                </a:solidFill>
                <a:latin typeface="Meiryo"/>
                <a:ea typeface="Meiryo"/>
              </a:rPr>
              <a:t>判定はコードの1か所（alertRules.ts）だけに置いています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以前は「バナー」「案件の色」「ベル」で別々に判定していたため、同じ名前のアラートなのに画面によって出たり出なかったりしていました。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いまは1か所で判定し、3つの画面はその結果を並べ替えて表示するだけです。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4023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C447C"/>
                </a:solidFill>
                <a:latin typeface="Meiryo"/>
                <a:ea typeface="Meiryo"/>
              </a:rPr>
              <a:t>②  深刻度は4段階。出る場所は深刻度だけで決まる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CA3AF"/>
                </a:solidFill>
                <a:latin typeface="Meiryo"/>
                <a:ea typeface="Meiryo"/>
              </a:rPr>
              <a:t>アラートの種類ごとに「どこに出すか」は決めていません。重さで自動的に決まります。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08760"/>
          <a:ext cx="658368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731520"/>
                <a:gridCol w="1371600"/>
                <a:gridCol w="1371600"/>
                <a:gridCol w="822960"/>
                <a:gridCol w="914400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深刻度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色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要注意バナー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要確認バナー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ベル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案件の色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7E22CE"/>
                          </a:solidFill>
                          <a:latin typeface="Meiryo"/>
                          <a:ea typeface="Meiryo"/>
                        </a:rPr>
                        <a:t>クレーム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紫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紫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D96A16"/>
                          </a:solidFill>
                          <a:latin typeface="Meiryo"/>
                          <a:ea typeface="Meiryo"/>
                        </a:rPr>
                        <a:t>高（high）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B98410"/>
                          </a:solidFill>
                          <a:latin typeface="Meiryo"/>
                          <a:ea typeface="Meiryo"/>
                        </a:rPr>
                        <a:t>中（mid）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284C7"/>
                          </a:solidFill>
                          <a:latin typeface="Meiryo"/>
                          <a:ea typeface="Meiryo"/>
                        </a:rPr>
                        <a:t>情報（info）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50876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FFF8EC"/>
          </a:solidFill>
          <a:ln w="12700">
            <a:solidFill>
              <a:srgbClr val="F7B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691640"/>
            <a:ext cx="34747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C447C"/>
                </a:solidFill>
                <a:latin typeface="Meiryo"/>
                <a:ea typeface="Meiryo"/>
              </a:rPr>
              <a:t>案件の色とは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Meiryo"/>
                <a:ea typeface="Meiryo"/>
              </a:rPr>
              <a:t>その案件に出ているアラートのうち、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Meiryo"/>
                <a:ea typeface="Meiryo"/>
              </a:rPr>
              <a:t>一番重いものの色です。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C447C"/>
                </a:solidFill>
                <a:latin typeface="Meiryo"/>
                <a:ea typeface="Meiryo"/>
              </a:rPr>
              <a:t>紫 ＞ 赤 ＞ 黄 ＞ 青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Meiryo"/>
                <a:ea typeface="Meiryo"/>
              </a:rPr>
              <a:t>色に固有の意味はありません。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977639"/>
            <a:ext cx="10789920" cy="187451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60520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C447C"/>
                </a:solidFill>
                <a:latin typeface="Meiryo"/>
                <a:ea typeface="Meiryo"/>
              </a:rPr>
              <a:t>バナーと案件の色は、わざと同じ色にしています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「黄色の案件」＝「要確認バナーに入っている案件」と目で追えるようにするためです。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青（info）はバナーには出しません。急ぎではないが知らせたいもの（自分宛てタスクなど）が入ります。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宛先（受注担当／管理担当）はベルの出し分けにだけ使います。バナーと案件の色は担当を問わず全員に見えます。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4023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C447C"/>
                </a:solidFill>
                <a:latin typeface="Meiryo"/>
                <a:ea typeface="Meiryo"/>
              </a:rPr>
              <a:t>③  日数の数え方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CA3AF"/>
                </a:solidFill>
                <a:latin typeface="Meiryo"/>
                <a:ea typeface="Meiryo"/>
              </a:rPr>
              <a:t>ほとんどは営業日。入金だけ考え方が違います。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1206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0C447C"/>
                </a:solidFill>
                <a:latin typeface="Meiryo"/>
                <a:ea typeface="Meiryo"/>
              </a:rPr>
              <a:t>営業日とは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日曜と祝日を除いた日。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C447C"/>
                </a:solidFill>
                <a:latin typeface="Meiryo"/>
                <a:ea typeface="Meiryo"/>
              </a:rPr>
              <a:t>土曜は営業日として数えます。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554480"/>
            <a:ext cx="51206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0C447C"/>
                </a:solidFill>
                <a:latin typeface="Meiryo"/>
                <a:ea typeface="Meiryo"/>
              </a:rPr>
              <a:t>タスク期限だけ例外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要確認は5営業日。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要注意は14日（暦日）で数えます。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383280"/>
            <a:ext cx="10789920" cy="24688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11880"/>
            <a:ext cx="102412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0C447C"/>
                </a:solidFill>
                <a:latin typeface="Meiryo"/>
                <a:ea typeface="Meiryo"/>
              </a:rPr>
              <a:t>入金期日だけ二段構え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まず「入金期日から5営業日」を督促の起点とします。そこからさらに暦日で数えます。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0C447C"/>
                </a:solidFill>
                <a:latin typeface="Meiryo"/>
                <a:ea typeface="Meiryo"/>
              </a:rPr>
              <a:t>　起点 ＋ 3日 → 要確認（黄）　　起点 ＋ 10日 → 要注意（赤）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入金は先方の振込サイクル待ちがあるため、営業日で刻むより「何日たったか」で見るほうが督促の実務に合うという判断です。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9CA3AF"/>
                </a:solidFill>
                <a:latin typeface="Meiryo"/>
                <a:ea typeface="Meiryo"/>
              </a:rPr>
              <a:t>例：期日が月末なら、督促の起点は翌月7日ごろ。そこから3日で黄、10日で赤になります。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4023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C447C"/>
                </a:solidFill>
                <a:latin typeface="Meiryo"/>
                <a:ea typeface="Meiryo"/>
              </a:rPr>
              <a:t>④  アラート一覧　1／3　最優先・期日の超過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CA3AF"/>
                </a:solidFill>
                <a:latin typeface="Meiryo"/>
                <a:ea typeface="Meiryo"/>
              </a:rPr>
              <a:t>「約束した日を過ぎた」ことで鳴るもの。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881360" cy="3054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3931920"/>
                <a:gridCol w="1737360"/>
                <a:gridCol w="1737360"/>
                <a:gridCol w="118872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アラート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いつ鳴るか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黄（要確認）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赤（要注意）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宛先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7E22CE"/>
                          </a:solidFill>
                          <a:latin typeface="Meiryo"/>
                          <a:ea typeface="Meiryo"/>
                        </a:rPr>
                        <a:t>クレーム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クレームが登録されている間ずっと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7E22CE"/>
                          </a:solidFill>
                          <a:latin typeface="Meiryo"/>
                          <a:ea typeface="Meiryo"/>
                        </a:rPr>
                        <a:t>紫で即時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受注・管理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タスク期限超過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未完了タスクが期日を過ぎた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5営業日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14日（暦日）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両方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至急タスク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優先度「超急ぎ」が未着手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即時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本人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完了予定日 超過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完了予定日を過ぎた（完了・失注は除く）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即時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管理担当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入金期日 超過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請求が「入金待ち」のまま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期日+5営業日+3日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期日+5営業日+10日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受注担当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前受金入金御礼 未連絡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入金を確認した日が期限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1営業日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2営業日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両方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自分宛てタスク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受注／管理担当タスクが未着手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0284C7"/>
                          </a:solidFill>
                          <a:latin typeface="Meiryo"/>
                          <a:ea typeface="Meiryo"/>
                        </a:rPr>
                        <a:t>青・ベルのみ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本人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5000"/>
            </a:avLst>
          </a:prstGeom>
          <a:solidFill>
            <a:srgbClr val="FFF8EC"/>
          </a:solidFill>
          <a:ln w="12700">
            <a:solidFill>
              <a:srgbClr val="F7B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02352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C447C"/>
                </a:solidFill>
                <a:latin typeface="Meiryo"/>
                <a:ea typeface="Meiryo"/>
              </a:rPr>
              <a:t>前受金の入金御礼だけ、他の何より早く鳴らします（1営業日）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お礼の連絡が遅れるのは、お客様の目に見えて印象が悪いためです。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4023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C447C"/>
                </a:solidFill>
                <a:latin typeface="Meiryo"/>
                <a:ea typeface="Meiryo"/>
              </a:rPr>
              <a:t>⑤  アラート一覧　2／3　受注してから止まっている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CA3AF"/>
                </a:solidFill>
                <a:latin typeface="Meiryo"/>
                <a:ea typeface="Meiryo"/>
              </a:rPr>
              <a:t>受注・戻り受注・作業着手準備の案件だけが対象。受注日を起点に数えます。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72800" cy="2907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840480"/>
                <a:gridCol w="1828800"/>
                <a:gridCol w="1828800"/>
                <a:gridCol w="109728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アラート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何が終わっていないか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黄（要確認）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赤（要注意）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宛先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管理担当 未アサイン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管理担当が決まっていない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受注から2営業日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受注担当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オーダーシート未完成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オーダーシートが完成していない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受注から3営業日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受注から5営業日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受注担当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前受金 未請求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前受金の請求書が作られていない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受注から5営業日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管理担当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前受金 郵送・入金待ち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請求書を作ったが郵送していない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作成から3営業日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管理担当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契約手続き 未了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契約関連書類が回収できていない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受注から5営業日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両方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タスク未生成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事務管理タスクが1件もない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作業進行中から2営業日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管理担当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846320"/>
            <a:ext cx="10881360" cy="10058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C447C"/>
                </a:solidFill>
                <a:latin typeface="Meiryo"/>
                <a:ea typeface="Meiryo"/>
              </a:rPr>
              <a:t>この6つは「受注したのに前に進んでいない」を見つけるためのものです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管理担当を割り振らない案件は、担当者タブの「管理担当を割り振らない」にチェックを入れれば鳴りません。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4023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C447C"/>
                </a:solidFill>
                <a:latin typeface="Meiryo"/>
                <a:ea typeface="Meiryo"/>
              </a:rPr>
              <a:t>⑥  アラート一覧　3／3　連絡・確認が止まっている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CA3AF"/>
                </a:solidFill>
                <a:latin typeface="Meiryo"/>
                <a:ea typeface="Meiryo"/>
              </a:rPr>
              <a:t>人と人のやりとりが途切れたときに鳴るもの。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972800" cy="3054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840480"/>
                <a:gridCol w="1828800"/>
                <a:gridCol w="182880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アラート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いつ鳴るか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黄（要確認）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赤（要注意）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C447C"/>
                          </a:solidFill>
                          <a:latin typeface="Meiryo"/>
                          <a:ea typeface="Meiryo"/>
                        </a:rPr>
                        <a:t>宛先</a:t>
                      </a:r>
                    </a:p>
                  </a:txBody>
                  <a:tcPr marL="64008" marR="64008" marT="18288" marB="18288" anchor="ctr">
                    <a:solidFill>
                      <a:srgbClr val="E6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報連相 未回答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「要対応」が未回答（情報共有は対象外）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1営業日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3営業日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両方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案件報告 未回答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報告が確認されないまま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3営業日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状態が「至急！！」なら即時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確認者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到着物あり（未開封）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到着連絡があったが開封していない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1営業日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受注・管理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週次報告の漏れ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直近7日に確認済の案件報告がない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作業進行中から5営業日後〜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管理担当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面談メモ未記載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面談予定日を過ぎて実施内容が未入力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即時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受注担当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回答予定日 間近・超過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お客様の回答予定日が2日以内／超過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即時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受注担当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未対応が続いている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その案件を最後に開いた日から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5営業日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10営業日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4B5563"/>
                          </a:solidFill>
                          <a:latin typeface="Meiryo"/>
                          <a:ea typeface="Meiryo"/>
                        </a:rPr>
                        <a:t>両方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93792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C447C"/>
                </a:solidFill>
                <a:latin typeface="Meiryo"/>
                <a:ea typeface="Meiryo"/>
              </a:rPr>
              <a:t>報連相は「要対応」だけがアラートに出ます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「情報共有」は通知だけで、放置してもアラートには一切出ません。相手の返事が要るかどうかで種別を選んでください。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4023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C447C"/>
                </a:solidFill>
                <a:latin typeface="Meiryo"/>
                <a:ea typeface="Meiryo"/>
              </a:rPr>
              <a:t>⑦  通知（できごと）の種類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CA3AF"/>
                </a:solidFill>
                <a:latin typeface="Meiryo"/>
                <a:ea typeface="Meiryo"/>
              </a:rPr>
              <a:t>クリックすると、その場で処理できる画面へ直接飛びます。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5204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520440" cy="411480"/>
          </a:xfrm>
          <a:prstGeom prst="roundRect">
            <a:avLst>
              <a:gd name="adj" fmla="val 14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93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タスク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追加された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着手された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完了した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着手OKになった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08760"/>
            <a:ext cx="35204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411480"/>
          </a:xfrm>
          <a:prstGeom prst="roundRect">
            <a:avLst>
              <a:gd name="adj" fmla="val 14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093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担当・引き継ぎ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75688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管理担当の割振り依頼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割振りが完了した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相談案件が引き継がれた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管理担当ヘルプ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5204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520440" cy="411480"/>
          </a:xfrm>
          <a:prstGeom prst="roundRect">
            <a:avLst>
              <a:gd name="adj" fmla="val 14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093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報告・相談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75688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案件報告が届いた／確認された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報連相が届いた／確認された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不満・クレームが記録された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（至急は【至急】が付く）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35204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3520440" cy="411480"/>
          </a:xfrm>
          <a:prstGeom prst="roundRect">
            <a:avLst>
              <a:gd name="adj" fmla="val 14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496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書類・到着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15968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到着物が届いた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到着物あり（郵送物一式）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追加戸籍請求の承認依頼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追加不動産請求の承認依頼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749039"/>
            <a:ext cx="35204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43400" y="3749039"/>
            <a:ext cx="3520440" cy="411480"/>
          </a:xfrm>
          <a:prstGeom prst="roundRect">
            <a:avLst>
              <a:gd name="adj" fmla="val 14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8496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確認簿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315968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戸籍の確認が承認された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不動産の確認が承認された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金融の確認が承認された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749039"/>
            <a:ext cx="35204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6720" y="3749039"/>
            <a:ext cx="3520440" cy="411480"/>
          </a:xfrm>
          <a:prstGeom prst="roundRect">
            <a:avLst>
              <a:gd name="adj" fmla="val 14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496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請求・入金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315968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入金確定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確認依頼が届いた／回答があった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返金の承認依頼・承認・却下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4B5563"/>
                </a:solidFill>
                <a:latin typeface="Meiryo"/>
                <a:ea typeface="Meiryo"/>
              </a:rPr>
              <a:t>・ 経理から連絡があります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CA3AF"/>
                </a:solidFill>
                <a:latin typeface="Meiryo"/>
                <a:ea typeface="Meiryo"/>
              </a:rPr>
              <a:t>通知は「起きたことの記録」です。放置しても督促はされません。督促が要るものはアラート側に用意しています。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4023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C447C"/>
                </a:solidFill>
                <a:latin typeface="Meiryo"/>
                <a:ea typeface="Meiryo"/>
              </a:rPr>
              <a:t>⑧  面談シート／面談結果登録／オーダーシートの役割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326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CA3AF"/>
                </a:solidFill>
                <a:latin typeface="Meiryo"/>
                <a:ea typeface="Meiryo"/>
              </a:rPr>
              <a:t>①は「聞いた話」、②は「決めたこと」、③は「これからやること」。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52044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685800"/>
          </a:xfrm>
          <a:prstGeom prst="roundRect">
            <a:avLst>
              <a:gd name="adj" fmla="val 9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0992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Meiryo"/>
                <a:ea typeface="Meiryo"/>
              </a:rPr>
              <a:t>① 面談シート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DBEAFE"/>
                </a:solidFill>
                <a:latin typeface="Meiryo"/>
                <a:ea typeface="Meiryo"/>
              </a:rPr>
              <a:t>聞き取ったことを書き取る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87168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4B5563"/>
                </a:solidFill>
                <a:latin typeface="Meiryo"/>
                <a:ea typeface="Meiryo"/>
              </a:rPr>
              <a:t>・ 依頼者・被相続人・相続人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4B5563"/>
                </a:solidFill>
                <a:latin typeface="Meiryo"/>
                <a:ea typeface="Meiryo"/>
              </a:rPr>
              <a:t>・ 財産のたたき台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4B5563"/>
                </a:solidFill>
                <a:latin typeface="Meiryo"/>
                <a:ea typeface="Meiryo"/>
              </a:rPr>
              <a:t>・ 面談中に入力する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" y="3886200"/>
            <a:ext cx="3154680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041648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C447C"/>
                </a:solidFill>
                <a:latin typeface="Meiryo"/>
                <a:ea typeface="Meiryo"/>
              </a:rPr>
              <a:t>保存しても案件は「下書き」。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C447C"/>
                </a:solidFill>
                <a:latin typeface="Meiryo"/>
                <a:ea typeface="Meiryo"/>
              </a:rPr>
              <a:t>一覧には出ません。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52044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3520440" cy="685800"/>
          </a:xfrm>
          <a:prstGeom prst="roundRect">
            <a:avLst>
              <a:gd name="adj" fmla="val 9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0992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Meiryo"/>
                <a:ea typeface="Meiryo"/>
              </a:rPr>
              <a:t>② 面談結果登録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DBEAFE"/>
                </a:solidFill>
                <a:latin typeface="Meiryo"/>
                <a:ea typeface="Meiryo"/>
              </a:rPr>
              <a:t>面談の結果を決める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487168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4B5563"/>
                </a:solidFill>
                <a:latin typeface="Meiryo"/>
                <a:ea typeface="Meiryo"/>
              </a:rPr>
              <a:t>・ 受注／検討中／失注／受注なし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4B5563"/>
                </a:solidFill>
                <a:latin typeface="Meiryo"/>
                <a:ea typeface="Meiryo"/>
              </a:rPr>
              <a:t>・ 提案金額・回答予定日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4B5563"/>
                </a:solidFill>
                <a:latin typeface="Meiryo"/>
                <a:ea typeface="Meiryo"/>
              </a:rPr>
              <a:t>・ 面談直後に入力する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3886200"/>
            <a:ext cx="3154680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4041648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C447C"/>
                </a:solidFill>
                <a:latin typeface="Meiryo"/>
                <a:ea typeface="Meiryo"/>
              </a:rPr>
              <a:t>下書きから正式な案件へ昇格。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C447C"/>
                </a:solidFill>
                <a:latin typeface="Meiryo"/>
                <a:ea typeface="Meiryo"/>
              </a:rPr>
              <a:t>①の内容をこの時点で凍結保存。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00200"/>
            <a:ext cx="352044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600200"/>
            <a:ext cx="3520440" cy="685800"/>
          </a:xfrm>
          <a:prstGeom prst="roundRect">
            <a:avLst>
              <a:gd name="adj" fmla="val 9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70992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Meiryo"/>
                <a:ea typeface="Meiryo"/>
              </a:rPr>
              <a:t>③ オーダーシート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DBEAFE"/>
                </a:solidFill>
                <a:latin typeface="Meiryo"/>
                <a:ea typeface="Meiryo"/>
              </a:rPr>
              <a:t>作業の指示書をつくる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487168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4B5563"/>
                </a:solidFill>
                <a:latin typeface="Meiryo"/>
                <a:ea typeface="Meiryo"/>
              </a:rPr>
              <a:t>・ 何をどこまでやるか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4B5563"/>
                </a:solidFill>
                <a:latin typeface="Meiryo"/>
                <a:ea typeface="Meiryo"/>
              </a:rPr>
              <a:t>・ 財産の詳細・戸籍の取得計画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4B5563"/>
                </a:solidFill>
                <a:latin typeface="Meiryo"/>
                <a:ea typeface="Meiryo"/>
              </a:rPr>
              <a:t>・ 受注後に入力する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886200"/>
            <a:ext cx="3154680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4041648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C447C"/>
                </a:solidFill>
                <a:latin typeface="Meiryo"/>
                <a:ea typeface="Meiryo"/>
              </a:rPr>
              <a:t>実務タブの入力元になります。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C447C"/>
                </a:solidFill>
                <a:latin typeface="Meiryo"/>
                <a:ea typeface="Meiryo"/>
              </a:rPr>
              <a:t>未完成だと受注3営業日で黄。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94960"/>
            <a:ext cx="10927080" cy="868680"/>
          </a:xfrm>
          <a:prstGeom prst="roundRect">
            <a:avLst>
              <a:gd name="adj" fmla="val 5000"/>
            </a:avLst>
          </a:prstGeom>
          <a:solidFill>
            <a:srgbClr val="FFF8EC"/>
          </a:solidFill>
          <a:ln w="12700">
            <a:solidFill>
              <a:srgbClr val="F7B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59552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C447C"/>
                </a:solidFill>
                <a:latin typeface="Meiryo"/>
                <a:ea typeface="Meiryo"/>
              </a:rPr>
              <a:t>①は②の時点で凍結されます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あとから③で内容を直しても、面談時点で聞いた話はそのまま残ります。「言った・言わない」を後から確かめられます。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4023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C447C"/>
                </a:solidFill>
                <a:latin typeface="Meiryo"/>
                <a:ea typeface="Meiryo"/>
              </a:rPr>
              <a:t>⑨  運用の勘所と、いまの注意点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9496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C447C"/>
                </a:solidFill>
                <a:latin typeface="Meiryo"/>
                <a:ea typeface="Meiryo"/>
              </a:rPr>
              <a:t>アラートは「消し方」で覚える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アラートは状態から毎回計算しています。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既読にする操作はありません。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元の状態を直せば、次に画面を開いたときに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C447C"/>
                </a:solidFill>
                <a:latin typeface="Meiryo"/>
                <a:ea typeface="Meiryo"/>
              </a:rPr>
              <a:t>自動で消えます。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39496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64208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C447C"/>
                </a:solidFill>
                <a:latin typeface="Meiryo"/>
                <a:ea typeface="Meiryo"/>
              </a:rPr>
              <a:t>案件の色が変わらないときは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その案件に、より重いアラートが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まだ残っています。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案件を開くとヘッダーに理由が並ぶので、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そこで残っているものを確認してください。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23360"/>
            <a:ext cx="10927080" cy="192024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24528"/>
            <a:ext cx="104241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B91C1C"/>
                </a:solidFill>
                <a:latin typeface="Meiryo"/>
                <a:ea typeface="Meiryo"/>
              </a:rPr>
              <a:t>いまの注意点：バナーに出るのに案件の色に反映されないものがあります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「到着物あり（未開封）」「案件報告 未回答」「至急タスク」の3つです。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これらは案件そのものではなく、郵送物・報告・タスクを起点に判定しているためです。バナーには出ますが、案件一覧の色は青のままになることがあります。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B5563"/>
                </a:solidFill>
                <a:latin typeface="Meiryo"/>
                <a:ea typeface="Meiryo"/>
              </a:rPr>
              <a:t>揃えるかどうかは今後の検討事項です。当面は「バナーの件数 ≧ 色が付いている案件数」になる場合がある、と理解してください。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