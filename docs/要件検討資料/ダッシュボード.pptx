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notesMasters/notesMaster1.xml" ContentType="application/vnd.openxmlformats-officedocument.presentationml.notes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notesSlides/notesSlide1.xml" ContentType="application/vnd.openxmlformats-officedocument.presentationml.notesSlid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9"/>
  </p:notesMasterIdLst>
  <p:sldIdLst>
    <p:sldId id="270" r:id="rId2"/>
    <p:sldId id="256" r:id="rId3"/>
    <p:sldId id="272" r:id="rId4"/>
    <p:sldId id="271" r:id="rId5"/>
    <p:sldId id="259" r:id="rId6"/>
    <p:sldId id="269" r:id="rId7"/>
    <p:sldId id="258" r:id="rId8"/>
    <p:sldId id="273" r:id="rId9"/>
    <p:sldId id="275" r:id="rId10"/>
    <p:sldId id="260" r:id="rId11"/>
    <p:sldId id="276" r:id="rId12"/>
    <p:sldId id="277" r:id="rId13"/>
    <p:sldId id="261" r:id="rId14"/>
    <p:sldId id="262" r:id="rId15"/>
    <p:sldId id="281" r:id="rId16"/>
    <p:sldId id="264" r:id="rId17"/>
    <p:sldId id="266" r:id="rId18"/>
    <p:sldId id="283" r:id="rId19"/>
    <p:sldId id="282" r:id="rId20"/>
    <p:sldId id="284" r:id="rId21"/>
    <p:sldId id="286" r:id="rId22"/>
    <p:sldId id="285" r:id="rId23"/>
    <p:sldId id="287" r:id="rId24"/>
    <p:sldId id="280" r:id="rId25"/>
    <p:sldId id="278" r:id="rId26"/>
    <p:sldId id="279" r:id="rId27"/>
    <p:sldId id="267" r:id="rId28"/>
  </p:sldIdLst>
  <p:sldSz cx="12192000" cy="6858000"/>
  <p:notesSz cx="6858000" cy="9144000"/>
  <p:defaultText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069" userDrawn="1">
          <p15:clr>
            <a:srgbClr val="A4A3A4"/>
          </p15:clr>
        </p15:guide>
        <p15:guide id="2" pos="3749" userDrawn="1">
          <p15:clr>
            <a:srgbClr val="A4A3A4"/>
          </p15:clr>
        </p15:guide>
      </p15:sldGuide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p:restoredLeft sz="16014" autoAdjust="0"/>
    <p:restoredTop sz="94660"/>
  </p:normalViewPr>
  <p:slideViewPr>
    <p:cSldViewPr snapToGrid="0" showGuides="1">
      <p:cViewPr varScale="1">
        <p:scale>
          <a:sx n="98" d="100"/>
          <a:sy n="98" d="100"/>
        </p:scale>
        <p:origin x="48" y="48"/>
      </p:cViewPr>
      <p:guideLst>
        <p:guide orient="horz" pos="2069"/>
        <p:guide pos="3749"/>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notesMaster" Target="notesMasters/notesMaster1.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viewProps" Target="viewProps.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presProps" Target="presProps.xml"/><Relationship Id="rId8" Type="http://schemas.openxmlformats.org/officeDocument/2006/relationships/slide" Target="slides/slide7.xml"/></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kumimoji="1" lang="ja-JP" altLang="en-US"/>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701028C9-8C6D-4C0B-B0FD-FEC8E6A5D15F}" type="datetimeFigureOut">
              <a:rPr kumimoji="1" lang="ja-JP" altLang="en-US" smtClean="0"/>
              <a:t>2026/5/24</a:t>
            </a:fld>
            <a:endParaRPr kumimoji="1" lang="ja-JP" altLang="en-US"/>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ja-JP" altLang="en-US"/>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kumimoji="1" lang="ja-JP" altLang="en-US"/>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EE6272DC-D754-4712-99FD-CCC76755E95F}" type="slidenum">
              <a:rPr kumimoji="1" lang="ja-JP" altLang="en-US" smtClean="0"/>
              <a:t>‹#›</a:t>
            </a:fld>
            <a:endParaRPr kumimoji="1" lang="ja-JP" altLang="en-US"/>
          </a:p>
        </p:txBody>
      </p:sp>
    </p:spTree>
    <p:extLst>
      <p:ext uri="{BB962C8B-B14F-4D97-AF65-F5344CB8AC3E}">
        <p14:creationId xmlns:p14="http://schemas.microsoft.com/office/powerpoint/2010/main" val="4160382217"/>
      </p:ext>
    </p:extLst>
  </p:cSld>
  <p:clrMap bg1="lt1" tx1="dk1" bg2="lt2" tx2="dk2" accent1="accent1" accent2="accent2" accent3="accent3" accent4="accent4" accent5="accent5" accent6="accent6" hlink="hlink" folHlink="folHlink"/>
  <p:notesStyle>
    <a:lvl1pPr marL="0" algn="l" defTabSz="914400" rtl="0" eaLnBrk="1" latinLnBrk="0" hangingPunct="1">
      <a:defRPr kumimoji="1" sz="1200" kern="1200">
        <a:solidFill>
          <a:schemeClr val="tx1"/>
        </a:solidFill>
        <a:latin typeface="+mn-lt"/>
        <a:ea typeface="+mn-ea"/>
        <a:cs typeface="+mn-cs"/>
      </a:defRPr>
    </a:lvl1pPr>
    <a:lvl2pPr marL="457200" algn="l" defTabSz="914400" rtl="0" eaLnBrk="1" latinLnBrk="0" hangingPunct="1">
      <a:defRPr kumimoji="1" sz="1200" kern="1200">
        <a:solidFill>
          <a:schemeClr val="tx1"/>
        </a:solidFill>
        <a:latin typeface="+mn-lt"/>
        <a:ea typeface="+mn-ea"/>
        <a:cs typeface="+mn-cs"/>
      </a:defRPr>
    </a:lvl2pPr>
    <a:lvl3pPr marL="914400" algn="l" defTabSz="914400" rtl="0" eaLnBrk="1" latinLnBrk="0" hangingPunct="1">
      <a:defRPr kumimoji="1" sz="1200" kern="1200">
        <a:solidFill>
          <a:schemeClr val="tx1"/>
        </a:solidFill>
        <a:latin typeface="+mn-lt"/>
        <a:ea typeface="+mn-ea"/>
        <a:cs typeface="+mn-cs"/>
      </a:defRPr>
    </a:lvl3pPr>
    <a:lvl4pPr marL="1371600" algn="l" defTabSz="914400" rtl="0" eaLnBrk="1" latinLnBrk="0" hangingPunct="1">
      <a:defRPr kumimoji="1" sz="1200" kern="1200">
        <a:solidFill>
          <a:schemeClr val="tx1"/>
        </a:solidFill>
        <a:latin typeface="+mn-lt"/>
        <a:ea typeface="+mn-ea"/>
        <a:cs typeface="+mn-cs"/>
      </a:defRPr>
    </a:lvl4pPr>
    <a:lvl5pPr marL="1828800" algn="l" defTabSz="914400" rtl="0" eaLnBrk="1" latinLnBrk="0" hangingPunct="1">
      <a:defRPr kumimoji="1" sz="1200" kern="1200">
        <a:solidFill>
          <a:schemeClr val="tx1"/>
        </a:solidFill>
        <a:latin typeface="+mn-lt"/>
        <a:ea typeface="+mn-ea"/>
        <a:cs typeface="+mn-cs"/>
      </a:defRPr>
    </a:lvl5pPr>
    <a:lvl6pPr marL="2286000" algn="l" defTabSz="914400" rtl="0" eaLnBrk="1" latinLnBrk="0" hangingPunct="1">
      <a:defRPr kumimoji="1" sz="1200" kern="1200">
        <a:solidFill>
          <a:schemeClr val="tx1"/>
        </a:solidFill>
        <a:latin typeface="+mn-lt"/>
        <a:ea typeface="+mn-ea"/>
        <a:cs typeface="+mn-cs"/>
      </a:defRPr>
    </a:lvl6pPr>
    <a:lvl7pPr marL="2743200" algn="l" defTabSz="914400" rtl="0" eaLnBrk="1" latinLnBrk="0" hangingPunct="1">
      <a:defRPr kumimoji="1" sz="1200" kern="1200">
        <a:solidFill>
          <a:schemeClr val="tx1"/>
        </a:solidFill>
        <a:latin typeface="+mn-lt"/>
        <a:ea typeface="+mn-ea"/>
        <a:cs typeface="+mn-cs"/>
      </a:defRPr>
    </a:lvl7pPr>
    <a:lvl8pPr marL="3200400" algn="l" defTabSz="914400" rtl="0" eaLnBrk="1" latinLnBrk="0" hangingPunct="1">
      <a:defRPr kumimoji="1" sz="1200" kern="1200">
        <a:solidFill>
          <a:schemeClr val="tx1"/>
        </a:solidFill>
        <a:latin typeface="+mn-lt"/>
        <a:ea typeface="+mn-ea"/>
        <a:cs typeface="+mn-cs"/>
      </a:defRPr>
    </a:lvl8pPr>
    <a:lvl9pPr marL="3657600" algn="l" defTabSz="914400" rtl="0" eaLnBrk="1" latinLnBrk="0" hangingPunct="1">
      <a:defRPr kumimoji="1"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slide" Target="../slides/slide27.xml"/><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スライド イメージ プレースホルダー 1"/>
          <p:cNvSpPr>
            <a:spLocks noGrp="1" noRot="1" noChangeAspect="1"/>
          </p:cNvSpPr>
          <p:nvPr>
            <p:ph type="sldImg"/>
          </p:nvPr>
        </p:nvSpPr>
        <p:spPr/>
      </p:sp>
      <p:sp>
        <p:nvSpPr>
          <p:cNvPr id="3" name="ノート プレースホルダー 2"/>
          <p:cNvSpPr>
            <a:spLocks noGrp="1"/>
          </p:cNvSpPr>
          <p:nvPr>
            <p:ph type="body" idx="1"/>
          </p:nvPr>
        </p:nvSpPr>
        <p:spPr/>
        <p:txBody>
          <a:bodyPr/>
          <a:lstStyle/>
          <a:p>
            <a:endParaRPr kumimoji="1" lang="ja-JP" altLang="en-US" dirty="0"/>
          </a:p>
        </p:txBody>
      </p:sp>
      <p:sp>
        <p:nvSpPr>
          <p:cNvPr id="4" name="スライド番号プレースホルダー 3"/>
          <p:cNvSpPr>
            <a:spLocks noGrp="1"/>
          </p:cNvSpPr>
          <p:nvPr>
            <p:ph type="sldNum" sz="quarter" idx="5"/>
          </p:nvPr>
        </p:nvSpPr>
        <p:spPr/>
        <p:txBody>
          <a:bodyPr/>
          <a:lstStyle/>
          <a:p>
            <a:fld id="{EE6272DC-D754-4712-99FD-CCC76755E95F}" type="slidenum">
              <a:rPr kumimoji="1" lang="ja-JP" altLang="en-US" smtClean="0"/>
              <a:t>27</a:t>
            </a:fld>
            <a:endParaRPr kumimoji="1" lang="ja-JP" altLang="en-US"/>
          </a:p>
        </p:txBody>
      </p:sp>
    </p:spTree>
    <p:extLst>
      <p:ext uri="{BB962C8B-B14F-4D97-AF65-F5344CB8AC3E}">
        <p14:creationId xmlns:p14="http://schemas.microsoft.com/office/powerpoint/2010/main" val="3599583074"/>
      </p:ext>
    </p:extLst>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ECBAA7E-DF38-C9CD-507E-4B076CEFC389}"/>
              </a:ext>
            </a:extLst>
          </p:cNvPr>
          <p:cNvSpPr>
            <a:spLocks noGrp="1"/>
          </p:cNvSpPr>
          <p:nvPr>
            <p:ph type="ctrTitle"/>
          </p:nvPr>
        </p:nvSpPr>
        <p:spPr>
          <a:xfrm>
            <a:off x="1524000" y="1122363"/>
            <a:ext cx="9144000" cy="2387600"/>
          </a:xfrm>
        </p:spPr>
        <p:txBody>
          <a:bodyPr anchor="b"/>
          <a:lstStyle>
            <a:lvl1pPr algn="ctr">
              <a:defRPr sz="6000"/>
            </a:lvl1pPr>
          </a:lstStyle>
          <a:p>
            <a:r>
              <a:rPr kumimoji="1" lang="ja-JP" altLang="en-US"/>
              <a:t>マスター タイトルの書式設定</a:t>
            </a:r>
          </a:p>
        </p:txBody>
      </p:sp>
      <p:sp>
        <p:nvSpPr>
          <p:cNvPr id="3" name="字幕 2">
            <a:extLst>
              <a:ext uri="{FF2B5EF4-FFF2-40B4-BE49-F238E27FC236}">
                <a16:creationId xmlns:a16="http://schemas.microsoft.com/office/drawing/2014/main" id="{430027C9-0504-2F84-5E08-E0E63EC5A781}"/>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kumimoji="1" lang="ja-JP" altLang="en-US"/>
              <a:t>マスター サブタイトルの書式設定</a:t>
            </a:r>
          </a:p>
        </p:txBody>
      </p:sp>
      <p:sp>
        <p:nvSpPr>
          <p:cNvPr id="4" name="日付プレースホルダー 3">
            <a:extLst>
              <a:ext uri="{FF2B5EF4-FFF2-40B4-BE49-F238E27FC236}">
                <a16:creationId xmlns:a16="http://schemas.microsoft.com/office/drawing/2014/main" id="{BA493A12-F69B-B259-EF68-845FC708803E}"/>
              </a:ext>
            </a:extLst>
          </p:cNvPr>
          <p:cNvSpPr>
            <a:spLocks noGrp="1"/>
          </p:cNvSpPr>
          <p:nvPr>
            <p:ph type="dt" sz="half" idx="10"/>
          </p:nvPr>
        </p:nvSpPr>
        <p:spPr/>
        <p:txBody>
          <a:bodyPr/>
          <a:lstStyle/>
          <a:p>
            <a:fld id="{FF01CE57-0D7B-4BE6-9BBE-5C154C1536E7}" type="datetimeFigureOut">
              <a:rPr kumimoji="1" lang="ja-JP" altLang="en-US" smtClean="0"/>
              <a:t>2026/5/24</a:t>
            </a:fld>
            <a:endParaRPr kumimoji="1" lang="ja-JP" altLang="en-US"/>
          </a:p>
        </p:txBody>
      </p:sp>
      <p:sp>
        <p:nvSpPr>
          <p:cNvPr id="5" name="フッター プレースホルダー 4">
            <a:extLst>
              <a:ext uri="{FF2B5EF4-FFF2-40B4-BE49-F238E27FC236}">
                <a16:creationId xmlns:a16="http://schemas.microsoft.com/office/drawing/2014/main" id="{AE8C1786-A8BF-255F-F028-3E1087E14E3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741C9F7A-3A1B-D46D-0CCB-8507168A7020}"/>
              </a:ext>
            </a:extLst>
          </p:cNvPr>
          <p:cNvSpPr>
            <a:spLocks noGrp="1"/>
          </p:cNvSpPr>
          <p:nvPr>
            <p:ph type="sldNum" sz="quarter" idx="12"/>
          </p:nvPr>
        </p:nvSpPr>
        <p:spPr/>
        <p:txBody>
          <a:bodyPr/>
          <a:lstStyle/>
          <a:p>
            <a:fld id="{3CAB4D8C-B3A0-40FA-8F8E-15D0FFC2B786}" type="slidenum">
              <a:rPr kumimoji="1" lang="ja-JP" altLang="en-US" smtClean="0"/>
              <a:t>‹#›</a:t>
            </a:fld>
            <a:endParaRPr kumimoji="1" lang="ja-JP" altLang="en-US"/>
          </a:p>
        </p:txBody>
      </p:sp>
    </p:spTree>
    <p:extLst>
      <p:ext uri="{BB962C8B-B14F-4D97-AF65-F5344CB8AC3E}">
        <p14:creationId xmlns:p14="http://schemas.microsoft.com/office/powerpoint/2010/main" val="26510245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C45F741-D481-CA0D-46F2-CC3B48CE397F}"/>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5D9F4EDB-0DFD-B780-4CA8-6990462B89E6}"/>
              </a:ext>
            </a:extLst>
          </p:cNvPr>
          <p:cNvSpPr>
            <a:spLocks noGrp="1"/>
          </p:cNvSpPr>
          <p:nvPr>
            <p:ph idx="1"/>
          </p:nvPr>
        </p:nvSpPr>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D02F4385-D8DD-CA2E-742D-F21AAEFFFB11}"/>
              </a:ext>
            </a:extLst>
          </p:cNvPr>
          <p:cNvSpPr>
            <a:spLocks noGrp="1"/>
          </p:cNvSpPr>
          <p:nvPr>
            <p:ph type="dt" sz="half" idx="10"/>
          </p:nvPr>
        </p:nvSpPr>
        <p:spPr/>
        <p:txBody>
          <a:bodyPr/>
          <a:lstStyle/>
          <a:p>
            <a:fld id="{FF01CE57-0D7B-4BE6-9BBE-5C154C1536E7}" type="datetimeFigureOut">
              <a:rPr kumimoji="1" lang="ja-JP" altLang="en-US" smtClean="0"/>
              <a:t>2026/5/24</a:t>
            </a:fld>
            <a:endParaRPr kumimoji="1" lang="ja-JP" altLang="en-US"/>
          </a:p>
        </p:txBody>
      </p:sp>
      <p:sp>
        <p:nvSpPr>
          <p:cNvPr id="5" name="フッター プレースホルダー 4">
            <a:extLst>
              <a:ext uri="{FF2B5EF4-FFF2-40B4-BE49-F238E27FC236}">
                <a16:creationId xmlns:a16="http://schemas.microsoft.com/office/drawing/2014/main" id="{3920EDA3-8096-E88A-BD1D-188F7774E534}"/>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0DD2DC0-7B72-5E0D-0EE6-DD34B26FDA14}"/>
              </a:ext>
            </a:extLst>
          </p:cNvPr>
          <p:cNvSpPr>
            <a:spLocks noGrp="1"/>
          </p:cNvSpPr>
          <p:nvPr>
            <p:ph type="sldNum" sz="quarter" idx="12"/>
          </p:nvPr>
        </p:nvSpPr>
        <p:spPr/>
        <p:txBody>
          <a:bodyPr/>
          <a:lstStyle/>
          <a:p>
            <a:fld id="{3CAB4D8C-B3A0-40FA-8F8E-15D0FFC2B786}" type="slidenum">
              <a:rPr kumimoji="1" lang="ja-JP" altLang="en-US" smtClean="0"/>
              <a:t>‹#›</a:t>
            </a:fld>
            <a:endParaRPr kumimoji="1" lang="ja-JP" altLang="en-US"/>
          </a:p>
        </p:txBody>
      </p:sp>
    </p:spTree>
    <p:extLst>
      <p:ext uri="{BB962C8B-B14F-4D97-AF65-F5344CB8AC3E}">
        <p14:creationId xmlns:p14="http://schemas.microsoft.com/office/powerpoint/2010/main" val="596822977"/>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5B32E6B6-989F-CAAC-F5A9-7DA269E3FDCF}"/>
              </a:ext>
            </a:extLst>
          </p:cNvPr>
          <p:cNvSpPr>
            <a:spLocks noGrp="1"/>
          </p:cNvSpPr>
          <p:nvPr>
            <p:ph type="title"/>
          </p:nvPr>
        </p:nvSpPr>
        <p:spPr>
          <a:xfrm>
            <a:off x="831850" y="1709738"/>
            <a:ext cx="10515600" cy="2852737"/>
          </a:xfrm>
        </p:spPr>
        <p:txBody>
          <a:bodyPr anchor="b"/>
          <a:lstStyle>
            <a:lvl1pPr>
              <a:defRPr sz="6000"/>
            </a:lvl1p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647C04D-C86E-B554-F160-640C698CB776}"/>
              </a:ext>
            </a:extLst>
          </p:cNvPr>
          <p:cNvSpPr>
            <a:spLocks noGrp="1"/>
          </p:cNvSpPr>
          <p:nvPr>
            <p:ph type="body" idx="1"/>
          </p:nvPr>
        </p:nvSpPr>
        <p:spPr>
          <a:xfrm>
            <a:off x="831850" y="4589463"/>
            <a:ext cx="10515600" cy="1500187"/>
          </a:xfrm>
        </p:spPr>
        <p:txBody>
          <a:bodyPr/>
          <a:lstStyle>
            <a:lvl1pPr marL="0" indent="0">
              <a:buNone/>
              <a:defRPr sz="2400">
                <a:solidFill>
                  <a:schemeClr val="tx1">
                    <a:tint val="82000"/>
                  </a:schemeClr>
                </a:solidFill>
              </a:defRPr>
            </a:lvl1pPr>
            <a:lvl2pPr marL="457200" indent="0">
              <a:buNone/>
              <a:defRPr sz="2000">
                <a:solidFill>
                  <a:schemeClr val="tx1">
                    <a:tint val="82000"/>
                  </a:schemeClr>
                </a:solidFill>
              </a:defRPr>
            </a:lvl2pPr>
            <a:lvl3pPr marL="914400" indent="0">
              <a:buNone/>
              <a:defRPr sz="1800">
                <a:solidFill>
                  <a:schemeClr val="tx1">
                    <a:tint val="82000"/>
                  </a:schemeClr>
                </a:solidFill>
              </a:defRPr>
            </a:lvl3pPr>
            <a:lvl4pPr marL="1371600" indent="0">
              <a:buNone/>
              <a:defRPr sz="1600">
                <a:solidFill>
                  <a:schemeClr val="tx1">
                    <a:tint val="82000"/>
                  </a:schemeClr>
                </a:solidFill>
              </a:defRPr>
            </a:lvl4pPr>
            <a:lvl5pPr marL="1828800" indent="0">
              <a:buNone/>
              <a:defRPr sz="1600">
                <a:solidFill>
                  <a:schemeClr val="tx1">
                    <a:tint val="82000"/>
                  </a:schemeClr>
                </a:solidFill>
              </a:defRPr>
            </a:lvl5pPr>
            <a:lvl6pPr marL="2286000" indent="0">
              <a:buNone/>
              <a:defRPr sz="1600">
                <a:solidFill>
                  <a:schemeClr val="tx1">
                    <a:tint val="82000"/>
                  </a:schemeClr>
                </a:solidFill>
              </a:defRPr>
            </a:lvl6pPr>
            <a:lvl7pPr marL="2743200" indent="0">
              <a:buNone/>
              <a:defRPr sz="1600">
                <a:solidFill>
                  <a:schemeClr val="tx1">
                    <a:tint val="82000"/>
                  </a:schemeClr>
                </a:solidFill>
              </a:defRPr>
            </a:lvl7pPr>
            <a:lvl8pPr marL="3200400" indent="0">
              <a:buNone/>
              <a:defRPr sz="1600">
                <a:solidFill>
                  <a:schemeClr val="tx1">
                    <a:tint val="82000"/>
                  </a:schemeClr>
                </a:solidFill>
              </a:defRPr>
            </a:lvl8pPr>
            <a:lvl9pPr marL="3657600" indent="0">
              <a:buNone/>
              <a:defRPr sz="1600">
                <a:solidFill>
                  <a:schemeClr val="tx1">
                    <a:tint val="82000"/>
                  </a:schemeClr>
                </a:solidFill>
              </a:defRPr>
            </a:lvl9pPr>
          </a:lstStyle>
          <a:p>
            <a:pPr lvl="0"/>
            <a:r>
              <a:rPr kumimoji="1" lang="ja-JP" altLang="en-US"/>
              <a:t>マスター テキストの書式設定</a:t>
            </a:r>
          </a:p>
        </p:txBody>
      </p:sp>
      <p:sp>
        <p:nvSpPr>
          <p:cNvPr id="4" name="日付プレースホルダー 3">
            <a:extLst>
              <a:ext uri="{FF2B5EF4-FFF2-40B4-BE49-F238E27FC236}">
                <a16:creationId xmlns:a16="http://schemas.microsoft.com/office/drawing/2014/main" id="{4C26BD9F-3414-61B3-0B51-646621854BB7}"/>
              </a:ext>
            </a:extLst>
          </p:cNvPr>
          <p:cNvSpPr>
            <a:spLocks noGrp="1"/>
          </p:cNvSpPr>
          <p:nvPr>
            <p:ph type="dt" sz="half" idx="10"/>
          </p:nvPr>
        </p:nvSpPr>
        <p:spPr/>
        <p:txBody>
          <a:bodyPr/>
          <a:lstStyle/>
          <a:p>
            <a:fld id="{FF01CE57-0D7B-4BE6-9BBE-5C154C1536E7}" type="datetimeFigureOut">
              <a:rPr kumimoji="1" lang="ja-JP" altLang="en-US" smtClean="0"/>
              <a:t>2026/5/24</a:t>
            </a:fld>
            <a:endParaRPr kumimoji="1" lang="ja-JP" altLang="en-US"/>
          </a:p>
        </p:txBody>
      </p:sp>
      <p:sp>
        <p:nvSpPr>
          <p:cNvPr id="5" name="フッター プレースホルダー 4">
            <a:extLst>
              <a:ext uri="{FF2B5EF4-FFF2-40B4-BE49-F238E27FC236}">
                <a16:creationId xmlns:a16="http://schemas.microsoft.com/office/drawing/2014/main" id="{6F8E84FC-7D22-6E60-9117-71703373C675}"/>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D2E0D7F-9208-68FC-A215-DE8BC276571D}"/>
              </a:ext>
            </a:extLst>
          </p:cNvPr>
          <p:cNvSpPr>
            <a:spLocks noGrp="1"/>
          </p:cNvSpPr>
          <p:nvPr>
            <p:ph type="sldNum" sz="quarter" idx="12"/>
          </p:nvPr>
        </p:nvSpPr>
        <p:spPr/>
        <p:txBody>
          <a:bodyPr/>
          <a:lstStyle/>
          <a:p>
            <a:fld id="{3CAB4D8C-B3A0-40FA-8F8E-15D0FFC2B786}" type="slidenum">
              <a:rPr kumimoji="1" lang="ja-JP" altLang="en-US" smtClean="0"/>
              <a:t>‹#›</a:t>
            </a:fld>
            <a:endParaRPr kumimoji="1" lang="ja-JP" altLang="en-US"/>
          </a:p>
        </p:txBody>
      </p:sp>
    </p:spTree>
    <p:extLst>
      <p:ext uri="{BB962C8B-B14F-4D97-AF65-F5344CB8AC3E}">
        <p14:creationId xmlns:p14="http://schemas.microsoft.com/office/powerpoint/2010/main" val="1550522293"/>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4F39FC04-2F86-59CF-AE60-3288888DADF5}"/>
              </a:ext>
            </a:extLst>
          </p:cNvPr>
          <p:cNvSpPr>
            <a:spLocks noGrp="1"/>
          </p:cNvSpPr>
          <p:nvPr>
            <p:ph type="title"/>
          </p:nvPr>
        </p:nvSpPr>
        <p:spPr/>
        <p:txBody>
          <a:body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A7590F7E-6167-C19C-54A2-4A5DFF993860}"/>
              </a:ext>
            </a:extLst>
          </p:cNvPr>
          <p:cNvSpPr>
            <a:spLocks noGrp="1"/>
          </p:cNvSpPr>
          <p:nvPr>
            <p:ph sz="half" idx="1"/>
          </p:nvPr>
        </p:nvSpPr>
        <p:spPr>
          <a:xfrm>
            <a:off x="838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コンテンツ プレースホルダー 3">
            <a:extLst>
              <a:ext uri="{FF2B5EF4-FFF2-40B4-BE49-F238E27FC236}">
                <a16:creationId xmlns:a16="http://schemas.microsoft.com/office/drawing/2014/main" id="{0CCF77AF-4676-CD98-50D1-DDE1FBE0D782}"/>
              </a:ext>
            </a:extLst>
          </p:cNvPr>
          <p:cNvSpPr>
            <a:spLocks noGrp="1"/>
          </p:cNvSpPr>
          <p:nvPr>
            <p:ph sz="half" idx="2"/>
          </p:nvPr>
        </p:nvSpPr>
        <p:spPr>
          <a:xfrm>
            <a:off x="6172200" y="1825625"/>
            <a:ext cx="5181600" cy="435133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日付プレースホルダー 4">
            <a:extLst>
              <a:ext uri="{FF2B5EF4-FFF2-40B4-BE49-F238E27FC236}">
                <a16:creationId xmlns:a16="http://schemas.microsoft.com/office/drawing/2014/main" id="{487B792E-B401-9F02-E4D0-E17BAD97C855}"/>
              </a:ext>
            </a:extLst>
          </p:cNvPr>
          <p:cNvSpPr>
            <a:spLocks noGrp="1"/>
          </p:cNvSpPr>
          <p:nvPr>
            <p:ph type="dt" sz="half" idx="10"/>
          </p:nvPr>
        </p:nvSpPr>
        <p:spPr/>
        <p:txBody>
          <a:bodyPr/>
          <a:lstStyle/>
          <a:p>
            <a:fld id="{FF01CE57-0D7B-4BE6-9BBE-5C154C1536E7}" type="datetimeFigureOut">
              <a:rPr kumimoji="1" lang="ja-JP" altLang="en-US" smtClean="0"/>
              <a:t>2026/5/24</a:t>
            </a:fld>
            <a:endParaRPr kumimoji="1" lang="ja-JP" altLang="en-US"/>
          </a:p>
        </p:txBody>
      </p:sp>
      <p:sp>
        <p:nvSpPr>
          <p:cNvPr id="6" name="フッター プレースホルダー 5">
            <a:extLst>
              <a:ext uri="{FF2B5EF4-FFF2-40B4-BE49-F238E27FC236}">
                <a16:creationId xmlns:a16="http://schemas.microsoft.com/office/drawing/2014/main" id="{BAC83976-1849-3C08-4356-07B937CCF5AD}"/>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2B0C78F-1778-C415-B82C-491156FB10F8}"/>
              </a:ext>
            </a:extLst>
          </p:cNvPr>
          <p:cNvSpPr>
            <a:spLocks noGrp="1"/>
          </p:cNvSpPr>
          <p:nvPr>
            <p:ph type="sldNum" sz="quarter" idx="12"/>
          </p:nvPr>
        </p:nvSpPr>
        <p:spPr/>
        <p:txBody>
          <a:bodyPr/>
          <a:lstStyle/>
          <a:p>
            <a:fld id="{3CAB4D8C-B3A0-40FA-8F8E-15D0FFC2B786}" type="slidenum">
              <a:rPr kumimoji="1" lang="ja-JP" altLang="en-US" smtClean="0"/>
              <a:t>‹#›</a:t>
            </a:fld>
            <a:endParaRPr kumimoji="1" lang="ja-JP" altLang="en-US"/>
          </a:p>
        </p:txBody>
      </p:sp>
    </p:spTree>
    <p:extLst>
      <p:ext uri="{BB962C8B-B14F-4D97-AF65-F5344CB8AC3E}">
        <p14:creationId xmlns:p14="http://schemas.microsoft.com/office/powerpoint/2010/main" val="699251133"/>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E90BC615-D729-FDF2-7AC1-636F5341AF3B}"/>
              </a:ext>
            </a:extLst>
          </p:cNvPr>
          <p:cNvSpPr>
            <a:spLocks noGrp="1"/>
          </p:cNvSpPr>
          <p:nvPr>
            <p:ph type="title"/>
          </p:nvPr>
        </p:nvSpPr>
        <p:spPr>
          <a:xfrm>
            <a:off x="839788" y="365125"/>
            <a:ext cx="10515600" cy="1325563"/>
          </a:xfrm>
        </p:spPr>
        <p:txBody>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BEAF9C8-C338-86EE-CE67-AFF964DAD9AD}"/>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4" name="コンテンツ プレースホルダー 3">
            <a:extLst>
              <a:ext uri="{FF2B5EF4-FFF2-40B4-BE49-F238E27FC236}">
                <a16:creationId xmlns:a16="http://schemas.microsoft.com/office/drawing/2014/main" id="{EF368402-1A08-2772-99D8-AC60CFB433A8}"/>
              </a:ext>
            </a:extLst>
          </p:cNvPr>
          <p:cNvSpPr>
            <a:spLocks noGrp="1"/>
          </p:cNvSpPr>
          <p:nvPr>
            <p:ph sz="half" idx="2"/>
          </p:nvPr>
        </p:nvSpPr>
        <p:spPr>
          <a:xfrm>
            <a:off x="839788" y="2505075"/>
            <a:ext cx="5157787"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5" name="テキスト プレースホルダー 4">
            <a:extLst>
              <a:ext uri="{FF2B5EF4-FFF2-40B4-BE49-F238E27FC236}">
                <a16:creationId xmlns:a16="http://schemas.microsoft.com/office/drawing/2014/main" id="{87A5CC22-9379-3A27-9FA8-0754BD19EDEA}"/>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kumimoji="1" lang="ja-JP" altLang="en-US"/>
              <a:t>マスター テキストの書式設定</a:t>
            </a:r>
          </a:p>
        </p:txBody>
      </p:sp>
      <p:sp>
        <p:nvSpPr>
          <p:cNvPr id="6" name="コンテンツ プレースホルダー 5">
            <a:extLst>
              <a:ext uri="{FF2B5EF4-FFF2-40B4-BE49-F238E27FC236}">
                <a16:creationId xmlns:a16="http://schemas.microsoft.com/office/drawing/2014/main" id="{83B61007-FF15-00E2-4BC2-E862A5C5D58F}"/>
              </a:ext>
            </a:extLst>
          </p:cNvPr>
          <p:cNvSpPr>
            <a:spLocks noGrp="1"/>
          </p:cNvSpPr>
          <p:nvPr>
            <p:ph sz="quarter" idx="4"/>
          </p:nvPr>
        </p:nvSpPr>
        <p:spPr>
          <a:xfrm>
            <a:off x="6172200" y="2505075"/>
            <a:ext cx="5183188" cy="3684588"/>
          </a:xfrm>
        </p:spPr>
        <p:txBody>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7" name="日付プレースホルダー 6">
            <a:extLst>
              <a:ext uri="{FF2B5EF4-FFF2-40B4-BE49-F238E27FC236}">
                <a16:creationId xmlns:a16="http://schemas.microsoft.com/office/drawing/2014/main" id="{094DABC0-B353-27E3-45A7-74F1E17E8115}"/>
              </a:ext>
            </a:extLst>
          </p:cNvPr>
          <p:cNvSpPr>
            <a:spLocks noGrp="1"/>
          </p:cNvSpPr>
          <p:nvPr>
            <p:ph type="dt" sz="half" idx="10"/>
          </p:nvPr>
        </p:nvSpPr>
        <p:spPr/>
        <p:txBody>
          <a:bodyPr/>
          <a:lstStyle/>
          <a:p>
            <a:fld id="{FF01CE57-0D7B-4BE6-9BBE-5C154C1536E7}" type="datetimeFigureOut">
              <a:rPr kumimoji="1" lang="ja-JP" altLang="en-US" smtClean="0"/>
              <a:t>2026/5/24</a:t>
            </a:fld>
            <a:endParaRPr kumimoji="1" lang="ja-JP" altLang="en-US"/>
          </a:p>
        </p:txBody>
      </p:sp>
      <p:sp>
        <p:nvSpPr>
          <p:cNvPr id="8" name="フッター プレースホルダー 7">
            <a:extLst>
              <a:ext uri="{FF2B5EF4-FFF2-40B4-BE49-F238E27FC236}">
                <a16:creationId xmlns:a16="http://schemas.microsoft.com/office/drawing/2014/main" id="{4E091D10-4474-3BFA-CA8A-BB42E81C07F6}"/>
              </a:ext>
            </a:extLst>
          </p:cNvPr>
          <p:cNvSpPr>
            <a:spLocks noGrp="1"/>
          </p:cNvSpPr>
          <p:nvPr>
            <p:ph type="ftr" sz="quarter" idx="11"/>
          </p:nvPr>
        </p:nvSpPr>
        <p:spPr/>
        <p:txBody>
          <a:bodyPr/>
          <a:lstStyle/>
          <a:p>
            <a:endParaRPr kumimoji="1" lang="ja-JP" altLang="en-US"/>
          </a:p>
        </p:txBody>
      </p:sp>
      <p:sp>
        <p:nvSpPr>
          <p:cNvPr id="9" name="スライド番号プレースホルダー 8">
            <a:extLst>
              <a:ext uri="{FF2B5EF4-FFF2-40B4-BE49-F238E27FC236}">
                <a16:creationId xmlns:a16="http://schemas.microsoft.com/office/drawing/2014/main" id="{4F8ACACA-F0AE-E812-EA11-CAC82835C1B8}"/>
              </a:ext>
            </a:extLst>
          </p:cNvPr>
          <p:cNvSpPr>
            <a:spLocks noGrp="1"/>
          </p:cNvSpPr>
          <p:nvPr>
            <p:ph type="sldNum" sz="quarter" idx="12"/>
          </p:nvPr>
        </p:nvSpPr>
        <p:spPr/>
        <p:txBody>
          <a:bodyPr/>
          <a:lstStyle/>
          <a:p>
            <a:fld id="{3CAB4D8C-B3A0-40FA-8F8E-15D0FFC2B786}" type="slidenum">
              <a:rPr kumimoji="1" lang="ja-JP" altLang="en-US" smtClean="0"/>
              <a:t>‹#›</a:t>
            </a:fld>
            <a:endParaRPr kumimoji="1" lang="ja-JP" altLang="en-US"/>
          </a:p>
        </p:txBody>
      </p:sp>
    </p:spTree>
    <p:extLst>
      <p:ext uri="{BB962C8B-B14F-4D97-AF65-F5344CB8AC3E}">
        <p14:creationId xmlns:p14="http://schemas.microsoft.com/office/powerpoint/2010/main" val="4182170173"/>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3BEE51C1-6F7D-9E2D-CB9E-CAB596BDDD67}"/>
              </a:ext>
            </a:extLst>
          </p:cNvPr>
          <p:cNvSpPr>
            <a:spLocks noGrp="1"/>
          </p:cNvSpPr>
          <p:nvPr>
            <p:ph type="title"/>
          </p:nvPr>
        </p:nvSpPr>
        <p:spPr/>
        <p:txBody>
          <a:bodyPr/>
          <a:lstStyle/>
          <a:p>
            <a:r>
              <a:rPr kumimoji="1" lang="ja-JP" altLang="en-US"/>
              <a:t>マスター タイトルの書式設定</a:t>
            </a:r>
          </a:p>
        </p:txBody>
      </p:sp>
      <p:sp>
        <p:nvSpPr>
          <p:cNvPr id="3" name="日付プレースホルダー 2">
            <a:extLst>
              <a:ext uri="{FF2B5EF4-FFF2-40B4-BE49-F238E27FC236}">
                <a16:creationId xmlns:a16="http://schemas.microsoft.com/office/drawing/2014/main" id="{CE3825E2-40F9-E631-7646-CE01E421CA45}"/>
              </a:ext>
            </a:extLst>
          </p:cNvPr>
          <p:cNvSpPr>
            <a:spLocks noGrp="1"/>
          </p:cNvSpPr>
          <p:nvPr>
            <p:ph type="dt" sz="half" idx="10"/>
          </p:nvPr>
        </p:nvSpPr>
        <p:spPr/>
        <p:txBody>
          <a:bodyPr/>
          <a:lstStyle/>
          <a:p>
            <a:fld id="{FF01CE57-0D7B-4BE6-9BBE-5C154C1536E7}" type="datetimeFigureOut">
              <a:rPr kumimoji="1" lang="ja-JP" altLang="en-US" smtClean="0"/>
              <a:t>2026/5/24</a:t>
            </a:fld>
            <a:endParaRPr kumimoji="1" lang="ja-JP" altLang="en-US"/>
          </a:p>
        </p:txBody>
      </p:sp>
      <p:sp>
        <p:nvSpPr>
          <p:cNvPr id="4" name="フッター プレースホルダー 3">
            <a:extLst>
              <a:ext uri="{FF2B5EF4-FFF2-40B4-BE49-F238E27FC236}">
                <a16:creationId xmlns:a16="http://schemas.microsoft.com/office/drawing/2014/main" id="{D11C28DB-D33D-49C0-B7DB-087BEBB11359}"/>
              </a:ext>
            </a:extLst>
          </p:cNvPr>
          <p:cNvSpPr>
            <a:spLocks noGrp="1"/>
          </p:cNvSpPr>
          <p:nvPr>
            <p:ph type="ftr" sz="quarter" idx="11"/>
          </p:nvPr>
        </p:nvSpPr>
        <p:spPr/>
        <p:txBody>
          <a:bodyPr/>
          <a:lstStyle/>
          <a:p>
            <a:endParaRPr kumimoji="1" lang="ja-JP" altLang="en-US"/>
          </a:p>
        </p:txBody>
      </p:sp>
      <p:sp>
        <p:nvSpPr>
          <p:cNvPr id="5" name="スライド番号プレースホルダー 4">
            <a:extLst>
              <a:ext uri="{FF2B5EF4-FFF2-40B4-BE49-F238E27FC236}">
                <a16:creationId xmlns:a16="http://schemas.microsoft.com/office/drawing/2014/main" id="{B88D9FF7-1F10-F8CD-D086-F86A2DA8210D}"/>
              </a:ext>
            </a:extLst>
          </p:cNvPr>
          <p:cNvSpPr>
            <a:spLocks noGrp="1"/>
          </p:cNvSpPr>
          <p:nvPr>
            <p:ph type="sldNum" sz="quarter" idx="12"/>
          </p:nvPr>
        </p:nvSpPr>
        <p:spPr/>
        <p:txBody>
          <a:bodyPr/>
          <a:lstStyle/>
          <a:p>
            <a:fld id="{3CAB4D8C-B3A0-40FA-8F8E-15D0FFC2B786}" type="slidenum">
              <a:rPr kumimoji="1" lang="ja-JP" altLang="en-US" smtClean="0"/>
              <a:t>‹#›</a:t>
            </a:fld>
            <a:endParaRPr kumimoji="1" lang="ja-JP" altLang="en-US"/>
          </a:p>
        </p:txBody>
      </p:sp>
    </p:spTree>
    <p:extLst>
      <p:ext uri="{BB962C8B-B14F-4D97-AF65-F5344CB8AC3E}">
        <p14:creationId xmlns:p14="http://schemas.microsoft.com/office/powerpoint/2010/main" val="3812809232"/>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C0C14699-6D43-7EC0-9715-3FC312C78763}"/>
              </a:ext>
            </a:extLst>
          </p:cNvPr>
          <p:cNvSpPr>
            <a:spLocks noGrp="1"/>
          </p:cNvSpPr>
          <p:nvPr>
            <p:ph type="dt" sz="half" idx="10"/>
          </p:nvPr>
        </p:nvSpPr>
        <p:spPr/>
        <p:txBody>
          <a:bodyPr/>
          <a:lstStyle/>
          <a:p>
            <a:fld id="{FF01CE57-0D7B-4BE6-9BBE-5C154C1536E7}" type="datetimeFigureOut">
              <a:rPr kumimoji="1" lang="ja-JP" altLang="en-US" smtClean="0"/>
              <a:t>2026/5/24</a:t>
            </a:fld>
            <a:endParaRPr kumimoji="1" lang="ja-JP" altLang="en-US"/>
          </a:p>
        </p:txBody>
      </p:sp>
      <p:sp>
        <p:nvSpPr>
          <p:cNvPr id="3" name="フッター プレースホルダー 2">
            <a:extLst>
              <a:ext uri="{FF2B5EF4-FFF2-40B4-BE49-F238E27FC236}">
                <a16:creationId xmlns:a16="http://schemas.microsoft.com/office/drawing/2014/main" id="{95BB4B71-6831-9C1F-79FD-400269BF69EE}"/>
              </a:ext>
            </a:extLst>
          </p:cNvPr>
          <p:cNvSpPr>
            <a:spLocks noGrp="1"/>
          </p:cNvSpPr>
          <p:nvPr>
            <p:ph type="ftr" sz="quarter" idx="11"/>
          </p:nvPr>
        </p:nvSpPr>
        <p:spPr/>
        <p:txBody>
          <a:bodyPr/>
          <a:lstStyle/>
          <a:p>
            <a:endParaRPr kumimoji="1" lang="ja-JP" altLang="en-US"/>
          </a:p>
        </p:txBody>
      </p:sp>
      <p:sp>
        <p:nvSpPr>
          <p:cNvPr id="4" name="スライド番号プレースホルダー 3">
            <a:extLst>
              <a:ext uri="{FF2B5EF4-FFF2-40B4-BE49-F238E27FC236}">
                <a16:creationId xmlns:a16="http://schemas.microsoft.com/office/drawing/2014/main" id="{72432064-7E9F-901E-E22A-8C01F24A4354}"/>
              </a:ext>
            </a:extLst>
          </p:cNvPr>
          <p:cNvSpPr>
            <a:spLocks noGrp="1"/>
          </p:cNvSpPr>
          <p:nvPr>
            <p:ph type="sldNum" sz="quarter" idx="12"/>
          </p:nvPr>
        </p:nvSpPr>
        <p:spPr/>
        <p:txBody>
          <a:bodyPr/>
          <a:lstStyle/>
          <a:p>
            <a:fld id="{3CAB4D8C-B3A0-40FA-8F8E-15D0FFC2B786}" type="slidenum">
              <a:rPr kumimoji="1" lang="ja-JP" altLang="en-US" smtClean="0"/>
              <a:t>‹#›</a:t>
            </a:fld>
            <a:endParaRPr kumimoji="1" lang="ja-JP" altLang="en-US"/>
          </a:p>
        </p:txBody>
      </p:sp>
    </p:spTree>
    <p:extLst>
      <p:ext uri="{BB962C8B-B14F-4D97-AF65-F5344CB8AC3E}">
        <p14:creationId xmlns:p14="http://schemas.microsoft.com/office/powerpoint/2010/main" val="396576581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9B1A8444-603F-0FF2-D1A1-6320C35C5DEB}"/>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コンテンツ プレースホルダー 2">
            <a:extLst>
              <a:ext uri="{FF2B5EF4-FFF2-40B4-BE49-F238E27FC236}">
                <a16:creationId xmlns:a16="http://schemas.microsoft.com/office/drawing/2014/main" id="{20267903-006C-4B38-ED7A-42BBC0DC10A5}"/>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テキスト プレースホルダー 3">
            <a:extLst>
              <a:ext uri="{FF2B5EF4-FFF2-40B4-BE49-F238E27FC236}">
                <a16:creationId xmlns:a16="http://schemas.microsoft.com/office/drawing/2014/main" id="{1BCEB8BE-D804-CCE8-C4FB-B3348E6B47B2}"/>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6A7A3AFC-C994-651E-B06B-AB488F644D8B}"/>
              </a:ext>
            </a:extLst>
          </p:cNvPr>
          <p:cNvSpPr>
            <a:spLocks noGrp="1"/>
          </p:cNvSpPr>
          <p:nvPr>
            <p:ph type="dt" sz="half" idx="10"/>
          </p:nvPr>
        </p:nvSpPr>
        <p:spPr/>
        <p:txBody>
          <a:bodyPr/>
          <a:lstStyle/>
          <a:p>
            <a:fld id="{FF01CE57-0D7B-4BE6-9BBE-5C154C1536E7}" type="datetimeFigureOut">
              <a:rPr kumimoji="1" lang="ja-JP" altLang="en-US" smtClean="0"/>
              <a:t>2026/5/24</a:t>
            </a:fld>
            <a:endParaRPr kumimoji="1" lang="ja-JP" altLang="en-US"/>
          </a:p>
        </p:txBody>
      </p:sp>
      <p:sp>
        <p:nvSpPr>
          <p:cNvPr id="6" name="フッター プレースホルダー 5">
            <a:extLst>
              <a:ext uri="{FF2B5EF4-FFF2-40B4-BE49-F238E27FC236}">
                <a16:creationId xmlns:a16="http://schemas.microsoft.com/office/drawing/2014/main" id="{BF6B36E3-F3CA-F32E-0466-06585870EBC4}"/>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028B4D7B-3FDB-C9E0-4CF4-4A1B5093574A}"/>
              </a:ext>
            </a:extLst>
          </p:cNvPr>
          <p:cNvSpPr>
            <a:spLocks noGrp="1"/>
          </p:cNvSpPr>
          <p:nvPr>
            <p:ph type="sldNum" sz="quarter" idx="12"/>
          </p:nvPr>
        </p:nvSpPr>
        <p:spPr/>
        <p:txBody>
          <a:bodyPr/>
          <a:lstStyle/>
          <a:p>
            <a:fld id="{3CAB4D8C-B3A0-40FA-8F8E-15D0FFC2B786}" type="slidenum">
              <a:rPr kumimoji="1" lang="ja-JP" altLang="en-US" smtClean="0"/>
              <a:t>‹#›</a:t>
            </a:fld>
            <a:endParaRPr kumimoji="1" lang="ja-JP" altLang="en-US"/>
          </a:p>
        </p:txBody>
      </p:sp>
    </p:spTree>
    <p:extLst>
      <p:ext uri="{BB962C8B-B14F-4D97-AF65-F5344CB8AC3E}">
        <p14:creationId xmlns:p14="http://schemas.microsoft.com/office/powerpoint/2010/main" val="80540961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F4C7EE1-72A1-617C-97C0-CF9A960A577C}"/>
              </a:ext>
            </a:extLst>
          </p:cNvPr>
          <p:cNvSpPr>
            <a:spLocks noGrp="1"/>
          </p:cNvSpPr>
          <p:nvPr>
            <p:ph type="title"/>
          </p:nvPr>
        </p:nvSpPr>
        <p:spPr>
          <a:xfrm>
            <a:off x="839788" y="457200"/>
            <a:ext cx="3932237" cy="1600200"/>
          </a:xfrm>
        </p:spPr>
        <p:txBody>
          <a:bodyPr anchor="b"/>
          <a:lstStyle>
            <a:lvl1pPr>
              <a:defRPr sz="3200"/>
            </a:lvl1pPr>
          </a:lstStyle>
          <a:p>
            <a:r>
              <a:rPr kumimoji="1" lang="ja-JP" altLang="en-US"/>
              <a:t>マスター タイトルの書式設定</a:t>
            </a:r>
          </a:p>
        </p:txBody>
      </p:sp>
      <p:sp>
        <p:nvSpPr>
          <p:cNvPr id="3" name="図プレースホルダー 2">
            <a:extLst>
              <a:ext uri="{FF2B5EF4-FFF2-40B4-BE49-F238E27FC236}">
                <a16:creationId xmlns:a16="http://schemas.microsoft.com/office/drawing/2014/main" id="{5B4D5E77-593F-0562-DC20-BA376D8B834F}"/>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kumimoji="1" lang="ja-JP" altLang="en-US"/>
          </a:p>
        </p:txBody>
      </p:sp>
      <p:sp>
        <p:nvSpPr>
          <p:cNvPr id="4" name="テキスト プレースホルダー 3">
            <a:extLst>
              <a:ext uri="{FF2B5EF4-FFF2-40B4-BE49-F238E27FC236}">
                <a16:creationId xmlns:a16="http://schemas.microsoft.com/office/drawing/2014/main" id="{10EA182A-D81A-27D3-90BC-2DE87E6B8184}"/>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kumimoji="1" lang="ja-JP" altLang="en-US"/>
              <a:t>マスター テキストの書式設定</a:t>
            </a:r>
          </a:p>
        </p:txBody>
      </p:sp>
      <p:sp>
        <p:nvSpPr>
          <p:cNvPr id="5" name="日付プレースホルダー 4">
            <a:extLst>
              <a:ext uri="{FF2B5EF4-FFF2-40B4-BE49-F238E27FC236}">
                <a16:creationId xmlns:a16="http://schemas.microsoft.com/office/drawing/2014/main" id="{28AF8506-F386-7DEC-E8C0-5BD807440DE2}"/>
              </a:ext>
            </a:extLst>
          </p:cNvPr>
          <p:cNvSpPr>
            <a:spLocks noGrp="1"/>
          </p:cNvSpPr>
          <p:nvPr>
            <p:ph type="dt" sz="half" idx="10"/>
          </p:nvPr>
        </p:nvSpPr>
        <p:spPr/>
        <p:txBody>
          <a:bodyPr/>
          <a:lstStyle/>
          <a:p>
            <a:fld id="{FF01CE57-0D7B-4BE6-9BBE-5C154C1536E7}" type="datetimeFigureOut">
              <a:rPr kumimoji="1" lang="ja-JP" altLang="en-US" smtClean="0"/>
              <a:t>2026/5/24</a:t>
            </a:fld>
            <a:endParaRPr kumimoji="1" lang="ja-JP" altLang="en-US"/>
          </a:p>
        </p:txBody>
      </p:sp>
      <p:sp>
        <p:nvSpPr>
          <p:cNvPr id="6" name="フッター プレースホルダー 5">
            <a:extLst>
              <a:ext uri="{FF2B5EF4-FFF2-40B4-BE49-F238E27FC236}">
                <a16:creationId xmlns:a16="http://schemas.microsoft.com/office/drawing/2014/main" id="{B5247D88-A293-4318-1200-1D830C513DEA}"/>
              </a:ext>
            </a:extLst>
          </p:cNvPr>
          <p:cNvSpPr>
            <a:spLocks noGrp="1"/>
          </p:cNvSpPr>
          <p:nvPr>
            <p:ph type="ftr" sz="quarter" idx="11"/>
          </p:nvPr>
        </p:nvSpPr>
        <p:spPr/>
        <p:txBody>
          <a:bodyPr/>
          <a:lstStyle/>
          <a:p>
            <a:endParaRPr kumimoji="1" lang="ja-JP" altLang="en-US"/>
          </a:p>
        </p:txBody>
      </p:sp>
      <p:sp>
        <p:nvSpPr>
          <p:cNvPr id="7" name="スライド番号プレースホルダー 6">
            <a:extLst>
              <a:ext uri="{FF2B5EF4-FFF2-40B4-BE49-F238E27FC236}">
                <a16:creationId xmlns:a16="http://schemas.microsoft.com/office/drawing/2014/main" id="{7A65B571-6E96-4AE8-68A6-03593C94769E}"/>
              </a:ext>
            </a:extLst>
          </p:cNvPr>
          <p:cNvSpPr>
            <a:spLocks noGrp="1"/>
          </p:cNvSpPr>
          <p:nvPr>
            <p:ph type="sldNum" sz="quarter" idx="12"/>
          </p:nvPr>
        </p:nvSpPr>
        <p:spPr/>
        <p:txBody>
          <a:bodyPr/>
          <a:lstStyle/>
          <a:p>
            <a:fld id="{3CAB4D8C-B3A0-40FA-8F8E-15D0FFC2B786}" type="slidenum">
              <a:rPr kumimoji="1" lang="ja-JP" altLang="en-US" smtClean="0"/>
              <a:t>‹#›</a:t>
            </a:fld>
            <a:endParaRPr kumimoji="1" lang="ja-JP" altLang="en-US"/>
          </a:p>
        </p:txBody>
      </p:sp>
    </p:spTree>
    <p:extLst>
      <p:ext uri="{BB962C8B-B14F-4D97-AF65-F5344CB8AC3E}">
        <p14:creationId xmlns:p14="http://schemas.microsoft.com/office/powerpoint/2010/main" val="281783083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AD42E968-CA6C-5FF7-69C8-62238743BDE0}"/>
              </a:ext>
            </a:extLst>
          </p:cNvPr>
          <p:cNvSpPr>
            <a:spLocks noGrp="1"/>
          </p:cNvSpPr>
          <p:nvPr>
            <p:ph type="title"/>
          </p:nvPr>
        </p:nvSpPr>
        <p:spPr/>
        <p:txBody>
          <a:bodyPr/>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88864959-28BA-6F6B-51AD-A72893A0433B}"/>
              </a:ext>
            </a:extLst>
          </p:cNvPr>
          <p:cNvSpPr>
            <a:spLocks noGrp="1"/>
          </p:cNvSpPr>
          <p:nvPr>
            <p:ph type="body" orient="vert" idx="1"/>
          </p:nvPr>
        </p:nvSpPr>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79F36A72-2193-6BFF-C525-E931D85AF682}"/>
              </a:ext>
            </a:extLst>
          </p:cNvPr>
          <p:cNvSpPr>
            <a:spLocks noGrp="1"/>
          </p:cNvSpPr>
          <p:nvPr>
            <p:ph type="dt" sz="half" idx="10"/>
          </p:nvPr>
        </p:nvSpPr>
        <p:spPr/>
        <p:txBody>
          <a:bodyPr/>
          <a:lstStyle/>
          <a:p>
            <a:fld id="{FF01CE57-0D7B-4BE6-9BBE-5C154C1536E7}" type="datetimeFigureOut">
              <a:rPr kumimoji="1" lang="ja-JP" altLang="en-US" smtClean="0"/>
              <a:t>2026/5/24</a:t>
            </a:fld>
            <a:endParaRPr kumimoji="1" lang="ja-JP" altLang="en-US"/>
          </a:p>
        </p:txBody>
      </p:sp>
      <p:sp>
        <p:nvSpPr>
          <p:cNvPr id="5" name="フッター プレースホルダー 4">
            <a:extLst>
              <a:ext uri="{FF2B5EF4-FFF2-40B4-BE49-F238E27FC236}">
                <a16:creationId xmlns:a16="http://schemas.microsoft.com/office/drawing/2014/main" id="{3963BDBF-0F6C-5205-40FA-053D9275B0C3}"/>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91C00367-68F2-AE9B-525A-AF4CDA4ED959}"/>
              </a:ext>
            </a:extLst>
          </p:cNvPr>
          <p:cNvSpPr>
            <a:spLocks noGrp="1"/>
          </p:cNvSpPr>
          <p:nvPr>
            <p:ph type="sldNum" sz="quarter" idx="12"/>
          </p:nvPr>
        </p:nvSpPr>
        <p:spPr/>
        <p:txBody>
          <a:bodyPr/>
          <a:lstStyle/>
          <a:p>
            <a:fld id="{3CAB4D8C-B3A0-40FA-8F8E-15D0FFC2B786}" type="slidenum">
              <a:rPr kumimoji="1" lang="ja-JP" altLang="en-US" smtClean="0"/>
              <a:t>‹#›</a:t>
            </a:fld>
            <a:endParaRPr kumimoji="1" lang="ja-JP" altLang="en-US"/>
          </a:p>
        </p:txBody>
      </p:sp>
    </p:spTree>
    <p:extLst>
      <p:ext uri="{BB962C8B-B14F-4D97-AF65-F5344CB8AC3E}">
        <p14:creationId xmlns:p14="http://schemas.microsoft.com/office/powerpoint/2010/main" val="3529069346"/>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D4AC65AC-E187-3BBE-5367-33086A78BAA1}"/>
              </a:ext>
            </a:extLst>
          </p:cNvPr>
          <p:cNvSpPr>
            <a:spLocks noGrp="1"/>
          </p:cNvSpPr>
          <p:nvPr>
            <p:ph type="title" orient="vert"/>
          </p:nvPr>
        </p:nvSpPr>
        <p:spPr>
          <a:xfrm>
            <a:off x="8724900" y="365125"/>
            <a:ext cx="2628900" cy="5811838"/>
          </a:xfrm>
        </p:spPr>
        <p:txBody>
          <a:bodyPr vert="eaVert"/>
          <a:lstStyle/>
          <a:p>
            <a:r>
              <a:rPr kumimoji="1" lang="ja-JP" altLang="en-US"/>
              <a:t>マスター タイトルの書式設定</a:t>
            </a:r>
          </a:p>
        </p:txBody>
      </p:sp>
      <p:sp>
        <p:nvSpPr>
          <p:cNvPr id="3" name="縦書きテキスト プレースホルダー 2">
            <a:extLst>
              <a:ext uri="{FF2B5EF4-FFF2-40B4-BE49-F238E27FC236}">
                <a16:creationId xmlns:a16="http://schemas.microsoft.com/office/drawing/2014/main" id="{3CED99C4-78E1-F5A2-399A-A6FF6AEAEF1C}"/>
              </a:ext>
            </a:extLst>
          </p:cNvPr>
          <p:cNvSpPr>
            <a:spLocks noGrp="1"/>
          </p:cNvSpPr>
          <p:nvPr>
            <p:ph type="body" orient="vert" idx="1"/>
          </p:nvPr>
        </p:nvSpPr>
        <p:spPr>
          <a:xfrm>
            <a:off x="838200" y="365125"/>
            <a:ext cx="7734300" cy="5811838"/>
          </a:xfrm>
        </p:spPr>
        <p:txBody>
          <a:bodyPr vert="eaVert"/>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3237E20C-32C5-9C9F-5CCF-7AA868998E3B}"/>
              </a:ext>
            </a:extLst>
          </p:cNvPr>
          <p:cNvSpPr>
            <a:spLocks noGrp="1"/>
          </p:cNvSpPr>
          <p:nvPr>
            <p:ph type="dt" sz="half" idx="10"/>
          </p:nvPr>
        </p:nvSpPr>
        <p:spPr/>
        <p:txBody>
          <a:bodyPr/>
          <a:lstStyle/>
          <a:p>
            <a:fld id="{FF01CE57-0D7B-4BE6-9BBE-5C154C1536E7}" type="datetimeFigureOut">
              <a:rPr kumimoji="1" lang="ja-JP" altLang="en-US" smtClean="0"/>
              <a:t>2026/5/24</a:t>
            </a:fld>
            <a:endParaRPr kumimoji="1" lang="ja-JP" altLang="en-US"/>
          </a:p>
        </p:txBody>
      </p:sp>
      <p:sp>
        <p:nvSpPr>
          <p:cNvPr id="5" name="フッター プレースホルダー 4">
            <a:extLst>
              <a:ext uri="{FF2B5EF4-FFF2-40B4-BE49-F238E27FC236}">
                <a16:creationId xmlns:a16="http://schemas.microsoft.com/office/drawing/2014/main" id="{2A3A3449-20D0-D5F5-81A1-A40E438669B6}"/>
              </a:ext>
            </a:extLst>
          </p:cNvPr>
          <p:cNvSpPr>
            <a:spLocks noGrp="1"/>
          </p:cNvSpPr>
          <p:nvPr>
            <p:ph type="ftr" sz="quarter" idx="11"/>
          </p:nvPr>
        </p:nvSpPr>
        <p:spPr/>
        <p:txBody>
          <a:bodyPr/>
          <a:lstStyle/>
          <a:p>
            <a:endParaRPr kumimoji="1" lang="ja-JP" altLang="en-US"/>
          </a:p>
        </p:txBody>
      </p:sp>
      <p:sp>
        <p:nvSpPr>
          <p:cNvPr id="6" name="スライド番号プレースホルダー 5">
            <a:extLst>
              <a:ext uri="{FF2B5EF4-FFF2-40B4-BE49-F238E27FC236}">
                <a16:creationId xmlns:a16="http://schemas.microsoft.com/office/drawing/2014/main" id="{0C87A654-8973-AF5C-3FAE-B1F615B3E1A7}"/>
              </a:ext>
            </a:extLst>
          </p:cNvPr>
          <p:cNvSpPr>
            <a:spLocks noGrp="1"/>
          </p:cNvSpPr>
          <p:nvPr>
            <p:ph type="sldNum" sz="quarter" idx="12"/>
          </p:nvPr>
        </p:nvSpPr>
        <p:spPr/>
        <p:txBody>
          <a:bodyPr/>
          <a:lstStyle/>
          <a:p>
            <a:fld id="{3CAB4D8C-B3A0-40FA-8F8E-15D0FFC2B786}" type="slidenum">
              <a:rPr kumimoji="1" lang="ja-JP" altLang="en-US" smtClean="0"/>
              <a:t>‹#›</a:t>
            </a:fld>
            <a:endParaRPr kumimoji="1" lang="ja-JP" altLang="en-US"/>
          </a:p>
        </p:txBody>
      </p:sp>
    </p:spTree>
    <p:extLst>
      <p:ext uri="{BB962C8B-B14F-4D97-AF65-F5344CB8AC3E}">
        <p14:creationId xmlns:p14="http://schemas.microsoft.com/office/powerpoint/2010/main" val="2249168375"/>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3347B1F-F3EB-E986-1C98-F1636E5DD53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kumimoji="1" lang="ja-JP" altLang="en-US"/>
              <a:t>マスター タイトルの書式設定</a:t>
            </a:r>
          </a:p>
        </p:txBody>
      </p:sp>
      <p:sp>
        <p:nvSpPr>
          <p:cNvPr id="3" name="テキスト プレースホルダー 2">
            <a:extLst>
              <a:ext uri="{FF2B5EF4-FFF2-40B4-BE49-F238E27FC236}">
                <a16:creationId xmlns:a16="http://schemas.microsoft.com/office/drawing/2014/main" id="{9A3AA3AD-5166-7F15-E789-540C17584598}"/>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kumimoji="1" lang="ja-JP" altLang="en-US"/>
              <a:t>マスター テキストの書式設定</a:t>
            </a:r>
          </a:p>
          <a:p>
            <a:pPr lvl="1"/>
            <a:r>
              <a:rPr kumimoji="1" lang="ja-JP" altLang="en-US"/>
              <a:t>第 </a:t>
            </a:r>
            <a:r>
              <a:rPr kumimoji="1" lang="en-US" altLang="ja-JP"/>
              <a:t>2 </a:t>
            </a:r>
            <a:r>
              <a:rPr kumimoji="1" lang="ja-JP" altLang="en-US"/>
              <a:t>レベル</a:t>
            </a:r>
          </a:p>
          <a:p>
            <a:pPr lvl="2"/>
            <a:r>
              <a:rPr kumimoji="1" lang="ja-JP" altLang="en-US"/>
              <a:t>第 </a:t>
            </a:r>
            <a:r>
              <a:rPr kumimoji="1" lang="en-US" altLang="ja-JP"/>
              <a:t>3 </a:t>
            </a:r>
            <a:r>
              <a:rPr kumimoji="1" lang="ja-JP" altLang="en-US"/>
              <a:t>レベル</a:t>
            </a:r>
          </a:p>
          <a:p>
            <a:pPr lvl="3"/>
            <a:r>
              <a:rPr kumimoji="1" lang="ja-JP" altLang="en-US"/>
              <a:t>第 </a:t>
            </a:r>
            <a:r>
              <a:rPr kumimoji="1" lang="en-US" altLang="ja-JP"/>
              <a:t>4 </a:t>
            </a:r>
            <a:r>
              <a:rPr kumimoji="1" lang="ja-JP" altLang="en-US"/>
              <a:t>レベル</a:t>
            </a:r>
          </a:p>
          <a:p>
            <a:pPr lvl="4"/>
            <a:r>
              <a:rPr kumimoji="1" lang="ja-JP" altLang="en-US"/>
              <a:t>第 </a:t>
            </a:r>
            <a:r>
              <a:rPr kumimoji="1" lang="en-US" altLang="ja-JP"/>
              <a:t>5 </a:t>
            </a:r>
            <a:r>
              <a:rPr kumimoji="1" lang="ja-JP" altLang="en-US"/>
              <a:t>レベル</a:t>
            </a:r>
          </a:p>
        </p:txBody>
      </p:sp>
      <p:sp>
        <p:nvSpPr>
          <p:cNvPr id="4" name="日付プレースホルダー 3">
            <a:extLst>
              <a:ext uri="{FF2B5EF4-FFF2-40B4-BE49-F238E27FC236}">
                <a16:creationId xmlns:a16="http://schemas.microsoft.com/office/drawing/2014/main" id="{5285B9DD-17EB-F7F3-719F-2070518058B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82000"/>
                  </a:schemeClr>
                </a:solidFill>
              </a:defRPr>
            </a:lvl1pPr>
          </a:lstStyle>
          <a:p>
            <a:fld id="{FF01CE57-0D7B-4BE6-9BBE-5C154C1536E7}" type="datetimeFigureOut">
              <a:rPr kumimoji="1" lang="ja-JP" altLang="en-US" smtClean="0"/>
              <a:t>2026/5/24</a:t>
            </a:fld>
            <a:endParaRPr kumimoji="1" lang="ja-JP" altLang="en-US"/>
          </a:p>
        </p:txBody>
      </p:sp>
      <p:sp>
        <p:nvSpPr>
          <p:cNvPr id="5" name="フッター プレースホルダー 4">
            <a:extLst>
              <a:ext uri="{FF2B5EF4-FFF2-40B4-BE49-F238E27FC236}">
                <a16:creationId xmlns:a16="http://schemas.microsoft.com/office/drawing/2014/main" id="{82AF0A9A-F658-486E-4311-1226087A18CA}"/>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82000"/>
                  </a:schemeClr>
                </a:solidFill>
              </a:defRPr>
            </a:lvl1pPr>
          </a:lstStyle>
          <a:p>
            <a:endParaRPr kumimoji="1" lang="ja-JP" altLang="en-US"/>
          </a:p>
        </p:txBody>
      </p:sp>
      <p:sp>
        <p:nvSpPr>
          <p:cNvPr id="6" name="スライド番号プレースホルダー 5">
            <a:extLst>
              <a:ext uri="{FF2B5EF4-FFF2-40B4-BE49-F238E27FC236}">
                <a16:creationId xmlns:a16="http://schemas.microsoft.com/office/drawing/2014/main" id="{857596A5-8F46-9763-2AFA-E42E897E994D}"/>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82000"/>
                  </a:schemeClr>
                </a:solidFill>
              </a:defRPr>
            </a:lvl1pPr>
          </a:lstStyle>
          <a:p>
            <a:fld id="{3CAB4D8C-B3A0-40FA-8F8E-15D0FFC2B786}" type="slidenum">
              <a:rPr kumimoji="1" lang="ja-JP" altLang="en-US" smtClean="0"/>
              <a:t>‹#›</a:t>
            </a:fld>
            <a:endParaRPr kumimoji="1" lang="ja-JP" altLang="en-US"/>
          </a:p>
        </p:txBody>
      </p:sp>
    </p:spTree>
    <p:extLst>
      <p:ext uri="{BB962C8B-B14F-4D97-AF65-F5344CB8AC3E}">
        <p14:creationId xmlns:p14="http://schemas.microsoft.com/office/powerpoint/2010/main" val="277823785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l" defTabSz="914400" rtl="0" eaLnBrk="1" latinLnBrk="0" hangingPunct="1">
        <a:lnSpc>
          <a:spcPct val="90000"/>
        </a:lnSpc>
        <a:spcBef>
          <a:spcPct val="0"/>
        </a:spcBef>
        <a:buNone/>
        <a:defRPr kumimoji="1"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kumimoji="1"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kumimoji="1"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kumimoji="1"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kumimoji="1" sz="1800" kern="1200">
          <a:solidFill>
            <a:schemeClr val="tx1"/>
          </a:solidFill>
          <a:latin typeface="+mn-lt"/>
          <a:ea typeface="+mn-ea"/>
          <a:cs typeface="+mn-cs"/>
        </a:defRPr>
      </a:lvl9pPr>
    </p:bodyStyle>
    <p:otherStyle>
      <a:defPPr>
        <a:defRPr lang="ja-JP"/>
      </a:defPPr>
      <a:lvl1pPr marL="0" algn="l" defTabSz="914400" rtl="0" eaLnBrk="1" latinLnBrk="0" hangingPunct="1">
        <a:defRPr kumimoji="1" sz="1800" kern="1200">
          <a:solidFill>
            <a:schemeClr val="tx1"/>
          </a:solidFill>
          <a:latin typeface="+mn-lt"/>
          <a:ea typeface="+mn-ea"/>
          <a:cs typeface="+mn-cs"/>
        </a:defRPr>
      </a:lvl1pPr>
      <a:lvl2pPr marL="457200" algn="l" defTabSz="914400" rtl="0" eaLnBrk="1" latinLnBrk="0" hangingPunct="1">
        <a:defRPr kumimoji="1" sz="1800" kern="1200">
          <a:solidFill>
            <a:schemeClr val="tx1"/>
          </a:solidFill>
          <a:latin typeface="+mn-lt"/>
          <a:ea typeface="+mn-ea"/>
          <a:cs typeface="+mn-cs"/>
        </a:defRPr>
      </a:lvl2pPr>
      <a:lvl3pPr marL="914400" algn="l" defTabSz="914400" rtl="0" eaLnBrk="1" latinLnBrk="0" hangingPunct="1">
        <a:defRPr kumimoji="1" sz="1800" kern="1200">
          <a:solidFill>
            <a:schemeClr val="tx1"/>
          </a:solidFill>
          <a:latin typeface="+mn-lt"/>
          <a:ea typeface="+mn-ea"/>
          <a:cs typeface="+mn-cs"/>
        </a:defRPr>
      </a:lvl3pPr>
      <a:lvl4pPr marL="1371600" algn="l" defTabSz="914400" rtl="0" eaLnBrk="1" latinLnBrk="0" hangingPunct="1">
        <a:defRPr kumimoji="1" sz="1800" kern="1200">
          <a:solidFill>
            <a:schemeClr val="tx1"/>
          </a:solidFill>
          <a:latin typeface="+mn-lt"/>
          <a:ea typeface="+mn-ea"/>
          <a:cs typeface="+mn-cs"/>
        </a:defRPr>
      </a:lvl4pPr>
      <a:lvl5pPr marL="1828800" algn="l" defTabSz="914400" rtl="0" eaLnBrk="1" latinLnBrk="0" hangingPunct="1">
        <a:defRPr kumimoji="1" sz="1800" kern="1200">
          <a:solidFill>
            <a:schemeClr val="tx1"/>
          </a:solidFill>
          <a:latin typeface="+mn-lt"/>
          <a:ea typeface="+mn-ea"/>
          <a:cs typeface="+mn-cs"/>
        </a:defRPr>
      </a:lvl5pPr>
      <a:lvl6pPr marL="2286000" algn="l" defTabSz="914400" rtl="0" eaLnBrk="1" latinLnBrk="0" hangingPunct="1">
        <a:defRPr kumimoji="1" sz="1800" kern="1200">
          <a:solidFill>
            <a:schemeClr val="tx1"/>
          </a:solidFill>
          <a:latin typeface="+mn-lt"/>
          <a:ea typeface="+mn-ea"/>
          <a:cs typeface="+mn-cs"/>
        </a:defRPr>
      </a:lvl6pPr>
      <a:lvl7pPr marL="2743200" algn="l" defTabSz="914400" rtl="0" eaLnBrk="1" latinLnBrk="0" hangingPunct="1">
        <a:defRPr kumimoji="1" sz="1800" kern="1200">
          <a:solidFill>
            <a:schemeClr val="tx1"/>
          </a:solidFill>
          <a:latin typeface="+mn-lt"/>
          <a:ea typeface="+mn-ea"/>
          <a:cs typeface="+mn-cs"/>
        </a:defRPr>
      </a:lvl7pPr>
      <a:lvl8pPr marL="3200400" algn="l" defTabSz="914400" rtl="0" eaLnBrk="1" latinLnBrk="0" hangingPunct="1">
        <a:defRPr kumimoji="1" sz="1800" kern="1200">
          <a:solidFill>
            <a:schemeClr val="tx1"/>
          </a:solidFill>
          <a:latin typeface="+mn-lt"/>
          <a:ea typeface="+mn-ea"/>
          <a:cs typeface="+mn-cs"/>
        </a:defRPr>
      </a:lvl8pPr>
      <a:lvl9pPr marL="3657600" algn="l" defTabSz="914400" rtl="0" eaLnBrk="1" latinLnBrk="0" hangingPunct="1">
        <a:defRPr kumimoji="1"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1.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pn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3.pn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4.pn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3" Type="http://schemas.openxmlformats.org/officeDocument/2006/relationships/image" Target="../media/image6.png"/><Relationship Id="rId2" Type="http://schemas.openxmlformats.org/officeDocument/2006/relationships/image" Target="../media/image5.png"/><Relationship Id="rId1" Type="http://schemas.openxmlformats.org/officeDocument/2006/relationships/slideLayout" Target="../slideLayouts/slideLayout2.xml"/><Relationship Id="rId6" Type="http://schemas.openxmlformats.org/officeDocument/2006/relationships/image" Target="../media/image9.png"/><Relationship Id="rId5" Type="http://schemas.openxmlformats.org/officeDocument/2006/relationships/image" Target="../media/image8.png"/><Relationship Id="rId4" Type="http://schemas.openxmlformats.org/officeDocument/2006/relationships/image" Target="../media/image7.png"/></Relationships>
</file>

<file path=ppt/slides/_rels/slide26.xml.rels><?xml version="1.0" encoding="UTF-8" standalone="yes"?>
<Relationships xmlns="http://schemas.openxmlformats.org/package/2006/relationships"><Relationship Id="rId2" Type="http://schemas.openxmlformats.org/officeDocument/2006/relationships/image" Target="../media/image10.pn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4120BB2-36EE-8980-E596-B91BDA4FEA07}"/>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D61210F4-B2C5-60AC-E86D-0AA4322F2D21}"/>
              </a:ext>
            </a:extLst>
          </p:cNvPr>
          <p:cNvSpPr/>
          <p:nvPr/>
        </p:nvSpPr>
        <p:spPr>
          <a:xfrm>
            <a:off x="0" y="0"/>
            <a:ext cx="12192000" cy="6858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EE3CDE4D-6518-2189-3A00-8F1253189004}"/>
              </a:ext>
            </a:extLst>
          </p:cNvPr>
          <p:cNvSpPr txBox="1"/>
          <p:nvPr/>
        </p:nvSpPr>
        <p:spPr>
          <a:xfrm>
            <a:off x="552450" y="2025650"/>
            <a:ext cx="6502101" cy="2123658"/>
          </a:xfrm>
          <a:prstGeom prst="rect">
            <a:avLst/>
          </a:prstGeom>
          <a:noFill/>
        </p:spPr>
        <p:txBody>
          <a:bodyPr wrap="none" rtlCol="0">
            <a:spAutoFit/>
          </a:bodyPr>
          <a:lstStyle/>
          <a:p>
            <a:r>
              <a:rPr lang="ja-JP" altLang="en-US" sz="6600" b="1" dirty="0">
                <a:solidFill>
                  <a:schemeClr val="bg1"/>
                </a:solidFill>
                <a:latin typeface="Meiryo UI" panose="020B0604030504040204" pitchFamily="50" charset="-128"/>
                <a:ea typeface="Meiryo UI" panose="020B0604030504040204" pitchFamily="50" charset="-128"/>
              </a:rPr>
              <a:t>相続事業部全体</a:t>
            </a:r>
            <a:endParaRPr lang="en-US" altLang="ja-JP" sz="6600" b="1" dirty="0">
              <a:solidFill>
                <a:schemeClr val="bg1"/>
              </a:solidFill>
              <a:latin typeface="Meiryo UI" panose="020B0604030504040204" pitchFamily="50" charset="-128"/>
              <a:ea typeface="Meiryo UI" panose="020B0604030504040204" pitchFamily="50" charset="-128"/>
            </a:endParaRPr>
          </a:p>
          <a:p>
            <a:r>
              <a:rPr kumimoji="1" lang="ja-JP" altLang="en-US" sz="6600" b="1" dirty="0">
                <a:solidFill>
                  <a:schemeClr val="bg1"/>
                </a:solidFill>
                <a:latin typeface="Meiryo UI" panose="020B0604030504040204" pitchFamily="50" charset="-128"/>
                <a:ea typeface="Meiryo UI" panose="020B0604030504040204" pitchFamily="50" charset="-128"/>
              </a:rPr>
              <a:t>月次ダッシュボード</a:t>
            </a:r>
          </a:p>
        </p:txBody>
      </p:sp>
      <p:sp>
        <p:nvSpPr>
          <p:cNvPr id="7" name="テキスト ボックス 6">
            <a:extLst>
              <a:ext uri="{FF2B5EF4-FFF2-40B4-BE49-F238E27FC236}">
                <a16:creationId xmlns:a16="http://schemas.microsoft.com/office/drawing/2014/main" id="{F6266967-294A-8D0B-9B47-1A2DA5B3849E}"/>
              </a:ext>
            </a:extLst>
          </p:cNvPr>
          <p:cNvSpPr txBox="1"/>
          <p:nvPr/>
        </p:nvSpPr>
        <p:spPr>
          <a:xfrm>
            <a:off x="635000" y="926066"/>
            <a:ext cx="4815742" cy="369332"/>
          </a:xfrm>
          <a:prstGeom prst="rect">
            <a:avLst/>
          </a:prstGeom>
          <a:noFill/>
        </p:spPr>
        <p:txBody>
          <a:bodyPr wrap="none" rtlCol="0">
            <a:spAutoFit/>
          </a:bodyPr>
          <a:lstStyle/>
          <a:p>
            <a:r>
              <a:rPr kumimoji="1" lang="en-US" altLang="ja-JP" b="1" dirty="0">
                <a:solidFill>
                  <a:schemeClr val="bg1"/>
                </a:solidFill>
                <a:latin typeface="Meiryo UI" panose="020B0604030504040204" pitchFamily="50" charset="-128"/>
                <a:ea typeface="Meiryo UI" panose="020B0604030504040204" pitchFamily="50" charset="-128"/>
              </a:rPr>
              <a:t>01 </a:t>
            </a:r>
            <a:r>
              <a:rPr kumimoji="1" lang="ja-JP" altLang="en-US" b="1" dirty="0">
                <a:solidFill>
                  <a:schemeClr val="bg1"/>
                </a:solidFill>
                <a:latin typeface="Meiryo UI" panose="020B0604030504040204" pitchFamily="50" charset="-128"/>
                <a:ea typeface="Meiryo UI" panose="020B0604030504040204" pitchFamily="50" charset="-128"/>
              </a:rPr>
              <a:t>相続事業部全体の月間受注数値を管理する</a:t>
            </a:r>
          </a:p>
        </p:txBody>
      </p:sp>
      <p:cxnSp>
        <p:nvCxnSpPr>
          <p:cNvPr id="9" name="直線コネクタ 8">
            <a:extLst>
              <a:ext uri="{FF2B5EF4-FFF2-40B4-BE49-F238E27FC236}">
                <a16:creationId xmlns:a16="http://schemas.microsoft.com/office/drawing/2014/main" id="{987C8592-FBC5-CA02-9EA7-068FF115BC3B}"/>
              </a:ext>
            </a:extLst>
          </p:cNvPr>
          <p:cNvCxnSpPr/>
          <p:nvPr/>
        </p:nvCxnSpPr>
        <p:spPr>
          <a:xfrm>
            <a:off x="736600" y="1568450"/>
            <a:ext cx="7664450"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正方形/長方形 9">
            <a:extLst>
              <a:ext uri="{FF2B5EF4-FFF2-40B4-BE49-F238E27FC236}">
                <a16:creationId xmlns:a16="http://schemas.microsoft.com/office/drawing/2014/main" id="{E78803BE-6114-CCCF-B0EB-2BA6851DCACC}"/>
              </a:ext>
            </a:extLst>
          </p:cNvPr>
          <p:cNvSpPr/>
          <p:nvPr/>
        </p:nvSpPr>
        <p:spPr>
          <a:xfrm>
            <a:off x="850900" y="1460500"/>
            <a:ext cx="36000" cy="23494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69E429DC-907F-3C18-7921-8DD2A729785B}"/>
              </a:ext>
            </a:extLst>
          </p:cNvPr>
          <p:cNvSpPr/>
          <p:nvPr/>
        </p:nvSpPr>
        <p:spPr>
          <a:xfrm>
            <a:off x="717550" y="1473200"/>
            <a:ext cx="36000" cy="180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15DF6DE6-F34F-0E48-DAC7-8DB0920151F6}"/>
              </a:ext>
            </a:extLst>
          </p:cNvPr>
          <p:cNvSpPr/>
          <p:nvPr/>
        </p:nvSpPr>
        <p:spPr>
          <a:xfrm>
            <a:off x="8153400" y="1460500"/>
            <a:ext cx="36000" cy="180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492256847"/>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E5049A82-6346-CF84-39D1-27D322F193B9}"/>
              </a:ext>
            </a:extLst>
          </p:cNvPr>
          <p:cNvSpPr txBox="1"/>
          <p:nvPr/>
        </p:nvSpPr>
        <p:spPr>
          <a:xfrm>
            <a:off x="427597" y="368391"/>
            <a:ext cx="1871025" cy="369332"/>
          </a:xfrm>
          <a:prstGeom prst="rect">
            <a:avLst/>
          </a:prstGeom>
          <a:noFill/>
        </p:spPr>
        <p:txBody>
          <a:bodyPr wrap="none" rtlCol="0">
            <a:spAutoFit/>
          </a:bodyPr>
          <a:lstStyle/>
          <a:p>
            <a:r>
              <a:rPr kumimoji="1" lang="ja-JP" altLang="en-US" b="1" dirty="0">
                <a:latin typeface="Meiryo UI" panose="020B0604030504040204" pitchFamily="50" charset="-128"/>
                <a:ea typeface="Meiryo UI" panose="020B0604030504040204" pitchFamily="50" charset="-128"/>
              </a:rPr>
              <a:t>相続事業部　</a:t>
            </a:r>
            <a:r>
              <a:rPr kumimoji="1" lang="en-US" altLang="ja-JP" b="1" dirty="0">
                <a:latin typeface="Meiryo UI" panose="020B0604030504040204" pitchFamily="50" charset="-128"/>
                <a:ea typeface="Meiryo UI" panose="020B0604030504040204" pitchFamily="50" charset="-128"/>
              </a:rPr>
              <a:t>x</a:t>
            </a:r>
            <a:r>
              <a:rPr kumimoji="1" lang="ja-JP" altLang="en-US" b="1" dirty="0">
                <a:latin typeface="Meiryo UI" panose="020B0604030504040204" pitchFamily="50" charset="-128"/>
                <a:ea typeface="Meiryo UI" panose="020B0604030504040204" pitchFamily="50" charset="-128"/>
              </a:rPr>
              <a:t>月</a:t>
            </a:r>
          </a:p>
        </p:txBody>
      </p:sp>
      <p:sp>
        <p:nvSpPr>
          <p:cNvPr id="5" name="正方形/長方形 4">
            <a:extLst>
              <a:ext uri="{FF2B5EF4-FFF2-40B4-BE49-F238E27FC236}">
                <a16:creationId xmlns:a16="http://schemas.microsoft.com/office/drawing/2014/main" id="{8BF9B31E-5A1F-D232-9DE8-A3F032D74ABB}"/>
              </a:ext>
            </a:extLst>
          </p:cNvPr>
          <p:cNvSpPr/>
          <p:nvPr/>
        </p:nvSpPr>
        <p:spPr>
          <a:xfrm>
            <a:off x="552586" y="1052547"/>
            <a:ext cx="206113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新規受注案件</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1D4A58A5-6D2A-5191-2B21-5AC07FF53028}"/>
              </a:ext>
            </a:extLst>
          </p:cNvPr>
          <p:cNvSpPr/>
          <p:nvPr/>
        </p:nvSpPr>
        <p:spPr>
          <a:xfrm>
            <a:off x="2793660" y="1052547"/>
            <a:ext cx="206113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管理案件</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375BD784-5BD8-4D13-66B7-BB096B30F4D4}"/>
              </a:ext>
            </a:extLst>
          </p:cNvPr>
          <p:cNvSpPr/>
          <p:nvPr/>
        </p:nvSpPr>
        <p:spPr>
          <a:xfrm>
            <a:off x="5034733" y="1052547"/>
            <a:ext cx="206113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完了案件</a:t>
            </a:r>
          </a:p>
        </p:txBody>
      </p:sp>
      <p:sp>
        <p:nvSpPr>
          <p:cNvPr id="8" name="正方形/長方形 7">
            <a:extLst>
              <a:ext uri="{FF2B5EF4-FFF2-40B4-BE49-F238E27FC236}">
                <a16:creationId xmlns:a16="http://schemas.microsoft.com/office/drawing/2014/main" id="{BD9D3242-19ED-842B-D953-782AC8417469}"/>
              </a:ext>
            </a:extLst>
          </p:cNvPr>
          <p:cNvSpPr/>
          <p:nvPr/>
        </p:nvSpPr>
        <p:spPr>
          <a:xfrm>
            <a:off x="9516880" y="1052547"/>
            <a:ext cx="206113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業務完了金額</a:t>
            </a:r>
          </a:p>
        </p:txBody>
      </p:sp>
      <p:sp>
        <p:nvSpPr>
          <p:cNvPr id="12" name="四角形: 角を丸くする 11">
            <a:extLst>
              <a:ext uri="{FF2B5EF4-FFF2-40B4-BE49-F238E27FC236}">
                <a16:creationId xmlns:a16="http://schemas.microsoft.com/office/drawing/2014/main" id="{A099B5E5-08C3-D95E-FA21-CD7E2FA944A7}"/>
              </a:ext>
            </a:extLst>
          </p:cNvPr>
          <p:cNvSpPr/>
          <p:nvPr/>
        </p:nvSpPr>
        <p:spPr>
          <a:xfrm>
            <a:off x="552586" y="1565663"/>
            <a:ext cx="2061133"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250</a:t>
            </a:r>
            <a:r>
              <a:rPr kumimoji="1" lang="ja-JP" altLang="en-US" sz="1200" dirty="0">
                <a:solidFill>
                  <a:schemeClr val="tx1"/>
                </a:solidFill>
              </a:rPr>
              <a:t>件</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16" name="四角形: 角を丸くする 15">
            <a:extLst>
              <a:ext uri="{FF2B5EF4-FFF2-40B4-BE49-F238E27FC236}">
                <a16:creationId xmlns:a16="http://schemas.microsoft.com/office/drawing/2014/main" id="{BDE36E43-AE62-D1EC-7752-423034357742}"/>
              </a:ext>
            </a:extLst>
          </p:cNvPr>
          <p:cNvSpPr/>
          <p:nvPr/>
        </p:nvSpPr>
        <p:spPr>
          <a:xfrm>
            <a:off x="2793660" y="1565663"/>
            <a:ext cx="2061133"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960</a:t>
            </a:r>
            <a:r>
              <a:rPr kumimoji="1" lang="ja-JP" altLang="en-US" sz="1200" dirty="0">
                <a:solidFill>
                  <a:schemeClr val="tx1"/>
                </a:solidFill>
              </a:rPr>
              <a:t>件</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17" name="四角形: 角を丸くする 16">
            <a:extLst>
              <a:ext uri="{FF2B5EF4-FFF2-40B4-BE49-F238E27FC236}">
                <a16:creationId xmlns:a16="http://schemas.microsoft.com/office/drawing/2014/main" id="{57A5C469-B034-F072-CBE4-4BF9EF00DF12}"/>
              </a:ext>
            </a:extLst>
          </p:cNvPr>
          <p:cNvSpPr/>
          <p:nvPr/>
        </p:nvSpPr>
        <p:spPr>
          <a:xfrm>
            <a:off x="5034733" y="1565663"/>
            <a:ext cx="2061133"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210</a:t>
            </a:r>
            <a:r>
              <a:rPr kumimoji="1" lang="ja-JP" altLang="en-US" sz="1200" dirty="0">
                <a:solidFill>
                  <a:schemeClr val="tx1"/>
                </a:solidFill>
              </a:rPr>
              <a:t>件</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18" name="四角形: 角を丸くする 17">
            <a:extLst>
              <a:ext uri="{FF2B5EF4-FFF2-40B4-BE49-F238E27FC236}">
                <a16:creationId xmlns:a16="http://schemas.microsoft.com/office/drawing/2014/main" id="{F24025F8-784A-8188-6889-ECB90209C8D3}"/>
              </a:ext>
            </a:extLst>
          </p:cNvPr>
          <p:cNvSpPr/>
          <p:nvPr/>
        </p:nvSpPr>
        <p:spPr>
          <a:xfrm>
            <a:off x="9516880" y="1565663"/>
            <a:ext cx="2061133"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4,950</a:t>
            </a:r>
            <a:r>
              <a:rPr kumimoji="1" lang="ja-JP" altLang="en-US" sz="1200" dirty="0">
                <a:solidFill>
                  <a:schemeClr val="tx1"/>
                </a:solidFill>
              </a:rPr>
              <a:t>万円</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19" name="正方形/長方形 18">
            <a:extLst>
              <a:ext uri="{FF2B5EF4-FFF2-40B4-BE49-F238E27FC236}">
                <a16:creationId xmlns:a16="http://schemas.microsoft.com/office/drawing/2014/main" id="{96BE249A-8149-CF43-1EA0-3D2365B3E1C1}"/>
              </a:ext>
            </a:extLst>
          </p:cNvPr>
          <p:cNvSpPr/>
          <p:nvPr/>
        </p:nvSpPr>
        <p:spPr>
          <a:xfrm>
            <a:off x="7275807" y="1052547"/>
            <a:ext cx="206113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サイクル</a:t>
            </a:r>
          </a:p>
        </p:txBody>
      </p:sp>
      <p:sp>
        <p:nvSpPr>
          <p:cNvPr id="20" name="四角形: 角を丸くする 19">
            <a:extLst>
              <a:ext uri="{FF2B5EF4-FFF2-40B4-BE49-F238E27FC236}">
                <a16:creationId xmlns:a16="http://schemas.microsoft.com/office/drawing/2014/main" id="{419CAFA5-A94F-A2C7-FB97-FE27149532D9}"/>
              </a:ext>
            </a:extLst>
          </p:cNvPr>
          <p:cNvSpPr/>
          <p:nvPr/>
        </p:nvSpPr>
        <p:spPr>
          <a:xfrm>
            <a:off x="7275807" y="1565663"/>
            <a:ext cx="2061133"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4.5</a:t>
            </a:r>
            <a:r>
              <a:rPr kumimoji="1" lang="ja-JP" altLang="en-US" sz="1200" dirty="0">
                <a:solidFill>
                  <a:schemeClr val="tx1"/>
                </a:solidFill>
              </a:rPr>
              <a:t>カ月</a:t>
            </a:r>
          </a:p>
        </p:txBody>
      </p:sp>
      <p:sp>
        <p:nvSpPr>
          <p:cNvPr id="22" name="正方形/長方形 21">
            <a:extLst>
              <a:ext uri="{FF2B5EF4-FFF2-40B4-BE49-F238E27FC236}">
                <a16:creationId xmlns:a16="http://schemas.microsoft.com/office/drawing/2014/main" id="{2EF708D4-A444-2864-0E84-0591DA277E21}"/>
              </a:ext>
            </a:extLst>
          </p:cNvPr>
          <p:cNvSpPr/>
          <p:nvPr/>
        </p:nvSpPr>
        <p:spPr>
          <a:xfrm>
            <a:off x="552586" y="2520630"/>
            <a:ext cx="2061133"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200" dirty="0">
                <a:solidFill>
                  <a:schemeClr val="tx1"/>
                </a:solidFill>
                <a:latin typeface="Meiryo UI" panose="020B0604030504040204" pitchFamily="50" charset="-128"/>
                <a:ea typeface="Meiryo UI" panose="020B0604030504040204" pitchFamily="50" charset="-128"/>
              </a:rPr>
              <a:t>今月新たに受注した案件の総数をカウント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cxnSp>
        <p:nvCxnSpPr>
          <p:cNvPr id="24" name="直線コネクタ 23">
            <a:extLst>
              <a:ext uri="{FF2B5EF4-FFF2-40B4-BE49-F238E27FC236}">
                <a16:creationId xmlns:a16="http://schemas.microsoft.com/office/drawing/2014/main" id="{572924F3-5C85-20F2-9151-06F13DCFB415}"/>
              </a:ext>
            </a:extLst>
          </p:cNvPr>
          <p:cNvCxnSpPr>
            <a:stCxn id="22" idx="0"/>
            <a:endCxn id="12" idx="2"/>
          </p:cNvCxnSpPr>
          <p:nvPr/>
        </p:nvCxnSpPr>
        <p:spPr>
          <a:xfrm flipV="1">
            <a:off x="1583153"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5" name="正方形/長方形 24">
            <a:extLst>
              <a:ext uri="{FF2B5EF4-FFF2-40B4-BE49-F238E27FC236}">
                <a16:creationId xmlns:a16="http://schemas.microsoft.com/office/drawing/2014/main" id="{B62A044F-A008-E05F-6AFC-B0D3D97C2920}"/>
              </a:ext>
            </a:extLst>
          </p:cNvPr>
          <p:cNvSpPr/>
          <p:nvPr/>
        </p:nvSpPr>
        <p:spPr>
          <a:xfrm>
            <a:off x="2795747" y="2520630"/>
            <a:ext cx="2061133"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業務完了がしておらず、現在進行中の案件</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新規受注案件も含む</a:t>
            </a:r>
          </a:p>
        </p:txBody>
      </p:sp>
      <p:cxnSp>
        <p:nvCxnSpPr>
          <p:cNvPr id="26" name="直線コネクタ 25">
            <a:extLst>
              <a:ext uri="{FF2B5EF4-FFF2-40B4-BE49-F238E27FC236}">
                <a16:creationId xmlns:a16="http://schemas.microsoft.com/office/drawing/2014/main" id="{7315D351-3069-8907-2D2B-B9DCA51B822D}"/>
              </a:ext>
            </a:extLst>
          </p:cNvPr>
          <p:cNvCxnSpPr>
            <a:stCxn id="25" idx="0"/>
          </p:cNvCxnSpPr>
          <p:nvPr/>
        </p:nvCxnSpPr>
        <p:spPr>
          <a:xfrm flipV="1">
            <a:off x="3826314"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7" name="正方形/長方形 26">
            <a:extLst>
              <a:ext uri="{FF2B5EF4-FFF2-40B4-BE49-F238E27FC236}">
                <a16:creationId xmlns:a16="http://schemas.microsoft.com/office/drawing/2014/main" id="{609914BC-C1D1-76DF-8BA9-E77AB33B85FE}"/>
              </a:ext>
            </a:extLst>
          </p:cNvPr>
          <p:cNvSpPr/>
          <p:nvPr/>
        </p:nvSpPr>
        <p:spPr>
          <a:xfrm>
            <a:off x="5038908" y="2520630"/>
            <a:ext cx="2061133"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200" dirty="0">
                <a:solidFill>
                  <a:schemeClr val="tx1"/>
                </a:solidFill>
                <a:latin typeface="Meiryo UI" panose="020B0604030504040204" pitchFamily="50" charset="-128"/>
                <a:ea typeface="Meiryo UI" panose="020B0604030504040204" pitchFamily="50" charset="-128"/>
              </a:rPr>
              <a:t>今月業務完了した案件の総数をカウント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cxnSp>
        <p:nvCxnSpPr>
          <p:cNvPr id="28" name="直線コネクタ 27">
            <a:extLst>
              <a:ext uri="{FF2B5EF4-FFF2-40B4-BE49-F238E27FC236}">
                <a16:creationId xmlns:a16="http://schemas.microsoft.com/office/drawing/2014/main" id="{E125C20C-F618-55A6-489E-5A08AEA3BF9B}"/>
              </a:ext>
            </a:extLst>
          </p:cNvPr>
          <p:cNvCxnSpPr>
            <a:stCxn id="27" idx="0"/>
          </p:cNvCxnSpPr>
          <p:nvPr/>
        </p:nvCxnSpPr>
        <p:spPr>
          <a:xfrm flipV="1">
            <a:off x="6069475"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9" name="正方形/長方形 28">
            <a:extLst>
              <a:ext uri="{FF2B5EF4-FFF2-40B4-BE49-F238E27FC236}">
                <a16:creationId xmlns:a16="http://schemas.microsoft.com/office/drawing/2014/main" id="{FA0B11D2-26E3-576A-129D-0D109550CF8D}"/>
              </a:ext>
            </a:extLst>
          </p:cNvPr>
          <p:cNvSpPr/>
          <p:nvPr/>
        </p:nvSpPr>
        <p:spPr>
          <a:xfrm>
            <a:off x="7282069" y="2520630"/>
            <a:ext cx="2061133"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今月業務完了した案件が受注してから業務完了するまでにかかった期間の平均</a:t>
            </a:r>
            <a:endParaRPr kumimoji="1" lang="en-US" altLang="ja-JP" sz="1200" dirty="0">
              <a:solidFill>
                <a:schemeClr val="tx1"/>
              </a:solidFill>
              <a:latin typeface="Meiryo UI" panose="020B0604030504040204" pitchFamily="50" charset="-128"/>
              <a:ea typeface="Meiryo UI" panose="020B0604030504040204" pitchFamily="50" charset="-128"/>
            </a:endParaRPr>
          </a:p>
        </p:txBody>
      </p:sp>
      <p:cxnSp>
        <p:nvCxnSpPr>
          <p:cNvPr id="30" name="直線コネクタ 29">
            <a:extLst>
              <a:ext uri="{FF2B5EF4-FFF2-40B4-BE49-F238E27FC236}">
                <a16:creationId xmlns:a16="http://schemas.microsoft.com/office/drawing/2014/main" id="{E3EDF770-D921-6F6D-3498-ECA5A90683A7}"/>
              </a:ext>
            </a:extLst>
          </p:cNvPr>
          <p:cNvCxnSpPr>
            <a:stCxn id="29" idx="0"/>
          </p:cNvCxnSpPr>
          <p:nvPr/>
        </p:nvCxnSpPr>
        <p:spPr>
          <a:xfrm flipV="1">
            <a:off x="8312636"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1" name="正方形/長方形 30">
            <a:extLst>
              <a:ext uri="{FF2B5EF4-FFF2-40B4-BE49-F238E27FC236}">
                <a16:creationId xmlns:a16="http://schemas.microsoft.com/office/drawing/2014/main" id="{3923CFD1-C0D3-83CE-59AA-51F044FF51DE}"/>
              </a:ext>
            </a:extLst>
          </p:cNvPr>
          <p:cNvSpPr/>
          <p:nvPr/>
        </p:nvSpPr>
        <p:spPr>
          <a:xfrm>
            <a:off x="9525230" y="2520630"/>
            <a:ext cx="2061133"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200" dirty="0">
                <a:solidFill>
                  <a:schemeClr val="tx1"/>
                </a:solidFill>
                <a:latin typeface="Meiryo UI" panose="020B0604030504040204" pitchFamily="50" charset="-128"/>
                <a:ea typeface="Meiryo UI" panose="020B0604030504040204" pitchFamily="50" charset="-128"/>
              </a:rPr>
              <a:t>今月業務完了した案件の確定売上の総計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cxnSp>
        <p:nvCxnSpPr>
          <p:cNvPr id="32" name="直線コネクタ 31">
            <a:extLst>
              <a:ext uri="{FF2B5EF4-FFF2-40B4-BE49-F238E27FC236}">
                <a16:creationId xmlns:a16="http://schemas.microsoft.com/office/drawing/2014/main" id="{4AC7079E-4D56-5E64-5404-6BE5BEDE40CC}"/>
              </a:ext>
            </a:extLst>
          </p:cNvPr>
          <p:cNvCxnSpPr>
            <a:stCxn id="31" idx="0"/>
          </p:cNvCxnSpPr>
          <p:nvPr/>
        </p:nvCxnSpPr>
        <p:spPr>
          <a:xfrm flipV="1">
            <a:off x="10555797"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3" name="正方形/長方形 32">
            <a:extLst>
              <a:ext uri="{FF2B5EF4-FFF2-40B4-BE49-F238E27FC236}">
                <a16:creationId xmlns:a16="http://schemas.microsoft.com/office/drawing/2014/main" id="{79DBD701-6222-FBAC-A0C2-5811551E9962}"/>
              </a:ext>
            </a:extLst>
          </p:cNvPr>
          <p:cNvSpPr/>
          <p:nvPr/>
        </p:nvSpPr>
        <p:spPr>
          <a:xfrm>
            <a:off x="2704825" y="102358"/>
            <a:ext cx="2061133"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当月の部全体の数値</a:t>
            </a:r>
          </a:p>
        </p:txBody>
      </p:sp>
      <p:cxnSp>
        <p:nvCxnSpPr>
          <p:cNvPr id="34" name="直線コネクタ 33">
            <a:extLst>
              <a:ext uri="{FF2B5EF4-FFF2-40B4-BE49-F238E27FC236}">
                <a16:creationId xmlns:a16="http://schemas.microsoft.com/office/drawing/2014/main" id="{20DA8443-B47D-BCD9-0F32-A16B2785D292}"/>
              </a:ext>
            </a:extLst>
          </p:cNvPr>
          <p:cNvCxnSpPr>
            <a:cxnSpLocks/>
            <a:stCxn id="33" idx="1"/>
            <a:endCxn id="4" idx="3"/>
          </p:cNvCxnSpPr>
          <p:nvPr/>
        </p:nvCxnSpPr>
        <p:spPr>
          <a:xfrm flipH="1">
            <a:off x="2298622" y="509672"/>
            <a:ext cx="406203" cy="4338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nvGrpSpPr>
          <p:cNvPr id="157" name="グループ化 156">
            <a:extLst>
              <a:ext uri="{FF2B5EF4-FFF2-40B4-BE49-F238E27FC236}">
                <a16:creationId xmlns:a16="http://schemas.microsoft.com/office/drawing/2014/main" id="{FE81CA46-BFE8-E96C-7DF4-29647C539C27}"/>
              </a:ext>
            </a:extLst>
          </p:cNvPr>
          <p:cNvGrpSpPr/>
          <p:nvPr/>
        </p:nvGrpSpPr>
        <p:grpSpPr>
          <a:xfrm>
            <a:off x="549965" y="3591812"/>
            <a:ext cx="10962265" cy="2129218"/>
            <a:chOff x="549965" y="3591812"/>
            <a:chExt cx="10300121" cy="2129218"/>
          </a:xfrm>
        </p:grpSpPr>
        <p:sp>
          <p:nvSpPr>
            <p:cNvPr id="37" name="正方形/長方形 36">
              <a:extLst>
                <a:ext uri="{FF2B5EF4-FFF2-40B4-BE49-F238E27FC236}">
                  <a16:creationId xmlns:a16="http://schemas.microsoft.com/office/drawing/2014/main" id="{4D9EBC3A-5249-53EB-D56A-3E6EB0F3862A}"/>
                </a:ext>
              </a:extLst>
            </p:cNvPr>
            <p:cNvSpPr/>
            <p:nvPr/>
          </p:nvSpPr>
          <p:spPr>
            <a:xfrm>
              <a:off x="552586" y="3599491"/>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氏名</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38" name="正方形/長方形 37">
              <a:extLst>
                <a:ext uri="{FF2B5EF4-FFF2-40B4-BE49-F238E27FC236}">
                  <a16:creationId xmlns:a16="http://schemas.microsoft.com/office/drawing/2014/main" id="{13937D7E-281A-6B92-1C5F-AFBF98FCAC86}"/>
                </a:ext>
              </a:extLst>
            </p:cNvPr>
            <p:cNvSpPr/>
            <p:nvPr/>
          </p:nvSpPr>
          <p:spPr>
            <a:xfrm>
              <a:off x="1965744" y="3599491"/>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所属チーム</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39" name="正方形/長方形 38">
              <a:extLst>
                <a:ext uri="{FF2B5EF4-FFF2-40B4-BE49-F238E27FC236}">
                  <a16:creationId xmlns:a16="http://schemas.microsoft.com/office/drawing/2014/main" id="{BD88D498-9A41-B008-1A85-E41344FD1689}"/>
                </a:ext>
              </a:extLst>
            </p:cNvPr>
            <p:cNvSpPr/>
            <p:nvPr/>
          </p:nvSpPr>
          <p:spPr>
            <a:xfrm>
              <a:off x="3378902" y="3599491"/>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職種</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88944727-EA81-EB11-4F89-15C5EFBC0B89}"/>
                </a:ext>
              </a:extLst>
            </p:cNvPr>
            <p:cNvSpPr/>
            <p:nvPr/>
          </p:nvSpPr>
          <p:spPr>
            <a:xfrm>
              <a:off x="4792060" y="3599491"/>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在籍期間</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41" name="正方形/長方形 40">
              <a:extLst>
                <a:ext uri="{FF2B5EF4-FFF2-40B4-BE49-F238E27FC236}">
                  <a16:creationId xmlns:a16="http://schemas.microsoft.com/office/drawing/2014/main" id="{484A77C0-A66A-98EB-2D80-F89FE6A7A486}"/>
                </a:ext>
              </a:extLst>
            </p:cNvPr>
            <p:cNvSpPr/>
            <p:nvPr/>
          </p:nvSpPr>
          <p:spPr>
            <a:xfrm>
              <a:off x="6205219" y="3599492"/>
              <a:ext cx="2279436" cy="15020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今月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42" name="正方形/長方形 41">
              <a:extLst>
                <a:ext uri="{FF2B5EF4-FFF2-40B4-BE49-F238E27FC236}">
                  <a16:creationId xmlns:a16="http://schemas.microsoft.com/office/drawing/2014/main" id="{05B8C8DC-89E3-D50B-4746-C2284544326E}"/>
                </a:ext>
              </a:extLst>
            </p:cNvPr>
            <p:cNvSpPr/>
            <p:nvPr/>
          </p:nvSpPr>
          <p:spPr>
            <a:xfrm>
              <a:off x="6205218" y="3817048"/>
              <a:ext cx="538223" cy="150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新規</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43" name="正方形/長方形 42">
              <a:extLst>
                <a:ext uri="{FF2B5EF4-FFF2-40B4-BE49-F238E27FC236}">
                  <a16:creationId xmlns:a16="http://schemas.microsoft.com/office/drawing/2014/main" id="{C6F612BC-16A3-1166-F02A-FA953756BF94}"/>
                </a:ext>
              </a:extLst>
            </p:cNvPr>
            <p:cNvSpPr/>
            <p:nvPr/>
          </p:nvSpPr>
          <p:spPr>
            <a:xfrm>
              <a:off x="6785622" y="3817047"/>
              <a:ext cx="538223" cy="150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管理</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44" name="正方形/長方形 43">
              <a:extLst>
                <a:ext uri="{FF2B5EF4-FFF2-40B4-BE49-F238E27FC236}">
                  <a16:creationId xmlns:a16="http://schemas.microsoft.com/office/drawing/2014/main" id="{18CA63CF-5AAF-F690-B8C8-A3EF9EB32EC5}"/>
                </a:ext>
              </a:extLst>
            </p:cNvPr>
            <p:cNvSpPr/>
            <p:nvPr/>
          </p:nvSpPr>
          <p:spPr>
            <a:xfrm>
              <a:off x="7366027" y="3817046"/>
              <a:ext cx="538223" cy="150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完了</a:t>
              </a:r>
            </a:p>
          </p:txBody>
        </p:sp>
        <p:sp>
          <p:nvSpPr>
            <p:cNvPr id="45" name="正方形/長方形 44">
              <a:extLst>
                <a:ext uri="{FF2B5EF4-FFF2-40B4-BE49-F238E27FC236}">
                  <a16:creationId xmlns:a16="http://schemas.microsoft.com/office/drawing/2014/main" id="{4D4D1066-738A-EDA9-9CBF-5A25810BDCFB}"/>
                </a:ext>
              </a:extLst>
            </p:cNvPr>
            <p:cNvSpPr/>
            <p:nvPr/>
          </p:nvSpPr>
          <p:spPr>
            <a:xfrm>
              <a:off x="7946431" y="3817045"/>
              <a:ext cx="538223" cy="150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サイクル</a:t>
              </a:r>
            </a:p>
          </p:txBody>
        </p:sp>
        <p:sp>
          <p:nvSpPr>
            <p:cNvPr id="49" name="正方形/長方形 48">
              <a:extLst>
                <a:ext uri="{FF2B5EF4-FFF2-40B4-BE49-F238E27FC236}">
                  <a16:creationId xmlns:a16="http://schemas.microsoft.com/office/drawing/2014/main" id="{16F66776-A278-C08C-0986-F749C65369A2}"/>
                </a:ext>
              </a:extLst>
            </p:cNvPr>
            <p:cNvSpPr/>
            <p:nvPr/>
          </p:nvSpPr>
          <p:spPr>
            <a:xfrm>
              <a:off x="8570650" y="3591812"/>
              <a:ext cx="2279436" cy="1578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先月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50" name="正方形/長方形 49">
              <a:extLst>
                <a:ext uri="{FF2B5EF4-FFF2-40B4-BE49-F238E27FC236}">
                  <a16:creationId xmlns:a16="http://schemas.microsoft.com/office/drawing/2014/main" id="{154612BC-C088-0CA8-9819-1E5430C67CF5}"/>
                </a:ext>
              </a:extLst>
            </p:cNvPr>
            <p:cNvSpPr/>
            <p:nvPr/>
          </p:nvSpPr>
          <p:spPr>
            <a:xfrm>
              <a:off x="8570649" y="3809369"/>
              <a:ext cx="538223" cy="150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新規</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51" name="正方形/長方形 50">
              <a:extLst>
                <a:ext uri="{FF2B5EF4-FFF2-40B4-BE49-F238E27FC236}">
                  <a16:creationId xmlns:a16="http://schemas.microsoft.com/office/drawing/2014/main" id="{518369C3-E860-8EB2-EFCA-26DB858BAA8C}"/>
                </a:ext>
              </a:extLst>
            </p:cNvPr>
            <p:cNvSpPr/>
            <p:nvPr/>
          </p:nvSpPr>
          <p:spPr>
            <a:xfrm>
              <a:off x="9151053" y="3809368"/>
              <a:ext cx="538223" cy="150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管理</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52" name="正方形/長方形 51">
              <a:extLst>
                <a:ext uri="{FF2B5EF4-FFF2-40B4-BE49-F238E27FC236}">
                  <a16:creationId xmlns:a16="http://schemas.microsoft.com/office/drawing/2014/main" id="{D4ABA75C-F92F-2D15-645A-8BFC4E77BD9C}"/>
                </a:ext>
              </a:extLst>
            </p:cNvPr>
            <p:cNvSpPr/>
            <p:nvPr/>
          </p:nvSpPr>
          <p:spPr>
            <a:xfrm>
              <a:off x="9731458" y="3809367"/>
              <a:ext cx="538223" cy="150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完了</a:t>
              </a:r>
            </a:p>
          </p:txBody>
        </p:sp>
        <p:sp>
          <p:nvSpPr>
            <p:cNvPr id="53" name="正方形/長方形 52">
              <a:extLst>
                <a:ext uri="{FF2B5EF4-FFF2-40B4-BE49-F238E27FC236}">
                  <a16:creationId xmlns:a16="http://schemas.microsoft.com/office/drawing/2014/main" id="{BECB0D4F-6406-C366-6192-D3376E9F7945}"/>
                </a:ext>
              </a:extLst>
            </p:cNvPr>
            <p:cNvSpPr/>
            <p:nvPr/>
          </p:nvSpPr>
          <p:spPr>
            <a:xfrm>
              <a:off x="10311862" y="3809366"/>
              <a:ext cx="538223" cy="150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サイクル</a:t>
              </a:r>
            </a:p>
          </p:txBody>
        </p:sp>
        <p:sp>
          <p:nvSpPr>
            <p:cNvPr id="55" name="正方形/長方形 54">
              <a:extLst>
                <a:ext uri="{FF2B5EF4-FFF2-40B4-BE49-F238E27FC236}">
                  <a16:creationId xmlns:a16="http://schemas.microsoft.com/office/drawing/2014/main" id="{87B04DA6-83FD-B948-311D-4595B70BDAD4}"/>
                </a:ext>
              </a:extLst>
            </p:cNvPr>
            <p:cNvSpPr/>
            <p:nvPr/>
          </p:nvSpPr>
          <p:spPr>
            <a:xfrm>
              <a:off x="6205218" y="4064680"/>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4BEEC0F3-80AC-CB2A-7340-6AD77FDA4556}"/>
                </a:ext>
              </a:extLst>
            </p:cNvPr>
            <p:cNvSpPr/>
            <p:nvPr/>
          </p:nvSpPr>
          <p:spPr>
            <a:xfrm>
              <a:off x="6785622" y="4064679"/>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57" name="正方形/長方形 56">
              <a:extLst>
                <a:ext uri="{FF2B5EF4-FFF2-40B4-BE49-F238E27FC236}">
                  <a16:creationId xmlns:a16="http://schemas.microsoft.com/office/drawing/2014/main" id="{80A9B667-D1D3-F909-3B84-9508DCF07D49}"/>
                </a:ext>
              </a:extLst>
            </p:cNvPr>
            <p:cNvSpPr/>
            <p:nvPr/>
          </p:nvSpPr>
          <p:spPr>
            <a:xfrm>
              <a:off x="7366027" y="4064678"/>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58" name="正方形/長方形 57">
              <a:extLst>
                <a:ext uri="{FF2B5EF4-FFF2-40B4-BE49-F238E27FC236}">
                  <a16:creationId xmlns:a16="http://schemas.microsoft.com/office/drawing/2014/main" id="{A0847C9B-3567-3424-4D9D-4478B3D51596}"/>
                </a:ext>
              </a:extLst>
            </p:cNvPr>
            <p:cNvSpPr/>
            <p:nvPr/>
          </p:nvSpPr>
          <p:spPr>
            <a:xfrm>
              <a:off x="7946431" y="4064677"/>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60" name="正方形/長方形 59">
              <a:extLst>
                <a:ext uri="{FF2B5EF4-FFF2-40B4-BE49-F238E27FC236}">
                  <a16:creationId xmlns:a16="http://schemas.microsoft.com/office/drawing/2014/main" id="{5EA47D3F-A129-5DBB-3273-FD287DB86439}"/>
                </a:ext>
              </a:extLst>
            </p:cNvPr>
            <p:cNvSpPr/>
            <p:nvPr/>
          </p:nvSpPr>
          <p:spPr>
            <a:xfrm>
              <a:off x="8570649" y="4057001"/>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900" dirty="0">
                  <a:solidFill>
                    <a:schemeClr val="tx1"/>
                  </a:solidFill>
                  <a:latin typeface="Meiryo UI" panose="020B0604030504040204" pitchFamily="50" charset="-128"/>
                  <a:ea typeface="Meiryo UI" panose="020B0604030504040204" pitchFamily="50" charset="-128"/>
                </a:rPr>
                <a:t>6</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61" name="正方形/長方形 60">
              <a:extLst>
                <a:ext uri="{FF2B5EF4-FFF2-40B4-BE49-F238E27FC236}">
                  <a16:creationId xmlns:a16="http://schemas.microsoft.com/office/drawing/2014/main" id="{30AECF27-C561-CB1E-4466-1569FDAF2F1E}"/>
                </a:ext>
              </a:extLst>
            </p:cNvPr>
            <p:cNvSpPr/>
            <p:nvPr/>
          </p:nvSpPr>
          <p:spPr>
            <a:xfrm>
              <a:off x="9151053" y="4057000"/>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62" name="正方形/長方形 61">
              <a:extLst>
                <a:ext uri="{FF2B5EF4-FFF2-40B4-BE49-F238E27FC236}">
                  <a16:creationId xmlns:a16="http://schemas.microsoft.com/office/drawing/2014/main" id="{026E80FE-6B05-FEB0-6F31-52754431CBCF}"/>
                </a:ext>
              </a:extLst>
            </p:cNvPr>
            <p:cNvSpPr/>
            <p:nvPr/>
          </p:nvSpPr>
          <p:spPr>
            <a:xfrm>
              <a:off x="9731458" y="4056999"/>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63" name="正方形/長方形 62">
              <a:extLst>
                <a:ext uri="{FF2B5EF4-FFF2-40B4-BE49-F238E27FC236}">
                  <a16:creationId xmlns:a16="http://schemas.microsoft.com/office/drawing/2014/main" id="{1373910F-1C2E-3211-FA8D-26267079D31C}"/>
                </a:ext>
              </a:extLst>
            </p:cNvPr>
            <p:cNvSpPr/>
            <p:nvPr/>
          </p:nvSpPr>
          <p:spPr>
            <a:xfrm>
              <a:off x="10311862" y="4056998"/>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65" name="正方形/長方形 64">
              <a:extLst>
                <a:ext uri="{FF2B5EF4-FFF2-40B4-BE49-F238E27FC236}">
                  <a16:creationId xmlns:a16="http://schemas.microsoft.com/office/drawing/2014/main" id="{03524C7D-EC95-5C03-3D09-0B17EAC8BB68}"/>
                </a:ext>
              </a:extLst>
            </p:cNvPr>
            <p:cNvSpPr/>
            <p:nvPr/>
          </p:nvSpPr>
          <p:spPr>
            <a:xfrm>
              <a:off x="549965" y="4064677"/>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山田太郎</a:t>
              </a:r>
            </a:p>
          </p:txBody>
        </p:sp>
        <p:sp>
          <p:nvSpPr>
            <p:cNvPr id="66" name="正方形/長方形 65">
              <a:extLst>
                <a:ext uri="{FF2B5EF4-FFF2-40B4-BE49-F238E27FC236}">
                  <a16:creationId xmlns:a16="http://schemas.microsoft.com/office/drawing/2014/main" id="{0F775623-EE76-9208-252A-A1D9F401050F}"/>
                </a:ext>
              </a:extLst>
            </p:cNvPr>
            <p:cNvSpPr/>
            <p:nvPr/>
          </p:nvSpPr>
          <p:spPr>
            <a:xfrm>
              <a:off x="1963123" y="4064677"/>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伊藤チーム</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67" name="正方形/長方形 66">
              <a:extLst>
                <a:ext uri="{FF2B5EF4-FFF2-40B4-BE49-F238E27FC236}">
                  <a16:creationId xmlns:a16="http://schemas.microsoft.com/office/drawing/2014/main" id="{AF005EEF-BB9B-DFB1-2469-FC6769386101}"/>
                </a:ext>
              </a:extLst>
            </p:cNvPr>
            <p:cNvSpPr/>
            <p:nvPr/>
          </p:nvSpPr>
          <p:spPr>
            <a:xfrm>
              <a:off x="3376281" y="4064677"/>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総合職</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68" name="正方形/長方形 67">
              <a:extLst>
                <a:ext uri="{FF2B5EF4-FFF2-40B4-BE49-F238E27FC236}">
                  <a16:creationId xmlns:a16="http://schemas.microsoft.com/office/drawing/2014/main" id="{5F758787-88AC-3AF4-9F73-43D302F0588F}"/>
                </a:ext>
              </a:extLst>
            </p:cNvPr>
            <p:cNvSpPr/>
            <p:nvPr/>
          </p:nvSpPr>
          <p:spPr>
            <a:xfrm>
              <a:off x="4789439" y="4064677"/>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年</a:t>
              </a: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か月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69" name="正方形/長方形 68">
              <a:extLst>
                <a:ext uri="{FF2B5EF4-FFF2-40B4-BE49-F238E27FC236}">
                  <a16:creationId xmlns:a16="http://schemas.microsoft.com/office/drawing/2014/main" id="{D1BD8472-3489-D26D-5D70-9427039CF988}"/>
                </a:ext>
              </a:extLst>
            </p:cNvPr>
            <p:cNvSpPr/>
            <p:nvPr/>
          </p:nvSpPr>
          <p:spPr>
            <a:xfrm>
              <a:off x="6205218" y="4493686"/>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70" name="正方形/長方形 69">
              <a:extLst>
                <a:ext uri="{FF2B5EF4-FFF2-40B4-BE49-F238E27FC236}">
                  <a16:creationId xmlns:a16="http://schemas.microsoft.com/office/drawing/2014/main" id="{6B479F7C-D62F-CBDD-5D33-6C401BC654E8}"/>
                </a:ext>
              </a:extLst>
            </p:cNvPr>
            <p:cNvSpPr/>
            <p:nvPr/>
          </p:nvSpPr>
          <p:spPr>
            <a:xfrm>
              <a:off x="6785622" y="4493685"/>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71" name="正方形/長方形 70">
              <a:extLst>
                <a:ext uri="{FF2B5EF4-FFF2-40B4-BE49-F238E27FC236}">
                  <a16:creationId xmlns:a16="http://schemas.microsoft.com/office/drawing/2014/main" id="{1E3037AB-3259-6906-424D-92F9F4EE159B}"/>
                </a:ext>
              </a:extLst>
            </p:cNvPr>
            <p:cNvSpPr/>
            <p:nvPr/>
          </p:nvSpPr>
          <p:spPr>
            <a:xfrm>
              <a:off x="7366027" y="4493684"/>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72" name="正方形/長方形 71">
              <a:extLst>
                <a:ext uri="{FF2B5EF4-FFF2-40B4-BE49-F238E27FC236}">
                  <a16:creationId xmlns:a16="http://schemas.microsoft.com/office/drawing/2014/main" id="{4BEC77D6-96DA-6048-0F5E-D1CBB324F29A}"/>
                </a:ext>
              </a:extLst>
            </p:cNvPr>
            <p:cNvSpPr/>
            <p:nvPr/>
          </p:nvSpPr>
          <p:spPr>
            <a:xfrm>
              <a:off x="7946431" y="4493683"/>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74" name="正方形/長方形 73">
              <a:extLst>
                <a:ext uri="{FF2B5EF4-FFF2-40B4-BE49-F238E27FC236}">
                  <a16:creationId xmlns:a16="http://schemas.microsoft.com/office/drawing/2014/main" id="{CE408617-F07C-3CCF-5856-6F3321FB2551}"/>
                </a:ext>
              </a:extLst>
            </p:cNvPr>
            <p:cNvSpPr/>
            <p:nvPr/>
          </p:nvSpPr>
          <p:spPr>
            <a:xfrm>
              <a:off x="8570649" y="4486007"/>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900" dirty="0">
                  <a:solidFill>
                    <a:schemeClr val="tx1"/>
                  </a:solidFill>
                  <a:latin typeface="Meiryo UI" panose="020B0604030504040204" pitchFamily="50" charset="-128"/>
                  <a:ea typeface="Meiryo UI" panose="020B0604030504040204" pitchFamily="50" charset="-128"/>
                </a:rPr>
                <a:t>6</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75" name="正方形/長方形 74">
              <a:extLst>
                <a:ext uri="{FF2B5EF4-FFF2-40B4-BE49-F238E27FC236}">
                  <a16:creationId xmlns:a16="http://schemas.microsoft.com/office/drawing/2014/main" id="{028A3611-BD7B-07C4-20C2-7F806E846CC6}"/>
                </a:ext>
              </a:extLst>
            </p:cNvPr>
            <p:cNvSpPr/>
            <p:nvPr/>
          </p:nvSpPr>
          <p:spPr>
            <a:xfrm>
              <a:off x="9151053" y="4486006"/>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76" name="正方形/長方形 75">
              <a:extLst>
                <a:ext uri="{FF2B5EF4-FFF2-40B4-BE49-F238E27FC236}">
                  <a16:creationId xmlns:a16="http://schemas.microsoft.com/office/drawing/2014/main" id="{D8260ABB-8596-FC26-C869-F620C02EE60F}"/>
                </a:ext>
              </a:extLst>
            </p:cNvPr>
            <p:cNvSpPr/>
            <p:nvPr/>
          </p:nvSpPr>
          <p:spPr>
            <a:xfrm>
              <a:off x="9731458" y="4486005"/>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77" name="正方形/長方形 76">
              <a:extLst>
                <a:ext uri="{FF2B5EF4-FFF2-40B4-BE49-F238E27FC236}">
                  <a16:creationId xmlns:a16="http://schemas.microsoft.com/office/drawing/2014/main" id="{4B9649E1-C69F-8F18-35FA-B6B79527B389}"/>
                </a:ext>
              </a:extLst>
            </p:cNvPr>
            <p:cNvSpPr/>
            <p:nvPr/>
          </p:nvSpPr>
          <p:spPr>
            <a:xfrm>
              <a:off x="10311862" y="4486004"/>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79" name="正方形/長方形 78">
              <a:extLst>
                <a:ext uri="{FF2B5EF4-FFF2-40B4-BE49-F238E27FC236}">
                  <a16:creationId xmlns:a16="http://schemas.microsoft.com/office/drawing/2014/main" id="{1596A5A3-6EC5-D6F0-29E2-000753569813}"/>
                </a:ext>
              </a:extLst>
            </p:cNvPr>
            <p:cNvSpPr/>
            <p:nvPr/>
          </p:nvSpPr>
          <p:spPr>
            <a:xfrm>
              <a:off x="549965" y="4493683"/>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田中</a:t>
              </a:r>
              <a:r>
                <a:rPr kumimoji="1" lang="ja-JP" altLang="en-US" sz="1200" dirty="0">
                  <a:solidFill>
                    <a:schemeClr val="tx1"/>
                  </a:solidFill>
                  <a:latin typeface="Meiryo UI" panose="020B0604030504040204" pitchFamily="50" charset="-128"/>
                  <a:ea typeface="Meiryo UI" panose="020B0604030504040204" pitchFamily="50" charset="-128"/>
                </a:rPr>
                <a:t>太郎</a:t>
              </a:r>
            </a:p>
          </p:txBody>
        </p:sp>
        <p:sp>
          <p:nvSpPr>
            <p:cNvPr id="80" name="正方形/長方形 79">
              <a:extLst>
                <a:ext uri="{FF2B5EF4-FFF2-40B4-BE49-F238E27FC236}">
                  <a16:creationId xmlns:a16="http://schemas.microsoft.com/office/drawing/2014/main" id="{7AB2E8F7-7249-63BB-CC80-5E251AE32BDF}"/>
                </a:ext>
              </a:extLst>
            </p:cNvPr>
            <p:cNvSpPr/>
            <p:nvPr/>
          </p:nvSpPr>
          <p:spPr>
            <a:xfrm>
              <a:off x="1963123" y="4493683"/>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伊藤チーム</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81" name="正方形/長方形 80">
              <a:extLst>
                <a:ext uri="{FF2B5EF4-FFF2-40B4-BE49-F238E27FC236}">
                  <a16:creationId xmlns:a16="http://schemas.microsoft.com/office/drawing/2014/main" id="{F4A62271-1CBD-CEDD-957C-C3400E47D474}"/>
                </a:ext>
              </a:extLst>
            </p:cNvPr>
            <p:cNvSpPr/>
            <p:nvPr/>
          </p:nvSpPr>
          <p:spPr>
            <a:xfrm>
              <a:off x="3376281" y="4493683"/>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総合職</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82" name="正方形/長方形 81">
              <a:extLst>
                <a:ext uri="{FF2B5EF4-FFF2-40B4-BE49-F238E27FC236}">
                  <a16:creationId xmlns:a16="http://schemas.microsoft.com/office/drawing/2014/main" id="{47775316-DD6B-764F-EDF8-CE02FCE44D1C}"/>
                </a:ext>
              </a:extLst>
            </p:cNvPr>
            <p:cNvSpPr/>
            <p:nvPr/>
          </p:nvSpPr>
          <p:spPr>
            <a:xfrm>
              <a:off x="4789439" y="4493683"/>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2</a:t>
              </a:r>
              <a:r>
                <a:rPr lang="ja-JP" altLang="en-US" sz="1200" dirty="0">
                  <a:solidFill>
                    <a:schemeClr val="tx1"/>
                  </a:solidFill>
                  <a:latin typeface="Meiryo UI" panose="020B0604030504040204" pitchFamily="50" charset="-128"/>
                  <a:ea typeface="Meiryo UI" panose="020B0604030504040204" pitchFamily="50" charset="-128"/>
                </a:rPr>
                <a:t>年</a:t>
              </a: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か月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83" name="正方形/長方形 82">
              <a:extLst>
                <a:ext uri="{FF2B5EF4-FFF2-40B4-BE49-F238E27FC236}">
                  <a16:creationId xmlns:a16="http://schemas.microsoft.com/office/drawing/2014/main" id="{B7983EBE-953D-A438-EDCC-0AB97F31E9D6}"/>
                </a:ext>
              </a:extLst>
            </p:cNvPr>
            <p:cNvSpPr/>
            <p:nvPr/>
          </p:nvSpPr>
          <p:spPr>
            <a:xfrm>
              <a:off x="6205218" y="4922692"/>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84" name="正方形/長方形 83">
              <a:extLst>
                <a:ext uri="{FF2B5EF4-FFF2-40B4-BE49-F238E27FC236}">
                  <a16:creationId xmlns:a16="http://schemas.microsoft.com/office/drawing/2014/main" id="{7AB4F364-ACCA-E504-E64C-D9CA13119CFD}"/>
                </a:ext>
              </a:extLst>
            </p:cNvPr>
            <p:cNvSpPr/>
            <p:nvPr/>
          </p:nvSpPr>
          <p:spPr>
            <a:xfrm>
              <a:off x="6785622" y="4922691"/>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85" name="正方形/長方形 84">
              <a:extLst>
                <a:ext uri="{FF2B5EF4-FFF2-40B4-BE49-F238E27FC236}">
                  <a16:creationId xmlns:a16="http://schemas.microsoft.com/office/drawing/2014/main" id="{CA380682-C8E1-16DF-2602-43A8D8B94549}"/>
                </a:ext>
              </a:extLst>
            </p:cNvPr>
            <p:cNvSpPr/>
            <p:nvPr/>
          </p:nvSpPr>
          <p:spPr>
            <a:xfrm>
              <a:off x="7366027" y="4922690"/>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86" name="正方形/長方形 85">
              <a:extLst>
                <a:ext uri="{FF2B5EF4-FFF2-40B4-BE49-F238E27FC236}">
                  <a16:creationId xmlns:a16="http://schemas.microsoft.com/office/drawing/2014/main" id="{5D7C6AE2-ADD9-76E5-A255-25074F53D97D}"/>
                </a:ext>
              </a:extLst>
            </p:cNvPr>
            <p:cNvSpPr/>
            <p:nvPr/>
          </p:nvSpPr>
          <p:spPr>
            <a:xfrm>
              <a:off x="7946431" y="4922689"/>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88" name="正方形/長方形 87">
              <a:extLst>
                <a:ext uri="{FF2B5EF4-FFF2-40B4-BE49-F238E27FC236}">
                  <a16:creationId xmlns:a16="http://schemas.microsoft.com/office/drawing/2014/main" id="{188A9CB8-932F-F88D-4116-41CEFDF1A943}"/>
                </a:ext>
              </a:extLst>
            </p:cNvPr>
            <p:cNvSpPr/>
            <p:nvPr/>
          </p:nvSpPr>
          <p:spPr>
            <a:xfrm>
              <a:off x="8570649" y="4915013"/>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900" dirty="0">
                  <a:solidFill>
                    <a:schemeClr val="tx1"/>
                  </a:solidFill>
                  <a:latin typeface="Meiryo UI" panose="020B0604030504040204" pitchFamily="50" charset="-128"/>
                  <a:ea typeface="Meiryo UI" panose="020B0604030504040204" pitchFamily="50" charset="-128"/>
                </a:rPr>
                <a:t>6</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89" name="正方形/長方形 88">
              <a:extLst>
                <a:ext uri="{FF2B5EF4-FFF2-40B4-BE49-F238E27FC236}">
                  <a16:creationId xmlns:a16="http://schemas.microsoft.com/office/drawing/2014/main" id="{AEBBFB69-E815-EC39-6D72-FC3651D777D1}"/>
                </a:ext>
              </a:extLst>
            </p:cNvPr>
            <p:cNvSpPr/>
            <p:nvPr/>
          </p:nvSpPr>
          <p:spPr>
            <a:xfrm>
              <a:off x="9151053" y="4915012"/>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90" name="正方形/長方形 89">
              <a:extLst>
                <a:ext uri="{FF2B5EF4-FFF2-40B4-BE49-F238E27FC236}">
                  <a16:creationId xmlns:a16="http://schemas.microsoft.com/office/drawing/2014/main" id="{43FA6B4C-1D47-86F0-EC88-6D59FBB043C5}"/>
                </a:ext>
              </a:extLst>
            </p:cNvPr>
            <p:cNvSpPr/>
            <p:nvPr/>
          </p:nvSpPr>
          <p:spPr>
            <a:xfrm>
              <a:off x="9731458" y="4915011"/>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91" name="正方形/長方形 90">
              <a:extLst>
                <a:ext uri="{FF2B5EF4-FFF2-40B4-BE49-F238E27FC236}">
                  <a16:creationId xmlns:a16="http://schemas.microsoft.com/office/drawing/2014/main" id="{F7A68559-62DD-27EF-7A00-CD74CA0D6DE4}"/>
                </a:ext>
              </a:extLst>
            </p:cNvPr>
            <p:cNvSpPr/>
            <p:nvPr/>
          </p:nvSpPr>
          <p:spPr>
            <a:xfrm>
              <a:off x="10311862" y="4915010"/>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93" name="正方形/長方形 92">
              <a:extLst>
                <a:ext uri="{FF2B5EF4-FFF2-40B4-BE49-F238E27FC236}">
                  <a16:creationId xmlns:a16="http://schemas.microsoft.com/office/drawing/2014/main" id="{6E8678D1-13D1-EF31-040B-A841620439C1}"/>
                </a:ext>
              </a:extLst>
            </p:cNvPr>
            <p:cNvSpPr/>
            <p:nvPr/>
          </p:nvSpPr>
          <p:spPr>
            <a:xfrm>
              <a:off x="549965" y="4922689"/>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鈴木一郎</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94" name="正方形/長方形 93">
              <a:extLst>
                <a:ext uri="{FF2B5EF4-FFF2-40B4-BE49-F238E27FC236}">
                  <a16:creationId xmlns:a16="http://schemas.microsoft.com/office/drawing/2014/main" id="{C1FB2CD7-A4F5-CEB9-2174-821A6050CF8E}"/>
                </a:ext>
              </a:extLst>
            </p:cNvPr>
            <p:cNvSpPr/>
            <p:nvPr/>
          </p:nvSpPr>
          <p:spPr>
            <a:xfrm>
              <a:off x="1963123" y="4922689"/>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斎藤チーム</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95" name="正方形/長方形 94">
              <a:extLst>
                <a:ext uri="{FF2B5EF4-FFF2-40B4-BE49-F238E27FC236}">
                  <a16:creationId xmlns:a16="http://schemas.microsoft.com/office/drawing/2014/main" id="{8B5935A9-37AB-CAD5-590C-2910A25BC0B0}"/>
                </a:ext>
              </a:extLst>
            </p:cNvPr>
            <p:cNvSpPr/>
            <p:nvPr/>
          </p:nvSpPr>
          <p:spPr>
            <a:xfrm>
              <a:off x="3376281" y="4922689"/>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総合職</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96" name="正方形/長方形 95">
              <a:extLst>
                <a:ext uri="{FF2B5EF4-FFF2-40B4-BE49-F238E27FC236}">
                  <a16:creationId xmlns:a16="http://schemas.microsoft.com/office/drawing/2014/main" id="{ADAA0E48-807E-3521-1033-2BE82277DB52}"/>
                </a:ext>
              </a:extLst>
            </p:cNvPr>
            <p:cNvSpPr/>
            <p:nvPr/>
          </p:nvSpPr>
          <p:spPr>
            <a:xfrm>
              <a:off x="4789439" y="4922689"/>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年</a:t>
              </a: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か月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97" name="正方形/長方形 96">
              <a:extLst>
                <a:ext uri="{FF2B5EF4-FFF2-40B4-BE49-F238E27FC236}">
                  <a16:creationId xmlns:a16="http://schemas.microsoft.com/office/drawing/2014/main" id="{05D8CF47-317B-5BB4-21BF-BEB01F313CDC}"/>
                </a:ext>
              </a:extLst>
            </p:cNvPr>
            <p:cNvSpPr/>
            <p:nvPr/>
          </p:nvSpPr>
          <p:spPr>
            <a:xfrm>
              <a:off x="6205218" y="5351698"/>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98" name="正方形/長方形 97">
              <a:extLst>
                <a:ext uri="{FF2B5EF4-FFF2-40B4-BE49-F238E27FC236}">
                  <a16:creationId xmlns:a16="http://schemas.microsoft.com/office/drawing/2014/main" id="{A35F8961-1FAC-2E8E-CAF1-600B690F6552}"/>
                </a:ext>
              </a:extLst>
            </p:cNvPr>
            <p:cNvSpPr/>
            <p:nvPr/>
          </p:nvSpPr>
          <p:spPr>
            <a:xfrm>
              <a:off x="6785622" y="5351697"/>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99" name="正方形/長方形 98">
              <a:extLst>
                <a:ext uri="{FF2B5EF4-FFF2-40B4-BE49-F238E27FC236}">
                  <a16:creationId xmlns:a16="http://schemas.microsoft.com/office/drawing/2014/main" id="{39B1BD8B-7038-D287-4D72-05701883C4AC}"/>
                </a:ext>
              </a:extLst>
            </p:cNvPr>
            <p:cNvSpPr/>
            <p:nvPr/>
          </p:nvSpPr>
          <p:spPr>
            <a:xfrm>
              <a:off x="7366027" y="5351696"/>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100" name="正方形/長方形 99">
              <a:extLst>
                <a:ext uri="{FF2B5EF4-FFF2-40B4-BE49-F238E27FC236}">
                  <a16:creationId xmlns:a16="http://schemas.microsoft.com/office/drawing/2014/main" id="{E3800386-8C56-CCD6-302C-7E178BECBC20}"/>
                </a:ext>
              </a:extLst>
            </p:cNvPr>
            <p:cNvSpPr/>
            <p:nvPr/>
          </p:nvSpPr>
          <p:spPr>
            <a:xfrm>
              <a:off x="7946431" y="5351695"/>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102" name="正方形/長方形 101">
              <a:extLst>
                <a:ext uri="{FF2B5EF4-FFF2-40B4-BE49-F238E27FC236}">
                  <a16:creationId xmlns:a16="http://schemas.microsoft.com/office/drawing/2014/main" id="{8404AC99-690A-DCD4-5E8C-21979D83E23C}"/>
                </a:ext>
              </a:extLst>
            </p:cNvPr>
            <p:cNvSpPr/>
            <p:nvPr/>
          </p:nvSpPr>
          <p:spPr>
            <a:xfrm>
              <a:off x="8570649" y="5344019"/>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900" dirty="0">
                  <a:solidFill>
                    <a:schemeClr val="tx1"/>
                  </a:solidFill>
                  <a:latin typeface="Meiryo UI" panose="020B0604030504040204" pitchFamily="50" charset="-128"/>
                  <a:ea typeface="Meiryo UI" panose="020B0604030504040204" pitchFamily="50" charset="-128"/>
                </a:rPr>
                <a:t>6</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103" name="正方形/長方形 102">
              <a:extLst>
                <a:ext uri="{FF2B5EF4-FFF2-40B4-BE49-F238E27FC236}">
                  <a16:creationId xmlns:a16="http://schemas.microsoft.com/office/drawing/2014/main" id="{D63FEFF7-7E6C-D588-4CB4-6065A0AB2337}"/>
                </a:ext>
              </a:extLst>
            </p:cNvPr>
            <p:cNvSpPr/>
            <p:nvPr/>
          </p:nvSpPr>
          <p:spPr>
            <a:xfrm>
              <a:off x="9151053" y="5344018"/>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104" name="正方形/長方形 103">
              <a:extLst>
                <a:ext uri="{FF2B5EF4-FFF2-40B4-BE49-F238E27FC236}">
                  <a16:creationId xmlns:a16="http://schemas.microsoft.com/office/drawing/2014/main" id="{69ECB46B-9160-0B41-FF99-B639D7A2D138}"/>
                </a:ext>
              </a:extLst>
            </p:cNvPr>
            <p:cNvSpPr/>
            <p:nvPr/>
          </p:nvSpPr>
          <p:spPr>
            <a:xfrm>
              <a:off x="9731458" y="5344017"/>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105" name="正方形/長方形 104">
              <a:extLst>
                <a:ext uri="{FF2B5EF4-FFF2-40B4-BE49-F238E27FC236}">
                  <a16:creationId xmlns:a16="http://schemas.microsoft.com/office/drawing/2014/main" id="{5DF05BA4-81CC-3216-8B80-EB3A7FD93049}"/>
                </a:ext>
              </a:extLst>
            </p:cNvPr>
            <p:cNvSpPr/>
            <p:nvPr/>
          </p:nvSpPr>
          <p:spPr>
            <a:xfrm>
              <a:off x="10311862" y="5344016"/>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107" name="正方形/長方形 106">
              <a:extLst>
                <a:ext uri="{FF2B5EF4-FFF2-40B4-BE49-F238E27FC236}">
                  <a16:creationId xmlns:a16="http://schemas.microsoft.com/office/drawing/2014/main" id="{B6B8BA3E-184D-43C8-AF39-96A1856109BF}"/>
                </a:ext>
              </a:extLst>
            </p:cNvPr>
            <p:cNvSpPr/>
            <p:nvPr/>
          </p:nvSpPr>
          <p:spPr>
            <a:xfrm>
              <a:off x="549965" y="5351695"/>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佐藤恵美</a:t>
              </a:r>
            </a:p>
          </p:txBody>
        </p:sp>
        <p:sp>
          <p:nvSpPr>
            <p:cNvPr id="108" name="正方形/長方形 107">
              <a:extLst>
                <a:ext uri="{FF2B5EF4-FFF2-40B4-BE49-F238E27FC236}">
                  <a16:creationId xmlns:a16="http://schemas.microsoft.com/office/drawing/2014/main" id="{5EA40EFB-0CE9-93B2-D86A-ECE3BFAD88A4}"/>
                </a:ext>
              </a:extLst>
            </p:cNvPr>
            <p:cNvSpPr/>
            <p:nvPr/>
          </p:nvSpPr>
          <p:spPr>
            <a:xfrm>
              <a:off x="1963123" y="5351695"/>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斎藤チーム</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09" name="正方形/長方形 108">
              <a:extLst>
                <a:ext uri="{FF2B5EF4-FFF2-40B4-BE49-F238E27FC236}">
                  <a16:creationId xmlns:a16="http://schemas.microsoft.com/office/drawing/2014/main" id="{75A68FA8-8F84-E2FD-BB9D-E3D8D31D277D}"/>
                </a:ext>
              </a:extLst>
            </p:cNvPr>
            <p:cNvSpPr/>
            <p:nvPr/>
          </p:nvSpPr>
          <p:spPr>
            <a:xfrm>
              <a:off x="3376281" y="5351695"/>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総合職</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10" name="正方形/長方形 109">
              <a:extLst>
                <a:ext uri="{FF2B5EF4-FFF2-40B4-BE49-F238E27FC236}">
                  <a16:creationId xmlns:a16="http://schemas.microsoft.com/office/drawing/2014/main" id="{1230B432-2CBC-CCDD-758C-C1ED1CA6D801}"/>
                </a:ext>
              </a:extLst>
            </p:cNvPr>
            <p:cNvSpPr/>
            <p:nvPr/>
          </p:nvSpPr>
          <p:spPr>
            <a:xfrm>
              <a:off x="4789439" y="5351695"/>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５年</a:t>
              </a: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か月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grpSp>
      <p:sp>
        <p:nvSpPr>
          <p:cNvPr id="139" name="正方形/長方形 138">
            <a:extLst>
              <a:ext uri="{FF2B5EF4-FFF2-40B4-BE49-F238E27FC236}">
                <a16:creationId xmlns:a16="http://schemas.microsoft.com/office/drawing/2014/main" id="{11047712-1FB7-7F21-D5C2-C119E5259355}"/>
              </a:ext>
            </a:extLst>
          </p:cNvPr>
          <p:cNvSpPr/>
          <p:nvPr/>
        </p:nvSpPr>
        <p:spPr>
          <a:xfrm>
            <a:off x="1580531" y="5941014"/>
            <a:ext cx="2061133"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チームのマスタが必要</a:t>
            </a:r>
          </a:p>
        </p:txBody>
      </p:sp>
      <p:cxnSp>
        <p:nvCxnSpPr>
          <p:cNvPr id="140" name="直線コネクタ 139">
            <a:extLst>
              <a:ext uri="{FF2B5EF4-FFF2-40B4-BE49-F238E27FC236}">
                <a16:creationId xmlns:a16="http://schemas.microsoft.com/office/drawing/2014/main" id="{4F3250AD-8E75-9103-DE0E-C619DC01E17A}"/>
              </a:ext>
            </a:extLst>
          </p:cNvPr>
          <p:cNvCxnSpPr>
            <a:cxnSpLocks/>
            <a:stCxn id="139" idx="0"/>
            <a:endCxn id="108" idx="2"/>
          </p:cNvCxnSpPr>
          <p:nvPr/>
        </p:nvCxnSpPr>
        <p:spPr>
          <a:xfrm flipV="1">
            <a:off x="2611098" y="5721027"/>
            <a:ext cx="132500" cy="21998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43" name="正方形/長方形 142">
            <a:extLst>
              <a:ext uri="{FF2B5EF4-FFF2-40B4-BE49-F238E27FC236}">
                <a16:creationId xmlns:a16="http://schemas.microsoft.com/office/drawing/2014/main" id="{9E8AD7CE-F903-9AE9-2ECB-355DF4940C21}"/>
              </a:ext>
            </a:extLst>
          </p:cNvPr>
          <p:cNvSpPr/>
          <p:nvPr/>
        </p:nvSpPr>
        <p:spPr>
          <a:xfrm>
            <a:off x="3824226" y="5941014"/>
            <a:ext cx="2061133"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職種のマスタが必要</a:t>
            </a:r>
          </a:p>
        </p:txBody>
      </p:sp>
      <p:cxnSp>
        <p:nvCxnSpPr>
          <p:cNvPr id="144" name="直線コネクタ 143">
            <a:extLst>
              <a:ext uri="{FF2B5EF4-FFF2-40B4-BE49-F238E27FC236}">
                <a16:creationId xmlns:a16="http://schemas.microsoft.com/office/drawing/2014/main" id="{0B6F7629-6C75-EF9A-D9FF-518C398ADEA8}"/>
              </a:ext>
            </a:extLst>
          </p:cNvPr>
          <p:cNvCxnSpPr>
            <a:cxnSpLocks/>
            <a:stCxn id="143" idx="0"/>
            <a:endCxn id="109" idx="2"/>
          </p:cNvCxnSpPr>
          <p:nvPr/>
        </p:nvCxnSpPr>
        <p:spPr>
          <a:xfrm flipH="1" flipV="1">
            <a:off x="4247601" y="5721027"/>
            <a:ext cx="607192" cy="21998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47" name="正方形/長方形 146">
            <a:extLst>
              <a:ext uri="{FF2B5EF4-FFF2-40B4-BE49-F238E27FC236}">
                <a16:creationId xmlns:a16="http://schemas.microsoft.com/office/drawing/2014/main" id="{AD005173-2B92-7F29-BAF5-768F7EC4333A}"/>
              </a:ext>
            </a:extLst>
          </p:cNvPr>
          <p:cNvSpPr/>
          <p:nvPr/>
        </p:nvSpPr>
        <p:spPr>
          <a:xfrm>
            <a:off x="6096000" y="5927310"/>
            <a:ext cx="2061133"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在籍期間のカウントが必要</a:t>
            </a:r>
          </a:p>
        </p:txBody>
      </p:sp>
      <p:cxnSp>
        <p:nvCxnSpPr>
          <p:cNvPr id="148" name="直線コネクタ 147">
            <a:extLst>
              <a:ext uri="{FF2B5EF4-FFF2-40B4-BE49-F238E27FC236}">
                <a16:creationId xmlns:a16="http://schemas.microsoft.com/office/drawing/2014/main" id="{3DB16823-D88F-B02D-F4D3-2C25EE97162C}"/>
              </a:ext>
            </a:extLst>
          </p:cNvPr>
          <p:cNvCxnSpPr>
            <a:cxnSpLocks/>
            <a:stCxn id="147" idx="0"/>
            <a:endCxn id="110" idx="2"/>
          </p:cNvCxnSpPr>
          <p:nvPr/>
        </p:nvCxnSpPr>
        <p:spPr>
          <a:xfrm flipH="1" flipV="1">
            <a:off x="5751604" y="5721027"/>
            <a:ext cx="1374963" cy="20628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50" name="正方形/長方形 149">
            <a:extLst>
              <a:ext uri="{FF2B5EF4-FFF2-40B4-BE49-F238E27FC236}">
                <a16:creationId xmlns:a16="http://schemas.microsoft.com/office/drawing/2014/main" id="{04E5835E-808E-8AC3-991A-2105E21951C5}"/>
              </a:ext>
            </a:extLst>
          </p:cNvPr>
          <p:cNvSpPr/>
          <p:nvPr/>
        </p:nvSpPr>
        <p:spPr>
          <a:xfrm>
            <a:off x="8700891" y="5919628"/>
            <a:ext cx="2061133"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年度分</a:t>
            </a:r>
            <a:r>
              <a:rPr kumimoji="1" lang="en-US" altLang="ja-JP" sz="1200" dirty="0">
                <a:solidFill>
                  <a:schemeClr val="tx1"/>
                </a:solidFill>
                <a:latin typeface="Meiryo UI" panose="020B0604030504040204" pitchFamily="50" charset="-128"/>
                <a:ea typeface="Meiryo UI" panose="020B0604030504040204" pitchFamily="50" charset="-128"/>
              </a:rPr>
              <a:t>4</a:t>
            </a:r>
            <a:r>
              <a:rPr kumimoji="1" lang="ja-JP" altLang="en-US" sz="1200" dirty="0">
                <a:solidFill>
                  <a:schemeClr val="tx1"/>
                </a:solidFill>
                <a:latin typeface="Meiryo UI" panose="020B0604030504040204" pitchFamily="50" charset="-128"/>
                <a:ea typeface="Meiryo UI" panose="020B0604030504040204" pitchFamily="50" charset="-128"/>
              </a:rPr>
              <a:t>月～</a:t>
            </a:r>
            <a:r>
              <a:rPr kumimoji="1" lang="en-US" altLang="ja-JP" sz="1200" dirty="0">
                <a:solidFill>
                  <a:schemeClr val="tx1"/>
                </a:solidFill>
                <a:latin typeface="Meiryo UI" panose="020B0604030504040204" pitchFamily="50" charset="-128"/>
                <a:ea typeface="Meiryo UI" panose="020B0604030504040204" pitchFamily="50" charset="-128"/>
              </a:rPr>
              <a:t>3</a:t>
            </a:r>
            <a:r>
              <a:rPr kumimoji="1" lang="ja-JP" altLang="en-US" sz="1200" dirty="0">
                <a:solidFill>
                  <a:schemeClr val="tx1"/>
                </a:solidFill>
                <a:latin typeface="Meiryo UI" panose="020B0604030504040204" pitchFamily="50" charset="-128"/>
                <a:ea typeface="Meiryo UI" panose="020B0604030504040204" pitchFamily="50" charset="-128"/>
              </a:rPr>
              <a:t>月までの全期間分が見れるといい。</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200" dirty="0">
                <a:solidFill>
                  <a:schemeClr val="tx1"/>
                </a:solidFill>
                <a:latin typeface="Meiryo UI" panose="020B0604030504040204" pitchFamily="50" charset="-128"/>
                <a:ea typeface="Meiryo UI" panose="020B0604030504040204" pitchFamily="50" charset="-128"/>
              </a:rPr>
              <a:t>左が最新で右に行くほど古い情報になるようにしたい</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cxnSp>
        <p:nvCxnSpPr>
          <p:cNvPr id="151" name="直線コネクタ 150">
            <a:extLst>
              <a:ext uri="{FF2B5EF4-FFF2-40B4-BE49-F238E27FC236}">
                <a16:creationId xmlns:a16="http://schemas.microsoft.com/office/drawing/2014/main" id="{7909D5AF-80B3-EB9B-8FB1-451BC75943F5}"/>
              </a:ext>
            </a:extLst>
          </p:cNvPr>
          <p:cNvCxnSpPr>
            <a:cxnSpLocks/>
            <a:stCxn id="150" idx="0"/>
          </p:cNvCxnSpPr>
          <p:nvPr/>
        </p:nvCxnSpPr>
        <p:spPr>
          <a:xfrm flipH="1" flipV="1">
            <a:off x="8621666" y="5735282"/>
            <a:ext cx="1109792" cy="184346"/>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58" name="テキスト ボックス 157">
            <a:extLst>
              <a:ext uri="{FF2B5EF4-FFF2-40B4-BE49-F238E27FC236}">
                <a16:creationId xmlns:a16="http://schemas.microsoft.com/office/drawing/2014/main" id="{182302D4-3B32-3282-F235-7CE9AF01212F}"/>
              </a:ext>
            </a:extLst>
          </p:cNvPr>
          <p:cNvSpPr txBox="1"/>
          <p:nvPr/>
        </p:nvSpPr>
        <p:spPr>
          <a:xfrm>
            <a:off x="5097803" y="314040"/>
            <a:ext cx="4700248" cy="461665"/>
          </a:xfrm>
          <a:prstGeom prst="rect">
            <a:avLst/>
          </a:prstGeom>
          <a:solidFill>
            <a:schemeClr val="tx2">
              <a:lumMod val="10000"/>
              <a:lumOff val="90000"/>
            </a:schemeClr>
          </a:solidFill>
        </p:spPr>
        <p:txBody>
          <a:bodyPr wrap="square" rtlCol="0">
            <a:spAutoFit/>
          </a:bodyPr>
          <a:lstStyle/>
          <a:p>
            <a:r>
              <a:rPr kumimoji="1" lang="ja-JP" altLang="en-US" sz="1200" b="1" dirty="0">
                <a:solidFill>
                  <a:srgbClr val="0070C0"/>
                </a:solidFill>
                <a:latin typeface="Meiryo UI" panose="020B0604030504040204" pitchFamily="50" charset="-128"/>
                <a:ea typeface="Meiryo UI" panose="020B0604030504040204" pitchFamily="50" charset="-128"/>
              </a:rPr>
              <a:t>受注担当が今月何件受注し数字を作ったか、管理担当は排除</a:t>
            </a:r>
            <a:endParaRPr kumimoji="1" lang="en-US" altLang="ja-JP" sz="1200" b="1" dirty="0">
              <a:solidFill>
                <a:srgbClr val="0070C0"/>
              </a:solidFill>
              <a:latin typeface="Meiryo UI" panose="020B0604030504040204" pitchFamily="50" charset="-128"/>
              <a:ea typeface="Meiryo UI" panose="020B0604030504040204" pitchFamily="50" charset="-128"/>
            </a:endParaRPr>
          </a:p>
          <a:p>
            <a:r>
              <a:rPr kumimoji="1" lang="ja-JP" altLang="en-US" sz="1200" b="1" dirty="0">
                <a:solidFill>
                  <a:srgbClr val="0070C0"/>
                </a:solidFill>
                <a:latin typeface="Meiryo UI" panose="020B0604030504040204" pitchFamily="50" charset="-128"/>
                <a:ea typeface="Meiryo UI" panose="020B0604030504040204" pitchFamily="50" charset="-128"/>
              </a:rPr>
              <a:t>相続事業部　受注管理</a:t>
            </a:r>
          </a:p>
        </p:txBody>
      </p:sp>
      <p:sp>
        <p:nvSpPr>
          <p:cNvPr id="2" name="フローチャート: 端子 1">
            <a:extLst>
              <a:ext uri="{FF2B5EF4-FFF2-40B4-BE49-F238E27FC236}">
                <a16:creationId xmlns:a16="http://schemas.microsoft.com/office/drawing/2014/main" id="{5E801A03-2FB9-7895-CF1D-409C9642381E}"/>
              </a:ext>
            </a:extLst>
          </p:cNvPr>
          <p:cNvSpPr/>
          <p:nvPr/>
        </p:nvSpPr>
        <p:spPr>
          <a:xfrm>
            <a:off x="10188657" y="175287"/>
            <a:ext cx="1783486" cy="461918"/>
          </a:xfrm>
          <a:prstGeom prst="flowChartTerminator">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Meiryo UI" panose="020B0604030504040204" pitchFamily="50" charset="-128"/>
                <a:ea typeface="Meiryo UI" panose="020B0604030504040204" pitchFamily="50" charset="-128"/>
              </a:rPr>
              <a:t>修正前</a:t>
            </a:r>
          </a:p>
        </p:txBody>
      </p:sp>
    </p:spTree>
    <p:extLst>
      <p:ext uri="{BB962C8B-B14F-4D97-AF65-F5344CB8AC3E}">
        <p14:creationId xmlns:p14="http://schemas.microsoft.com/office/powerpoint/2010/main" val="132913967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76A0909-E424-93A9-436D-02B1A7431DB1}"/>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FE643404-5F60-13D0-56FF-C44883896C28}"/>
              </a:ext>
            </a:extLst>
          </p:cNvPr>
          <p:cNvSpPr txBox="1"/>
          <p:nvPr/>
        </p:nvSpPr>
        <p:spPr>
          <a:xfrm>
            <a:off x="427597" y="368391"/>
            <a:ext cx="1871025" cy="369332"/>
          </a:xfrm>
          <a:prstGeom prst="rect">
            <a:avLst/>
          </a:prstGeom>
          <a:noFill/>
        </p:spPr>
        <p:txBody>
          <a:bodyPr wrap="none" rtlCol="0">
            <a:spAutoFit/>
          </a:bodyPr>
          <a:lstStyle/>
          <a:p>
            <a:r>
              <a:rPr kumimoji="1" lang="ja-JP" altLang="en-US" b="1" dirty="0">
                <a:latin typeface="Meiryo UI" panose="020B0604030504040204" pitchFamily="50" charset="-128"/>
                <a:ea typeface="Meiryo UI" panose="020B0604030504040204" pitchFamily="50" charset="-128"/>
              </a:rPr>
              <a:t>相続事業部　</a:t>
            </a:r>
            <a:r>
              <a:rPr kumimoji="1" lang="en-US" altLang="ja-JP" b="1" dirty="0">
                <a:latin typeface="Meiryo UI" panose="020B0604030504040204" pitchFamily="50" charset="-128"/>
                <a:ea typeface="Meiryo UI" panose="020B0604030504040204" pitchFamily="50" charset="-128"/>
              </a:rPr>
              <a:t>x</a:t>
            </a:r>
            <a:r>
              <a:rPr kumimoji="1" lang="ja-JP" altLang="en-US" b="1" dirty="0">
                <a:latin typeface="Meiryo UI" panose="020B0604030504040204" pitchFamily="50" charset="-128"/>
                <a:ea typeface="Meiryo UI" panose="020B0604030504040204" pitchFamily="50" charset="-128"/>
              </a:rPr>
              <a:t>月</a:t>
            </a:r>
          </a:p>
        </p:txBody>
      </p:sp>
      <p:sp>
        <p:nvSpPr>
          <p:cNvPr id="2" name="フローチャート: 端子 1">
            <a:extLst>
              <a:ext uri="{FF2B5EF4-FFF2-40B4-BE49-F238E27FC236}">
                <a16:creationId xmlns:a16="http://schemas.microsoft.com/office/drawing/2014/main" id="{AD2B9541-A95D-C084-0FFC-A849AFA33087}"/>
              </a:ext>
            </a:extLst>
          </p:cNvPr>
          <p:cNvSpPr/>
          <p:nvPr/>
        </p:nvSpPr>
        <p:spPr>
          <a:xfrm>
            <a:off x="10188657" y="175287"/>
            <a:ext cx="1783486" cy="461918"/>
          </a:xfrm>
          <a:prstGeom prst="flowChartTerminator">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Meiryo UI" panose="020B0604030504040204" pitchFamily="50" charset="-128"/>
                <a:ea typeface="Meiryo UI" panose="020B0604030504040204" pitchFamily="50" charset="-128"/>
              </a:rPr>
              <a:t>修正後</a:t>
            </a:r>
          </a:p>
        </p:txBody>
      </p:sp>
      <p:sp>
        <p:nvSpPr>
          <p:cNvPr id="5" name="正方形/長方形 4">
            <a:extLst>
              <a:ext uri="{FF2B5EF4-FFF2-40B4-BE49-F238E27FC236}">
                <a16:creationId xmlns:a16="http://schemas.microsoft.com/office/drawing/2014/main" id="{F19F085B-4813-D3C1-505C-EAA68672D93F}"/>
              </a:ext>
            </a:extLst>
          </p:cNvPr>
          <p:cNvSpPr/>
          <p:nvPr/>
        </p:nvSpPr>
        <p:spPr>
          <a:xfrm>
            <a:off x="843494" y="1255747"/>
            <a:ext cx="1485911"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新規受注案件</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4460B7A5-C7AB-FD82-10CF-09BC107300AD}"/>
              </a:ext>
            </a:extLst>
          </p:cNvPr>
          <p:cNvSpPr/>
          <p:nvPr/>
        </p:nvSpPr>
        <p:spPr>
          <a:xfrm>
            <a:off x="2372149" y="1255747"/>
            <a:ext cx="1485911"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管理案件</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5F8594AF-DF4A-F121-9ABE-5D63C3560932}"/>
              </a:ext>
            </a:extLst>
          </p:cNvPr>
          <p:cNvSpPr/>
          <p:nvPr/>
        </p:nvSpPr>
        <p:spPr>
          <a:xfrm>
            <a:off x="3896225" y="1255747"/>
            <a:ext cx="1485911"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完了案件</a:t>
            </a:r>
          </a:p>
        </p:txBody>
      </p:sp>
      <p:sp>
        <p:nvSpPr>
          <p:cNvPr id="8" name="正方形/長方形 7">
            <a:extLst>
              <a:ext uri="{FF2B5EF4-FFF2-40B4-BE49-F238E27FC236}">
                <a16:creationId xmlns:a16="http://schemas.microsoft.com/office/drawing/2014/main" id="{5492986F-ED65-2A0F-0793-94D4A96EE63D}"/>
              </a:ext>
            </a:extLst>
          </p:cNvPr>
          <p:cNvSpPr/>
          <p:nvPr/>
        </p:nvSpPr>
        <p:spPr>
          <a:xfrm>
            <a:off x="6940539" y="1255747"/>
            <a:ext cx="1485911"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業務完了金額</a:t>
            </a:r>
          </a:p>
        </p:txBody>
      </p:sp>
      <p:sp>
        <p:nvSpPr>
          <p:cNvPr id="19" name="正方形/長方形 18">
            <a:extLst>
              <a:ext uri="{FF2B5EF4-FFF2-40B4-BE49-F238E27FC236}">
                <a16:creationId xmlns:a16="http://schemas.microsoft.com/office/drawing/2014/main" id="{A814B949-AB22-B7E0-DFBB-BFE1444ECE4F}"/>
              </a:ext>
            </a:extLst>
          </p:cNvPr>
          <p:cNvSpPr/>
          <p:nvPr/>
        </p:nvSpPr>
        <p:spPr>
          <a:xfrm>
            <a:off x="5425619" y="1255747"/>
            <a:ext cx="1485911"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サイクル</a:t>
            </a:r>
          </a:p>
        </p:txBody>
      </p:sp>
      <p:sp>
        <p:nvSpPr>
          <p:cNvPr id="12" name="四角形: 角を丸くする 11">
            <a:extLst>
              <a:ext uri="{FF2B5EF4-FFF2-40B4-BE49-F238E27FC236}">
                <a16:creationId xmlns:a16="http://schemas.microsoft.com/office/drawing/2014/main" id="{2CD8B716-C2B6-FEA9-B8FD-291AD8E593AE}"/>
              </a:ext>
            </a:extLst>
          </p:cNvPr>
          <p:cNvSpPr/>
          <p:nvPr/>
        </p:nvSpPr>
        <p:spPr>
          <a:xfrm>
            <a:off x="843494" y="1679963"/>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250</a:t>
            </a:r>
            <a:r>
              <a:rPr kumimoji="1" lang="ja-JP" altLang="en-US" sz="1200" dirty="0">
                <a:solidFill>
                  <a:schemeClr val="tx1"/>
                </a:solidFill>
              </a:rPr>
              <a:t>件</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16" name="四角形: 角を丸くする 15">
            <a:extLst>
              <a:ext uri="{FF2B5EF4-FFF2-40B4-BE49-F238E27FC236}">
                <a16:creationId xmlns:a16="http://schemas.microsoft.com/office/drawing/2014/main" id="{8336AE35-4A9E-F95F-7F1D-CA16A7D88849}"/>
              </a:ext>
            </a:extLst>
          </p:cNvPr>
          <p:cNvSpPr/>
          <p:nvPr/>
        </p:nvSpPr>
        <p:spPr>
          <a:xfrm>
            <a:off x="2372149" y="1679963"/>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960</a:t>
            </a:r>
            <a:r>
              <a:rPr kumimoji="1" lang="ja-JP" altLang="en-US" sz="1200" dirty="0">
                <a:solidFill>
                  <a:schemeClr val="tx1"/>
                </a:solidFill>
              </a:rPr>
              <a:t>件</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17" name="四角形: 角を丸くする 16">
            <a:extLst>
              <a:ext uri="{FF2B5EF4-FFF2-40B4-BE49-F238E27FC236}">
                <a16:creationId xmlns:a16="http://schemas.microsoft.com/office/drawing/2014/main" id="{DE222501-EDF7-2EC7-AABD-10BF45BD2C74}"/>
              </a:ext>
            </a:extLst>
          </p:cNvPr>
          <p:cNvSpPr/>
          <p:nvPr/>
        </p:nvSpPr>
        <p:spPr>
          <a:xfrm>
            <a:off x="3896225" y="1679963"/>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210</a:t>
            </a:r>
            <a:r>
              <a:rPr kumimoji="1" lang="ja-JP" altLang="en-US" sz="1200" dirty="0">
                <a:solidFill>
                  <a:schemeClr val="tx1"/>
                </a:solidFill>
              </a:rPr>
              <a:t>件</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18" name="四角形: 角を丸くする 17">
            <a:extLst>
              <a:ext uri="{FF2B5EF4-FFF2-40B4-BE49-F238E27FC236}">
                <a16:creationId xmlns:a16="http://schemas.microsoft.com/office/drawing/2014/main" id="{CC78F30E-85CA-306F-428F-6E05096A3DC6}"/>
              </a:ext>
            </a:extLst>
          </p:cNvPr>
          <p:cNvSpPr/>
          <p:nvPr/>
        </p:nvSpPr>
        <p:spPr>
          <a:xfrm>
            <a:off x="6940539" y="1679963"/>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4,950</a:t>
            </a:r>
            <a:r>
              <a:rPr kumimoji="1" lang="ja-JP" altLang="en-US" sz="1200" dirty="0">
                <a:solidFill>
                  <a:schemeClr val="tx1"/>
                </a:solidFill>
              </a:rPr>
              <a:t>万円</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20" name="四角形: 角を丸くする 19">
            <a:extLst>
              <a:ext uri="{FF2B5EF4-FFF2-40B4-BE49-F238E27FC236}">
                <a16:creationId xmlns:a16="http://schemas.microsoft.com/office/drawing/2014/main" id="{FA4ADB56-7AA3-D11B-2801-25FB2CDEF802}"/>
              </a:ext>
            </a:extLst>
          </p:cNvPr>
          <p:cNvSpPr/>
          <p:nvPr/>
        </p:nvSpPr>
        <p:spPr>
          <a:xfrm>
            <a:off x="5425619" y="1679963"/>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4.5</a:t>
            </a:r>
            <a:r>
              <a:rPr kumimoji="1" lang="ja-JP" altLang="en-US" sz="1200" dirty="0">
                <a:solidFill>
                  <a:schemeClr val="tx1"/>
                </a:solidFill>
              </a:rPr>
              <a:t>カ月</a:t>
            </a:r>
          </a:p>
        </p:txBody>
      </p:sp>
      <p:sp>
        <p:nvSpPr>
          <p:cNvPr id="3" name="四角形: 角を丸くする 2">
            <a:extLst>
              <a:ext uri="{FF2B5EF4-FFF2-40B4-BE49-F238E27FC236}">
                <a16:creationId xmlns:a16="http://schemas.microsoft.com/office/drawing/2014/main" id="{BBE2AE16-264D-1561-8C44-A2D64CE0B332}"/>
              </a:ext>
            </a:extLst>
          </p:cNvPr>
          <p:cNvSpPr/>
          <p:nvPr/>
        </p:nvSpPr>
        <p:spPr>
          <a:xfrm>
            <a:off x="843494" y="2096426"/>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250</a:t>
            </a:r>
            <a:r>
              <a:rPr kumimoji="1" lang="ja-JP" altLang="en-US" sz="1200" dirty="0">
                <a:solidFill>
                  <a:schemeClr val="tx1"/>
                </a:solidFill>
              </a:rPr>
              <a:t>件</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9" name="四角形: 角を丸くする 8">
            <a:extLst>
              <a:ext uri="{FF2B5EF4-FFF2-40B4-BE49-F238E27FC236}">
                <a16:creationId xmlns:a16="http://schemas.microsoft.com/office/drawing/2014/main" id="{1B1238B2-1152-C307-05FE-78A98F301150}"/>
              </a:ext>
            </a:extLst>
          </p:cNvPr>
          <p:cNvSpPr/>
          <p:nvPr/>
        </p:nvSpPr>
        <p:spPr>
          <a:xfrm>
            <a:off x="2372149" y="2096426"/>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960</a:t>
            </a:r>
            <a:r>
              <a:rPr kumimoji="1" lang="ja-JP" altLang="en-US" sz="1200" dirty="0">
                <a:solidFill>
                  <a:schemeClr val="tx1"/>
                </a:solidFill>
              </a:rPr>
              <a:t>件</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10" name="四角形: 角を丸くする 9">
            <a:extLst>
              <a:ext uri="{FF2B5EF4-FFF2-40B4-BE49-F238E27FC236}">
                <a16:creationId xmlns:a16="http://schemas.microsoft.com/office/drawing/2014/main" id="{3FB28F85-6A04-3DDE-62DC-15C5A0628F88}"/>
              </a:ext>
            </a:extLst>
          </p:cNvPr>
          <p:cNvSpPr/>
          <p:nvPr/>
        </p:nvSpPr>
        <p:spPr>
          <a:xfrm>
            <a:off x="3896225" y="2096426"/>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210</a:t>
            </a:r>
            <a:r>
              <a:rPr kumimoji="1" lang="ja-JP" altLang="en-US" sz="1200" dirty="0">
                <a:solidFill>
                  <a:schemeClr val="tx1"/>
                </a:solidFill>
              </a:rPr>
              <a:t>件</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11" name="四角形: 角を丸くする 10">
            <a:extLst>
              <a:ext uri="{FF2B5EF4-FFF2-40B4-BE49-F238E27FC236}">
                <a16:creationId xmlns:a16="http://schemas.microsoft.com/office/drawing/2014/main" id="{C7E39977-83E3-BF28-6AE0-E6516E9FDE75}"/>
              </a:ext>
            </a:extLst>
          </p:cNvPr>
          <p:cNvSpPr/>
          <p:nvPr/>
        </p:nvSpPr>
        <p:spPr>
          <a:xfrm>
            <a:off x="6940539" y="2096426"/>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4,950</a:t>
            </a:r>
            <a:r>
              <a:rPr kumimoji="1" lang="ja-JP" altLang="en-US" sz="1200" dirty="0">
                <a:solidFill>
                  <a:schemeClr val="tx1"/>
                </a:solidFill>
              </a:rPr>
              <a:t>万円</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13" name="四角形: 角を丸くする 12">
            <a:extLst>
              <a:ext uri="{FF2B5EF4-FFF2-40B4-BE49-F238E27FC236}">
                <a16:creationId xmlns:a16="http://schemas.microsoft.com/office/drawing/2014/main" id="{93DB206C-8994-505A-1F9C-0A0610F3F540}"/>
              </a:ext>
            </a:extLst>
          </p:cNvPr>
          <p:cNvSpPr/>
          <p:nvPr/>
        </p:nvSpPr>
        <p:spPr>
          <a:xfrm>
            <a:off x="5425619" y="2096426"/>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4.5</a:t>
            </a:r>
            <a:r>
              <a:rPr kumimoji="1" lang="ja-JP" altLang="en-US" sz="1200" dirty="0">
                <a:solidFill>
                  <a:schemeClr val="tx1"/>
                </a:solidFill>
              </a:rPr>
              <a:t>カ月</a:t>
            </a:r>
          </a:p>
        </p:txBody>
      </p:sp>
      <p:sp>
        <p:nvSpPr>
          <p:cNvPr id="15" name="四角形: 角を丸くする 14">
            <a:extLst>
              <a:ext uri="{FF2B5EF4-FFF2-40B4-BE49-F238E27FC236}">
                <a16:creationId xmlns:a16="http://schemas.microsoft.com/office/drawing/2014/main" id="{C87C1B01-AA9A-EAA5-B830-54A1A909E4DF}"/>
              </a:ext>
            </a:extLst>
          </p:cNvPr>
          <p:cNvSpPr/>
          <p:nvPr/>
        </p:nvSpPr>
        <p:spPr>
          <a:xfrm>
            <a:off x="843494" y="2512889"/>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21" name="四角形: 角を丸くする 20">
            <a:extLst>
              <a:ext uri="{FF2B5EF4-FFF2-40B4-BE49-F238E27FC236}">
                <a16:creationId xmlns:a16="http://schemas.microsoft.com/office/drawing/2014/main" id="{75A20FD7-8F53-54D9-6BEF-4773DFB573D7}"/>
              </a:ext>
            </a:extLst>
          </p:cNvPr>
          <p:cNvSpPr/>
          <p:nvPr/>
        </p:nvSpPr>
        <p:spPr>
          <a:xfrm>
            <a:off x="2372149" y="2512889"/>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23" name="四角形: 角を丸くする 22">
            <a:extLst>
              <a:ext uri="{FF2B5EF4-FFF2-40B4-BE49-F238E27FC236}">
                <a16:creationId xmlns:a16="http://schemas.microsoft.com/office/drawing/2014/main" id="{CC484B9C-DC93-888A-F46D-0322FBA3D6BD}"/>
              </a:ext>
            </a:extLst>
          </p:cNvPr>
          <p:cNvSpPr/>
          <p:nvPr/>
        </p:nvSpPr>
        <p:spPr>
          <a:xfrm>
            <a:off x="3896225" y="2512889"/>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35" name="四角形: 角を丸くする 34">
            <a:extLst>
              <a:ext uri="{FF2B5EF4-FFF2-40B4-BE49-F238E27FC236}">
                <a16:creationId xmlns:a16="http://schemas.microsoft.com/office/drawing/2014/main" id="{36CE295C-7688-156F-B8F8-5CFB26FC9919}"/>
              </a:ext>
            </a:extLst>
          </p:cNvPr>
          <p:cNvSpPr/>
          <p:nvPr/>
        </p:nvSpPr>
        <p:spPr>
          <a:xfrm>
            <a:off x="6940539" y="2512889"/>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36" name="四角形: 角を丸くする 35">
            <a:extLst>
              <a:ext uri="{FF2B5EF4-FFF2-40B4-BE49-F238E27FC236}">
                <a16:creationId xmlns:a16="http://schemas.microsoft.com/office/drawing/2014/main" id="{6034290C-4E03-8D99-F72C-4B5E5723D1F1}"/>
              </a:ext>
            </a:extLst>
          </p:cNvPr>
          <p:cNvSpPr/>
          <p:nvPr/>
        </p:nvSpPr>
        <p:spPr>
          <a:xfrm>
            <a:off x="5425619" y="2512889"/>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grpSp>
        <p:nvGrpSpPr>
          <p:cNvPr id="54" name="グループ化 53">
            <a:extLst>
              <a:ext uri="{FF2B5EF4-FFF2-40B4-BE49-F238E27FC236}">
                <a16:creationId xmlns:a16="http://schemas.microsoft.com/office/drawing/2014/main" id="{7D2F75AA-57AB-0389-6FE0-C478A057D5F9}"/>
              </a:ext>
            </a:extLst>
          </p:cNvPr>
          <p:cNvGrpSpPr/>
          <p:nvPr/>
        </p:nvGrpSpPr>
        <p:grpSpPr>
          <a:xfrm>
            <a:off x="1882566" y="2641600"/>
            <a:ext cx="384538" cy="156225"/>
            <a:chOff x="1657350" y="2555407"/>
            <a:chExt cx="869950" cy="128118"/>
          </a:xfrm>
        </p:grpSpPr>
        <p:sp>
          <p:nvSpPr>
            <p:cNvPr id="47" name="正方形/長方形 46">
              <a:extLst>
                <a:ext uri="{FF2B5EF4-FFF2-40B4-BE49-F238E27FC236}">
                  <a16:creationId xmlns:a16="http://schemas.microsoft.com/office/drawing/2014/main" id="{F92564CB-C2F2-2E70-EF10-C8146A4CB77C}"/>
                </a:ext>
              </a:extLst>
            </p:cNvPr>
            <p:cNvSpPr/>
            <p:nvPr/>
          </p:nvSpPr>
          <p:spPr>
            <a:xfrm>
              <a:off x="1657350" y="2555408"/>
              <a:ext cx="869950" cy="128117"/>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48" name="正方形/長方形 47">
              <a:extLst>
                <a:ext uri="{FF2B5EF4-FFF2-40B4-BE49-F238E27FC236}">
                  <a16:creationId xmlns:a16="http://schemas.microsoft.com/office/drawing/2014/main" id="{961783CE-1E3B-825D-AA13-D0B0C1D9E4D7}"/>
                </a:ext>
              </a:extLst>
            </p:cNvPr>
            <p:cNvSpPr/>
            <p:nvPr/>
          </p:nvSpPr>
          <p:spPr>
            <a:xfrm>
              <a:off x="1657350" y="2555407"/>
              <a:ext cx="641272" cy="128117"/>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9" name="テキスト ボックス 58">
            <a:extLst>
              <a:ext uri="{FF2B5EF4-FFF2-40B4-BE49-F238E27FC236}">
                <a16:creationId xmlns:a16="http://schemas.microsoft.com/office/drawing/2014/main" id="{32CD2C4C-B25A-175C-CA41-338BE7050A27}"/>
              </a:ext>
            </a:extLst>
          </p:cNvPr>
          <p:cNvSpPr txBox="1"/>
          <p:nvPr/>
        </p:nvSpPr>
        <p:spPr>
          <a:xfrm>
            <a:off x="1309447" y="2513935"/>
            <a:ext cx="471731" cy="369332"/>
          </a:xfrm>
          <a:prstGeom prst="rect">
            <a:avLst/>
          </a:prstGeom>
          <a:noFill/>
        </p:spPr>
        <p:txBody>
          <a:bodyPr wrap="none" rtlCol="0">
            <a:spAutoFit/>
          </a:bodyPr>
          <a:lstStyle/>
          <a:p>
            <a:r>
              <a:rPr kumimoji="1" lang="en-US" altLang="ja-JP" b="1" dirty="0">
                <a:latin typeface="Meiryo UI" panose="020B0604030504040204" pitchFamily="50" charset="-128"/>
                <a:ea typeface="Meiryo UI" panose="020B0604030504040204" pitchFamily="50" charset="-128"/>
              </a:rPr>
              <a:t>90</a:t>
            </a:r>
            <a:r>
              <a:rPr kumimoji="1" lang="en-US" altLang="ja-JP" sz="1200" dirty="0">
                <a:latin typeface="Meiryo UI" panose="020B0604030504040204" pitchFamily="50" charset="-128"/>
                <a:ea typeface="Meiryo UI" panose="020B0604030504040204" pitchFamily="50" charset="-128"/>
              </a:rPr>
              <a:t>%</a:t>
            </a:r>
            <a:endParaRPr kumimoji="1" lang="ja-JP" altLang="en-US" dirty="0">
              <a:latin typeface="Meiryo UI" panose="020B0604030504040204" pitchFamily="50" charset="-128"/>
              <a:ea typeface="Meiryo UI" panose="020B0604030504040204" pitchFamily="50" charset="-128"/>
            </a:endParaRPr>
          </a:p>
        </p:txBody>
      </p:sp>
      <p:grpSp>
        <p:nvGrpSpPr>
          <p:cNvPr id="73" name="グループ化 72">
            <a:extLst>
              <a:ext uri="{FF2B5EF4-FFF2-40B4-BE49-F238E27FC236}">
                <a16:creationId xmlns:a16="http://schemas.microsoft.com/office/drawing/2014/main" id="{9919FC10-6193-2C93-AE24-4D372CD803F8}"/>
              </a:ext>
            </a:extLst>
          </p:cNvPr>
          <p:cNvGrpSpPr/>
          <p:nvPr/>
        </p:nvGrpSpPr>
        <p:grpSpPr>
          <a:xfrm>
            <a:off x="3420375" y="2642568"/>
            <a:ext cx="384538" cy="156225"/>
            <a:chOff x="1657350" y="2555407"/>
            <a:chExt cx="869950" cy="128118"/>
          </a:xfrm>
        </p:grpSpPr>
        <p:sp>
          <p:nvSpPr>
            <p:cNvPr id="78" name="正方形/長方形 77">
              <a:extLst>
                <a:ext uri="{FF2B5EF4-FFF2-40B4-BE49-F238E27FC236}">
                  <a16:creationId xmlns:a16="http://schemas.microsoft.com/office/drawing/2014/main" id="{5285E83D-BB60-813A-6CD4-7EB79AD61A33}"/>
                </a:ext>
              </a:extLst>
            </p:cNvPr>
            <p:cNvSpPr/>
            <p:nvPr/>
          </p:nvSpPr>
          <p:spPr>
            <a:xfrm>
              <a:off x="1657350" y="2555408"/>
              <a:ext cx="869950" cy="128117"/>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87" name="正方形/長方形 86">
              <a:extLst>
                <a:ext uri="{FF2B5EF4-FFF2-40B4-BE49-F238E27FC236}">
                  <a16:creationId xmlns:a16="http://schemas.microsoft.com/office/drawing/2014/main" id="{6B8D5C8F-C560-8ECD-7195-FCB305EB8D21}"/>
                </a:ext>
              </a:extLst>
            </p:cNvPr>
            <p:cNvSpPr/>
            <p:nvPr/>
          </p:nvSpPr>
          <p:spPr>
            <a:xfrm>
              <a:off x="1657350" y="2555407"/>
              <a:ext cx="641272" cy="128117"/>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92" name="テキスト ボックス 91">
            <a:extLst>
              <a:ext uri="{FF2B5EF4-FFF2-40B4-BE49-F238E27FC236}">
                <a16:creationId xmlns:a16="http://schemas.microsoft.com/office/drawing/2014/main" id="{6BDCDB3C-7D4B-9821-E2FE-EA1A82CECD21}"/>
              </a:ext>
            </a:extLst>
          </p:cNvPr>
          <p:cNvSpPr txBox="1"/>
          <p:nvPr/>
        </p:nvSpPr>
        <p:spPr>
          <a:xfrm>
            <a:off x="2847257" y="2514903"/>
            <a:ext cx="471731" cy="369332"/>
          </a:xfrm>
          <a:prstGeom prst="rect">
            <a:avLst/>
          </a:prstGeom>
          <a:noFill/>
        </p:spPr>
        <p:txBody>
          <a:bodyPr wrap="none" rtlCol="0">
            <a:spAutoFit/>
          </a:bodyPr>
          <a:lstStyle/>
          <a:p>
            <a:r>
              <a:rPr kumimoji="1" lang="en-US" altLang="ja-JP" b="1" dirty="0">
                <a:latin typeface="Meiryo UI" panose="020B0604030504040204" pitchFamily="50" charset="-128"/>
                <a:ea typeface="Meiryo UI" panose="020B0604030504040204" pitchFamily="50" charset="-128"/>
              </a:rPr>
              <a:t>90</a:t>
            </a:r>
            <a:r>
              <a:rPr kumimoji="1" lang="en-US" altLang="ja-JP" sz="1200" dirty="0">
                <a:latin typeface="Meiryo UI" panose="020B0604030504040204" pitchFamily="50" charset="-128"/>
                <a:ea typeface="Meiryo UI" panose="020B0604030504040204" pitchFamily="50" charset="-128"/>
              </a:rPr>
              <a:t>%</a:t>
            </a:r>
            <a:endParaRPr kumimoji="1" lang="ja-JP" altLang="en-US" dirty="0">
              <a:latin typeface="Meiryo UI" panose="020B0604030504040204" pitchFamily="50" charset="-128"/>
              <a:ea typeface="Meiryo UI" panose="020B0604030504040204" pitchFamily="50" charset="-128"/>
            </a:endParaRPr>
          </a:p>
        </p:txBody>
      </p:sp>
      <p:grpSp>
        <p:nvGrpSpPr>
          <p:cNvPr id="106" name="グループ化 105">
            <a:extLst>
              <a:ext uri="{FF2B5EF4-FFF2-40B4-BE49-F238E27FC236}">
                <a16:creationId xmlns:a16="http://schemas.microsoft.com/office/drawing/2014/main" id="{89F6CA1D-E8E8-A043-4080-52DC27D2DBEF}"/>
              </a:ext>
            </a:extLst>
          </p:cNvPr>
          <p:cNvGrpSpPr/>
          <p:nvPr/>
        </p:nvGrpSpPr>
        <p:grpSpPr>
          <a:xfrm>
            <a:off x="4958185" y="2643536"/>
            <a:ext cx="384538" cy="156225"/>
            <a:chOff x="1657350" y="2555407"/>
            <a:chExt cx="869950" cy="128118"/>
          </a:xfrm>
        </p:grpSpPr>
        <p:sp>
          <p:nvSpPr>
            <p:cNvPr id="111" name="正方形/長方形 110">
              <a:extLst>
                <a:ext uri="{FF2B5EF4-FFF2-40B4-BE49-F238E27FC236}">
                  <a16:creationId xmlns:a16="http://schemas.microsoft.com/office/drawing/2014/main" id="{4F495CD1-7F4F-6583-4461-EAF4B936BB25}"/>
                </a:ext>
              </a:extLst>
            </p:cNvPr>
            <p:cNvSpPr/>
            <p:nvPr/>
          </p:nvSpPr>
          <p:spPr>
            <a:xfrm>
              <a:off x="1657350" y="2555408"/>
              <a:ext cx="869950" cy="128117"/>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2" name="正方形/長方形 111">
              <a:extLst>
                <a:ext uri="{FF2B5EF4-FFF2-40B4-BE49-F238E27FC236}">
                  <a16:creationId xmlns:a16="http://schemas.microsoft.com/office/drawing/2014/main" id="{3364FFDB-6865-F887-8E10-52EEE41D0C4B}"/>
                </a:ext>
              </a:extLst>
            </p:cNvPr>
            <p:cNvSpPr/>
            <p:nvPr/>
          </p:nvSpPr>
          <p:spPr>
            <a:xfrm>
              <a:off x="1657350" y="2555407"/>
              <a:ext cx="641272" cy="128117"/>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3" name="テキスト ボックス 112">
            <a:extLst>
              <a:ext uri="{FF2B5EF4-FFF2-40B4-BE49-F238E27FC236}">
                <a16:creationId xmlns:a16="http://schemas.microsoft.com/office/drawing/2014/main" id="{781F594F-235C-EACE-3668-4FBDEFAB8661}"/>
              </a:ext>
            </a:extLst>
          </p:cNvPr>
          <p:cNvSpPr txBox="1"/>
          <p:nvPr/>
        </p:nvSpPr>
        <p:spPr>
          <a:xfrm>
            <a:off x="4385066" y="2515871"/>
            <a:ext cx="471731" cy="369332"/>
          </a:xfrm>
          <a:prstGeom prst="rect">
            <a:avLst/>
          </a:prstGeom>
          <a:noFill/>
        </p:spPr>
        <p:txBody>
          <a:bodyPr wrap="none" rtlCol="0">
            <a:spAutoFit/>
          </a:bodyPr>
          <a:lstStyle/>
          <a:p>
            <a:r>
              <a:rPr kumimoji="1" lang="en-US" altLang="ja-JP" b="1" dirty="0">
                <a:latin typeface="Meiryo UI" panose="020B0604030504040204" pitchFamily="50" charset="-128"/>
                <a:ea typeface="Meiryo UI" panose="020B0604030504040204" pitchFamily="50" charset="-128"/>
              </a:rPr>
              <a:t>90</a:t>
            </a:r>
            <a:r>
              <a:rPr kumimoji="1" lang="en-US" altLang="ja-JP" sz="1200" dirty="0">
                <a:latin typeface="Meiryo UI" panose="020B0604030504040204" pitchFamily="50" charset="-128"/>
                <a:ea typeface="Meiryo UI" panose="020B0604030504040204" pitchFamily="50" charset="-128"/>
              </a:rPr>
              <a:t>%</a:t>
            </a:r>
            <a:endParaRPr kumimoji="1" lang="ja-JP" altLang="en-US" dirty="0">
              <a:latin typeface="Meiryo UI" panose="020B0604030504040204" pitchFamily="50" charset="-128"/>
              <a:ea typeface="Meiryo UI" panose="020B0604030504040204" pitchFamily="50" charset="-128"/>
            </a:endParaRPr>
          </a:p>
        </p:txBody>
      </p:sp>
      <p:grpSp>
        <p:nvGrpSpPr>
          <p:cNvPr id="115" name="グループ化 114">
            <a:extLst>
              <a:ext uri="{FF2B5EF4-FFF2-40B4-BE49-F238E27FC236}">
                <a16:creationId xmlns:a16="http://schemas.microsoft.com/office/drawing/2014/main" id="{B7F54AF4-DEAB-526B-009C-E902E5969875}"/>
              </a:ext>
            </a:extLst>
          </p:cNvPr>
          <p:cNvGrpSpPr/>
          <p:nvPr/>
        </p:nvGrpSpPr>
        <p:grpSpPr>
          <a:xfrm>
            <a:off x="6501311" y="2644504"/>
            <a:ext cx="384538" cy="156225"/>
            <a:chOff x="1657350" y="2555407"/>
            <a:chExt cx="869950" cy="128118"/>
          </a:xfrm>
        </p:grpSpPr>
        <p:sp>
          <p:nvSpPr>
            <p:cNvPr id="116" name="正方形/長方形 115">
              <a:extLst>
                <a:ext uri="{FF2B5EF4-FFF2-40B4-BE49-F238E27FC236}">
                  <a16:creationId xmlns:a16="http://schemas.microsoft.com/office/drawing/2014/main" id="{484809C8-D162-C60B-E0F3-0F5E829602B0}"/>
                </a:ext>
              </a:extLst>
            </p:cNvPr>
            <p:cNvSpPr/>
            <p:nvPr/>
          </p:nvSpPr>
          <p:spPr>
            <a:xfrm>
              <a:off x="1657350" y="2555408"/>
              <a:ext cx="869950" cy="128117"/>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7" name="正方形/長方形 116">
              <a:extLst>
                <a:ext uri="{FF2B5EF4-FFF2-40B4-BE49-F238E27FC236}">
                  <a16:creationId xmlns:a16="http://schemas.microsoft.com/office/drawing/2014/main" id="{2DA7B022-8BC7-F08A-6EFB-93D5DDAC7C2A}"/>
                </a:ext>
              </a:extLst>
            </p:cNvPr>
            <p:cNvSpPr/>
            <p:nvPr/>
          </p:nvSpPr>
          <p:spPr>
            <a:xfrm>
              <a:off x="1657350" y="2555407"/>
              <a:ext cx="641272" cy="128117"/>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18" name="テキスト ボックス 117">
            <a:extLst>
              <a:ext uri="{FF2B5EF4-FFF2-40B4-BE49-F238E27FC236}">
                <a16:creationId xmlns:a16="http://schemas.microsoft.com/office/drawing/2014/main" id="{F6EC5122-6D83-437C-EFFA-85917E726DF1}"/>
              </a:ext>
            </a:extLst>
          </p:cNvPr>
          <p:cNvSpPr txBox="1"/>
          <p:nvPr/>
        </p:nvSpPr>
        <p:spPr>
          <a:xfrm>
            <a:off x="5928193" y="2516839"/>
            <a:ext cx="471731" cy="369332"/>
          </a:xfrm>
          <a:prstGeom prst="rect">
            <a:avLst/>
          </a:prstGeom>
          <a:noFill/>
        </p:spPr>
        <p:txBody>
          <a:bodyPr wrap="none" rtlCol="0">
            <a:spAutoFit/>
          </a:bodyPr>
          <a:lstStyle/>
          <a:p>
            <a:r>
              <a:rPr kumimoji="1" lang="en-US" altLang="ja-JP" b="1" dirty="0">
                <a:latin typeface="Meiryo UI" panose="020B0604030504040204" pitchFamily="50" charset="-128"/>
                <a:ea typeface="Meiryo UI" panose="020B0604030504040204" pitchFamily="50" charset="-128"/>
              </a:rPr>
              <a:t>90</a:t>
            </a:r>
            <a:r>
              <a:rPr kumimoji="1" lang="en-US" altLang="ja-JP" sz="1200" dirty="0">
                <a:latin typeface="Meiryo UI" panose="020B0604030504040204" pitchFamily="50" charset="-128"/>
                <a:ea typeface="Meiryo UI" panose="020B0604030504040204" pitchFamily="50" charset="-128"/>
              </a:rPr>
              <a:t>%</a:t>
            </a:r>
            <a:endParaRPr kumimoji="1" lang="ja-JP" altLang="en-US" dirty="0">
              <a:latin typeface="Meiryo UI" panose="020B0604030504040204" pitchFamily="50" charset="-128"/>
              <a:ea typeface="Meiryo UI" panose="020B0604030504040204" pitchFamily="50" charset="-128"/>
            </a:endParaRPr>
          </a:p>
        </p:txBody>
      </p:sp>
      <p:grpSp>
        <p:nvGrpSpPr>
          <p:cNvPr id="120" name="グループ化 119">
            <a:extLst>
              <a:ext uri="{FF2B5EF4-FFF2-40B4-BE49-F238E27FC236}">
                <a16:creationId xmlns:a16="http://schemas.microsoft.com/office/drawing/2014/main" id="{21A9D4BC-7E09-C659-50E1-79B2FEA0026A}"/>
              </a:ext>
            </a:extLst>
          </p:cNvPr>
          <p:cNvGrpSpPr/>
          <p:nvPr/>
        </p:nvGrpSpPr>
        <p:grpSpPr>
          <a:xfrm>
            <a:off x="7984187" y="2645472"/>
            <a:ext cx="384538" cy="156225"/>
            <a:chOff x="1657350" y="2555407"/>
            <a:chExt cx="869950" cy="128118"/>
          </a:xfrm>
        </p:grpSpPr>
        <p:sp>
          <p:nvSpPr>
            <p:cNvPr id="121" name="正方形/長方形 120">
              <a:extLst>
                <a:ext uri="{FF2B5EF4-FFF2-40B4-BE49-F238E27FC236}">
                  <a16:creationId xmlns:a16="http://schemas.microsoft.com/office/drawing/2014/main" id="{F4F9FB7C-F8DF-B386-882F-76D91097BD03}"/>
                </a:ext>
              </a:extLst>
            </p:cNvPr>
            <p:cNvSpPr/>
            <p:nvPr/>
          </p:nvSpPr>
          <p:spPr>
            <a:xfrm>
              <a:off x="1657350" y="2555408"/>
              <a:ext cx="869950" cy="128117"/>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2" name="正方形/長方形 121">
              <a:extLst>
                <a:ext uri="{FF2B5EF4-FFF2-40B4-BE49-F238E27FC236}">
                  <a16:creationId xmlns:a16="http://schemas.microsoft.com/office/drawing/2014/main" id="{03D3921C-53B9-340F-FCBF-AB2ED4F2984A}"/>
                </a:ext>
              </a:extLst>
            </p:cNvPr>
            <p:cNvSpPr/>
            <p:nvPr/>
          </p:nvSpPr>
          <p:spPr>
            <a:xfrm>
              <a:off x="1657350" y="2555407"/>
              <a:ext cx="641272" cy="128117"/>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123" name="テキスト ボックス 122">
            <a:extLst>
              <a:ext uri="{FF2B5EF4-FFF2-40B4-BE49-F238E27FC236}">
                <a16:creationId xmlns:a16="http://schemas.microsoft.com/office/drawing/2014/main" id="{2A9868C7-AC55-E594-39F6-9060579477A3}"/>
              </a:ext>
            </a:extLst>
          </p:cNvPr>
          <p:cNvSpPr txBox="1"/>
          <p:nvPr/>
        </p:nvSpPr>
        <p:spPr>
          <a:xfrm>
            <a:off x="7456847" y="2517807"/>
            <a:ext cx="471731" cy="369332"/>
          </a:xfrm>
          <a:prstGeom prst="rect">
            <a:avLst/>
          </a:prstGeom>
          <a:noFill/>
        </p:spPr>
        <p:txBody>
          <a:bodyPr wrap="none" rtlCol="0">
            <a:spAutoFit/>
          </a:bodyPr>
          <a:lstStyle/>
          <a:p>
            <a:r>
              <a:rPr kumimoji="1" lang="en-US" altLang="ja-JP" b="1" dirty="0">
                <a:latin typeface="Meiryo UI" panose="020B0604030504040204" pitchFamily="50" charset="-128"/>
                <a:ea typeface="Meiryo UI" panose="020B0604030504040204" pitchFamily="50" charset="-128"/>
              </a:rPr>
              <a:t>90</a:t>
            </a:r>
            <a:r>
              <a:rPr kumimoji="1" lang="en-US" altLang="ja-JP" sz="1200" dirty="0">
                <a:latin typeface="Meiryo UI" panose="020B0604030504040204" pitchFamily="50" charset="-128"/>
                <a:ea typeface="Meiryo UI" panose="020B0604030504040204" pitchFamily="50" charset="-128"/>
              </a:rPr>
              <a:t>%</a:t>
            </a:r>
            <a:endParaRPr kumimoji="1" lang="ja-JP" altLang="en-US" dirty="0">
              <a:latin typeface="Meiryo UI" panose="020B0604030504040204" pitchFamily="50" charset="-128"/>
              <a:ea typeface="Meiryo UI" panose="020B0604030504040204" pitchFamily="50" charset="-128"/>
            </a:endParaRPr>
          </a:p>
        </p:txBody>
      </p:sp>
      <p:sp>
        <p:nvSpPr>
          <p:cNvPr id="124" name="正方形/長方形 123">
            <a:extLst>
              <a:ext uri="{FF2B5EF4-FFF2-40B4-BE49-F238E27FC236}">
                <a16:creationId xmlns:a16="http://schemas.microsoft.com/office/drawing/2014/main" id="{6BBCA91F-80EC-C72E-39F3-E8221058205F}"/>
              </a:ext>
            </a:extLst>
          </p:cNvPr>
          <p:cNvSpPr/>
          <p:nvPr/>
        </p:nvSpPr>
        <p:spPr>
          <a:xfrm>
            <a:off x="188864" y="1679963"/>
            <a:ext cx="611887"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目標</a:t>
            </a:r>
          </a:p>
        </p:txBody>
      </p:sp>
      <p:sp>
        <p:nvSpPr>
          <p:cNvPr id="125" name="正方形/長方形 124">
            <a:extLst>
              <a:ext uri="{FF2B5EF4-FFF2-40B4-BE49-F238E27FC236}">
                <a16:creationId xmlns:a16="http://schemas.microsoft.com/office/drawing/2014/main" id="{3ED3F08D-5919-E403-A769-4DFAA3BCE57B}"/>
              </a:ext>
            </a:extLst>
          </p:cNvPr>
          <p:cNvSpPr/>
          <p:nvPr/>
        </p:nvSpPr>
        <p:spPr>
          <a:xfrm>
            <a:off x="184286" y="2110096"/>
            <a:ext cx="611887"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実績</a:t>
            </a:r>
          </a:p>
        </p:txBody>
      </p:sp>
      <p:sp>
        <p:nvSpPr>
          <p:cNvPr id="126" name="正方形/長方形 125">
            <a:extLst>
              <a:ext uri="{FF2B5EF4-FFF2-40B4-BE49-F238E27FC236}">
                <a16:creationId xmlns:a16="http://schemas.microsoft.com/office/drawing/2014/main" id="{E4414833-1D62-3E9E-7741-6E7736635580}"/>
              </a:ext>
            </a:extLst>
          </p:cNvPr>
          <p:cNvSpPr/>
          <p:nvPr/>
        </p:nvSpPr>
        <p:spPr>
          <a:xfrm>
            <a:off x="184285" y="2533962"/>
            <a:ext cx="611887"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達成率</a:t>
            </a:r>
          </a:p>
        </p:txBody>
      </p:sp>
      <p:cxnSp>
        <p:nvCxnSpPr>
          <p:cNvPr id="131" name="直線コネクタ 130">
            <a:extLst>
              <a:ext uri="{FF2B5EF4-FFF2-40B4-BE49-F238E27FC236}">
                <a16:creationId xmlns:a16="http://schemas.microsoft.com/office/drawing/2014/main" id="{0F4527CE-DBF1-290C-4D10-5A2421ABCF38}"/>
              </a:ext>
            </a:extLst>
          </p:cNvPr>
          <p:cNvCxnSpPr/>
          <p:nvPr/>
        </p:nvCxnSpPr>
        <p:spPr>
          <a:xfrm>
            <a:off x="276770" y="1130786"/>
            <a:ext cx="1899705" cy="0"/>
          </a:xfrm>
          <a:prstGeom prst="line">
            <a:avLst/>
          </a:prstGeom>
        </p:spPr>
        <p:style>
          <a:lnRef idx="2">
            <a:schemeClr val="accent1"/>
          </a:lnRef>
          <a:fillRef idx="0">
            <a:schemeClr val="accent1"/>
          </a:fillRef>
          <a:effectRef idx="1">
            <a:schemeClr val="accent1"/>
          </a:effectRef>
          <a:fontRef idx="minor">
            <a:schemeClr val="tx1"/>
          </a:fontRef>
        </p:style>
      </p:cxnSp>
      <p:sp>
        <p:nvSpPr>
          <p:cNvPr id="132" name="四角形: 角を丸くする 131">
            <a:extLst>
              <a:ext uri="{FF2B5EF4-FFF2-40B4-BE49-F238E27FC236}">
                <a16:creationId xmlns:a16="http://schemas.microsoft.com/office/drawing/2014/main" id="{40EF73A1-2347-DE30-2565-C3DED32305E0}"/>
              </a:ext>
            </a:extLst>
          </p:cNvPr>
          <p:cNvSpPr/>
          <p:nvPr/>
        </p:nvSpPr>
        <p:spPr>
          <a:xfrm>
            <a:off x="276770" y="909659"/>
            <a:ext cx="709467" cy="189377"/>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t>サマリ</a:t>
            </a:r>
          </a:p>
        </p:txBody>
      </p:sp>
      <p:sp>
        <p:nvSpPr>
          <p:cNvPr id="133" name="四角形: 角を丸くする 132">
            <a:extLst>
              <a:ext uri="{FF2B5EF4-FFF2-40B4-BE49-F238E27FC236}">
                <a16:creationId xmlns:a16="http://schemas.microsoft.com/office/drawing/2014/main" id="{30E48F75-D36B-1418-251A-ADC1A0F0FB01}"/>
              </a:ext>
            </a:extLst>
          </p:cNvPr>
          <p:cNvSpPr/>
          <p:nvPr/>
        </p:nvSpPr>
        <p:spPr>
          <a:xfrm>
            <a:off x="1053214" y="903871"/>
            <a:ext cx="709467" cy="18937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rgbClr val="0070C0"/>
                </a:solidFill>
              </a:rPr>
              <a:t>内訳別</a:t>
            </a:r>
          </a:p>
        </p:txBody>
      </p:sp>
      <p:cxnSp>
        <p:nvCxnSpPr>
          <p:cNvPr id="134" name="直線コネクタ 133">
            <a:extLst>
              <a:ext uri="{FF2B5EF4-FFF2-40B4-BE49-F238E27FC236}">
                <a16:creationId xmlns:a16="http://schemas.microsoft.com/office/drawing/2014/main" id="{54F598E7-FDFB-8942-2BE4-FC0213E94628}"/>
              </a:ext>
            </a:extLst>
          </p:cNvPr>
          <p:cNvCxnSpPr/>
          <p:nvPr/>
        </p:nvCxnSpPr>
        <p:spPr>
          <a:xfrm>
            <a:off x="276770" y="3555438"/>
            <a:ext cx="1899705" cy="0"/>
          </a:xfrm>
          <a:prstGeom prst="line">
            <a:avLst/>
          </a:prstGeom>
        </p:spPr>
        <p:style>
          <a:lnRef idx="2">
            <a:schemeClr val="accent1"/>
          </a:lnRef>
          <a:fillRef idx="0">
            <a:schemeClr val="accent1"/>
          </a:fillRef>
          <a:effectRef idx="1">
            <a:schemeClr val="accent1"/>
          </a:effectRef>
          <a:fontRef idx="minor">
            <a:schemeClr val="tx1"/>
          </a:fontRef>
        </p:style>
      </p:cxnSp>
      <p:sp>
        <p:nvSpPr>
          <p:cNvPr id="135" name="四角形: 角を丸くする 134">
            <a:extLst>
              <a:ext uri="{FF2B5EF4-FFF2-40B4-BE49-F238E27FC236}">
                <a16:creationId xmlns:a16="http://schemas.microsoft.com/office/drawing/2014/main" id="{1A000412-AB95-51B1-9323-B74608ED64A2}"/>
              </a:ext>
            </a:extLst>
          </p:cNvPr>
          <p:cNvSpPr/>
          <p:nvPr/>
        </p:nvSpPr>
        <p:spPr>
          <a:xfrm>
            <a:off x="276770" y="3334311"/>
            <a:ext cx="709467" cy="189377"/>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tx1"/>
                </a:solidFill>
              </a:rPr>
              <a:t>サマリ</a:t>
            </a:r>
          </a:p>
        </p:txBody>
      </p:sp>
      <p:sp>
        <p:nvSpPr>
          <p:cNvPr id="136" name="四角形: 角を丸くする 135">
            <a:extLst>
              <a:ext uri="{FF2B5EF4-FFF2-40B4-BE49-F238E27FC236}">
                <a16:creationId xmlns:a16="http://schemas.microsoft.com/office/drawing/2014/main" id="{F9F0E007-541E-53DC-DB68-0C8CE3036910}"/>
              </a:ext>
            </a:extLst>
          </p:cNvPr>
          <p:cNvSpPr/>
          <p:nvPr/>
        </p:nvSpPr>
        <p:spPr>
          <a:xfrm>
            <a:off x="1053214" y="3328523"/>
            <a:ext cx="709467" cy="189377"/>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b="1" dirty="0">
                <a:solidFill>
                  <a:schemeClr val="bg1"/>
                </a:solidFill>
              </a:rPr>
              <a:t>内訳別</a:t>
            </a:r>
          </a:p>
        </p:txBody>
      </p:sp>
      <p:sp>
        <p:nvSpPr>
          <p:cNvPr id="137" name="正方形/長方形 136">
            <a:extLst>
              <a:ext uri="{FF2B5EF4-FFF2-40B4-BE49-F238E27FC236}">
                <a16:creationId xmlns:a16="http://schemas.microsoft.com/office/drawing/2014/main" id="{89E51046-61D5-EE3D-57CF-48D1ABA7FFEC}"/>
              </a:ext>
            </a:extLst>
          </p:cNvPr>
          <p:cNvSpPr/>
          <p:nvPr/>
        </p:nvSpPr>
        <p:spPr>
          <a:xfrm>
            <a:off x="2269206" y="4161885"/>
            <a:ext cx="1899705" cy="1047747"/>
          </a:xfrm>
          <a:prstGeom prst="rect">
            <a:avLst/>
          </a:prstGeom>
          <a:solidFill>
            <a:schemeClr val="accent1">
              <a:lumMod val="60000"/>
              <a:lumOff val="4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手続き一式</a:t>
            </a:r>
            <a:endParaRPr kumimoji="1" lang="en-US" altLang="ja-JP" dirty="0"/>
          </a:p>
          <a:p>
            <a:pPr algn="ctr"/>
            <a:r>
              <a:rPr lang="en-US" altLang="ja-JP" dirty="0"/>
              <a:t>45</a:t>
            </a:r>
            <a:r>
              <a:rPr lang="ja-JP" altLang="en-US" dirty="0"/>
              <a:t>％　</a:t>
            </a:r>
            <a:r>
              <a:rPr lang="en-US" altLang="ja-JP" dirty="0" err="1"/>
              <a:t>xxxx</a:t>
            </a:r>
            <a:r>
              <a:rPr lang="ja-JP" altLang="en-US" dirty="0"/>
              <a:t>万円</a:t>
            </a:r>
            <a:endParaRPr kumimoji="1" lang="ja-JP" altLang="en-US" dirty="0"/>
          </a:p>
        </p:txBody>
      </p:sp>
      <p:sp>
        <p:nvSpPr>
          <p:cNvPr id="138" name="正方形/長方形 137">
            <a:extLst>
              <a:ext uri="{FF2B5EF4-FFF2-40B4-BE49-F238E27FC236}">
                <a16:creationId xmlns:a16="http://schemas.microsoft.com/office/drawing/2014/main" id="{9C08AD12-0C70-6BC0-B672-508DA080C6D2}"/>
              </a:ext>
            </a:extLst>
          </p:cNvPr>
          <p:cNvSpPr/>
          <p:nvPr/>
        </p:nvSpPr>
        <p:spPr>
          <a:xfrm>
            <a:off x="4168911" y="4161885"/>
            <a:ext cx="1240692" cy="1047747"/>
          </a:xfrm>
          <a:prstGeom prst="rect">
            <a:avLst/>
          </a:prstGeom>
          <a:solidFill>
            <a:schemeClr val="accent1">
              <a:lumMod val="40000"/>
              <a:lumOff val="6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登記のみ</a:t>
            </a:r>
            <a:endParaRPr kumimoji="1" lang="en-US" altLang="ja-JP" dirty="0"/>
          </a:p>
          <a:p>
            <a:pPr algn="ctr"/>
            <a:r>
              <a:rPr kumimoji="1" lang="en-US" altLang="ja-JP" dirty="0"/>
              <a:t>10</a:t>
            </a:r>
            <a:r>
              <a:rPr kumimoji="1" lang="ja-JP" altLang="en-US" dirty="0"/>
              <a:t>％　</a:t>
            </a:r>
            <a:r>
              <a:rPr kumimoji="1" lang="en-US" altLang="ja-JP" dirty="0"/>
              <a:t>xx</a:t>
            </a:r>
            <a:r>
              <a:rPr kumimoji="1" lang="ja-JP" altLang="en-US" dirty="0"/>
              <a:t>万円</a:t>
            </a:r>
          </a:p>
        </p:txBody>
      </p:sp>
      <p:sp>
        <p:nvSpPr>
          <p:cNvPr id="141" name="正方形/長方形 140">
            <a:extLst>
              <a:ext uri="{FF2B5EF4-FFF2-40B4-BE49-F238E27FC236}">
                <a16:creationId xmlns:a16="http://schemas.microsoft.com/office/drawing/2014/main" id="{19B8150D-BE24-2C91-1FF9-CC68307CD801}"/>
              </a:ext>
            </a:extLst>
          </p:cNvPr>
          <p:cNvSpPr/>
          <p:nvPr/>
        </p:nvSpPr>
        <p:spPr>
          <a:xfrm>
            <a:off x="5409603" y="4161885"/>
            <a:ext cx="659013" cy="1047747"/>
          </a:xfrm>
          <a:prstGeom prst="rect">
            <a:avLst/>
          </a:prstGeom>
          <a:solidFill>
            <a:schemeClr val="accent1">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2" name="正方形/長方形 141">
            <a:extLst>
              <a:ext uri="{FF2B5EF4-FFF2-40B4-BE49-F238E27FC236}">
                <a16:creationId xmlns:a16="http://schemas.microsoft.com/office/drawing/2014/main" id="{CD843C85-00BE-96C0-32D9-A27DE3ED3237}"/>
              </a:ext>
            </a:extLst>
          </p:cNvPr>
          <p:cNvSpPr/>
          <p:nvPr/>
        </p:nvSpPr>
        <p:spPr>
          <a:xfrm>
            <a:off x="6068616" y="4161885"/>
            <a:ext cx="439669" cy="10477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5" name="正方形/長方形 144">
            <a:extLst>
              <a:ext uri="{FF2B5EF4-FFF2-40B4-BE49-F238E27FC236}">
                <a16:creationId xmlns:a16="http://schemas.microsoft.com/office/drawing/2014/main" id="{81270397-4AFF-EF41-7B89-13AF734E4A7E}"/>
              </a:ext>
            </a:extLst>
          </p:cNvPr>
          <p:cNvSpPr/>
          <p:nvPr/>
        </p:nvSpPr>
        <p:spPr>
          <a:xfrm>
            <a:off x="6508284" y="4161885"/>
            <a:ext cx="407428" cy="1047747"/>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46" name="テキスト ボックス 145">
            <a:extLst>
              <a:ext uri="{FF2B5EF4-FFF2-40B4-BE49-F238E27FC236}">
                <a16:creationId xmlns:a16="http://schemas.microsoft.com/office/drawing/2014/main" id="{3F58476F-3C01-3397-ED90-FF0915ABC9B7}"/>
              </a:ext>
            </a:extLst>
          </p:cNvPr>
          <p:cNvSpPr txBox="1"/>
          <p:nvPr/>
        </p:nvSpPr>
        <p:spPr>
          <a:xfrm>
            <a:off x="2166023" y="3694737"/>
            <a:ext cx="1620957" cy="307777"/>
          </a:xfrm>
          <a:prstGeom prst="rect">
            <a:avLst/>
          </a:prstGeom>
          <a:noFill/>
        </p:spPr>
        <p:txBody>
          <a:bodyPr wrap="none" rtlCol="0">
            <a:spAutoFit/>
          </a:bodyPr>
          <a:lstStyle/>
          <a:p>
            <a:r>
              <a:rPr lang="ja-JP" altLang="en-US" sz="1400" b="1" dirty="0"/>
              <a:t>手続き区分別内訳</a:t>
            </a:r>
            <a:endParaRPr kumimoji="1" lang="ja-JP" altLang="en-US" sz="1400" b="1" dirty="0"/>
          </a:p>
        </p:txBody>
      </p:sp>
      <p:sp>
        <p:nvSpPr>
          <p:cNvPr id="149" name="テキスト ボックス 148">
            <a:extLst>
              <a:ext uri="{FF2B5EF4-FFF2-40B4-BE49-F238E27FC236}">
                <a16:creationId xmlns:a16="http://schemas.microsoft.com/office/drawing/2014/main" id="{353E9E04-A303-88A6-C5E3-7AD15D4FE257}"/>
              </a:ext>
            </a:extLst>
          </p:cNvPr>
          <p:cNvSpPr txBox="1"/>
          <p:nvPr/>
        </p:nvSpPr>
        <p:spPr>
          <a:xfrm>
            <a:off x="188864" y="3682037"/>
            <a:ext cx="1800493" cy="307777"/>
          </a:xfrm>
          <a:prstGeom prst="rect">
            <a:avLst/>
          </a:prstGeom>
          <a:noFill/>
        </p:spPr>
        <p:txBody>
          <a:bodyPr wrap="none" rtlCol="0">
            <a:spAutoFit/>
          </a:bodyPr>
          <a:lstStyle/>
          <a:p>
            <a:r>
              <a:rPr lang="ja-JP" altLang="en-US" sz="1400" b="1" dirty="0"/>
              <a:t>当月の業務完了総額</a:t>
            </a:r>
            <a:endParaRPr kumimoji="1" lang="ja-JP" altLang="en-US" sz="1400" b="1" dirty="0"/>
          </a:p>
        </p:txBody>
      </p:sp>
      <p:sp>
        <p:nvSpPr>
          <p:cNvPr id="152" name="四角形: 角を丸くする 151">
            <a:extLst>
              <a:ext uri="{FF2B5EF4-FFF2-40B4-BE49-F238E27FC236}">
                <a16:creationId xmlns:a16="http://schemas.microsoft.com/office/drawing/2014/main" id="{6AE69330-2F7B-84A0-6932-9FF0AE78C8AF}"/>
              </a:ext>
            </a:extLst>
          </p:cNvPr>
          <p:cNvSpPr/>
          <p:nvPr/>
        </p:nvSpPr>
        <p:spPr>
          <a:xfrm>
            <a:off x="276770" y="4161885"/>
            <a:ext cx="1552767" cy="1016150"/>
          </a:xfrm>
          <a:prstGeom prst="roundRect">
            <a:avLst/>
          </a:prstGeom>
          <a:solidFill>
            <a:schemeClr val="accent2">
              <a:lumMod val="20000"/>
              <a:lumOff val="8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2800" b="1" dirty="0">
                <a:solidFill>
                  <a:schemeClr val="tx1"/>
                </a:solidFill>
              </a:rPr>
              <a:t>4,950</a:t>
            </a:r>
            <a:r>
              <a:rPr lang="ja-JP" altLang="en-US" dirty="0">
                <a:solidFill>
                  <a:schemeClr val="tx1"/>
                </a:solidFill>
              </a:rPr>
              <a:t>万円</a:t>
            </a:r>
            <a:r>
              <a:rPr lang="en-US" altLang="ja-JP" dirty="0">
                <a:solidFill>
                  <a:schemeClr val="tx1"/>
                </a:solidFill>
              </a:rPr>
              <a:t>/</a:t>
            </a:r>
            <a:r>
              <a:rPr lang="ja-JP" altLang="en-US" dirty="0">
                <a:solidFill>
                  <a:schemeClr val="tx1"/>
                </a:solidFill>
              </a:rPr>
              <a:t>月</a:t>
            </a:r>
          </a:p>
        </p:txBody>
      </p:sp>
      <p:sp>
        <p:nvSpPr>
          <p:cNvPr id="153" name="矢印: 右 152">
            <a:extLst>
              <a:ext uri="{FF2B5EF4-FFF2-40B4-BE49-F238E27FC236}">
                <a16:creationId xmlns:a16="http://schemas.microsoft.com/office/drawing/2014/main" id="{3FBBE911-5DF2-F5FC-AB7E-C566C9AC2808}"/>
              </a:ext>
            </a:extLst>
          </p:cNvPr>
          <p:cNvSpPr/>
          <p:nvPr/>
        </p:nvSpPr>
        <p:spPr>
          <a:xfrm>
            <a:off x="1946655" y="4400550"/>
            <a:ext cx="229820" cy="577847"/>
          </a:xfrm>
          <a:prstGeom prst="rightArrow">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54" name="正方形/長方形 153">
            <a:extLst>
              <a:ext uri="{FF2B5EF4-FFF2-40B4-BE49-F238E27FC236}">
                <a16:creationId xmlns:a16="http://schemas.microsoft.com/office/drawing/2014/main" id="{38E1D235-4A54-A46D-D00F-E495F0CED731}"/>
              </a:ext>
            </a:extLst>
          </p:cNvPr>
          <p:cNvSpPr/>
          <p:nvPr/>
        </p:nvSpPr>
        <p:spPr>
          <a:xfrm>
            <a:off x="9623319" y="1452597"/>
            <a:ext cx="2061133" cy="814628"/>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サマリ部分に目標と実績と達成率を表示</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200" dirty="0">
                <a:solidFill>
                  <a:schemeClr val="tx1"/>
                </a:solidFill>
                <a:latin typeface="Meiryo UI" panose="020B0604030504040204" pitchFamily="50" charset="-128"/>
                <a:ea typeface="Meiryo UI" panose="020B0604030504040204" pitchFamily="50" charset="-128"/>
              </a:rPr>
              <a:t>目標は直接入力できるようにする</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cxnSp>
        <p:nvCxnSpPr>
          <p:cNvPr id="155" name="直線コネクタ 154">
            <a:extLst>
              <a:ext uri="{FF2B5EF4-FFF2-40B4-BE49-F238E27FC236}">
                <a16:creationId xmlns:a16="http://schemas.microsoft.com/office/drawing/2014/main" id="{02D709AE-1735-14C9-4CAF-94777265D104}"/>
              </a:ext>
            </a:extLst>
          </p:cNvPr>
          <p:cNvCxnSpPr>
            <a:cxnSpLocks/>
            <a:stCxn id="154" idx="1"/>
            <a:endCxn id="159" idx="1"/>
          </p:cNvCxnSpPr>
          <p:nvPr/>
        </p:nvCxnSpPr>
        <p:spPr>
          <a:xfrm flipH="1">
            <a:off x="8873014" y="1859911"/>
            <a:ext cx="750305" cy="462796"/>
          </a:xfrm>
          <a:prstGeom prst="line">
            <a:avLst/>
          </a:prstGeom>
          <a:ln>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159" name="右中かっこ 158">
            <a:extLst>
              <a:ext uri="{FF2B5EF4-FFF2-40B4-BE49-F238E27FC236}">
                <a16:creationId xmlns:a16="http://schemas.microsoft.com/office/drawing/2014/main" id="{B98D5997-0851-6824-B1A0-89141012ECF3}"/>
              </a:ext>
            </a:extLst>
          </p:cNvPr>
          <p:cNvSpPr/>
          <p:nvPr/>
        </p:nvSpPr>
        <p:spPr>
          <a:xfrm>
            <a:off x="8489950" y="1679963"/>
            <a:ext cx="383064" cy="1285487"/>
          </a:xfrm>
          <a:prstGeom prst="rightBrace">
            <a:avLst/>
          </a:prstGeom>
          <a:ln>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162" name="正方形/長方形 161">
            <a:extLst>
              <a:ext uri="{FF2B5EF4-FFF2-40B4-BE49-F238E27FC236}">
                <a16:creationId xmlns:a16="http://schemas.microsoft.com/office/drawing/2014/main" id="{96CD9E3C-BE56-5873-3089-D0D8496C4533}"/>
              </a:ext>
            </a:extLst>
          </p:cNvPr>
          <p:cNvSpPr/>
          <p:nvPr/>
        </p:nvSpPr>
        <p:spPr>
          <a:xfrm>
            <a:off x="2974869" y="266423"/>
            <a:ext cx="2061133" cy="814628"/>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タブで通常のサマリか、業務完了金額の内訳別かで表示を分けられるようにする</a:t>
            </a:r>
          </a:p>
        </p:txBody>
      </p:sp>
      <p:sp>
        <p:nvSpPr>
          <p:cNvPr id="163" name="正方形/長方形 162">
            <a:extLst>
              <a:ext uri="{FF2B5EF4-FFF2-40B4-BE49-F238E27FC236}">
                <a16:creationId xmlns:a16="http://schemas.microsoft.com/office/drawing/2014/main" id="{E061DCAB-9F19-8400-1DAE-0EE89D0D22E1}"/>
              </a:ext>
            </a:extLst>
          </p:cNvPr>
          <p:cNvSpPr/>
          <p:nvPr/>
        </p:nvSpPr>
        <p:spPr>
          <a:xfrm>
            <a:off x="69850" y="737723"/>
            <a:ext cx="2259555" cy="480486"/>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65" name="直線コネクタ 164">
            <a:extLst>
              <a:ext uri="{FF2B5EF4-FFF2-40B4-BE49-F238E27FC236}">
                <a16:creationId xmlns:a16="http://schemas.microsoft.com/office/drawing/2014/main" id="{39294A17-80FC-3143-270F-F2A536D583BD}"/>
              </a:ext>
            </a:extLst>
          </p:cNvPr>
          <p:cNvCxnSpPr>
            <a:stCxn id="163" idx="3"/>
            <a:endCxn id="162" idx="1"/>
          </p:cNvCxnSpPr>
          <p:nvPr/>
        </p:nvCxnSpPr>
        <p:spPr>
          <a:xfrm flipV="1">
            <a:off x="2329405" y="673737"/>
            <a:ext cx="645464" cy="304229"/>
          </a:xfrm>
          <a:prstGeom prst="line">
            <a:avLst/>
          </a:prstGeom>
          <a:ln>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168" name="正方形/長方形 167">
            <a:extLst>
              <a:ext uri="{FF2B5EF4-FFF2-40B4-BE49-F238E27FC236}">
                <a16:creationId xmlns:a16="http://schemas.microsoft.com/office/drawing/2014/main" id="{4E0D130F-CFF1-5A93-B9C2-BC508058E7F5}"/>
              </a:ext>
            </a:extLst>
          </p:cNvPr>
          <p:cNvSpPr/>
          <p:nvPr/>
        </p:nvSpPr>
        <p:spPr>
          <a:xfrm>
            <a:off x="7666017" y="3834092"/>
            <a:ext cx="2830533" cy="1239557"/>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内訳別のタブに切り替えたら、業務完了金額の内訳を手続き区分別に横積み上げグラフで表示する。他にいいグラフ表現方法がないか？</a:t>
            </a:r>
          </a:p>
        </p:txBody>
      </p:sp>
      <p:cxnSp>
        <p:nvCxnSpPr>
          <p:cNvPr id="169" name="直線コネクタ 168">
            <a:extLst>
              <a:ext uri="{FF2B5EF4-FFF2-40B4-BE49-F238E27FC236}">
                <a16:creationId xmlns:a16="http://schemas.microsoft.com/office/drawing/2014/main" id="{802CC5AA-F0D8-F742-1737-6FD7586FF46F}"/>
              </a:ext>
            </a:extLst>
          </p:cNvPr>
          <p:cNvCxnSpPr>
            <a:cxnSpLocks/>
            <a:stCxn id="168" idx="1"/>
          </p:cNvCxnSpPr>
          <p:nvPr/>
        </p:nvCxnSpPr>
        <p:spPr>
          <a:xfrm flipH="1">
            <a:off x="6915712" y="4453871"/>
            <a:ext cx="750305" cy="250332"/>
          </a:xfrm>
          <a:prstGeom prst="line">
            <a:avLst/>
          </a:prstGeom>
          <a:ln>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957177728"/>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AB3323-21B7-96B8-1BC9-F21F261E41D4}"/>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F055F731-33DB-F69A-AE09-07F1B669AD35}"/>
              </a:ext>
            </a:extLst>
          </p:cNvPr>
          <p:cNvSpPr/>
          <p:nvPr/>
        </p:nvSpPr>
        <p:spPr>
          <a:xfrm>
            <a:off x="0" y="0"/>
            <a:ext cx="12192000" cy="6858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9" name="直線コネクタ 8">
            <a:extLst>
              <a:ext uri="{FF2B5EF4-FFF2-40B4-BE49-F238E27FC236}">
                <a16:creationId xmlns:a16="http://schemas.microsoft.com/office/drawing/2014/main" id="{492B0689-A7AE-B15F-BD59-5077856B5E30}"/>
              </a:ext>
            </a:extLst>
          </p:cNvPr>
          <p:cNvCxnSpPr/>
          <p:nvPr/>
        </p:nvCxnSpPr>
        <p:spPr>
          <a:xfrm>
            <a:off x="736600" y="1568450"/>
            <a:ext cx="7664450"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正方形/長方形 9">
            <a:extLst>
              <a:ext uri="{FF2B5EF4-FFF2-40B4-BE49-F238E27FC236}">
                <a16:creationId xmlns:a16="http://schemas.microsoft.com/office/drawing/2014/main" id="{BA358D39-CF15-0287-A410-F3D22BFAC18F}"/>
              </a:ext>
            </a:extLst>
          </p:cNvPr>
          <p:cNvSpPr/>
          <p:nvPr/>
        </p:nvSpPr>
        <p:spPr>
          <a:xfrm>
            <a:off x="850900" y="1460500"/>
            <a:ext cx="36000" cy="23494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27BEB98C-B952-EA94-C9CB-473B32668477}"/>
              </a:ext>
            </a:extLst>
          </p:cNvPr>
          <p:cNvSpPr/>
          <p:nvPr/>
        </p:nvSpPr>
        <p:spPr>
          <a:xfrm>
            <a:off x="717550" y="1473200"/>
            <a:ext cx="36000" cy="180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1AED4180-7794-D96A-BDDE-CF075D5EA66C}"/>
              </a:ext>
            </a:extLst>
          </p:cNvPr>
          <p:cNvSpPr/>
          <p:nvPr/>
        </p:nvSpPr>
        <p:spPr>
          <a:xfrm>
            <a:off x="8153400" y="1460500"/>
            <a:ext cx="36000" cy="180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テキスト ボックス 1">
            <a:extLst>
              <a:ext uri="{FF2B5EF4-FFF2-40B4-BE49-F238E27FC236}">
                <a16:creationId xmlns:a16="http://schemas.microsoft.com/office/drawing/2014/main" id="{6BB513ED-1BA6-8BD4-4CDA-02883FA7DC54}"/>
              </a:ext>
            </a:extLst>
          </p:cNvPr>
          <p:cNvSpPr txBox="1"/>
          <p:nvPr/>
        </p:nvSpPr>
        <p:spPr>
          <a:xfrm>
            <a:off x="552450" y="2025650"/>
            <a:ext cx="6502101" cy="2123658"/>
          </a:xfrm>
          <a:prstGeom prst="rect">
            <a:avLst/>
          </a:prstGeom>
          <a:noFill/>
        </p:spPr>
        <p:txBody>
          <a:bodyPr wrap="none" rtlCol="0">
            <a:spAutoFit/>
          </a:bodyPr>
          <a:lstStyle/>
          <a:p>
            <a:r>
              <a:rPr lang="ja-JP" altLang="en-US" sz="6600" b="1" dirty="0">
                <a:solidFill>
                  <a:schemeClr val="bg1"/>
                </a:solidFill>
                <a:latin typeface="Meiryo UI" panose="020B0604030504040204" pitchFamily="50" charset="-128"/>
                <a:ea typeface="Meiryo UI" panose="020B0604030504040204" pitchFamily="50" charset="-128"/>
              </a:rPr>
              <a:t>相続事業部全体</a:t>
            </a:r>
            <a:endParaRPr lang="en-US" altLang="ja-JP" sz="6600" b="1" dirty="0">
              <a:solidFill>
                <a:schemeClr val="bg1"/>
              </a:solidFill>
              <a:latin typeface="Meiryo UI" panose="020B0604030504040204" pitchFamily="50" charset="-128"/>
              <a:ea typeface="Meiryo UI" panose="020B0604030504040204" pitchFamily="50" charset="-128"/>
            </a:endParaRPr>
          </a:p>
          <a:p>
            <a:r>
              <a:rPr lang="ja-JP" altLang="en-US" sz="6600" b="1" dirty="0">
                <a:solidFill>
                  <a:schemeClr val="bg1"/>
                </a:solidFill>
                <a:latin typeface="Meiryo UI" panose="020B0604030504040204" pitchFamily="50" charset="-128"/>
                <a:ea typeface="Meiryo UI" panose="020B0604030504040204" pitchFamily="50" charset="-128"/>
              </a:rPr>
              <a:t>日次</a:t>
            </a:r>
            <a:r>
              <a:rPr kumimoji="1" lang="ja-JP" altLang="en-US" sz="6600" b="1" dirty="0">
                <a:solidFill>
                  <a:schemeClr val="bg1"/>
                </a:solidFill>
                <a:latin typeface="Meiryo UI" panose="020B0604030504040204" pitchFamily="50" charset="-128"/>
                <a:ea typeface="Meiryo UI" panose="020B0604030504040204" pitchFamily="50" charset="-128"/>
              </a:rPr>
              <a:t>ダッシュボード</a:t>
            </a:r>
          </a:p>
        </p:txBody>
      </p:sp>
      <p:sp>
        <p:nvSpPr>
          <p:cNvPr id="3" name="テキスト ボックス 2">
            <a:extLst>
              <a:ext uri="{FF2B5EF4-FFF2-40B4-BE49-F238E27FC236}">
                <a16:creationId xmlns:a16="http://schemas.microsoft.com/office/drawing/2014/main" id="{85813182-1095-7961-7DD0-BA92679319E7}"/>
              </a:ext>
            </a:extLst>
          </p:cNvPr>
          <p:cNvSpPr txBox="1"/>
          <p:nvPr/>
        </p:nvSpPr>
        <p:spPr>
          <a:xfrm>
            <a:off x="635000" y="926066"/>
            <a:ext cx="5046574" cy="369332"/>
          </a:xfrm>
          <a:prstGeom prst="rect">
            <a:avLst/>
          </a:prstGeom>
          <a:noFill/>
        </p:spPr>
        <p:txBody>
          <a:bodyPr wrap="none" rtlCol="0">
            <a:spAutoFit/>
          </a:bodyPr>
          <a:lstStyle/>
          <a:p>
            <a:r>
              <a:rPr kumimoji="1" lang="en-US" altLang="ja-JP" b="1" dirty="0">
                <a:solidFill>
                  <a:schemeClr val="bg1"/>
                </a:solidFill>
                <a:latin typeface="Meiryo UI" panose="020B0604030504040204" pitchFamily="50" charset="-128"/>
                <a:ea typeface="Meiryo UI" panose="020B0604030504040204" pitchFamily="50" charset="-128"/>
              </a:rPr>
              <a:t>02 </a:t>
            </a:r>
            <a:r>
              <a:rPr kumimoji="1" lang="ja-JP" altLang="en-US" b="1" dirty="0">
                <a:solidFill>
                  <a:schemeClr val="bg1"/>
                </a:solidFill>
                <a:latin typeface="Meiryo UI" panose="020B0604030504040204" pitchFamily="50" charset="-128"/>
                <a:ea typeface="Meiryo UI" panose="020B0604030504040204" pitchFamily="50" charset="-128"/>
              </a:rPr>
              <a:t>相続事業部全体の日次の受注数値を管理する</a:t>
            </a:r>
          </a:p>
        </p:txBody>
      </p:sp>
    </p:spTree>
    <p:extLst>
      <p:ext uri="{BB962C8B-B14F-4D97-AF65-F5344CB8AC3E}">
        <p14:creationId xmlns:p14="http://schemas.microsoft.com/office/powerpoint/2010/main" val="2175476843"/>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8CC269CF-7352-C33F-CE3A-BA6BD5323E4C}"/>
              </a:ext>
            </a:extLst>
          </p:cNvPr>
          <p:cNvSpPr txBox="1"/>
          <p:nvPr/>
        </p:nvSpPr>
        <p:spPr>
          <a:xfrm>
            <a:off x="427597" y="368391"/>
            <a:ext cx="1954381" cy="369332"/>
          </a:xfrm>
          <a:prstGeom prst="rect">
            <a:avLst/>
          </a:prstGeom>
          <a:noFill/>
        </p:spPr>
        <p:txBody>
          <a:bodyPr wrap="none" rtlCol="0">
            <a:spAutoFit/>
          </a:bodyPr>
          <a:lstStyle/>
          <a:p>
            <a:r>
              <a:rPr kumimoji="1" lang="ja-JP" altLang="en-US" b="1" dirty="0">
                <a:latin typeface="Meiryo UI" panose="020B0604030504040204" pitchFamily="50" charset="-128"/>
                <a:ea typeface="Meiryo UI" panose="020B0604030504040204" pitchFamily="50" charset="-128"/>
              </a:rPr>
              <a:t>相続事業部　本日</a:t>
            </a:r>
          </a:p>
        </p:txBody>
      </p:sp>
      <p:sp>
        <p:nvSpPr>
          <p:cNvPr id="5" name="正方形/長方形 4">
            <a:extLst>
              <a:ext uri="{FF2B5EF4-FFF2-40B4-BE49-F238E27FC236}">
                <a16:creationId xmlns:a16="http://schemas.microsoft.com/office/drawing/2014/main" id="{5ACD3F16-BA6D-43FD-4C8C-C348C6F6E1E6}"/>
              </a:ext>
            </a:extLst>
          </p:cNvPr>
          <p:cNvSpPr/>
          <p:nvPr/>
        </p:nvSpPr>
        <p:spPr>
          <a:xfrm>
            <a:off x="552586" y="1052547"/>
            <a:ext cx="206113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新規受注案件</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7B4C4C47-0D61-199A-825F-AF18493E6FA8}"/>
              </a:ext>
            </a:extLst>
          </p:cNvPr>
          <p:cNvSpPr/>
          <p:nvPr/>
        </p:nvSpPr>
        <p:spPr>
          <a:xfrm>
            <a:off x="2793660" y="1052547"/>
            <a:ext cx="206113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管理案件</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1392B7CD-3B96-9DDB-FE61-B649354D9DC2}"/>
              </a:ext>
            </a:extLst>
          </p:cNvPr>
          <p:cNvSpPr/>
          <p:nvPr/>
        </p:nvSpPr>
        <p:spPr>
          <a:xfrm>
            <a:off x="5034733" y="1052547"/>
            <a:ext cx="206113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完了案件</a:t>
            </a:r>
          </a:p>
        </p:txBody>
      </p:sp>
      <p:sp>
        <p:nvSpPr>
          <p:cNvPr id="8" name="四角形: 角を丸くする 7">
            <a:extLst>
              <a:ext uri="{FF2B5EF4-FFF2-40B4-BE49-F238E27FC236}">
                <a16:creationId xmlns:a16="http://schemas.microsoft.com/office/drawing/2014/main" id="{3289BB53-300C-B3FF-4407-DEEE1E17EB4C}"/>
              </a:ext>
            </a:extLst>
          </p:cNvPr>
          <p:cNvSpPr/>
          <p:nvPr/>
        </p:nvSpPr>
        <p:spPr>
          <a:xfrm>
            <a:off x="552586" y="1565663"/>
            <a:ext cx="2061133"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5</a:t>
            </a:r>
            <a:r>
              <a:rPr kumimoji="1" lang="ja-JP" altLang="en-US" sz="1200" dirty="0">
                <a:solidFill>
                  <a:schemeClr val="tx1"/>
                </a:solidFill>
              </a:rPr>
              <a:t>件</a:t>
            </a:r>
            <a:r>
              <a:rPr kumimoji="1" lang="en-US" altLang="ja-JP" sz="1200" dirty="0">
                <a:solidFill>
                  <a:schemeClr val="tx1"/>
                </a:solidFill>
              </a:rPr>
              <a:t>/</a:t>
            </a:r>
            <a:r>
              <a:rPr kumimoji="1" lang="ja-JP" altLang="en-US" sz="1200" dirty="0">
                <a:solidFill>
                  <a:schemeClr val="tx1"/>
                </a:solidFill>
              </a:rPr>
              <a:t>日</a:t>
            </a:r>
          </a:p>
        </p:txBody>
      </p:sp>
      <p:sp>
        <p:nvSpPr>
          <p:cNvPr id="9" name="四角形: 角を丸くする 8">
            <a:extLst>
              <a:ext uri="{FF2B5EF4-FFF2-40B4-BE49-F238E27FC236}">
                <a16:creationId xmlns:a16="http://schemas.microsoft.com/office/drawing/2014/main" id="{326C7C56-1AFC-A3CD-7BA0-DB1919F6802D}"/>
              </a:ext>
            </a:extLst>
          </p:cNvPr>
          <p:cNvSpPr/>
          <p:nvPr/>
        </p:nvSpPr>
        <p:spPr>
          <a:xfrm>
            <a:off x="2793660" y="1565663"/>
            <a:ext cx="2061133"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3</a:t>
            </a:r>
            <a:r>
              <a:rPr kumimoji="1" lang="ja-JP" altLang="en-US" sz="1200" dirty="0">
                <a:solidFill>
                  <a:schemeClr val="tx1"/>
                </a:solidFill>
              </a:rPr>
              <a:t>件</a:t>
            </a:r>
            <a:r>
              <a:rPr kumimoji="1" lang="en-US" altLang="ja-JP" sz="1200" dirty="0">
                <a:solidFill>
                  <a:schemeClr val="tx1"/>
                </a:solidFill>
              </a:rPr>
              <a:t>/</a:t>
            </a:r>
            <a:r>
              <a:rPr kumimoji="1" lang="ja-JP" altLang="en-US" sz="1200" dirty="0">
                <a:solidFill>
                  <a:schemeClr val="tx1"/>
                </a:solidFill>
              </a:rPr>
              <a:t>日</a:t>
            </a:r>
          </a:p>
        </p:txBody>
      </p:sp>
      <p:sp>
        <p:nvSpPr>
          <p:cNvPr id="10" name="四角形: 角を丸くする 9">
            <a:extLst>
              <a:ext uri="{FF2B5EF4-FFF2-40B4-BE49-F238E27FC236}">
                <a16:creationId xmlns:a16="http://schemas.microsoft.com/office/drawing/2014/main" id="{39F4B8FD-CBF7-72BF-23DC-4AAA7F66BEF1}"/>
              </a:ext>
            </a:extLst>
          </p:cNvPr>
          <p:cNvSpPr/>
          <p:nvPr/>
        </p:nvSpPr>
        <p:spPr>
          <a:xfrm>
            <a:off x="5034733" y="1565663"/>
            <a:ext cx="2061133"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3</a:t>
            </a:r>
            <a:r>
              <a:rPr kumimoji="1" lang="ja-JP" altLang="en-US" sz="1200" dirty="0">
                <a:solidFill>
                  <a:schemeClr val="tx1"/>
                </a:solidFill>
              </a:rPr>
              <a:t>件</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11" name="正方形/長方形 10">
            <a:extLst>
              <a:ext uri="{FF2B5EF4-FFF2-40B4-BE49-F238E27FC236}">
                <a16:creationId xmlns:a16="http://schemas.microsoft.com/office/drawing/2014/main" id="{4BF620CF-433C-D62E-D66C-7CE91DABB2B0}"/>
              </a:ext>
            </a:extLst>
          </p:cNvPr>
          <p:cNvSpPr/>
          <p:nvPr/>
        </p:nvSpPr>
        <p:spPr>
          <a:xfrm>
            <a:off x="552586" y="2520630"/>
            <a:ext cx="2061133"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200" dirty="0">
                <a:solidFill>
                  <a:schemeClr val="tx1"/>
                </a:solidFill>
                <a:latin typeface="Meiryo UI" panose="020B0604030504040204" pitchFamily="50" charset="-128"/>
                <a:ea typeface="Meiryo UI" panose="020B0604030504040204" pitchFamily="50" charset="-128"/>
              </a:rPr>
              <a:t>本日新たに受注した案件の総数をカウント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cxnSp>
        <p:nvCxnSpPr>
          <p:cNvPr id="12" name="直線コネクタ 11">
            <a:extLst>
              <a:ext uri="{FF2B5EF4-FFF2-40B4-BE49-F238E27FC236}">
                <a16:creationId xmlns:a16="http://schemas.microsoft.com/office/drawing/2014/main" id="{AC8FC5E9-7311-91D8-032E-40402EEF2D30}"/>
              </a:ext>
            </a:extLst>
          </p:cNvPr>
          <p:cNvCxnSpPr>
            <a:stCxn id="11" idx="0"/>
            <a:endCxn id="8" idx="2"/>
          </p:cNvCxnSpPr>
          <p:nvPr/>
        </p:nvCxnSpPr>
        <p:spPr>
          <a:xfrm flipV="1">
            <a:off x="1583153"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正方形/長方形 12">
            <a:extLst>
              <a:ext uri="{FF2B5EF4-FFF2-40B4-BE49-F238E27FC236}">
                <a16:creationId xmlns:a16="http://schemas.microsoft.com/office/drawing/2014/main" id="{6C3F9F37-44A7-E97D-E44B-B10DEDAD6A11}"/>
              </a:ext>
            </a:extLst>
          </p:cNvPr>
          <p:cNvSpPr/>
          <p:nvPr/>
        </p:nvSpPr>
        <p:spPr>
          <a:xfrm>
            <a:off x="2795747" y="2520630"/>
            <a:ext cx="2061133"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新規受注した案件の内、当日に、タスク設計等が終わりステータスが対応中に変化したもの。</a:t>
            </a:r>
          </a:p>
        </p:txBody>
      </p:sp>
      <p:cxnSp>
        <p:nvCxnSpPr>
          <p:cNvPr id="14" name="直線コネクタ 13">
            <a:extLst>
              <a:ext uri="{FF2B5EF4-FFF2-40B4-BE49-F238E27FC236}">
                <a16:creationId xmlns:a16="http://schemas.microsoft.com/office/drawing/2014/main" id="{869463F2-7545-19A8-B55E-684A1E1B2917}"/>
              </a:ext>
            </a:extLst>
          </p:cNvPr>
          <p:cNvCxnSpPr>
            <a:stCxn id="13" idx="0"/>
          </p:cNvCxnSpPr>
          <p:nvPr/>
        </p:nvCxnSpPr>
        <p:spPr>
          <a:xfrm flipV="1">
            <a:off x="3826314"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5" name="正方形/長方形 14">
            <a:extLst>
              <a:ext uri="{FF2B5EF4-FFF2-40B4-BE49-F238E27FC236}">
                <a16:creationId xmlns:a16="http://schemas.microsoft.com/office/drawing/2014/main" id="{58FA3EBD-EEFD-E01D-C582-A34A03BEB2CC}"/>
              </a:ext>
            </a:extLst>
          </p:cNvPr>
          <p:cNvSpPr/>
          <p:nvPr/>
        </p:nvSpPr>
        <p:spPr>
          <a:xfrm>
            <a:off x="5038908" y="2520630"/>
            <a:ext cx="2061133"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200" dirty="0">
                <a:solidFill>
                  <a:schemeClr val="tx1"/>
                </a:solidFill>
                <a:latin typeface="Meiryo UI" panose="020B0604030504040204" pitchFamily="50" charset="-128"/>
                <a:ea typeface="Meiryo UI" panose="020B0604030504040204" pitchFamily="50" charset="-128"/>
              </a:rPr>
              <a:t>本日業務完了した案件の総数をカウント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cxnSp>
        <p:nvCxnSpPr>
          <p:cNvPr id="16" name="直線コネクタ 15">
            <a:extLst>
              <a:ext uri="{FF2B5EF4-FFF2-40B4-BE49-F238E27FC236}">
                <a16:creationId xmlns:a16="http://schemas.microsoft.com/office/drawing/2014/main" id="{23ADED81-6751-81A5-DEEE-0388F2DC39F0}"/>
              </a:ext>
            </a:extLst>
          </p:cNvPr>
          <p:cNvCxnSpPr>
            <a:stCxn id="15" idx="0"/>
          </p:cNvCxnSpPr>
          <p:nvPr/>
        </p:nvCxnSpPr>
        <p:spPr>
          <a:xfrm flipV="1">
            <a:off x="6069475"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7" name="正方形/長方形 16">
            <a:extLst>
              <a:ext uri="{FF2B5EF4-FFF2-40B4-BE49-F238E27FC236}">
                <a16:creationId xmlns:a16="http://schemas.microsoft.com/office/drawing/2014/main" id="{60A05164-CD08-46D5-EC8E-A634AF6669C0}"/>
              </a:ext>
            </a:extLst>
          </p:cNvPr>
          <p:cNvSpPr/>
          <p:nvPr/>
        </p:nvSpPr>
        <p:spPr>
          <a:xfrm>
            <a:off x="9516880" y="1052547"/>
            <a:ext cx="206113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業務完了金額</a:t>
            </a:r>
          </a:p>
        </p:txBody>
      </p:sp>
      <p:sp>
        <p:nvSpPr>
          <p:cNvPr id="18" name="四角形: 角を丸くする 17">
            <a:extLst>
              <a:ext uri="{FF2B5EF4-FFF2-40B4-BE49-F238E27FC236}">
                <a16:creationId xmlns:a16="http://schemas.microsoft.com/office/drawing/2014/main" id="{9C8ED6D4-3017-45A6-9CB3-FB4662B870DD}"/>
              </a:ext>
            </a:extLst>
          </p:cNvPr>
          <p:cNvSpPr/>
          <p:nvPr/>
        </p:nvSpPr>
        <p:spPr>
          <a:xfrm>
            <a:off x="9516880" y="1565663"/>
            <a:ext cx="2061133"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150</a:t>
            </a:r>
            <a:r>
              <a:rPr kumimoji="1" lang="ja-JP" altLang="en-US" sz="1200" dirty="0">
                <a:solidFill>
                  <a:schemeClr val="tx1"/>
                </a:solidFill>
              </a:rPr>
              <a:t>万円</a:t>
            </a:r>
            <a:r>
              <a:rPr kumimoji="1" lang="en-US" altLang="ja-JP" sz="1200" dirty="0">
                <a:solidFill>
                  <a:schemeClr val="tx1"/>
                </a:solidFill>
              </a:rPr>
              <a:t>/</a:t>
            </a:r>
            <a:r>
              <a:rPr kumimoji="1" lang="ja-JP" altLang="en-US" sz="1200" dirty="0">
                <a:solidFill>
                  <a:schemeClr val="tx1"/>
                </a:solidFill>
              </a:rPr>
              <a:t>日</a:t>
            </a:r>
          </a:p>
        </p:txBody>
      </p:sp>
      <p:sp>
        <p:nvSpPr>
          <p:cNvPr id="19" name="正方形/長方形 18">
            <a:extLst>
              <a:ext uri="{FF2B5EF4-FFF2-40B4-BE49-F238E27FC236}">
                <a16:creationId xmlns:a16="http://schemas.microsoft.com/office/drawing/2014/main" id="{820324E6-E35D-4645-4592-4E2416BCEA93}"/>
              </a:ext>
            </a:extLst>
          </p:cNvPr>
          <p:cNvSpPr/>
          <p:nvPr/>
        </p:nvSpPr>
        <p:spPr>
          <a:xfrm>
            <a:off x="7273718" y="1052547"/>
            <a:ext cx="206113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完了割合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20" name="四角形: 角を丸くする 19">
            <a:extLst>
              <a:ext uri="{FF2B5EF4-FFF2-40B4-BE49-F238E27FC236}">
                <a16:creationId xmlns:a16="http://schemas.microsoft.com/office/drawing/2014/main" id="{91391F48-28F6-27E6-F391-E4EDF513263C}"/>
              </a:ext>
            </a:extLst>
          </p:cNvPr>
          <p:cNvSpPr/>
          <p:nvPr/>
        </p:nvSpPr>
        <p:spPr>
          <a:xfrm>
            <a:off x="7273718" y="1565663"/>
            <a:ext cx="2061133"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chemeClr val="tx1"/>
                </a:solidFill>
              </a:rPr>
              <a:t>23/250</a:t>
            </a:r>
            <a:r>
              <a:rPr lang="ja-JP" altLang="en-US" sz="1200" dirty="0">
                <a:solidFill>
                  <a:schemeClr val="tx1"/>
                </a:solidFill>
              </a:rPr>
              <a:t>件</a:t>
            </a:r>
            <a:endParaRPr kumimoji="1" lang="ja-JP" altLang="en-US" sz="1200" dirty="0">
              <a:solidFill>
                <a:schemeClr val="tx1"/>
              </a:solidFill>
            </a:endParaRPr>
          </a:p>
        </p:txBody>
      </p:sp>
      <p:sp>
        <p:nvSpPr>
          <p:cNvPr id="21" name="正方形/長方形 20">
            <a:extLst>
              <a:ext uri="{FF2B5EF4-FFF2-40B4-BE49-F238E27FC236}">
                <a16:creationId xmlns:a16="http://schemas.microsoft.com/office/drawing/2014/main" id="{2098FD75-53A6-5151-6F45-3B28DA2CF548}"/>
              </a:ext>
            </a:extLst>
          </p:cNvPr>
          <p:cNvSpPr/>
          <p:nvPr/>
        </p:nvSpPr>
        <p:spPr>
          <a:xfrm>
            <a:off x="7277893" y="2520630"/>
            <a:ext cx="2061133"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200" dirty="0">
                <a:solidFill>
                  <a:schemeClr val="tx1"/>
                </a:solidFill>
                <a:latin typeface="Meiryo UI" panose="020B0604030504040204" pitchFamily="50" charset="-128"/>
                <a:ea typeface="Meiryo UI" panose="020B0604030504040204" pitchFamily="50" charset="-128"/>
              </a:rPr>
              <a:t>当月業務完了予定の案件数に対して、本日時点でどれくらい完了しているかの割合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cxnSp>
        <p:nvCxnSpPr>
          <p:cNvPr id="22" name="直線コネクタ 21">
            <a:extLst>
              <a:ext uri="{FF2B5EF4-FFF2-40B4-BE49-F238E27FC236}">
                <a16:creationId xmlns:a16="http://schemas.microsoft.com/office/drawing/2014/main" id="{B4FA73CB-222E-D1F7-62FC-2FC38B179A3E}"/>
              </a:ext>
            </a:extLst>
          </p:cNvPr>
          <p:cNvCxnSpPr>
            <a:stCxn id="21" idx="0"/>
          </p:cNvCxnSpPr>
          <p:nvPr/>
        </p:nvCxnSpPr>
        <p:spPr>
          <a:xfrm flipV="1">
            <a:off x="8308460"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3" name="正方形/長方形 22">
            <a:extLst>
              <a:ext uri="{FF2B5EF4-FFF2-40B4-BE49-F238E27FC236}">
                <a16:creationId xmlns:a16="http://schemas.microsoft.com/office/drawing/2014/main" id="{E466738A-0B6E-E56B-A0D6-157488DEC2BD}"/>
              </a:ext>
            </a:extLst>
          </p:cNvPr>
          <p:cNvSpPr/>
          <p:nvPr/>
        </p:nvSpPr>
        <p:spPr>
          <a:xfrm>
            <a:off x="9578280" y="2520630"/>
            <a:ext cx="2061133"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本日業務完了した案件の確定売上の合計</a:t>
            </a:r>
          </a:p>
        </p:txBody>
      </p:sp>
      <p:cxnSp>
        <p:nvCxnSpPr>
          <p:cNvPr id="24" name="直線コネクタ 23">
            <a:extLst>
              <a:ext uri="{FF2B5EF4-FFF2-40B4-BE49-F238E27FC236}">
                <a16:creationId xmlns:a16="http://schemas.microsoft.com/office/drawing/2014/main" id="{8EC23185-9187-711C-531A-D251284DCBBB}"/>
              </a:ext>
            </a:extLst>
          </p:cNvPr>
          <p:cNvCxnSpPr>
            <a:stCxn id="23" idx="0"/>
          </p:cNvCxnSpPr>
          <p:nvPr/>
        </p:nvCxnSpPr>
        <p:spPr>
          <a:xfrm flipV="1">
            <a:off x="10608847"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grpSp>
        <p:nvGrpSpPr>
          <p:cNvPr id="25" name="グループ化 24">
            <a:extLst>
              <a:ext uri="{FF2B5EF4-FFF2-40B4-BE49-F238E27FC236}">
                <a16:creationId xmlns:a16="http://schemas.microsoft.com/office/drawing/2014/main" id="{DB8BFFC0-93F9-7091-8BFD-B6381FA9F3A3}"/>
              </a:ext>
            </a:extLst>
          </p:cNvPr>
          <p:cNvGrpSpPr/>
          <p:nvPr/>
        </p:nvGrpSpPr>
        <p:grpSpPr>
          <a:xfrm>
            <a:off x="549965" y="3591812"/>
            <a:ext cx="10962265" cy="2129218"/>
            <a:chOff x="549965" y="3591812"/>
            <a:chExt cx="10300121" cy="2129218"/>
          </a:xfrm>
        </p:grpSpPr>
        <p:sp>
          <p:nvSpPr>
            <p:cNvPr id="26" name="正方形/長方形 25">
              <a:extLst>
                <a:ext uri="{FF2B5EF4-FFF2-40B4-BE49-F238E27FC236}">
                  <a16:creationId xmlns:a16="http://schemas.microsoft.com/office/drawing/2014/main" id="{9F7EFC7A-2D55-0974-96BF-C374F12BABC1}"/>
                </a:ext>
              </a:extLst>
            </p:cNvPr>
            <p:cNvSpPr/>
            <p:nvPr/>
          </p:nvSpPr>
          <p:spPr>
            <a:xfrm>
              <a:off x="552586" y="3599491"/>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氏名</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27" name="正方形/長方形 26">
              <a:extLst>
                <a:ext uri="{FF2B5EF4-FFF2-40B4-BE49-F238E27FC236}">
                  <a16:creationId xmlns:a16="http://schemas.microsoft.com/office/drawing/2014/main" id="{19396BD2-03B2-C917-38C2-CC69FCFFCABC}"/>
                </a:ext>
              </a:extLst>
            </p:cNvPr>
            <p:cNvSpPr/>
            <p:nvPr/>
          </p:nvSpPr>
          <p:spPr>
            <a:xfrm>
              <a:off x="1965744" y="3599491"/>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所属チーム</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6F59843E-E30B-8686-CCA6-BDA9A88679F9}"/>
                </a:ext>
              </a:extLst>
            </p:cNvPr>
            <p:cNvSpPr/>
            <p:nvPr/>
          </p:nvSpPr>
          <p:spPr>
            <a:xfrm>
              <a:off x="3378902" y="3599491"/>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職種</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29" name="正方形/長方形 28">
              <a:extLst>
                <a:ext uri="{FF2B5EF4-FFF2-40B4-BE49-F238E27FC236}">
                  <a16:creationId xmlns:a16="http://schemas.microsoft.com/office/drawing/2014/main" id="{F8843E54-38B6-4E81-56D2-F11B5B22D6DA}"/>
                </a:ext>
              </a:extLst>
            </p:cNvPr>
            <p:cNvSpPr/>
            <p:nvPr/>
          </p:nvSpPr>
          <p:spPr>
            <a:xfrm>
              <a:off x="4792060" y="3599491"/>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在籍期間</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30" name="正方形/長方形 29">
              <a:extLst>
                <a:ext uri="{FF2B5EF4-FFF2-40B4-BE49-F238E27FC236}">
                  <a16:creationId xmlns:a16="http://schemas.microsoft.com/office/drawing/2014/main" id="{28C75275-B53E-5D33-FF35-9A99066C750A}"/>
                </a:ext>
              </a:extLst>
            </p:cNvPr>
            <p:cNvSpPr/>
            <p:nvPr/>
          </p:nvSpPr>
          <p:spPr>
            <a:xfrm>
              <a:off x="6205219" y="3599492"/>
              <a:ext cx="2279436" cy="15020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当月累計</a:t>
              </a:r>
            </a:p>
          </p:txBody>
        </p:sp>
        <p:sp>
          <p:nvSpPr>
            <p:cNvPr id="31" name="正方形/長方形 30">
              <a:extLst>
                <a:ext uri="{FF2B5EF4-FFF2-40B4-BE49-F238E27FC236}">
                  <a16:creationId xmlns:a16="http://schemas.microsoft.com/office/drawing/2014/main" id="{5DFA565B-D4EF-D5F3-1251-1CA64A6060D7}"/>
                </a:ext>
              </a:extLst>
            </p:cNvPr>
            <p:cNvSpPr/>
            <p:nvPr/>
          </p:nvSpPr>
          <p:spPr>
            <a:xfrm>
              <a:off x="6205218" y="3817048"/>
              <a:ext cx="538223" cy="150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新規</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32" name="正方形/長方形 31">
              <a:extLst>
                <a:ext uri="{FF2B5EF4-FFF2-40B4-BE49-F238E27FC236}">
                  <a16:creationId xmlns:a16="http://schemas.microsoft.com/office/drawing/2014/main" id="{85C4F643-8B86-8F4F-C9BF-1815D62B0A37}"/>
                </a:ext>
              </a:extLst>
            </p:cNvPr>
            <p:cNvSpPr/>
            <p:nvPr/>
          </p:nvSpPr>
          <p:spPr>
            <a:xfrm>
              <a:off x="6785622" y="3817047"/>
              <a:ext cx="538223" cy="150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管理</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33" name="正方形/長方形 32">
              <a:extLst>
                <a:ext uri="{FF2B5EF4-FFF2-40B4-BE49-F238E27FC236}">
                  <a16:creationId xmlns:a16="http://schemas.microsoft.com/office/drawing/2014/main" id="{601F822D-45A3-7A2C-5899-87478D63E9A3}"/>
                </a:ext>
              </a:extLst>
            </p:cNvPr>
            <p:cNvSpPr/>
            <p:nvPr/>
          </p:nvSpPr>
          <p:spPr>
            <a:xfrm>
              <a:off x="7366027" y="3817046"/>
              <a:ext cx="538223" cy="150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完了</a:t>
              </a:r>
            </a:p>
          </p:txBody>
        </p:sp>
        <p:sp>
          <p:nvSpPr>
            <p:cNvPr id="34" name="正方形/長方形 33">
              <a:extLst>
                <a:ext uri="{FF2B5EF4-FFF2-40B4-BE49-F238E27FC236}">
                  <a16:creationId xmlns:a16="http://schemas.microsoft.com/office/drawing/2014/main" id="{D53F851F-B186-4C9B-4E7C-F180E4A18C55}"/>
                </a:ext>
              </a:extLst>
            </p:cNvPr>
            <p:cNvSpPr/>
            <p:nvPr/>
          </p:nvSpPr>
          <p:spPr>
            <a:xfrm>
              <a:off x="7946431" y="3817045"/>
              <a:ext cx="538223" cy="150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サイクル</a:t>
              </a:r>
            </a:p>
          </p:txBody>
        </p:sp>
        <p:sp>
          <p:nvSpPr>
            <p:cNvPr id="35" name="正方形/長方形 34">
              <a:extLst>
                <a:ext uri="{FF2B5EF4-FFF2-40B4-BE49-F238E27FC236}">
                  <a16:creationId xmlns:a16="http://schemas.microsoft.com/office/drawing/2014/main" id="{2E039EC5-B99E-9DE5-7F1E-A9EBAFD990CB}"/>
                </a:ext>
              </a:extLst>
            </p:cNvPr>
            <p:cNvSpPr/>
            <p:nvPr/>
          </p:nvSpPr>
          <p:spPr>
            <a:xfrm>
              <a:off x="8570650" y="3591812"/>
              <a:ext cx="2279436" cy="1578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本日</a:t>
              </a:r>
            </a:p>
          </p:txBody>
        </p:sp>
        <p:sp>
          <p:nvSpPr>
            <p:cNvPr id="36" name="正方形/長方形 35">
              <a:extLst>
                <a:ext uri="{FF2B5EF4-FFF2-40B4-BE49-F238E27FC236}">
                  <a16:creationId xmlns:a16="http://schemas.microsoft.com/office/drawing/2014/main" id="{EB98EA2C-1689-51BB-A763-BBC6BDD7BF03}"/>
                </a:ext>
              </a:extLst>
            </p:cNvPr>
            <p:cNvSpPr/>
            <p:nvPr/>
          </p:nvSpPr>
          <p:spPr>
            <a:xfrm>
              <a:off x="8570649" y="3809369"/>
              <a:ext cx="538223" cy="150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新規</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37" name="正方形/長方形 36">
              <a:extLst>
                <a:ext uri="{FF2B5EF4-FFF2-40B4-BE49-F238E27FC236}">
                  <a16:creationId xmlns:a16="http://schemas.microsoft.com/office/drawing/2014/main" id="{38289681-B2D6-A88E-A3D5-77608C57A0FB}"/>
                </a:ext>
              </a:extLst>
            </p:cNvPr>
            <p:cNvSpPr/>
            <p:nvPr/>
          </p:nvSpPr>
          <p:spPr>
            <a:xfrm>
              <a:off x="9151053" y="3809368"/>
              <a:ext cx="538223" cy="150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管理</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38" name="正方形/長方形 37">
              <a:extLst>
                <a:ext uri="{FF2B5EF4-FFF2-40B4-BE49-F238E27FC236}">
                  <a16:creationId xmlns:a16="http://schemas.microsoft.com/office/drawing/2014/main" id="{820955EB-7A41-35DA-7073-E990AA00107F}"/>
                </a:ext>
              </a:extLst>
            </p:cNvPr>
            <p:cNvSpPr/>
            <p:nvPr/>
          </p:nvSpPr>
          <p:spPr>
            <a:xfrm>
              <a:off x="9731458" y="3809367"/>
              <a:ext cx="538223" cy="150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完了</a:t>
              </a:r>
            </a:p>
          </p:txBody>
        </p:sp>
        <p:sp>
          <p:nvSpPr>
            <p:cNvPr id="39" name="正方形/長方形 38">
              <a:extLst>
                <a:ext uri="{FF2B5EF4-FFF2-40B4-BE49-F238E27FC236}">
                  <a16:creationId xmlns:a16="http://schemas.microsoft.com/office/drawing/2014/main" id="{4A745F26-8424-5754-F596-E53689DD5FD8}"/>
                </a:ext>
              </a:extLst>
            </p:cNvPr>
            <p:cNvSpPr/>
            <p:nvPr/>
          </p:nvSpPr>
          <p:spPr>
            <a:xfrm>
              <a:off x="10311862" y="3809366"/>
              <a:ext cx="538223" cy="150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サイクル</a:t>
              </a:r>
            </a:p>
          </p:txBody>
        </p:sp>
        <p:sp>
          <p:nvSpPr>
            <p:cNvPr id="40" name="正方形/長方形 39">
              <a:extLst>
                <a:ext uri="{FF2B5EF4-FFF2-40B4-BE49-F238E27FC236}">
                  <a16:creationId xmlns:a16="http://schemas.microsoft.com/office/drawing/2014/main" id="{510A40E2-065D-C765-4292-3FEC7361049B}"/>
                </a:ext>
              </a:extLst>
            </p:cNvPr>
            <p:cNvSpPr/>
            <p:nvPr/>
          </p:nvSpPr>
          <p:spPr>
            <a:xfrm>
              <a:off x="6205218" y="4064680"/>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41" name="正方形/長方形 40">
              <a:extLst>
                <a:ext uri="{FF2B5EF4-FFF2-40B4-BE49-F238E27FC236}">
                  <a16:creationId xmlns:a16="http://schemas.microsoft.com/office/drawing/2014/main" id="{CE13C877-C287-F18A-9E98-7052865CD2FE}"/>
                </a:ext>
              </a:extLst>
            </p:cNvPr>
            <p:cNvSpPr/>
            <p:nvPr/>
          </p:nvSpPr>
          <p:spPr>
            <a:xfrm>
              <a:off x="6785622" y="4064679"/>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42" name="正方形/長方形 41">
              <a:extLst>
                <a:ext uri="{FF2B5EF4-FFF2-40B4-BE49-F238E27FC236}">
                  <a16:creationId xmlns:a16="http://schemas.microsoft.com/office/drawing/2014/main" id="{405D0334-C300-A395-980E-46FBD3FACF50}"/>
                </a:ext>
              </a:extLst>
            </p:cNvPr>
            <p:cNvSpPr/>
            <p:nvPr/>
          </p:nvSpPr>
          <p:spPr>
            <a:xfrm>
              <a:off x="7366027" y="4064678"/>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43" name="正方形/長方形 42">
              <a:extLst>
                <a:ext uri="{FF2B5EF4-FFF2-40B4-BE49-F238E27FC236}">
                  <a16:creationId xmlns:a16="http://schemas.microsoft.com/office/drawing/2014/main" id="{A3970506-2C9D-09A9-9B5B-7A9877EBA0B2}"/>
                </a:ext>
              </a:extLst>
            </p:cNvPr>
            <p:cNvSpPr/>
            <p:nvPr/>
          </p:nvSpPr>
          <p:spPr>
            <a:xfrm>
              <a:off x="7946431" y="4064677"/>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44" name="正方形/長方形 43">
              <a:extLst>
                <a:ext uri="{FF2B5EF4-FFF2-40B4-BE49-F238E27FC236}">
                  <a16:creationId xmlns:a16="http://schemas.microsoft.com/office/drawing/2014/main" id="{3F500C16-0D01-9B73-933E-4A59A93AFFE2}"/>
                </a:ext>
              </a:extLst>
            </p:cNvPr>
            <p:cNvSpPr/>
            <p:nvPr/>
          </p:nvSpPr>
          <p:spPr>
            <a:xfrm>
              <a:off x="8570649" y="4057001"/>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900" dirty="0">
                  <a:solidFill>
                    <a:schemeClr val="tx1"/>
                  </a:solidFill>
                  <a:latin typeface="Meiryo UI" panose="020B0604030504040204" pitchFamily="50" charset="-128"/>
                  <a:ea typeface="Meiryo UI" panose="020B0604030504040204" pitchFamily="50" charset="-128"/>
                </a:rPr>
                <a:t>6</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45" name="正方形/長方形 44">
              <a:extLst>
                <a:ext uri="{FF2B5EF4-FFF2-40B4-BE49-F238E27FC236}">
                  <a16:creationId xmlns:a16="http://schemas.microsoft.com/office/drawing/2014/main" id="{C8BC63AB-EEFE-715C-ED0D-116C5BA67B3B}"/>
                </a:ext>
              </a:extLst>
            </p:cNvPr>
            <p:cNvSpPr/>
            <p:nvPr/>
          </p:nvSpPr>
          <p:spPr>
            <a:xfrm>
              <a:off x="9151053" y="4057000"/>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46" name="正方形/長方形 45">
              <a:extLst>
                <a:ext uri="{FF2B5EF4-FFF2-40B4-BE49-F238E27FC236}">
                  <a16:creationId xmlns:a16="http://schemas.microsoft.com/office/drawing/2014/main" id="{FACD7CF5-9B89-78E2-D57D-533B992C8187}"/>
                </a:ext>
              </a:extLst>
            </p:cNvPr>
            <p:cNvSpPr/>
            <p:nvPr/>
          </p:nvSpPr>
          <p:spPr>
            <a:xfrm>
              <a:off x="9731458" y="4056999"/>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47" name="正方形/長方形 46">
              <a:extLst>
                <a:ext uri="{FF2B5EF4-FFF2-40B4-BE49-F238E27FC236}">
                  <a16:creationId xmlns:a16="http://schemas.microsoft.com/office/drawing/2014/main" id="{E0F17FA8-1A97-F16B-D09B-3EF4EF164EAF}"/>
                </a:ext>
              </a:extLst>
            </p:cNvPr>
            <p:cNvSpPr/>
            <p:nvPr/>
          </p:nvSpPr>
          <p:spPr>
            <a:xfrm>
              <a:off x="10311862" y="4056998"/>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48" name="正方形/長方形 47">
              <a:extLst>
                <a:ext uri="{FF2B5EF4-FFF2-40B4-BE49-F238E27FC236}">
                  <a16:creationId xmlns:a16="http://schemas.microsoft.com/office/drawing/2014/main" id="{B50C82F3-BE42-6F5F-E5F9-ECBEA1E8D307}"/>
                </a:ext>
              </a:extLst>
            </p:cNvPr>
            <p:cNvSpPr/>
            <p:nvPr/>
          </p:nvSpPr>
          <p:spPr>
            <a:xfrm>
              <a:off x="549965" y="4064677"/>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山田太郎</a:t>
              </a:r>
            </a:p>
          </p:txBody>
        </p:sp>
        <p:sp>
          <p:nvSpPr>
            <p:cNvPr id="49" name="正方形/長方形 48">
              <a:extLst>
                <a:ext uri="{FF2B5EF4-FFF2-40B4-BE49-F238E27FC236}">
                  <a16:creationId xmlns:a16="http://schemas.microsoft.com/office/drawing/2014/main" id="{1EF31878-8395-A49F-6E12-B86322F6DC13}"/>
                </a:ext>
              </a:extLst>
            </p:cNvPr>
            <p:cNvSpPr/>
            <p:nvPr/>
          </p:nvSpPr>
          <p:spPr>
            <a:xfrm>
              <a:off x="1963123" y="4064677"/>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伊藤チーム</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50" name="正方形/長方形 49">
              <a:extLst>
                <a:ext uri="{FF2B5EF4-FFF2-40B4-BE49-F238E27FC236}">
                  <a16:creationId xmlns:a16="http://schemas.microsoft.com/office/drawing/2014/main" id="{29D33B5D-1904-DD12-D3A0-C5F5A5FCE6F9}"/>
                </a:ext>
              </a:extLst>
            </p:cNvPr>
            <p:cNvSpPr/>
            <p:nvPr/>
          </p:nvSpPr>
          <p:spPr>
            <a:xfrm>
              <a:off x="3376281" y="4064677"/>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総合職</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51" name="正方形/長方形 50">
              <a:extLst>
                <a:ext uri="{FF2B5EF4-FFF2-40B4-BE49-F238E27FC236}">
                  <a16:creationId xmlns:a16="http://schemas.microsoft.com/office/drawing/2014/main" id="{DDE6C8D6-56E0-1D9D-5BC2-358580CB2500}"/>
                </a:ext>
              </a:extLst>
            </p:cNvPr>
            <p:cNvSpPr/>
            <p:nvPr/>
          </p:nvSpPr>
          <p:spPr>
            <a:xfrm>
              <a:off x="4789439" y="4064677"/>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年</a:t>
              </a: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か月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52" name="正方形/長方形 51">
              <a:extLst>
                <a:ext uri="{FF2B5EF4-FFF2-40B4-BE49-F238E27FC236}">
                  <a16:creationId xmlns:a16="http://schemas.microsoft.com/office/drawing/2014/main" id="{411344FC-5AF9-AF9D-2B8F-5850B850F427}"/>
                </a:ext>
              </a:extLst>
            </p:cNvPr>
            <p:cNvSpPr/>
            <p:nvPr/>
          </p:nvSpPr>
          <p:spPr>
            <a:xfrm>
              <a:off x="6205218" y="4493686"/>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53" name="正方形/長方形 52">
              <a:extLst>
                <a:ext uri="{FF2B5EF4-FFF2-40B4-BE49-F238E27FC236}">
                  <a16:creationId xmlns:a16="http://schemas.microsoft.com/office/drawing/2014/main" id="{55435281-9A79-61B2-0AD5-DE18F0CDEDEE}"/>
                </a:ext>
              </a:extLst>
            </p:cNvPr>
            <p:cNvSpPr/>
            <p:nvPr/>
          </p:nvSpPr>
          <p:spPr>
            <a:xfrm>
              <a:off x="6785622" y="4493685"/>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54" name="正方形/長方形 53">
              <a:extLst>
                <a:ext uri="{FF2B5EF4-FFF2-40B4-BE49-F238E27FC236}">
                  <a16:creationId xmlns:a16="http://schemas.microsoft.com/office/drawing/2014/main" id="{92BD3B4E-00B2-6C89-6F43-1E2190797748}"/>
                </a:ext>
              </a:extLst>
            </p:cNvPr>
            <p:cNvSpPr/>
            <p:nvPr/>
          </p:nvSpPr>
          <p:spPr>
            <a:xfrm>
              <a:off x="7366027" y="4493684"/>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55" name="正方形/長方形 54">
              <a:extLst>
                <a:ext uri="{FF2B5EF4-FFF2-40B4-BE49-F238E27FC236}">
                  <a16:creationId xmlns:a16="http://schemas.microsoft.com/office/drawing/2014/main" id="{67C77CB1-7979-2617-801E-D722C8EEB3D6}"/>
                </a:ext>
              </a:extLst>
            </p:cNvPr>
            <p:cNvSpPr/>
            <p:nvPr/>
          </p:nvSpPr>
          <p:spPr>
            <a:xfrm>
              <a:off x="7946431" y="4493683"/>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715601FF-0990-4331-3457-B618B492E314}"/>
                </a:ext>
              </a:extLst>
            </p:cNvPr>
            <p:cNvSpPr/>
            <p:nvPr/>
          </p:nvSpPr>
          <p:spPr>
            <a:xfrm>
              <a:off x="8570649" y="4486007"/>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900" dirty="0">
                  <a:solidFill>
                    <a:schemeClr val="tx1"/>
                  </a:solidFill>
                  <a:latin typeface="Meiryo UI" panose="020B0604030504040204" pitchFamily="50" charset="-128"/>
                  <a:ea typeface="Meiryo UI" panose="020B0604030504040204" pitchFamily="50" charset="-128"/>
                </a:rPr>
                <a:t>6</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57" name="正方形/長方形 56">
              <a:extLst>
                <a:ext uri="{FF2B5EF4-FFF2-40B4-BE49-F238E27FC236}">
                  <a16:creationId xmlns:a16="http://schemas.microsoft.com/office/drawing/2014/main" id="{33CF53A5-AC68-4F0D-D365-36A51C72FE8F}"/>
                </a:ext>
              </a:extLst>
            </p:cNvPr>
            <p:cNvSpPr/>
            <p:nvPr/>
          </p:nvSpPr>
          <p:spPr>
            <a:xfrm>
              <a:off x="9151053" y="4486006"/>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58" name="正方形/長方形 57">
              <a:extLst>
                <a:ext uri="{FF2B5EF4-FFF2-40B4-BE49-F238E27FC236}">
                  <a16:creationId xmlns:a16="http://schemas.microsoft.com/office/drawing/2014/main" id="{C0078027-52D1-4637-F57D-CAC382460EA6}"/>
                </a:ext>
              </a:extLst>
            </p:cNvPr>
            <p:cNvSpPr/>
            <p:nvPr/>
          </p:nvSpPr>
          <p:spPr>
            <a:xfrm>
              <a:off x="9731458" y="4486005"/>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59" name="正方形/長方形 58">
              <a:extLst>
                <a:ext uri="{FF2B5EF4-FFF2-40B4-BE49-F238E27FC236}">
                  <a16:creationId xmlns:a16="http://schemas.microsoft.com/office/drawing/2014/main" id="{9BB865F6-35E2-6F76-4A3B-5BFAE710F913}"/>
                </a:ext>
              </a:extLst>
            </p:cNvPr>
            <p:cNvSpPr/>
            <p:nvPr/>
          </p:nvSpPr>
          <p:spPr>
            <a:xfrm>
              <a:off x="10311862" y="4486004"/>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60" name="正方形/長方形 59">
              <a:extLst>
                <a:ext uri="{FF2B5EF4-FFF2-40B4-BE49-F238E27FC236}">
                  <a16:creationId xmlns:a16="http://schemas.microsoft.com/office/drawing/2014/main" id="{37ED1776-2DAF-DBAF-B622-E3AE4AD9D57D}"/>
                </a:ext>
              </a:extLst>
            </p:cNvPr>
            <p:cNvSpPr/>
            <p:nvPr/>
          </p:nvSpPr>
          <p:spPr>
            <a:xfrm>
              <a:off x="549965" y="4493683"/>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田中</a:t>
              </a:r>
              <a:r>
                <a:rPr kumimoji="1" lang="ja-JP" altLang="en-US" sz="1200" dirty="0">
                  <a:solidFill>
                    <a:schemeClr val="tx1"/>
                  </a:solidFill>
                  <a:latin typeface="Meiryo UI" panose="020B0604030504040204" pitchFamily="50" charset="-128"/>
                  <a:ea typeface="Meiryo UI" panose="020B0604030504040204" pitchFamily="50" charset="-128"/>
                </a:rPr>
                <a:t>太郎</a:t>
              </a:r>
            </a:p>
          </p:txBody>
        </p:sp>
        <p:sp>
          <p:nvSpPr>
            <p:cNvPr id="61" name="正方形/長方形 60">
              <a:extLst>
                <a:ext uri="{FF2B5EF4-FFF2-40B4-BE49-F238E27FC236}">
                  <a16:creationId xmlns:a16="http://schemas.microsoft.com/office/drawing/2014/main" id="{D4037FDF-F533-95FD-AD81-1A946FD9D004}"/>
                </a:ext>
              </a:extLst>
            </p:cNvPr>
            <p:cNvSpPr/>
            <p:nvPr/>
          </p:nvSpPr>
          <p:spPr>
            <a:xfrm>
              <a:off x="1963123" y="4493683"/>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伊藤チーム</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62" name="正方形/長方形 61">
              <a:extLst>
                <a:ext uri="{FF2B5EF4-FFF2-40B4-BE49-F238E27FC236}">
                  <a16:creationId xmlns:a16="http://schemas.microsoft.com/office/drawing/2014/main" id="{1E3F4736-7A2C-6E02-EE32-ED4A98228969}"/>
                </a:ext>
              </a:extLst>
            </p:cNvPr>
            <p:cNvSpPr/>
            <p:nvPr/>
          </p:nvSpPr>
          <p:spPr>
            <a:xfrm>
              <a:off x="3376281" y="4493683"/>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総合職</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63" name="正方形/長方形 62">
              <a:extLst>
                <a:ext uri="{FF2B5EF4-FFF2-40B4-BE49-F238E27FC236}">
                  <a16:creationId xmlns:a16="http://schemas.microsoft.com/office/drawing/2014/main" id="{F2FA5C2C-0026-6EF8-1996-37CA4442EEDE}"/>
                </a:ext>
              </a:extLst>
            </p:cNvPr>
            <p:cNvSpPr/>
            <p:nvPr/>
          </p:nvSpPr>
          <p:spPr>
            <a:xfrm>
              <a:off x="4789439" y="4493683"/>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2</a:t>
              </a:r>
              <a:r>
                <a:rPr lang="ja-JP" altLang="en-US" sz="1200" dirty="0">
                  <a:solidFill>
                    <a:schemeClr val="tx1"/>
                  </a:solidFill>
                  <a:latin typeface="Meiryo UI" panose="020B0604030504040204" pitchFamily="50" charset="-128"/>
                  <a:ea typeface="Meiryo UI" panose="020B0604030504040204" pitchFamily="50" charset="-128"/>
                </a:rPr>
                <a:t>年</a:t>
              </a: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か月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64" name="正方形/長方形 63">
              <a:extLst>
                <a:ext uri="{FF2B5EF4-FFF2-40B4-BE49-F238E27FC236}">
                  <a16:creationId xmlns:a16="http://schemas.microsoft.com/office/drawing/2014/main" id="{F7BE464C-D611-1CEE-4A1B-019BFDCB61F5}"/>
                </a:ext>
              </a:extLst>
            </p:cNvPr>
            <p:cNvSpPr/>
            <p:nvPr/>
          </p:nvSpPr>
          <p:spPr>
            <a:xfrm>
              <a:off x="6205218" y="4922692"/>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65" name="正方形/長方形 64">
              <a:extLst>
                <a:ext uri="{FF2B5EF4-FFF2-40B4-BE49-F238E27FC236}">
                  <a16:creationId xmlns:a16="http://schemas.microsoft.com/office/drawing/2014/main" id="{63353BD2-7F59-836A-F03C-01CAE0476C71}"/>
                </a:ext>
              </a:extLst>
            </p:cNvPr>
            <p:cNvSpPr/>
            <p:nvPr/>
          </p:nvSpPr>
          <p:spPr>
            <a:xfrm>
              <a:off x="6785622" y="4922691"/>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66" name="正方形/長方形 65">
              <a:extLst>
                <a:ext uri="{FF2B5EF4-FFF2-40B4-BE49-F238E27FC236}">
                  <a16:creationId xmlns:a16="http://schemas.microsoft.com/office/drawing/2014/main" id="{AA91F435-AE25-8814-82A6-6E4D2DB52F2E}"/>
                </a:ext>
              </a:extLst>
            </p:cNvPr>
            <p:cNvSpPr/>
            <p:nvPr/>
          </p:nvSpPr>
          <p:spPr>
            <a:xfrm>
              <a:off x="7366027" y="4922690"/>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67" name="正方形/長方形 66">
              <a:extLst>
                <a:ext uri="{FF2B5EF4-FFF2-40B4-BE49-F238E27FC236}">
                  <a16:creationId xmlns:a16="http://schemas.microsoft.com/office/drawing/2014/main" id="{ED2F7CD5-6637-7269-7D47-5D67CA152060}"/>
                </a:ext>
              </a:extLst>
            </p:cNvPr>
            <p:cNvSpPr/>
            <p:nvPr/>
          </p:nvSpPr>
          <p:spPr>
            <a:xfrm>
              <a:off x="7946431" y="4922689"/>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68" name="正方形/長方形 67">
              <a:extLst>
                <a:ext uri="{FF2B5EF4-FFF2-40B4-BE49-F238E27FC236}">
                  <a16:creationId xmlns:a16="http://schemas.microsoft.com/office/drawing/2014/main" id="{3C4FD734-6BF3-75D0-F7B1-C5E856682771}"/>
                </a:ext>
              </a:extLst>
            </p:cNvPr>
            <p:cNvSpPr/>
            <p:nvPr/>
          </p:nvSpPr>
          <p:spPr>
            <a:xfrm>
              <a:off x="8570649" y="4915013"/>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900" dirty="0">
                  <a:solidFill>
                    <a:schemeClr val="tx1"/>
                  </a:solidFill>
                  <a:latin typeface="Meiryo UI" panose="020B0604030504040204" pitchFamily="50" charset="-128"/>
                  <a:ea typeface="Meiryo UI" panose="020B0604030504040204" pitchFamily="50" charset="-128"/>
                </a:rPr>
                <a:t>6</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69" name="正方形/長方形 68">
              <a:extLst>
                <a:ext uri="{FF2B5EF4-FFF2-40B4-BE49-F238E27FC236}">
                  <a16:creationId xmlns:a16="http://schemas.microsoft.com/office/drawing/2014/main" id="{81B7D557-FC86-15AB-9530-B8EA6C6E1ED8}"/>
                </a:ext>
              </a:extLst>
            </p:cNvPr>
            <p:cNvSpPr/>
            <p:nvPr/>
          </p:nvSpPr>
          <p:spPr>
            <a:xfrm>
              <a:off x="9151053" y="4915012"/>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70" name="正方形/長方形 69">
              <a:extLst>
                <a:ext uri="{FF2B5EF4-FFF2-40B4-BE49-F238E27FC236}">
                  <a16:creationId xmlns:a16="http://schemas.microsoft.com/office/drawing/2014/main" id="{EF918DBB-EC18-85FD-58CC-7AAEE9989D85}"/>
                </a:ext>
              </a:extLst>
            </p:cNvPr>
            <p:cNvSpPr/>
            <p:nvPr/>
          </p:nvSpPr>
          <p:spPr>
            <a:xfrm>
              <a:off x="9731458" y="4915011"/>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71" name="正方形/長方形 70">
              <a:extLst>
                <a:ext uri="{FF2B5EF4-FFF2-40B4-BE49-F238E27FC236}">
                  <a16:creationId xmlns:a16="http://schemas.microsoft.com/office/drawing/2014/main" id="{CA241A54-15EA-5332-0808-211BB801BE0C}"/>
                </a:ext>
              </a:extLst>
            </p:cNvPr>
            <p:cNvSpPr/>
            <p:nvPr/>
          </p:nvSpPr>
          <p:spPr>
            <a:xfrm>
              <a:off x="10311862" y="4915010"/>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72" name="正方形/長方形 71">
              <a:extLst>
                <a:ext uri="{FF2B5EF4-FFF2-40B4-BE49-F238E27FC236}">
                  <a16:creationId xmlns:a16="http://schemas.microsoft.com/office/drawing/2014/main" id="{DB91AEB9-A419-3E94-264A-7614368DE5B0}"/>
                </a:ext>
              </a:extLst>
            </p:cNvPr>
            <p:cNvSpPr/>
            <p:nvPr/>
          </p:nvSpPr>
          <p:spPr>
            <a:xfrm>
              <a:off x="549965" y="4922689"/>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鈴木一郎</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73" name="正方形/長方形 72">
              <a:extLst>
                <a:ext uri="{FF2B5EF4-FFF2-40B4-BE49-F238E27FC236}">
                  <a16:creationId xmlns:a16="http://schemas.microsoft.com/office/drawing/2014/main" id="{0546D503-7E3B-E297-A8C0-0BF456782DB7}"/>
                </a:ext>
              </a:extLst>
            </p:cNvPr>
            <p:cNvSpPr/>
            <p:nvPr/>
          </p:nvSpPr>
          <p:spPr>
            <a:xfrm>
              <a:off x="1963123" y="4922689"/>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斎藤チーム</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74" name="正方形/長方形 73">
              <a:extLst>
                <a:ext uri="{FF2B5EF4-FFF2-40B4-BE49-F238E27FC236}">
                  <a16:creationId xmlns:a16="http://schemas.microsoft.com/office/drawing/2014/main" id="{B16D8CC3-FDF7-EF54-393B-00977B5CE1D5}"/>
                </a:ext>
              </a:extLst>
            </p:cNvPr>
            <p:cNvSpPr/>
            <p:nvPr/>
          </p:nvSpPr>
          <p:spPr>
            <a:xfrm>
              <a:off x="3376281" y="4922689"/>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総合職</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75" name="正方形/長方形 74">
              <a:extLst>
                <a:ext uri="{FF2B5EF4-FFF2-40B4-BE49-F238E27FC236}">
                  <a16:creationId xmlns:a16="http://schemas.microsoft.com/office/drawing/2014/main" id="{9319ABB5-A3B3-83FD-8677-360CFD20E750}"/>
                </a:ext>
              </a:extLst>
            </p:cNvPr>
            <p:cNvSpPr/>
            <p:nvPr/>
          </p:nvSpPr>
          <p:spPr>
            <a:xfrm>
              <a:off x="4789439" y="4922689"/>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年</a:t>
              </a: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か月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76" name="正方形/長方形 75">
              <a:extLst>
                <a:ext uri="{FF2B5EF4-FFF2-40B4-BE49-F238E27FC236}">
                  <a16:creationId xmlns:a16="http://schemas.microsoft.com/office/drawing/2014/main" id="{EA64525A-848E-8D21-59DC-60638B1EDC50}"/>
                </a:ext>
              </a:extLst>
            </p:cNvPr>
            <p:cNvSpPr/>
            <p:nvPr/>
          </p:nvSpPr>
          <p:spPr>
            <a:xfrm>
              <a:off x="6205218" y="5351698"/>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77" name="正方形/長方形 76">
              <a:extLst>
                <a:ext uri="{FF2B5EF4-FFF2-40B4-BE49-F238E27FC236}">
                  <a16:creationId xmlns:a16="http://schemas.microsoft.com/office/drawing/2014/main" id="{E1D36A50-8035-6173-EF06-D6EA7C2DE214}"/>
                </a:ext>
              </a:extLst>
            </p:cNvPr>
            <p:cNvSpPr/>
            <p:nvPr/>
          </p:nvSpPr>
          <p:spPr>
            <a:xfrm>
              <a:off x="6785622" y="5351697"/>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78" name="正方形/長方形 77">
              <a:extLst>
                <a:ext uri="{FF2B5EF4-FFF2-40B4-BE49-F238E27FC236}">
                  <a16:creationId xmlns:a16="http://schemas.microsoft.com/office/drawing/2014/main" id="{A5544771-BBE9-F12C-39F1-3D5F0CE670FB}"/>
                </a:ext>
              </a:extLst>
            </p:cNvPr>
            <p:cNvSpPr/>
            <p:nvPr/>
          </p:nvSpPr>
          <p:spPr>
            <a:xfrm>
              <a:off x="7366027" y="5351696"/>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79" name="正方形/長方形 78">
              <a:extLst>
                <a:ext uri="{FF2B5EF4-FFF2-40B4-BE49-F238E27FC236}">
                  <a16:creationId xmlns:a16="http://schemas.microsoft.com/office/drawing/2014/main" id="{597BD1DD-D211-43E0-8EAE-85723C03DDD5}"/>
                </a:ext>
              </a:extLst>
            </p:cNvPr>
            <p:cNvSpPr/>
            <p:nvPr/>
          </p:nvSpPr>
          <p:spPr>
            <a:xfrm>
              <a:off x="7946431" y="5351695"/>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80" name="正方形/長方形 79">
              <a:extLst>
                <a:ext uri="{FF2B5EF4-FFF2-40B4-BE49-F238E27FC236}">
                  <a16:creationId xmlns:a16="http://schemas.microsoft.com/office/drawing/2014/main" id="{DAE5D616-1525-E2FE-3D1B-DC18BA713039}"/>
                </a:ext>
              </a:extLst>
            </p:cNvPr>
            <p:cNvSpPr/>
            <p:nvPr/>
          </p:nvSpPr>
          <p:spPr>
            <a:xfrm>
              <a:off x="8570649" y="5344019"/>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900" dirty="0">
                  <a:solidFill>
                    <a:schemeClr val="tx1"/>
                  </a:solidFill>
                  <a:latin typeface="Meiryo UI" panose="020B0604030504040204" pitchFamily="50" charset="-128"/>
                  <a:ea typeface="Meiryo UI" panose="020B0604030504040204" pitchFamily="50" charset="-128"/>
                </a:rPr>
                <a:t>6</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81" name="正方形/長方形 80">
              <a:extLst>
                <a:ext uri="{FF2B5EF4-FFF2-40B4-BE49-F238E27FC236}">
                  <a16:creationId xmlns:a16="http://schemas.microsoft.com/office/drawing/2014/main" id="{7A47A6DB-7F02-4344-2DFD-FC5E063724DD}"/>
                </a:ext>
              </a:extLst>
            </p:cNvPr>
            <p:cNvSpPr/>
            <p:nvPr/>
          </p:nvSpPr>
          <p:spPr>
            <a:xfrm>
              <a:off x="9151053" y="5344018"/>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82" name="正方形/長方形 81">
              <a:extLst>
                <a:ext uri="{FF2B5EF4-FFF2-40B4-BE49-F238E27FC236}">
                  <a16:creationId xmlns:a16="http://schemas.microsoft.com/office/drawing/2014/main" id="{684C9A5A-DA00-22CA-8FB2-F8563B25E879}"/>
                </a:ext>
              </a:extLst>
            </p:cNvPr>
            <p:cNvSpPr/>
            <p:nvPr/>
          </p:nvSpPr>
          <p:spPr>
            <a:xfrm>
              <a:off x="9731458" y="5344017"/>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83" name="正方形/長方形 82">
              <a:extLst>
                <a:ext uri="{FF2B5EF4-FFF2-40B4-BE49-F238E27FC236}">
                  <a16:creationId xmlns:a16="http://schemas.microsoft.com/office/drawing/2014/main" id="{FF9A686A-F206-C408-BD98-1158B677265B}"/>
                </a:ext>
              </a:extLst>
            </p:cNvPr>
            <p:cNvSpPr/>
            <p:nvPr/>
          </p:nvSpPr>
          <p:spPr>
            <a:xfrm>
              <a:off x="10311862" y="5344016"/>
              <a:ext cx="5382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84" name="正方形/長方形 83">
              <a:extLst>
                <a:ext uri="{FF2B5EF4-FFF2-40B4-BE49-F238E27FC236}">
                  <a16:creationId xmlns:a16="http://schemas.microsoft.com/office/drawing/2014/main" id="{5923E455-0901-CB33-DDBD-8D20D64B16AA}"/>
                </a:ext>
              </a:extLst>
            </p:cNvPr>
            <p:cNvSpPr/>
            <p:nvPr/>
          </p:nvSpPr>
          <p:spPr>
            <a:xfrm>
              <a:off x="549965" y="5351695"/>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佐藤恵美</a:t>
              </a:r>
            </a:p>
          </p:txBody>
        </p:sp>
        <p:sp>
          <p:nvSpPr>
            <p:cNvPr id="85" name="正方形/長方形 84">
              <a:extLst>
                <a:ext uri="{FF2B5EF4-FFF2-40B4-BE49-F238E27FC236}">
                  <a16:creationId xmlns:a16="http://schemas.microsoft.com/office/drawing/2014/main" id="{BF4DCFAD-4B0D-3276-9867-4FD1B604610E}"/>
                </a:ext>
              </a:extLst>
            </p:cNvPr>
            <p:cNvSpPr/>
            <p:nvPr/>
          </p:nvSpPr>
          <p:spPr>
            <a:xfrm>
              <a:off x="1963123" y="5351695"/>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斎藤チーム</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86" name="正方形/長方形 85">
              <a:extLst>
                <a:ext uri="{FF2B5EF4-FFF2-40B4-BE49-F238E27FC236}">
                  <a16:creationId xmlns:a16="http://schemas.microsoft.com/office/drawing/2014/main" id="{C8DE464B-D734-B841-F1EA-0DCAC38FE8DA}"/>
                </a:ext>
              </a:extLst>
            </p:cNvPr>
            <p:cNvSpPr/>
            <p:nvPr/>
          </p:nvSpPr>
          <p:spPr>
            <a:xfrm>
              <a:off x="3376281" y="5351695"/>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総合職</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87" name="正方形/長方形 86">
              <a:extLst>
                <a:ext uri="{FF2B5EF4-FFF2-40B4-BE49-F238E27FC236}">
                  <a16:creationId xmlns:a16="http://schemas.microsoft.com/office/drawing/2014/main" id="{E9DED7BC-D959-5D0A-A927-44D4D0E2B0BC}"/>
                </a:ext>
              </a:extLst>
            </p:cNvPr>
            <p:cNvSpPr/>
            <p:nvPr/>
          </p:nvSpPr>
          <p:spPr>
            <a:xfrm>
              <a:off x="4789439" y="5351695"/>
              <a:ext cx="129595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５年</a:t>
              </a: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か月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grpSp>
      <p:sp>
        <p:nvSpPr>
          <p:cNvPr id="88" name="二等辺三角形 87">
            <a:extLst>
              <a:ext uri="{FF2B5EF4-FFF2-40B4-BE49-F238E27FC236}">
                <a16:creationId xmlns:a16="http://schemas.microsoft.com/office/drawing/2014/main" id="{482EE1C1-4F1F-FD57-5662-B18D1ECFA525}"/>
              </a:ext>
            </a:extLst>
          </p:cNvPr>
          <p:cNvSpPr/>
          <p:nvPr/>
        </p:nvSpPr>
        <p:spPr>
          <a:xfrm rot="5400000">
            <a:off x="11499073" y="4529241"/>
            <a:ext cx="585480" cy="111833"/>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223451723"/>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E46EFA02-8FF2-C8A2-04FE-31A5C1B24AF1}"/>
              </a:ext>
            </a:extLst>
          </p:cNvPr>
          <p:cNvSpPr/>
          <p:nvPr/>
        </p:nvSpPr>
        <p:spPr>
          <a:xfrm>
            <a:off x="0" y="0"/>
            <a:ext cx="12192000" cy="6858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48521937-B222-268B-EEB5-CD0EA724E9A6}"/>
              </a:ext>
            </a:extLst>
          </p:cNvPr>
          <p:cNvSpPr txBox="1"/>
          <p:nvPr/>
        </p:nvSpPr>
        <p:spPr>
          <a:xfrm>
            <a:off x="552450" y="2025650"/>
            <a:ext cx="6502101" cy="2123658"/>
          </a:xfrm>
          <a:prstGeom prst="rect">
            <a:avLst/>
          </a:prstGeom>
          <a:noFill/>
        </p:spPr>
        <p:txBody>
          <a:bodyPr wrap="none" rtlCol="0">
            <a:spAutoFit/>
          </a:bodyPr>
          <a:lstStyle/>
          <a:p>
            <a:r>
              <a:rPr kumimoji="1" lang="ja-JP" altLang="en-US" sz="6600" b="1" dirty="0">
                <a:solidFill>
                  <a:schemeClr val="bg1"/>
                </a:solidFill>
                <a:latin typeface="Meiryo UI" panose="020B0604030504040204" pitchFamily="50" charset="-128"/>
                <a:ea typeface="Meiryo UI" panose="020B0604030504040204" pitchFamily="50" charset="-128"/>
              </a:rPr>
              <a:t>受注担当</a:t>
            </a:r>
            <a:endParaRPr kumimoji="1" lang="en-US" altLang="ja-JP" sz="6600" b="1" dirty="0">
              <a:solidFill>
                <a:schemeClr val="bg1"/>
              </a:solidFill>
              <a:latin typeface="Meiryo UI" panose="020B0604030504040204" pitchFamily="50" charset="-128"/>
              <a:ea typeface="Meiryo UI" panose="020B0604030504040204" pitchFamily="50" charset="-128"/>
            </a:endParaRPr>
          </a:p>
          <a:p>
            <a:r>
              <a:rPr kumimoji="1" lang="ja-JP" altLang="en-US" sz="6600" b="1" dirty="0">
                <a:solidFill>
                  <a:schemeClr val="bg1"/>
                </a:solidFill>
                <a:latin typeface="Meiryo UI" panose="020B0604030504040204" pitchFamily="50" charset="-128"/>
                <a:ea typeface="Meiryo UI" panose="020B0604030504040204" pitchFamily="50" charset="-128"/>
              </a:rPr>
              <a:t>月次ダッシュボード</a:t>
            </a:r>
          </a:p>
        </p:txBody>
      </p:sp>
      <p:sp>
        <p:nvSpPr>
          <p:cNvPr id="7" name="テキスト ボックス 6">
            <a:extLst>
              <a:ext uri="{FF2B5EF4-FFF2-40B4-BE49-F238E27FC236}">
                <a16:creationId xmlns:a16="http://schemas.microsoft.com/office/drawing/2014/main" id="{7AE34968-5B2D-6757-9D73-1EF5E2B8CDAC}"/>
              </a:ext>
            </a:extLst>
          </p:cNvPr>
          <p:cNvSpPr txBox="1"/>
          <p:nvPr/>
        </p:nvSpPr>
        <p:spPr>
          <a:xfrm>
            <a:off x="635000" y="926066"/>
            <a:ext cx="4334841" cy="369332"/>
          </a:xfrm>
          <a:prstGeom prst="rect">
            <a:avLst/>
          </a:prstGeom>
          <a:noFill/>
        </p:spPr>
        <p:txBody>
          <a:bodyPr wrap="none" rtlCol="0">
            <a:spAutoFit/>
          </a:bodyPr>
          <a:lstStyle/>
          <a:p>
            <a:r>
              <a:rPr kumimoji="1" lang="en-US" altLang="ja-JP" b="1" dirty="0">
                <a:solidFill>
                  <a:schemeClr val="bg1"/>
                </a:solidFill>
                <a:latin typeface="Meiryo UI" panose="020B0604030504040204" pitchFamily="50" charset="-128"/>
                <a:ea typeface="Meiryo UI" panose="020B0604030504040204" pitchFamily="50" charset="-128"/>
              </a:rPr>
              <a:t>03 </a:t>
            </a:r>
            <a:r>
              <a:rPr kumimoji="1" lang="ja-JP" altLang="en-US" b="1" dirty="0">
                <a:solidFill>
                  <a:schemeClr val="bg1"/>
                </a:solidFill>
                <a:latin typeface="Meiryo UI" panose="020B0604030504040204" pitchFamily="50" charset="-128"/>
                <a:ea typeface="Meiryo UI" panose="020B0604030504040204" pitchFamily="50" charset="-128"/>
              </a:rPr>
              <a:t>受注担当の月次の受注数値を管理する</a:t>
            </a:r>
          </a:p>
        </p:txBody>
      </p:sp>
      <p:cxnSp>
        <p:nvCxnSpPr>
          <p:cNvPr id="9" name="直線コネクタ 8">
            <a:extLst>
              <a:ext uri="{FF2B5EF4-FFF2-40B4-BE49-F238E27FC236}">
                <a16:creationId xmlns:a16="http://schemas.microsoft.com/office/drawing/2014/main" id="{1C90B1DB-FF8A-976B-650E-0EAF924600F0}"/>
              </a:ext>
            </a:extLst>
          </p:cNvPr>
          <p:cNvCxnSpPr/>
          <p:nvPr/>
        </p:nvCxnSpPr>
        <p:spPr>
          <a:xfrm>
            <a:off x="736600" y="1568450"/>
            <a:ext cx="7664450"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正方形/長方形 9">
            <a:extLst>
              <a:ext uri="{FF2B5EF4-FFF2-40B4-BE49-F238E27FC236}">
                <a16:creationId xmlns:a16="http://schemas.microsoft.com/office/drawing/2014/main" id="{4DA9E878-E0C5-258A-96DC-1BDDE94AE7B3}"/>
              </a:ext>
            </a:extLst>
          </p:cNvPr>
          <p:cNvSpPr/>
          <p:nvPr/>
        </p:nvSpPr>
        <p:spPr>
          <a:xfrm>
            <a:off x="850900" y="1460500"/>
            <a:ext cx="36000" cy="23494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A655B56F-8BAF-8E35-F9B4-9E654F9A3B6F}"/>
              </a:ext>
            </a:extLst>
          </p:cNvPr>
          <p:cNvSpPr/>
          <p:nvPr/>
        </p:nvSpPr>
        <p:spPr>
          <a:xfrm>
            <a:off x="717550" y="1473200"/>
            <a:ext cx="36000" cy="180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43EF0961-0D34-8BE9-2FFC-82B4661C729C}"/>
              </a:ext>
            </a:extLst>
          </p:cNvPr>
          <p:cNvSpPr/>
          <p:nvPr/>
        </p:nvSpPr>
        <p:spPr>
          <a:xfrm>
            <a:off x="8153400" y="1460500"/>
            <a:ext cx="36000" cy="180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501778002"/>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94" name="テキスト ボックス 93">
            <a:extLst>
              <a:ext uri="{FF2B5EF4-FFF2-40B4-BE49-F238E27FC236}">
                <a16:creationId xmlns:a16="http://schemas.microsoft.com/office/drawing/2014/main" id="{CB6F5629-7DF0-DA6B-9E6D-49496221E07B}"/>
              </a:ext>
            </a:extLst>
          </p:cNvPr>
          <p:cNvSpPr txBox="1"/>
          <p:nvPr/>
        </p:nvSpPr>
        <p:spPr>
          <a:xfrm>
            <a:off x="427597" y="368391"/>
            <a:ext cx="1640193" cy="369332"/>
          </a:xfrm>
          <a:prstGeom prst="rect">
            <a:avLst/>
          </a:prstGeom>
          <a:noFill/>
        </p:spPr>
        <p:txBody>
          <a:bodyPr wrap="none" rtlCol="0">
            <a:spAutoFit/>
          </a:bodyPr>
          <a:lstStyle/>
          <a:p>
            <a:r>
              <a:rPr kumimoji="1" lang="ja-JP" altLang="en-US" b="1" dirty="0">
                <a:latin typeface="Meiryo UI" panose="020B0604030504040204" pitchFamily="50" charset="-128"/>
                <a:ea typeface="Meiryo UI" panose="020B0604030504040204" pitchFamily="50" charset="-128"/>
              </a:rPr>
              <a:t>受注担当　</a:t>
            </a:r>
            <a:r>
              <a:rPr kumimoji="1" lang="en-US" altLang="ja-JP" b="1" dirty="0">
                <a:latin typeface="Meiryo UI" panose="020B0604030504040204" pitchFamily="50" charset="-128"/>
                <a:ea typeface="Meiryo UI" panose="020B0604030504040204" pitchFamily="50" charset="-128"/>
              </a:rPr>
              <a:t>x</a:t>
            </a:r>
            <a:r>
              <a:rPr kumimoji="1" lang="ja-JP" altLang="en-US" b="1" dirty="0">
                <a:latin typeface="Meiryo UI" panose="020B0604030504040204" pitchFamily="50" charset="-128"/>
                <a:ea typeface="Meiryo UI" panose="020B0604030504040204" pitchFamily="50" charset="-128"/>
              </a:rPr>
              <a:t>月</a:t>
            </a:r>
          </a:p>
        </p:txBody>
      </p:sp>
      <p:sp>
        <p:nvSpPr>
          <p:cNvPr id="115" name="正方形/長方形 114">
            <a:extLst>
              <a:ext uri="{FF2B5EF4-FFF2-40B4-BE49-F238E27FC236}">
                <a16:creationId xmlns:a16="http://schemas.microsoft.com/office/drawing/2014/main" id="{60355A0A-AC8A-8A5F-F0ED-D9CF8FF74018}"/>
              </a:ext>
            </a:extLst>
          </p:cNvPr>
          <p:cNvSpPr/>
          <p:nvPr/>
        </p:nvSpPr>
        <p:spPr>
          <a:xfrm>
            <a:off x="2704825" y="102358"/>
            <a:ext cx="2061133"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当月の受注担当の数値</a:t>
            </a:r>
          </a:p>
        </p:txBody>
      </p:sp>
      <p:cxnSp>
        <p:nvCxnSpPr>
          <p:cNvPr id="116" name="直線コネクタ 115">
            <a:extLst>
              <a:ext uri="{FF2B5EF4-FFF2-40B4-BE49-F238E27FC236}">
                <a16:creationId xmlns:a16="http://schemas.microsoft.com/office/drawing/2014/main" id="{E384F72A-3361-9D74-A21D-FC23053629BC}"/>
              </a:ext>
            </a:extLst>
          </p:cNvPr>
          <p:cNvCxnSpPr>
            <a:cxnSpLocks/>
            <a:stCxn id="115" idx="1"/>
            <a:endCxn id="94" idx="3"/>
          </p:cNvCxnSpPr>
          <p:nvPr/>
        </p:nvCxnSpPr>
        <p:spPr>
          <a:xfrm flipH="1">
            <a:off x="2067790" y="509672"/>
            <a:ext cx="637035" cy="4338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18" name="正方形/長方形 117">
            <a:extLst>
              <a:ext uri="{FF2B5EF4-FFF2-40B4-BE49-F238E27FC236}">
                <a16:creationId xmlns:a16="http://schemas.microsoft.com/office/drawing/2014/main" id="{AFBFFC6F-7361-ECED-547E-62A9D204EC31}"/>
              </a:ext>
            </a:extLst>
          </p:cNvPr>
          <p:cNvSpPr/>
          <p:nvPr/>
        </p:nvSpPr>
        <p:spPr>
          <a:xfrm>
            <a:off x="1439793" y="3605110"/>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氏名</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19" name="正方形/長方形 118">
            <a:extLst>
              <a:ext uri="{FF2B5EF4-FFF2-40B4-BE49-F238E27FC236}">
                <a16:creationId xmlns:a16="http://schemas.microsoft.com/office/drawing/2014/main" id="{CD3C0A2D-8DAB-3833-83C0-C85CEA0DA0E2}"/>
              </a:ext>
            </a:extLst>
          </p:cNvPr>
          <p:cNvSpPr/>
          <p:nvPr/>
        </p:nvSpPr>
        <p:spPr>
          <a:xfrm>
            <a:off x="531411" y="3599491"/>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所属チーム</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20" name="正方形/長方形 119">
            <a:extLst>
              <a:ext uri="{FF2B5EF4-FFF2-40B4-BE49-F238E27FC236}">
                <a16:creationId xmlns:a16="http://schemas.microsoft.com/office/drawing/2014/main" id="{4D9D53B8-8513-F204-C296-A3A9E65FD813}"/>
              </a:ext>
            </a:extLst>
          </p:cNvPr>
          <p:cNvSpPr/>
          <p:nvPr/>
        </p:nvSpPr>
        <p:spPr>
          <a:xfrm>
            <a:off x="2376026" y="3599491"/>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職種</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21" name="正方形/長方形 120">
            <a:extLst>
              <a:ext uri="{FF2B5EF4-FFF2-40B4-BE49-F238E27FC236}">
                <a16:creationId xmlns:a16="http://schemas.microsoft.com/office/drawing/2014/main" id="{83D65864-0E20-3216-E2CA-5D215B5E425B}"/>
              </a:ext>
            </a:extLst>
          </p:cNvPr>
          <p:cNvSpPr/>
          <p:nvPr/>
        </p:nvSpPr>
        <p:spPr>
          <a:xfrm>
            <a:off x="3288211" y="3599491"/>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在籍期間</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40" name="正方形/長方形 139">
            <a:extLst>
              <a:ext uri="{FF2B5EF4-FFF2-40B4-BE49-F238E27FC236}">
                <a16:creationId xmlns:a16="http://schemas.microsoft.com/office/drawing/2014/main" id="{14E86E01-9914-3989-BAF4-DBBB6CB25C9A}"/>
              </a:ext>
            </a:extLst>
          </p:cNvPr>
          <p:cNvSpPr/>
          <p:nvPr/>
        </p:nvSpPr>
        <p:spPr>
          <a:xfrm>
            <a:off x="1438101" y="4207056"/>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山田太郎</a:t>
            </a:r>
          </a:p>
        </p:txBody>
      </p:sp>
      <p:sp>
        <p:nvSpPr>
          <p:cNvPr id="141" name="正方形/長方形 140">
            <a:extLst>
              <a:ext uri="{FF2B5EF4-FFF2-40B4-BE49-F238E27FC236}">
                <a16:creationId xmlns:a16="http://schemas.microsoft.com/office/drawing/2014/main" id="{CA608085-7596-7DB4-F30A-CBBB90CBC114}"/>
              </a:ext>
            </a:extLst>
          </p:cNvPr>
          <p:cNvSpPr/>
          <p:nvPr/>
        </p:nvSpPr>
        <p:spPr>
          <a:xfrm>
            <a:off x="529720" y="420143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伊藤チーム</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42" name="正方形/長方形 141">
            <a:extLst>
              <a:ext uri="{FF2B5EF4-FFF2-40B4-BE49-F238E27FC236}">
                <a16:creationId xmlns:a16="http://schemas.microsoft.com/office/drawing/2014/main" id="{5C2728B0-5836-FC64-B7E0-2ED40DAB2819}"/>
              </a:ext>
            </a:extLst>
          </p:cNvPr>
          <p:cNvSpPr/>
          <p:nvPr/>
        </p:nvSpPr>
        <p:spPr>
          <a:xfrm>
            <a:off x="2374335" y="420143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総合職</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43" name="正方形/長方形 142">
            <a:extLst>
              <a:ext uri="{FF2B5EF4-FFF2-40B4-BE49-F238E27FC236}">
                <a16:creationId xmlns:a16="http://schemas.microsoft.com/office/drawing/2014/main" id="{EFA5B250-1B8A-970E-40DE-AF95E3CDFEBC}"/>
              </a:ext>
            </a:extLst>
          </p:cNvPr>
          <p:cNvSpPr/>
          <p:nvPr/>
        </p:nvSpPr>
        <p:spPr>
          <a:xfrm>
            <a:off x="3286520" y="420143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年</a:t>
            </a: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か月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52" name="正方形/長方形 151">
            <a:extLst>
              <a:ext uri="{FF2B5EF4-FFF2-40B4-BE49-F238E27FC236}">
                <a16:creationId xmlns:a16="http://schemas.microsoft.com/office/drawing/2014/main" id="{656BA0AE-7BD3-ABE1-7C89-6E2D5E18523B}"/>
              </a:ext>
            </a:extLst>
          </p:cNvPr>
          <p:cNvSpPr/>
          <p:nvPr/>
        </p:nvSpPr>
        <p:spPr>
          <a:xfrm>
            <a:off x="1438101" y="4762186"/>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田中</a:t>
            </a:r>
            <a:r>
              <a:rPr kumimoji="1" lang="ja-JP" altLang="en-US" sz="1200" dirty="0">
                <a:solidFill>
                  <a:schemeClr val="tx1"/>
                </a:solidFill>
                <a:latin typeface="Meiryo UI" panose="020B0604030504040204" pitchFamily="50" charset="-128"/>
                <a:ea typeface="Meiryo UI" panose="020B0604030504040204" pitchFamily="50" charset="-128"/>
              </a:rPr>
              <a:t>太郎</a:t>
            </a:r>
          </a:p>
        </p:txBody>
      </p:sp>
      <p:sp>
        <p:nvSpPr>
          <p:cNvPr id="153" name="正方形/長方形 152">
            <a:extLst>
              <a:ext uri="{FF2B5EF4-FFF2-40B4-BE49-F238E27FC236}">
                <a16:creationId xmlns:a16="http://schemas.microsoft.com/office/drawing/2014/main" id="{37EFF0B0-05B8-78C5-13C9-0BE319589C06}"/>
              </a:ext>
            </a:extLst>
          </p:cNvPr>
          <p:cNvSpPr/>
          <p:nvPr/>
        </p:nvSpPr>
        <p:spPr>
          <a:xfrm>
            <a:off x="529720" y="475656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伊藤チーム</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54" name="正方形/長方形 153">
            <a:extLst>
              <a:ext uri="{FF2B5EF4-FFF2-40B4-BE49-F238E27FC236}">
                <a16:creationId xmlns:a16="http://schemas.microsoft.com/office/drawing/2014/main" id="{40470769-E353-1629-03B9-C35D327AD05E}"/>
              </a:ext>
            </a:extLst>
          </p:cNvPr>
          <p:cNvSpPr/>
          <p:nvPr/>
        </p:nvSpPr>
        <p:spPr>
          <a:xfrm>
            <a:off x="2374335" y="475656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総合職</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55" name="正方形/長方形 154">
            <a:extLst>
              <a:ext uri="{FF2B5EF4-FFF2-40B4-BE49-F238E27FC236}">
                <a16:creationId xmlns:a16="http://schemas.microsoft.com/office/drawing/2014/main" id="{FE709042-506B-282B-3C21-3DDC1D8E2DC0}"/>
              </a:ext>
            </a:extLst>
          </p:cNvPr>
          <p:cNvSpPr/>
          <p:nvPr/>
        </p:nvSpPr>
        <p:spPr>
          <a:xfrm>
            <a:off x="3286520" y="475656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2</a:t>
            </a:r>
            <a:r>
              <a:rPr lang="ja-JP" altLang="en-US" sz="1200" dirty="0">
                <a:solidFill>
                  <a:schemeClr val="tx1"/>
                </a:solidFill>
                <a:latin typeface="Meiryo UI" panose="020B0604030504040204" pitchFamily="50" charset="-128"/>
                <a:ea typeface="Meiryo UI" panose="020B0604030504040204" pitchFamily="50" charset="-128"/>
              </a:rPr>
              <a:t>年</a:t>
            </a: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か月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64" name="正方形/長方形 163">
            <a:extLst>
              <a:ext uri="{FF2B5EF4-FFF2-40B4-BE49-F238E27FC236}">
                <a16:creationId xmlns:a16="http://schemas.microsoft.com/office/drawing/2014/main" id="{BB00464C-832C-51F0-296C-ADE2953FD126}"/>
              </a:ext>
            </a:extLst>
          </p:cNvPr>
          <p:cNvSpPr/>
          <p:nvPr/>
        </p:nvSpPr>
        <p:spPr>
          <a:xfrm>
            <a:off x="1438101" y="5317316"/>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鈴木一郎</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65" name="正方形/長方形 164">
            <a:extLst>
              <a:ext uri="{FF2B5EF4-FFF2-40B4-BE49-F238E27FC236}">
                <a16:creationId xmlns:a16="http://schemas.microsoft.com/office/drawing/2014/main" id="{E40E289F-73C1-9C4E-8F75-E9A2A8FC9C2A}"/>
              </a:ext>
            </a:extLst>
          </p:cNvPr>
          <p:cNvSpPr/>
          <p:nvPr/>
        </p:nvSpPr>
        <p:spPr>
          <a:xfrm>
            <a:off x="529720" y="531169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斎藤チーム</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66" name="正方形/長方形 165">
            <a:extLst>
              <a:ext uri="{FF2B5EF4-FFF2-40B4-BE49-F238E27FC236}">
                <a16:creationId xmlns:a16="http://schemas.microsoft.com/office/drawing/2014/main" id="{B679D5CB-2BB4-86AB-C9C8-C565B35826EB}"/>
              </a:ext>
            </a:extLst>
          </p:cNvPr>
          <p:cNvSpPr/>
          <p:nvPr/>
        </p:nvSpPr>
        <p:spPr>
          <a:xfrm>
            <a:off x="2374335" y="531169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総合職</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67" name="正方形/長方形 166">
            <a:extLst>
              <a:ext uri="{FF2B5EF4-FFF2-40B4-BE49-F238E27FC236}">
                <a16:creationId xmlns:a16="http://schemas.microsoft.com/office/drawing/2014/main" id="{19137ECC-4E18-93A1-95FC-5B611CF525CC}"/>
              </a:ext>
            </a:extLst>
          </p:cNvPr>
          <p:cNvSpPr/>
          <p:nvPr/>
        </p:nvSpPr>
        <p:spPr>
          <a:xfrm>
            <a:off x="3286520" y="531169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年</a:t>
            </a: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か月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76" name="正方形/長方形 175">
            <a:extLst>
              <a:ext uri="{FF2B5EF4-FFF2-40B4-BE49-F238E27FC236}">
                <a16:creationId xmlns:a16="http://schemas.microsoft.com/office/drawing/2014/main" id="{299A55A8-2181-729D-AE68-9A541937A853}"/>
              </a:ext>
            </a:extLst>
          </p:cNvPr>
          <p:cNvSpPr/>
          <p:nvPr/>
        </p:nvSpPr>
        <p:spPr>
          <a:xfrm>
            <a:off x="1438101" y="5872446"/>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佐藤恵美</a:t>
            </a:r>
          </a:p>
        </p:txBody>
      </p:sp>
      <p:sp>
        <p:nvSpPr>
          <p:cNvPr id="177" name="正方形/長方形 176">
            <a:extLst>
              <a:ext uri="{FF2B5EF4-FFF2-40B4-BE49-F238E27FC236}">
                <a16:creationId xmlns:a16="http://schemas.microsoft.com/office/drawing/2014/main" id="{EF4571B2-604C-4404-4CE5-6BEFEF024CA0}"/>
              </a:ext>
            </a:extLst>
          </p:cNvPr>
          <p:cNvSpPr/>
          <p:nvPr/>
        </p:nvSpPr>
        <p:spPr>
          <a:xfrm>
            <a:off x="529720" y="586682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斎藤チーム</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78" name="正方形/長方形 177">
            <a:extLst>
              <a:ext uri="{FF2B5EF4-FFF2-40B4-BE49-F238E27FC236}">
                <a16:creationId xmlns:a16="http://schemas.microsoft.com/office/drawing/2014/main" id="{9BAA7313-7DC2-3C1B-635A-54CF2BB55064}"/>
              </a:ext>
            </a:extLst>
          </p:cNvPr>
          <p:cNvSpPr/>
          <p:nvPr/>
        </p:nvSpPr>
        <p:spPr>
          <a:xfrm>
            <a:off x="2374335" y="586682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総合職</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79" name="正方形/長方形 178">
            <a:extLst>
              <a:ext uri="{FF2B5EF4-FFF2-40B4-BE49-F238E27FC236}">
                <a16:creationId xmlns:a16="http://schemas.microsoft.com/office/drawing/2014/main" id="{F49B8740-1B76-DA60-7093-F873597E5256}"/>
              </a:ext>
            </a:extLst>
          </p:cNvPr>
          <p:cNvSpPr/>
          <p:nvPr/>
        </p:nvSpPr>
        <p:spPr>
          <a:xfrm>
            <a:off x="3286520" y="586682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５年</a:t>
            </a: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か月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95" name="正方形/長方形 94">
            <a:extLst>
              <a:ext uri="{FF2B5EF4-FFF2-40B4-BE49-F238E27FC236}">
                <a16:creationId xmlns:a16="http://schemas.microsoft.com/office/drawing/2014/main" id="{B43C71A5-24D8-294E-5D34-BB436C43960B}"/>
              </a:ext>
            </a:extLst>
          </p:cNvPr>
          <p:cNvSpPr/>
          <p:nvPr/>
        </p:nvSpPr>
        <p:spPr>
          <a:xfrm>
            <a:off x="224596" y="1052547"/>
            <a:ext cx="1375621"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当月面談数</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96" name="正方形/長方形 95">
            <a:extLst>
              <a:ext uri="{FF2B5EF4-FFF2-40B4-BE49-F238E27FC236}">
                <a16:creationId xmlns:a16="http://schemas.microsoft.com/office/drawing/2014/main" id="{1DA6D197-FA20-8576-EF43-6389BE8596C6}"/>
              </a:ext>
            </a:extLst>
          </p:cNvPr>
          <p:cNvSpPr/>
          <p:nvPr/>
        </p:nvSpPr>
        <p:spPr>
          <a:xfrm>
            <a:off x="1720312" y="1052547"/>
            <a:ext cx="1375621"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当月新規受注件数</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97" name="正方形/長方形 96">
            <a:extLst>
              <a:ext uri="{FF2B5EF4-FFF2-40B4-BE49-F238E27FC236}">
                <a16:creationId xmlns:a16="http://schemas.microsoft.com/office/drawing/2014/main" id="{8C933238-6CF0-1E40-EA78-268919287A9C}"/>
              </a:ext>
            </a:extLst>
          </p:cNvPr>
          <p:cNvSpPr/>
          <p:nvPr/>
        </p:nvSpPr>
        <p:spPr>
          <a:xfrm>
            <a:off x="3216027" y="1052547"/>
            <a:ext cx="1375621"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受注率</a:t>
            </a:r>
          </a:p>
        </p:txBody>
      </p:sp>
      <p:sp>
        <p:nvSpPr>
          <p:cNvPr id="98" name="正方形/長方形 97">
            <a:extLst>
              <a:ext uri="{FF2B5EF4-FFF2-40B4-BE49-F238E27FC236}">
                <a16:creationId xmlns:a16="http://schemas.microsoft.com/office/drawing/2014/main" id="{966D06DE-3CD1-BC2D-401E-F47BCF9BA6E5}"/>
              </a:ext>
            </a:extLst>
          </p:cNvPr>
          <p:cNvSpPr/>
          <p:nvPr/>
        </p:nvSpPr>
        <p:spPr>
          <a:xfrm>
            <a:off x="6207457" y="1052547"/>
            <a:ext cx="1375621"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業務完了予定件数</a:t>
            </a:r>
          </a:p>
        </p:txBody>
      </p:sp>
      <p:sp>
        <p:nvSpPr>
          <p:cNvPr id="99" name="四角形: 角を丸くする 98">
            <a:extLst>
              <a:ext uri="{FF2B5EF4-FFF2-40B4-BE49-F238E27FC236}">
                <a16:creationId xmlns:a16="http://schemas.microsoft.com/office/drawing/2014/main" id="{54F94576-CB0F-DC30-CA3A-39BBF5EFFBF6}"/>
              </a:ext>
            </a:extLst>
          </p:cNvPr>
          <p:cNvSpPr/>
          <p:nvPr/>
        </p:nvSpPr>
        <p:spPr>
          <a:xfrm>
            <a:off x="224596" y="1565663"/>
            <a:ext cx="1375621"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250</a:t>
            </a:r>
            <a:r>
              <a:rPr kumimoji="1" lang="ja-JP" altLang="en-US" sz="1200" dirty="0">
                <a:solidFill>
                  <a:schemeClr val="tx1"/>
                </a:solidFill>
              </a:rPr>
              <a:t>件</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100" name="四角形: 角を丸くする 99">
            <a:extLst>
              <a:ext uri="{FF2B5EF4-FFF2-40B4-BE49-F238E27FC236}">
                <a16:creationId xmlns:a16="http://schemas.microsoft.com/office/drawing/2014/main" id="{AD20F97D-C395-D0AB-93CC-2A4864B2269B}"/>
              </a:ext>
            </a:extLst>
          </p:cNvPr>
          <p:cNvSpPr/>
          <p:nvPr/>
        </p:nvSpPr>
        <p:spPr>
          <a:xfrm>
            <a:off x="1720312" y="1565663"/>
            <a:ext cx="1375621"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chemeClr val="tx1"/>
                </a:solidFill>
              </a:rPr>
              <a:t>125</a:t>
            </a:r>
            <a:r>
              <a:rPr kumimoji="1" lang="ja-JP" altLang="en-US" sz="1200" dirty="0">
                <a:solidFill>
                  <a:schemeClr val="tx1"/>
                </a:solidFill>
              </a:rPr>
              <a:t>件</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101" name="四角形: 角を丸くする 100">
            <a:extLst>
              <a:ext uri="{FF2B5EF4-FFF2-40B4-BE49-F238E27FC236}">
                <a16:creationId xmlns:a16="http://schemas.microsoft.com/office/drawing/2014/main" id="{0C5D396E-03A8-99D7-6A0B-7CDBB71C5079}"/>
              </a:ext>
            </a:extLst>
          </p:cNvPr>
          <p:cNvSpPr/>
          <p:nvPr/>
        </p:nvSpPr>
        <p:spPr>
          <a:xfrm>
            <a:off x="3216027" y="1565663"/>
            <a:ext cx="1375621"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50</a:t>
            </a:r>
            <a:r>
              <a:rPr kumimoji="1" lang="ja-JP" altLang="en-US" sz="1200" b="1" dirty="0">
                <a:solidFill>
                  <a:schemeClr val="tx1"/>
                </a:solidFill>
              </a:rPr>
              <a:t>％</a:t>
            </a:r>
            <a:endParaRPr kumimoji="1" lang="ja-JP" altLang="en-US" sz="1200" dirty="0">
              <a:solidFill>
                <a:schemeClr val="tx1"/>
              </a:solidFill>
            </a:endParaRPr>
          </a:p>
        </p:txBody>
      </p:sp>
      <p:sp>
        <p:nvSpPr>
          <p:cNvPr id="102" name="四角形: 角を丸くする 101">
            <a:extLst>
              <a:ext uri="{FF2B5EF4-FFF2-40B4-BE49-F238E27FC236}">
                <a16:creationId xmlns:a16="http://schemas.microsoft.com/office/drawing/2014/main" id="{CA808816-2CB4-A6EA-ED21-00261A5E29D9}"/>
              </a:ext>
            </a:extLst>
          </p:cNvPr>
          <p:cNvSpPr/>
          <p:nvPr/>
        </p:nvSpPr>
        <p:spPr>
          <a:xfrm>
            <a:off x="6207457" y="1565663"/>
            <a:ext cx="1375621"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latin typeface="Meiryo UI" panose="020B0604030504040204" pitchFamily="50" charset="-128"/>
                <a:ea typeface="Meiryo UI" panose="020B0604030504040204" pitchFamily="50" charset="-128"/>
              </a:rPr>
              <a:t>30</a:t>
            </a:r>
            <a:r>
              <a:rPr kumimoji="1" lang="ja-JP" altLang="en-US" sz="1200" dirty="0">
                <a:solidFill>
                  <a:schemeClr val="tx1"/>
                </a:solidFill>
                <a:latin typeface="Meiryo UI" panose="020B0604030504040204" pitchFamily="50" charset="-128"/>
                <a:ea typeface="Meiryo UI" panose="020B0604030504040204" pitchFamily="50" charset="-128"/>
              </a:rPr>
              <a:t>件</a:t>
            </a:r>
            <a:r>
              <a:rPr kumimoji="1" lang="en-US" altLang="ja-JP" sz="1200" dirty="0">
                <a:solidFill>
                  <a:schemeClr val="tx1"/>
                </a:solidFill>
                <a:latin typeface="Meiryo UI" panose="020B0604030504040204" pitchFamily="50" charset="-128"/>
                <a:ea typeface="Meiryo UI" panose="020B0604030504040204" pitchFamily="50" charset="-128"/>
              </a:rPr>
              <a:t>/</a:t>
            </a:r>
            <a:r>
              <a:rPr kumimoji="1" lang="ja-JP" altLang="en-US" sz="1200" dirty="0">
                <a:solidFill>
                  <a:schemeClr val="tx1"/>
                </a:solidFill>
                <a:latin typeface="Meiryo UI" panose="020B0604030504040204" pitchFamily="50" charset="-128"/>
                <a:ea typeface="Meiryo UI" panose="020B0604030504040204" pitchFamily="50" charset="-128"/>
              </a:rPr>
              <a:t>月</a:t>
            </a:r>
          </a:p>
        </p:txBody>
      </p:sp>
      <p:sp>
        <p:nvSpPr>
          <p:cNvPr id="103" name="正方形/長方形 102">
            <a:extLst>
              <a:ext uri="{FF2B5EF4-FFF2-40B4-BE49-F238E27FC236}">
                <a16:creationId xmlns:a16="http://schemas.microsoft.com/office/drawing/2014/main" id="{F92729E8-6A54-DA01-21FB-5EA44463D2FC}"/>
              </a:ext>
            </a:extLst>
          </p:cNvPr>
          <p:cNvSpPr/>
          <p:nvPr/>
        </p:nvSpPr>
        <p:spPr>
          <a:xfrm>
            <a:off x="4711742" y="1052547"/>
            <a:ext cx="1375621"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平均受注単価</a:t>
            </a:r>
          </a:p>
        </p:txBody>
      </p:sp>
      <p:sp>
        <p:nvSpPr>
          <p:cNvPr id="104" name="四角形: 角を丸くする 103">
            <a:extLst>
              <a:ext uri="{FF2B5EF4-FFF2-40B4-BE49-F238E27FC236}">
                <a16:creationId xmlns:a16="http://schemas.microsoft.com/office/drawing/2014/main" id="{C4725686-E6C4-AA3A-F871-3C10F067CAF9}"/>
              </a:ext>
            </a:extLst>
          </p:cNvPr>
          <p:cNvSpPr/>
          <p:nvPr/>
        </p:nvSpPr>
        <p:spPr>
          <a:xfrm>
            <a:off x="4711742" y="1565663"/>
            <a:ext cx="1375621"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20</a:t>
            </a:r>
            <a:r>
              <a:rPr kumimoji="1" lang="ja-JP" altLang="en-US" b="1" dirty="0">
                <a:solidFill>
                  <a:schemeClr val="tx1"/>
                </a:solidFill>
              </a:rPr>
              <a:t>万</a:t>
            </a:r>
            <a:r>
              <a:rPr kumimoji="1" lang="ja-JP" altLang="en-US" sz="1000" dirty="0">
                <a:solidFill>
                  <a:schemeClr val="tx1"/>
                </a:solidFill>
              </a:rPr>
              <a:t>円</a:t>
            </a:r>
            <a:r>
              <a:rPr kumimoji="1" lang="en-US" altLang="ja-JP" sz="1000" dirty="0">
                <a:solidFill>
                  <a:schemeClr val="tx1"/>
                </a:solidFill>
              </a:rPr>
              <a:t>/</a:t>
            </a:r>
            <a:r>
              <a:rPr kumimoji="1" lang="ja-JP" altLang="en-US" sz="1000" dirty="0">
                <a:solidFill>
                  <a:schemeClr val="tx1"/>
                </a:solidFill>
              </a:rPr>
              <a:t>件</a:t>
            </a:r>
          </a:p>
        </p:txBody>
      </p:sp>
      <p:sp>
        <p:nvSpPr>
          <p:cNvPr id="105" name="正方形/長方形 104">
            <a:extLst>
              <a:ext uri="{FF2B5EF4-FFF2-40B4-BE49-F238E27FC236}">
                <a16:creationId xmlns:a16="http://schemas.microsoft.com/office/drawing/2014/main" id="{BFEF2EAB-7F7D-B4E3-AB99-33A038851B93}"/>
              </a:ext>
            </a:extLst>
          </p:cNvPr>
          <p:cNvSpPr/>
          <p:nvPr/>
        </p:nvSpPr>
        <p:spPr>
          <a:xfrm>
            <a:off x="224596" y="2520630"/>
            <a:ext cx="1375621"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000" dirty="0">
                <a:solidFill>
                  <a:schemeClr val="tx1"/>
                </a:solidFill>
                <a:latin typeface="Meiryo UI" panose="020B0604030504040204" pitchFamily="50" charset="-128"/>
                <a:ea typeface="Meiryo UI" panose="020B0604030504040204" pitchFamily="50" charset="-128"/>
              </a:rPr>
              <a:t>今月面談設定済というステータスの案件を受注</a:t>
            </a:r>
            <a:r>
              <a:rPr lang="en-US" altLang="ja-JP" sz="1000" dirty="0">
                <a:solidFill>
                  <a:schemeClr val="tx1"/>
                </a:solidFill>
                <a:latin typeface="Meiryo UI" panose="020B0604030504040204" pitchFamily="50" charset="-128"/>
                <a:ea typeface="Meiryo UI" panose="020B0604030504040204" pitchFamily="50" charset="-128"/>
              </a:rPr>
              <a:t>/</a:t>
            </a:r>
            <a:r>
              <a:rPr lang="ja-JP" altLang="en-US" sz="1000" dirty="0">
                <a:solidFill>
                  <a:schemeClr val="tx1"/>
                </a:solidFill>
                <a:latin typeface="Meiryo UI" panose="020B0604030504040204" pitchFamily="50" charset="-128"/>
                <a:ea typeface="Meiryo UI" panose="020B0604030504040204" pitchFamily="50" charset="-128"/>
              </a:rPr>
              <a:t>失注</a:t>
            </a:r>
            <a:r>
              <a:rPr lang="en-US" altLang="ja-JP" sz="1000" dirty="0">
                <a:solidFill>
                  <a:schemeClr val="tx1"/>
                </a:solidFill>
                <a:latin typeface="Meiryo UI" panose="020B0604030504040204" pitchFamily="50" charset="-128"/>
                <a:ea typeface="Meiryo UI" panose="020B0604030504040204" pitchFamily="50" charset="-128"/>
              </a:rPr>
              <a:t>/</a:t>
            </a:r>
            <a:r>
              <a:rPr lang="ja-JP" altLang="en-US" sz="1000" dirty="0">
                <a:solidFill>
                  <a:schemeClr val="tx1"/>
                </a:solidFill>
                <a:latin typeface="Meiryo UI" panose="020B0604030504040204" pitchFamily="50" charset="-128"/>
                <a:ea typeface="Meiryo UI" panose="020B0604030504040204" pitchFamily="50" charset="-128"/>
              </a:rPr>
              <a:t>保留に変更した案件数（面談が終わったということ）</a:t>
            </a:r>
            <a:endParaRPr kumimoji="1" lang="ja-JP" altLang="en-US" sz="1000" dirty="0">
              <a:solidFill>
                <a:schemeClr val="tx1"/>
              </a:solidFill>
              <a:latin typeface="Meiryo UI" panose="020B0604030504040204" pitchFamily="50" charset="-128"/>
              <a:ea typeface="Meiryo UI" panose="020B0604030504040204" pitchFamily="50" charset="-128"/>
            </a:endParaRPr>
          </a:p>
        </p:txBody>
      </p:sp>
      <p:cxnSp>
        <p:nvCxnSpPr>
          <p:cNvPr id="106" name="直線コネクタ 105">
            <a:extLst>
              <a:ext uri="{FF2B5EF4-FFF2-40B4-BE49-F238E27FC236}">
                <a16:creationId xmlns:a16="http://schemas.microsoft.com/office/drawing/2014/main" id="{58B465D0-0183-0EC7-D0A2-0010EAFBD5B3}"/>
              </a:ext>
            </a:extLst>
          </p:cNvPr>
          <p:cNvCxnSpPr>
            <a:stCxn id="105" idx="0"/>
            <a:endCxn id="99" idx="2"/>
          </p:cNvCxnSpPr>
          <p:nvPr/>
        </p:nvCxnSpPr>
        <p:spPr>
          <a:xfrm flipV="1">
            <a:off x="912407"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07" name="正方形/長方形 106">
            <a:extLst>
              <a:ext uri="{FF2B5EF4-FFF2-40B4-BE49-F238E27FC236}">
                <a16:creationId xmlns:a16="http://schemas.microsoft.com/office/drawing/2014/main" id="{EA760CE4-BD6D-8F8D-950E-370409E106A7}"/>
              </a:ext>
            </a:extLst>
          </p:cNvPr>
          <p:cNvSpPr/>
          <p:nvPr/>
        </p:nvSpPr>
        <p:spPr>
          <a:xfrm>
            <a:off x="1721705" y="2520630"/>
            <a:ext cx="1375621"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000" dirty="0">
                <a:solidFill>
                  <a:schemeClr val="tx1"/>
                </a:solidFill>
                <a:latin typeface="Meiryo UI" panose="020B0604030504040204" pitchFamily="50" charset="-128"/>
                <a:ea typeface="Meiryo UI" panose="020B0604030504040204" pitchFamily="50" charset="-128"/>
              </a:rPr>
              <a:t>ステータスが面談設定済から受注になった案件</a:t>
            </a:r>
            <a:endParaRPr kumimoji="1" lang="ja-JP" altLang="en-US" sz="1000" dirty="0">
              <a:solidFill>
                <a:schemeClr val="tx1"/>
              </a:solidFill>
              <a:latin typeface="Meiryo UI" panose="020B0604030504040204" pitchFamily="50" charset="-128"/>
              <a:ea typeface="Meiryo UI" panose="020B0604030504040204" pitchFamily="50" charset="-128"/>
            </a:endParaRPr>
          </a:p>
        </p:txBody>
      </p:sp>
      <p:cxnSp>
        <p:nvCxnSpPr>
          <p:cNvPr id="108" name="直線コネクタ 107">
            <a:extLst>
              <a:ext uri="{FF2B5EF4-FFF2-40B4-BE49-F238E27FC236}">
                <a16:creationId xmlns:a16="http://schemas.microsoft.com/office/drawing/2014/main" id="{C037C266-C037-88A9-920D-D3D8CF4291AA}"/>
              </a:ext>
            </a:extLst>
          </p:cNvPr>
          <p:cNvCxnSpPr>
            <a:stCxn id="107" idx="0"/>
          </p:cNvCxnSpPr>
          <p:nvPr/>
        </p:nvCxnSpPr>
        <p:spPr>
          <a:xfrm flipV="1">
            <a:off x="2409516"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09" name="正方形/長方形 108">
            <a:extLst>
              <a:ext uri="{FF2B5EF4-FFF2-40B4-BE49-F238E27FC236}">
                <a16:creationId xmlns:a16="http://schemas.microsoft.com/office/drawing/2014/main" id="{9827ED3F-4117-3737-3CE3-13FA52B78B4A}"/>
              </a:ext>
            </a:extLst>
          </p:cNvPr>
          <p:cNvSpPr/>
          <p:nvPr/>
        </p:nvSpPr>
        <p:spPr>
          <a:xfrm>
            <a:off x="3218813" y="2520630"/>
            <a:ext cx="1375621"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000" dirty="0">
                <a:solidFill>
                  <a:schemeClr val="tx1"/>
                </a:solidFill>
                <a:latin typeface="Meiryo UI" panose="020B0604030504040204" pitchFamily="50" charset="-128"/>
                <a:ea typeface="Meiryo UI" panose="020B0604030504040204" pitchFamily="50" charset="-128"/>
              </a:rPr>
              <a:t>当月新規受注件数</a:t>
            </a:r>
            <a:r>
              <a:rPr lang="en-US" altLang="ja-JP" sz="1000" dirty="0">
                <a:solidFill>
                  <a:schemeClr val="tx1"/>
                </a:solidFill>
                <a:latin typeface="Meiryo UI" panose="020B0604030504040204" pitchFamily="50" charset="-128"/>
                <a:ea typeface="Meiryo UI" panose="020B0604030504040204" pitchFamily="50" charset="-128"/>
              </a:rPr>
              <a:t>÷</a:t>
            </a:r>
            <a:r>
              <a:rPr lang="ja-JP" altLang="en-US" sz="1000" dirty="0">
                <a:solidFill>
                  <a:schemeClr val="tx1"/>
                </a:solidFill>
                <a:latin typeface="Meiryo UI" panose="020B0604030504040204" pitchFamily="50" charset="-128"/>
                <a:ea typeface="Meiryo UI" panose="020B0604030504040204" pitchFamily="50" charset="-128"/>
              </a:rPr>
              <a:t>当月面談数</a:t>
            </a:r>
          </a:p>
        </p:txBody>
      </p:sp>
      <p:cxnSp>
        <p:nvCxnSpPr>
          <p:cNvPr id="110" name="直線コネクタ 109">
            <a:extLst>
              <a:ext uri="{FF2B5EF4-FFF2-40B4-BE49-F238E27FC236}">
                <a16:creationId xmlns:a16="http://schemas.microsoft.com/office/drawing/2014/main" id="{C3A6E9D1-4003-75C3-9C48-360EE092EDAA}"/>
              </a:ext>
            </a:extLst>
          </p:cNvPr>
          <p:cNvCxnSpPr>
            <a:stCxn id="109" idx="0"/>
          </p:cNvCxnSpPr>
          <p:nvPr/>
        </p:nvCxnSpPr>
        <p:spPr>
          <a:xfrm flipV="1">
            <a:off x="3906624"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11" name="正方形/長方形 110">
            <a:extLst>
              <a:ext uri="{FF2B5EF4-FFF2-40B4-BE49-F238E27FC236}">
                <a16:creationId xmlns:a16="http://schemas.microsoft.com/office/drawing/2014/main" id="{428CEF8B-3CA9-BB9F-5BD2-EE9AFA688681}"/>
              </a:ext>
            </a:extLst>
          </p:cNvPr>
          <p:cNvSpPr/>
          <p:nvPr/>
        </p:nvSpPr>
        <p:spPr>
          <a:xfrm>
            <a:off x="4715921" y="2520630"/>
            <a:ext cx="1375621"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000" dirty="0">
                <a:solidFill>
                  <a:schemeClr val="tx1"/>
                </a:solidFill>
                <a:latin typeface="Meiryo UI" panose="020B0604030504040204" pitchFamily="50" charset="-128"/>
                <a:ea typeface="Meiryo UI" panose="020B0604030504040204" pitchFamily="50" charset="-128"/>
              </a:rPr>
              <a:t>受注金額の平均値</a:t>
            </a:r>
            <a:endParaRPr kumimoji="1" lang="en-US" altLang="ja-JP" sz="1000" dirty="0">
              <a:solidFill>
                <a:schemeClr val="tx1"/>
              </a:solidFill>
              <a:latin typeface="Meiryo UI" panose="020B0604030504040204" pitchFamily="50" charset="-128"/>
              <a:ea typeface="Meiryo UI" panose="020B0604030504040204" pitchFamily="50" charset="-128"/>
            </a:endParaRPr>
          </a:p>
        </p:txBody>
      </p:sp>
      <p:cxnSp>
        <p:nvCxnSpPr>
          <p:cNvPr id="112" name="直線コネクタ 111">
            <a:extLst>
              <a:ext uri="{FF2B5EF4-FFF2-40B4-BE49-F238E27FC236}">
                <a16:creationId xmlns:a16="http://schemas.microsoft.com/office/drawing/2014/main" id="{562849D7-F8A6-372D-24E9-C3C214CD699A}"/>
              </a:ext>
            </a:extLst>
          </p:cNvPr>
          <p:cNvCxnSpPr>
            <a:stCxn id="111" idx="0"/>
          </p:cNvCxnSpPr>
          <p:nvPr/>
        </p:nvCxnSpPr>
        <p:spPr>
          <a:xfrm flipV="1">
            <a:off x="5403732"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13" name="正方形/長方形 112">
            <a:extLst>
              <a:ext uri="{FF2B5EF4-FFF2-40B4-BE49-F238E27FC236}">
                <a16:creationId xmlns:a16="http://schemas.microsoft.com/office/drawing/2014/main" id="{32B88F44-1E00-FE3F-CB9C-E26D3AC08759}"/>
              </a:ext>
            </a:extLst>
          </p:cNvPr>
          <p:cNvSpPr/>
          <p:nvPr/>
        </p:nvSpPr>
        <p:spPr>
          <a:xfrm>
            <a:off x="6213030" y="2520630"/>
            <a:ext cx="1375621"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000" dirty="0">
                <a:solidFill>
                  <a:schemeClr val="tx1"/>
                </a:solidFill>
                <a:latin typeface="Meiryo UI" panose="020B0604030504040204" pitchFamily="50" charset="-128"/>
                <a:ea typeface="Meiryo UI" panose="020B0604030504040204" pitchFamily="50" charset="-128"/>
              </a:rPr>
              <a:t>完了予定日が今月の案件数</a:t>
            </a:r>
          </a:p>
        </p:txBody>
      </p:sp>
      <p:cxnSp>
        <p:nvCxnSpPr>
          <p:cNvPr id="114" name="直線コネクタ 113">
            <a:extLst>
              <a:ext uri="{FF2B5EF4-FFF2-40B4-BE49-F238E27FC236}">
                <a16:creationId xmlns:a16="http://schemas.microsoft.com/office/drawing/2014/main" id="{6E618B51-92B1-9FD6-BDF3-87F1D077DA61}"/>
              </a:ext>
            </a:extLst>
          </p:cNvPr>
          <p:cNvCxnSpPr>
            <a:stCxn id="113" idx="0"/>
          </p:cNvCxnSpPr>
          <p:nvPr/>
        </p:nvCxnSpPr>
        <p:spPr>
          <a:xfrm flipV="1">
            <a:off x="6900841"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85" name="正方形/長方形 184">
            <a:extLst>
              <a:ext uri="{FF2B5EF4-FFF2-40B4-BE49-F238E27FC236}">
                <a16:creationId xmlns:a16="http://schemas.microsoft.com/office/drawing/2014/main" id="{0CE9A9CE-3839-B357-FFFF-B4C6A53152AC}"/>
              </a:ext>
            </a:extLst>
          </p:cNvPr>
          <p:cNvSpPr/>
          <p:nvPr/>
        </p:nvSpPr>
        <p:spPr>
          <a:xfrm>
            <a:off x="7703172" y="1052547"/>
            <a:ext cx="1375621"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業務完了件数</a:t>
            </a:r>
          </a:p>
        </p:txBody>
      </p:sp>
      <p:sp>
        <p:nvSpPr>
          <p:cNvPr id="186" name="四角形: 角を丸くする 185">
            <a:extLst>
              <a:ext uri="{FF2B5EF4-FFF2-40B4-BE49-F238E27FC236}">
                <a16:creationId xmlns:a16="http://schemas.microsoft.com/office/drawing/2014/main" id="{C78A2B9A-E927-77BD-99EE-DD2484572832}"/>
              </a:ext>
            </a:extLst>
          </p:cNvPr>
          <p:cNvSpPr/>
          <p:nvPr/>
        </p:nvSpPr>
        <p:spPr>
          <a:xfrm>
            <a:off x="7703172" y="1565663"/>
            <a:ext cx="1375621"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chemeClr val="tx1"/>
                </a:solidFill>
                <a:latin typeface="Meiryo UI" panose="020B0604030504040204" pitchFamily="50" charset="-128"/>
                <a:ea typeface="Meiryo UI" panose="020B0604030504040204" pitchFamily="50" charset="-128"/>
              </a:rPr>
              <a:t>20</a:t>
            </a:r>
            <a:r>
              <a:rPr lang="ja-JP" altLang="en-US" sz="1200" dirty="0">
                <a:solidFill>
                  <a:schemeClr val="tx1"/>
                </a:solidFill>
                <a:latin typeface="Meiryo UI" panose="020B0604030504040204" pitchFamily="50" charset="-128"/>
                <a:ea typeface="Meiryo UI" panose="020B0604030504040204" pitchFamily="50" charset="-128"/>
              </a:rPr>
              <a:t>件</a:t>
            </a:r>
            <a:r>
              <a:rPr lang="en-US" altLang="ja-JP" sz="1200" dirty="0">
                <a:solidFill>
                  <a:schemeClr val="tx1"/>
                </a:solidFill>
                <a:latin typeface="Meiryo UI" panose="020B0604030504040204" pitchFamily="50" charset="-128"/>
                <a:ea typeface="Meiryo UI" panose="020B0604030504040204" pitchFamily="50" charset="-128"/>
              </a:rPr>
              <a:t>/</a:t>
            </a:r>
            <a:r>
              <a:rPr lang="ja-JP" altLang="en-US" sz="1200" dirty="0">
                <a:solidFill>
                  <a:schemeClr val="tx1"/>
                </a:solidFill>
                <a:latin typeface="Meiryo UI" panose="020B0604030504040204" pitchFamily="50" charset="-128"/>
                <a:ea typeface="Meiryo UI" panose="020B0604030504040204" pitchFamily="50" charset="-128"/>
              </a:rPr>
              <a:t>月</a:t>
            </a:r>
          </a:p>
        </p:txBody>
      </p:sp>
      <p:sp>
        <p:nvSpPr>
          <p:cNvPr id="187" name="正方形/長方形 186">
            <a:extLst>
              <a:ext uri="{FF2B5EF4-FFF2-40B4-BE49-F238E27FC236}">
                <a16:creationId xmlns:a16="http://schemas.microsoft.com/office/drawing/2014/main" id="{2BC67639-28BF-6DCD-8A60-6E52D1A07504}"/>
              </a:ext>
            </a:extLst>
          </p:cNvPr>
          <p:cNvSpPr/>
          <p:nvPr/>
        </p:nvSpPr>
        <p:spPr>
          <a:xfrm>
            <a:off x="7708745" y="2520630"/>
            <a:ext cx="1375621"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000" dirty="0">
                <a:solidFill>
                  <a:schemeClr val="tx1"/>
                </a:solidFill>
                <a:latin typeface="Meiryo UI" panose="020B0604030504040204" pitchFamily="50" charset="-128"/>
                <a:ea typeface="Meiryo UI" panose="020B0604030504040204" pitchFamily="50" charset="-128"/>
              </a:rPr>
              <a:t>今月業務完了した案件数</a:t>
            </a:r>
            <a:endParaRPr kumimoji="1" lang="ja-JP" altLang="en-US" sz="1000" dirty="0">
              <a:solidFill>
                <a:schemeClr val="tx1"/>
              </a:solidFill>
              <a:latin typeface="Meiryo UI" panose="020B0604030504040204" pitchFamily="50" charset="-128"/>
              <a:ea typeface="Meiryo UI" panose="020B0604030504040204" pitchFamily="50" charset="-128"/>
            </a:endParaRPr>
          </a:p>
        </p:txBody>
      </p:sp>
      <p:cxnSp>
        <p:nvCxnSpPr>
          <p:cNvPr id="188" name="直線コネクタ 187">
            <a:extLst>
              <a:ext uri="{FF2B5EF4-FFF2-40B4-BE49-F238E27FC236}">
                <a16:creationId xmlns:a16="http://schemas.microsoft.com/office/drawing/2014/main" id="{9CF96F2F-3CD5-D6FD-1BD7-6DD5003EE174}"/>
              </a:ext>
            </a:extLst>
          </p:cNvPr>
          <p:cNvCxnSpPr>
            <a:stCxn id="187" idx="0"/>
          </p:cNvCxnSpPr>
          <p:nvPr/>
        </p:nvCxnSpPr>
        <p:spPr>
          <a:xfrm flipV="1">
            <a:off x="8396556"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90" name="正方形/長方形 189">
            <a:extLst>
              <a:ext uri="{FF2B5EF4-FFF2-40B4-BE49-F238E27FC236}">
                <a16:creationId xmlns:a16="http://schemas.microsoft.com/office/drawing/2014/main" id="{EF157FA4-3C27-A222-91CF-21F138195439}"/>
              </a:ext>
            </a:extLst>
          </p:cNvPr>
          <p:cNvSpPr/>
          <p:nvPr/>
        </p:nvSpPr>
        <p:spPr>
          <a:xfrm>
            <a:off x="9185328" y="1052547"/>
            <a:ext cx="1375621"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業務完了金額</a:t>
            </a:r>
          </a:p>
        </p:txBody>
      </p:sp>
      <p:sp>
        <p:nvSpPr>
          <p:cNvPr id="191" name="四角形: 角を丸くする 190">
            <a:extLst>
              <a:ext uri="{FF2B5EF4-FFF2-40B4-BE49-F238E27FC236}">
                <a16:creationId xmlns:a16="http://schemas.microsoft.com/office/drawing/2014/main" id="{2A42CEE8-E80A-7ED8-64A1-7FBF5D240A3D}"/>
              </a:ext>
            </a:extLst>
          </p:cNvPr>
          <p:cNvSpPr/>
          <p:nvPr/>
        </p:nvSpPr>
        <p:spPr>
          <a:xfrm>
            <a:off x="9185328" y="1565663"/>
            <a:ext cx="1375621"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chemeClr val="tx1"/>
                </a:solidFill>
              </a:rPr>
              <a:t>2,900</a:t>
            </a:r>
            <a:r>
              <a:rPr lang="ja-JP" altLang="en-US" sz="1200" b="1" dirty="0">
                <a:solidFill>
                  <a:schemeClr val="tx1"/>
                </a:solidFill>
              </a:rPr>
              <a:t>万円</a:t>
            </a:r>
            <a:r>
              <a:rPr lang="en-US" altLang="ja-JP" sz="1200" b="1" dirty="0">
                <a:solidFill>
                  <a:schemeClr val="tx1"/>
                </a:solidFill>
              </a:rPr>
              <a:t>/</a:t>
            </a:r>
            <a:r>
              <a:rPr lang="ja-JP" altLang="en-US" sz="1200" b="1" dirty="0">
                <a:solidFill>
                  <a:schemeClr val="tx1"/>
                </a:solidFill>
              </a:rPr>
              <a:t>月</a:t>
            </a:r>
            <a:endParaRPr kumimoji="1" lang="ja-JP" altLang="en-US" sz="1200" dirty="0">
              <a:solidFill>
                <a:schemeClr val="tx1"/>
              </a:solidFill>
            </a:endParaRPr>
          </a:p>
        </p:txBody>
      </p:sp>
      <p:sp>
        <p:nvSpPr>
          <p:cNvPr id="192" name="正方形/長方形 191">
            <a:extLst>
              <a:ext uri="{FF2B5EF4-FFF2-40B4-BE49-F238E27FC236}">
                <a16:creationId xmlns:a16="http://schemas.microsoft.com/office/drawing/2014/main" id="{FD80583B-8C3F-6629-9E57-17ABCEBDF902}"/>
              </a:ext>
            </a:extLst>
          </p:cNvPr>
          <p:cNvSpPr/>
          <p:nvPr/>
        </p:nvSpPr>
        <p:spPr>
          <a:xfrm>
            <a:off x="9190901" y="2520630"/>
            <a:ext cx="1375621"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000" dirty="0">
                <a:solidFill>
                  <a:schemeClr val="tx1"/>
                </a:solidFill>
                <a:latin typeface="Meiryo UI" panose="020B0604030504040204" pitchFamily="50" charset="-128"/>
                <a:ea typeface="Meiryo UI" panose="020B0604030504040204" pitchFamily="50" charset="-128"/>
              </a:rPr>
              <a:t>今月業務完了した案件の確定売上の総計</a:t>
            </a:r>
            <a:endParaRPr kumimoji="1" lang="ja-JP" altLang="en-US" sz="1000" dirty="0">
              <a:solidFill>
                <a:schemeClr val="tx1"/>
              </a:solidFill>
              <a:latin typeface="Meiryo UI" panose="020B0604030504040204" pitchFamily="50" charset="-128"/>
              <a:ea typeface="Meiryo UI" panose="020B0604030504040204" pitchFamily="50" charset="-128"/>
            </a:endParaRPr>
          </a:p>
        </p:txBody>
      </p:sp>
      <p:cxnSp>
        <p:nvCxnSpPr>
          <p:cNvPr id="193" name="直線コネクタ 192">
            <a:extLst>
              <a:ext uri="{FF2B5EF4-FFF2-40B4-BE49-F238E27FC236}">
                <a16:creationId xmlns:a16="http://schemas.microsoft.com/office/drawing/2014/main" id="{C4202D0B-B286-BCCC-1CEA-5DAEBB498D42}"/>
              </a:ext>
            </a:extLst>
          </p:cNvPr>
          <p:cNvCxnSpPr>
            <a:stCxn id="192" idx="0"/>
          </p:cNvCxnSpPr>
          <p:nvPr/>
        </p:nvCxnSpPr>
        <p:spPr>
          <a:xfrm flipV="1">
            <a:off x="9878712"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94" name="正方形/長方形 193">
            <a:extLst>
              <a:ext uri="{FF2B5EF4-FFF2-40B4-BE49-F238E27FC236}">
                <a16:creationId xmlns:a16="http://schemas.microsoft.com/office/drawing/2014/main" id="{73175EB2-18D0-3290-83BB-1C4C97603FCA}"/>
              </a:ext>
            </a:extLst>
          </p:cNvPr>
          <p:cNvSpPr/>
          <p:nvPr/>
        </p:nvSpPr>
        <p:spPr>
          <a:xfrm>
            <a:off x="10667484" y="1052547"/>
            <a:ext cx="1375621"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平均サイクル</a:t>
            </a:r>
          </a:p>
        </p:txBody>
      </p:sp>
      <p:sp>
        <p:nvSpPr>
          <p:cNvPr id="195" name="四角形: 角を丸くする 194">
            <a:extLst>
              <a:ext uri="{FF2B5EF4-FFF2-40B4-BE49-F238E27FC236}">
                <a16:creationId xmlns:a16="http://schemas.microsoft.com/office/drawing/2014/main" id="{E1049531-2A9F-01B2-1907-678C39D706D5}"/>
              </a:ext>
            </a:extLst>
          </p:cNvPr>
          <p:cNvSpPr/>
          <p:nvPr/>
        </p:nvSpPr>
        <p:spPr>
          <a:xfrm>
            <a:off x="10667484" y="1565663"/>
            <a:ext cx="1375621"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4.3</a:t>
            </a:r>
            <a:r>
              <a:rPr kumimoji="1" lang="ja-JP" altLang="en-US" sz="1100" b="1" dirty="0">
                <a:solidFill>
                  <a:schemeClr val="tx1"/>
                </a:solidFill>
              </a:rPr>
              <a:t>カ月</a:t>
            </a:r>
            <a:r>
              <a:rPr kumimoji="1" lang="en-US" altLang="ja-JP" sz="1100" b="1" dirty="0">
                <a:solidFill>
                  <a:schemeClr val="tx1"/>
                </a:solidFill>
              </a:rPr>
              <a:t>/</a:t>
            </a:r>
            <a:r>
              <a:rPr kumimoji="1" lang="ja-JP" altLang="en-US" sz="1100" b="1" dirty="0">
                <a:solidFill>
                  <a:schemeClr val="tx1"/>
                </a:solidFill>
              </a:rPr>
              <a:t>件</a:t>
            </a:r>
            <a:endParaRPr kumimoji="1" lang="ja-JP" altLang="en-US" sz="1200" dirty="0">
              <a:solidFill>
                <a:schemeClr val="tx1"/>
              </a:solidFill>
            </a:endParaRPr>
          </a:p>
        </p:txBody>
      </p:sp>
      <p:sp>
        <p:nvSpPr>
          <p:cNvPr id="196" name="正方形/長方形 195">
            <a:extLst>
              <a:ext uri="{FF2B5EF4-FFF2-40B4-BE49-F238E27FC236}">
                <a16:creationId xmlns:a16="http://schemas.microsoft.com/office/drawing/2014/main" id="{A1B2E6D5-8BEA-B93E-B512-987B767705E0}"/>
              </a:ext>
            </a:extLst>
          </p:cNvPr>
          <p:cNvSpPr/>
          <p:nvPr/>
        </p:nvSpPr>
        <p:spPr>
          <a:xfrm>
            <a:off x="10673057" y="2520630"/>
            <a:ext cx="1375621"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000" dirty="0">
                <a:solidFill>
                  <a:schemeClr val="tx1"/>
                </a:solidFill>
                <a:latin typeface="Meiryo UI" panose="020B0604030504040204" pitchFamily="50" charset="-128"/>
                <a:ea typeface="Meiryo UI" panose="020B0604030504040204" pitchFamily="50" charset="-128"/>
              </a:rPr>
              <a:t>今月業務完了した案件が受注してから業務完了するまでにかかった期間の平均</a:t>
            </a:r>
          </a:p>
        </p:txBody>
      </p:sp>
      <p:cxnSp>
        <p:nvCxnSpPr>
          <p:cNvPr id="197" name="直線コネクタ 196">
            <a:extLst>
              <a:ext uri="{FF2B5EF4-FFF2-40B4-BE49-F238E27FC236}">
                <a16:creationId xmlns:a16="http://schemas.microsoft.com/office/drawing/2014/main" id="{638E5F4C-7647-1854-54D5-2EFE7A038C9F}"/>
              </a:ext>
            </a:extLst>
          </p:cNvPr>
          <p:cNvCxnSpPr>
            <a:stCxn id="196" idx="0"/>
          </p:cNvCxnSpPr>
          <p:nvPr/>
        </p:nvCxnSpPr>
        <p:spPr>
          <a:xfrm flipV="1">
            <a:off x="11360868"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23" name="正方形/長方形 122">
            <a:extLst>
              <a:ext uri="{FF2B5EF4-FFF2-40B4-BE49-F238E27FC236}">
                <a16:creationId xmlns:a16="http://schemas.microsoft.com/office/drawing/2014/main" id="{540014D1-06B8-F83E-FD94-C05BD50EB55A}"/>
              </a:ext>
            </a:extLst>
          </p:cNvPr>
          <p:cNvSpPr/>
          <p:nvPr/>
        </p:nvSpPr>
        <p:spPr>
          <a:xfrm>
            <a:off x="4313582" y="3599498"/>
            <a:ext cx="895251" cy="4722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当月面談数</a:t>
            </a:r>
          </a:p>
        </p:txBody>
      </p:sp>
      <p:sp>
        <p:nvSpPr>
          <p:cNvPr id="124" name="正方形/長方形 123">
            <a:extLst>
              <a:ext uri="{FF2B5EF4-FFF2-40B4-BE49-F238E27FC236}">
                <a16:creationId xmlns:a16="http://schemas.microsoft.com/office/drawing/2014/main" id="{273A69BA-F1C3-8643-1217-DFBE6ACB4EC6}"/>
              </a:ext>
            </a:extLst>
          </p:cNvPr>
          <p:cNvSpPr/>
          <p:nvPr/>
        </p:nvSpPr>
        <p:spPr>
          <a:xfrm>
            <a:off x="5278994" y="3599496"/>
            <a:ext cx="895251" cy="4722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当月新規受注件数</a:t>
            </a:r>
          </a:p>
        </p:txBody>
      </p:sp>
      <p:sp>
        <p:nvSpPr>
          <p:cNvPr id="125" name="正方形/長方形 124">
            <a:extLst>
              <a:ext uri="{FF2B5EF4-FFF2-40B4-BE49-F238E27FC236}">
                <a16:creationId xmlns:a16="http://schemas.microsoft.com/office/drawing/2014/main" id="{CDD20F16-332B-D7D6-829F-18BA4BCD6396}"/>
              </a:ext>
            </a:extLst>
          </p:cNvPr>
          <p:cNvSpPr/>
          <p:nvPr/>
        </p:nvSpPr>
        <p:spPr>
          <a:xfrm>
            <a:off x="6244407" y="3599493"/>
            <a:ext cx="895251" cy="4722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受注率</a:t>
            </a:r>
          </a:p>
        </p:txBody>
      </p:sp>
      <p:sp>
        <p:nvSpPr>
          <p:cNvPr id="126" name="正方形/長方形 125">
            <a:extLst>
              <a:ext uri="{FF2B5EF4-FFF2-40B4-BE49-F238E27FC236}">
                <a16:creationId xmlns:a16="http://schemas.microsoft.com/office/drawing/2014/main" id="{1AF5096D-306B-AEBD-BC97-0B2701FD9901}"/>
              </a:ext>
            </a:extLst>
          </p:cNvPr>
          <p:cNvSpPr/>
          <p:nvPr/>
        </p:nvSpPr>
        <p:spPr>
          <a:xfrm>
            <a:off x="7209817" y="3599491"/>
            <a:ext cx="895251" cy="4722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平均受注単価</a:t>
            </a:r>
          </a:p>
        </p:txBody>
      </p:sp>
      <p:sp>
        <p:nvSpPr>
          <p:cNvPr id="132" name="正方形/長方形 131">
            <a:extLst>
              <a:ext uri="{FF2B5EF4-FFF2-40B4-BE49-F238E27FC236}">
                <a16:creationId xmlns:a16="http://schemas.microsoft.com/office/drawing/2014/main" id="{B4103BA4-267F-2A99-0F16-25F6F5D6AD44}"/>
              </a:ext>
            </a:extLst>
          </p:cNvPr>
          <p:cNvSpPr/>
          <p:nvPr/>
        </p:nvSpPr>
        <p:spPr>
          <a:xfrm>
            <a:off x="4313582" y="4208862"/>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133" name="正方形/長方形 132">
            <a:extLst>
              <a:ext uri="{FF2B5EF4-FFF2-40B4-BE49-F238E27FC236}">
                <a16:creationId xmlns:a16="http://schemas.microsoft.com/office/drawing/2014/main" id="{352F3970-55AF-BCD5-4A80-B62683B964DA}"/>
              </a:ext>
            </a:extLst>
          </p:cNvPr>
          <p:cNvSpPr/>
          <p:nvPr/>
        </p:nvSpPr>
        <p:spPr>
          <a:xfrm>
            <a:off x="5278994" y="4208860"/>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134" name="正方形/長方形 133">
            <a:extLst>
              <a:ext uri="{FF2B5EF4-FFF2-40B4-BE49-F238E27FC236}">
                <a16:creationId xmlns:a16="http://schemas.microsoft.com/office/drawing/2014/main" id="{E6371E01-8C09-A615-076E-5F0228FBC4A6}"/>
              </a:ext>
            </a:extLst>
          </p:cNvPr>
          <p:cNvSpPr/>
          <p:nvPr/>
        </p:nvSpPr>
        <p:spPr>
          <a:xfrm>
            <a:off x="6244407" y="4208859"/>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135" name="正方形/長方形 134">
            <a:extLst>
              <a:ext uri="{FF2B5EF4-FFF2-40B4-BE49-F238E27FC236}">
                <a16:creationId xmlns:a16="http://schemas.microsoft.com/office/drawing/2014/main" id="{BAC5FC48-2811-9551-BF7E-6456EE8DF602}"/>
              </a:ext>
            </a:extLst>
          </p:cNvPr>
          <p:cNvSpPr/>
          <p:nvPr/>
        </p:nvSpPr>
        <p:spPr>
          <a:xfrm>
            <a:off x="7209817" y="4208858"/>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144" name="正方形/長方形 143">
            <a:extLst>
              <a:ext uri="{FF2B5EF4-FFF2-40B4-BE49-F238E27FC236}">
                <a16:creationId xmlns:a16="http://schemas.microsoft.com/office/drawing/2014/main" id="{7BD5EFAF-D010-52FF-E194-06D4A533BD91}"/>
              </a:ext>
            </a:extLst>
          </p:cNvPr>
          <p:cNvSpPr/>
          <p:nvPr/>
        </p:nvSpPr>
        <p:spPr>
          <a:xfrm>
            <a:off x="4313582" y="4768675"/>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145" name="正方形/長方形 144">
            <a:extLst>
              <a:ext uri="{FF2B5EF4-FFF2-40B4-BE49-F238E27FC236}">
                <a16:creationId xmlns:a16="http://schemas.microsoft.com/office/drawing/2014/main" id="{AF398B0A-13CD-640A-E18D-3C7626102958}"/>
              </a:ext>
            </a:extLst>
          </p:cNvPr>
          <p:cNvSpPr/>
          <p:nvPr/>
        </p:nvSpPr>
        <p:spPr>
          <a:xfrm>
            <a:off x="5278994" y="4768674"/>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146" name="正方形/長方形 145">
            <a:extLst>
              <a:ext uri="{FF2B5EF4-FFF2-40B4-BE49-F238E27FC236}">
                <a16:creationId xmlns:a16="http://schemas.microsoft.com/office/drawing/2014/main" id="{5C3A3A99-7E5D-F5DC-49BA-2797A2D52B47}"/>
              </a:ext>
            </a:extLst>
          </p:cNvPr>
          <p:cNvSpPr/>
          <p:nvPr/>
        </p:nvSpPr>
        <p:spPr>
          <a:xfrm>
            <a:off x="6244407" y="4768673"/>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147" name="正方形/長方形 146">
            <a:extLst>
              <a:ext uri="{FF2B5EF4-FFF2-40B4-BE49-F238E27FC236}">
                <a16:creationId xmlns:a16="http://schemas.microsoft.com/office/drawing/2014/main" id="{5EA98AA8-4A36-A0BA-5F2F-1A92952E27FE}"/>
              </a:ext>
            </a:extLst>
          </p:cNvPr>
          <p:cNvSpPr/>
          <p:nvPr/>
        </p:nvSpPr>
        <p:spPr>
          <a:xfrm>
            <a:off x="7209817" y="4768672"/>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156" name="正方形/長方形 155">
            <a:extLst>
              <a:ext uri="{FF2B5EF4-FFF2-40B4-BE49-F238E27FC236}">
                <a16:creationId xmlns:a16="http://schemas.microsoft.com/office/drawing/2014/main" id="{7F58DDD6-B48B-7EF8-40A1-E52E41C492F7}"/>
              </a:ext>
            </a:extLst>
          </p:cNvPr>
          <p:cNvSpPr/>
          <p:nvPr/>
        </p:nvSpPr>
        <p:spPr>
          <a:xfrm>
            <a:off x="4313582" y="5328489"/>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157" name="正方形/長方形 156">
            <a:extLst>
              <a:ext uri="{FF2B5EF4-FFF2-40B4-BE49-F238E27FC236}">
                <a16:creationId xmlns:a16="http://schemas.microsoft.com/office/drawing/2014/main" id="{06449EA1-2297-A029-74B4-80EF2D709203}"/>
              </a:ext>
            </a:extLst>
          </p:cNvPr>
          <p:cNvSpPr/>
          <p:nvPr/>
        </p:nvSpPr>
        <p:spPr>
          <a:xfrm>
            <a:off x="5278994" y="5328488"/>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158" name="正方形/長方形 157">
            <a:extLst>
              <a:ext uri="{FF2B5EF4-FFF2-40B4-BE49-F238E27FC236}">
                <a16:creationId xmlns:a16="http://schemas.microsoft.com/office/drawing/2014/main" id="{148AA9EB-8D84-FCD5-BE62-FE77AB94D86A}"/>
              </a:ext>
            </a:extLst>
          </p:cNvPr>
          <p:cNvSpPr/>
          <p:nvPr/>
        </p:nvSpPr>
        <p:spPr>
          <a:xfrm>
            <a:off x="6244407" y="5328487"/>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159" name="正方形/長方形 158">
            <a:extLst>
              <a:ext uri="{FF2B5EF4-FFF2-40B4-BE49-F238E27FC236}">
                <a16:creationId xmlns:a16="http://schemas.microsoft.com/office/drawing/2014/main" id="{828857E5-2843-F6FD-0173-FAF94EFFAF3C}"/>
              </a:ext>
            </a:extLst>
          </p:cNvPr>
          <p:cNvSpPr/>
          <p:nvPr/>
        </p:nvSpPr>
        <p:spPr>
          <a:xfrm>
            <a:off x="7209817" y="5328485"/>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168" name="正方形/長方形 167">
            <a:extLst>
              <a:ext uri="{FF2B5EF4-FFF2-40B4-BE49-F238E27FC236}">
                <a16:creationId xmlns:a16="http://schemas.microsoft.com/office/drawing/2014/main" id="{3631AFB8-D709-69C7-47A6-0134B2329532}"/>
              </a:ext>
            </a:extLst>
          </p:cNvPr>
          <p:cNvSpPr/>
          <p:nvPr/>
        </p:nvSpPr>
        <p:spPr>
          <a:xfrm>
            <a:off x="4313582" y="5888303"/>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169" name="正方形/長方形 168">
            <a:extLst>
              <a:ext uri="{FF2B5EF4-FFF2-40B4-BE49-F238E27FC236}">
                <a16:creationId xmlns:a16="http://schemas.microsoft.com/office/drawing/2014/main" id="{7C6DE881-EEE7-8179-E968-FE7301135300}"/>
              </a:ext>
            </a:extLst>
          </p:cNvPr>
          <p:cNvSpPr/>
          <p:nvPr/>
        </p:nvSpPr>
        <p:spPr>
          <a:xfrm>
            <a:off x="5278994" y="5888302"/>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170" name="正方形/長方形 169">
            <a:extLst>
              <a:ext uri="{FF2B5EF4-FFF2-40B4-BE49-F238E27FC236}">
                <a16:creationId xmlns:a16="http://schemas.microsoft.com/office/drawing/2014/main" id="{6E98AFBB-9A6C-B038-DAC2-005E95459629}"/>
              </a:ext>
            </a:extLst>
          </p:cNvPr>
          <p:cNvSpPr/>
          <p:nvPr/>
        </p:nvSpPr>
        <p:spPr>
          <a:xfrm>
            <a:off x="6244407" y="5888300"/>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171" name="正方形/長方形 170">
            <a:extLst>
              <a:ext uri="{FF2B5EF4-FFF2-40B4-BE49-F238E27FC236}">
                <a16:creationId xmlns:a16="http://schemas.microsoft.com/office/drawing/2014/main" id="{AA02F33A-301F-8D25-0A1A-7912B024D5ED}"/>
              </a:ext>
            </a:extLst>
          </p:cNvPr>
          <p:cNvSpPr/>
          <p:nvPr/>
        </p:nvSpPr>
        <p:spPr>
          <a:xfrm>
            <a:off x="7209817" y="5888299"/>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204" name="正方形/長方形 203">
            <a:extLst>
              <a:ext uri="{FF2B5EF4-FFF2-40B4-BE49-F238E27FC236}">
                <a16:creationId xmlns:a16="http://schemas.microsoft.com/office/drawing/2014/main" id="{B3B57208-CD5B-6C90-7F65-F33CD456E7C2}"/>
              </a:ext>
            </a:extLst>
          </p:cNvPr>
          <p:cNvSpPr/>
          <p:nvPr/>
        </p:nvSpPr>
        <p:spPr>
          <a:xfrm>
            <a:off x="8175227" y="3599498"/>
            <a:ext cx="895251" cy="4722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900" dirty="0">
                <a:solidFill>
                  <a:schemeClr val="tx1"/>
                </a:solidFill>
                <a:latin typeface="Meiryo UI" panose="020B0604030504040204" pitchFamily="50" charset="-128"/>
                <a:ea typeface="Meiryo UI" panose="020B0604030504040204" pitchFamily="50" charset="-128"/>
              </a:rPr>
              <a:t>業務完了予定件数</a:t>
            </a:r>
          </a:p>
        </p:txBody>
      </p:sp>
      <p:sp>
        <p:nvSpPr>
          <p:cNvPr id="205" name="正方形/長方形 204">
            <a:extLst>
              <a:ext uri="{FF2B5EF4-FFF2-40B4-BE49-F238E27FC236}">
                <a16:creationId xmlns:a16="http://schemas.microsoft.com/office/drawing/2014/main" id="{1B3B4A21-4EC3-5E3A-ADAE-F472DE7C1267}"/>
              </a:ext>
            </a:extLst>
          </p:cNvPr>
          <p:cNvSpPr/>
          <p:nvPr/>
        </p:nvSpPr>
        <p:spPr>
          <a:xfrm>
            <a:off x="9140639" y="3599496"/>
            <a:ext cx="895251" cy="4722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900" dirty="0">
                <a:solidFill>
                  <a:schemeClr val="tx1"/>
                </a:solidFill>
                <a:latin typeface="Meiryo UI" panose="020B0604030504040204" pitchFamily="50" charset="-128"/>
                <a:ea typeface="Meiryo UI" panose="020B0604030504040204" pitchFamily="50" charset="-128"/>
              </a:rPr>
              <a:t>業務完了件数</a:t>
            </a:r>
          </a:p>
        </p:txBody>
      </p:sp>
      <p:sp>
        <p:nvSpPr>
          <p:cNvPr id="206" name="正方形/長方形 205">
            <a:extLst>
              <a:ext uri="{FF2B5EF4-FFF2-40B4-BE49-F238E27FC236}">
                <a16:creationId xmlns:a16="http://schemas.microsoft.com/office/drawing/2014/main" id="{58144306-2B37-2F81-CA93-F132802ABE0F}"/>
              </a:ext>
            </a:extLst>
          </p:cNvPr>
          <p:cNvSpPr/>
          <p:nvPr/>
        </p:nvSpPr>
        <p:spPr>
          <a:xfrm>
            <a:off x="10106052" y="3599493"/>
            <a:ext cx="895251" cy="4722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900" dirty="0">
                <a:solidFill>
                  <a:schemeClr val="tx1"/>
                </a:solidFill>
                <a:latin typeface="Meiryo UI" panose="020B0604030504040204" pitchFamily="50" charset="-128"/>
                <a:ea typeface="Meiryo UI" panose="020B0604030504040204" pitchFamily="50" charset="-128"/>
              </a:rPr>
              <a:t>業務完了金額</a:t>
            </a:r>
          </a:p>
        </p:txBody>
      </p:sp>
      <p:sp>
        <p:nvSpPr>
          <p:cNvPr id="207" name="正方形/長方形 206">
            <a:extLst>
              <a:ext uri="{FF2B5EF4-FFF2-40B4-BE49-F238E27FC236}">
                <a16:creationId xmlns:a16="http://schemas.microsoft.com/office/drawing/2014/main" id="{4AADA0C9-5D86-D655-C307-16C35AF5F838}"/>
              </a:ext>
            </a:extLst>
          </p:cNvPr>
          <p:cNvSpPr/>
          <p:nvPr/>
        </p:nvSpPr>
        <p:spPr>
          <a:xfrm>
            <a:off x="11071462" y="3599491"/>
            <a:ext cx="895251" cy="4722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平均サイクル</a:t>
            </a:r>
          </a:p>
        </p:txBody>
      </p:sp>
      <p:sp>
        <p:nvSpPr>
          <p:cNvPr id="208" name="正方形/長方形 207">
            <a:extLst>
              <a:ext uri="{FF2B5EF4-FFF2-40B4-BE49-F238E27FC236}">
                <a16:creationId xmlns:a16="http://schemas.microsoft.com/office/drawing/2014/main" id="{37C8707B-4CA6-E9FC-3DBD-A00BB8163862}"/>
              </a:ext>
            </a:extLst>
          </p:cNvPr>
          <p:cNvSpPr/>
          <p:nvPr/>
        </p:nvSpPr>
        <p:spPr>
          <a:xfrm>
            <a:off x="8175227" y="4208862"/>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209" name="正方形/長方形 208">
            <a:extLst>
              <a:ext uri="{FF2B5EF4-FFF2-40B4-BE49-F238E27FC236}">
                <a16:creationId xmlns:a16="http://schemas.microsoft.com/office/drawing/2014/main" id="{4E241C5F-D124-60E4-028D-7BA40F1EE3E1}"/>
              </a:ext>
            </a:extLst>
          </p:cNvPr>
          <p:cNvSpPr/>
          <p:nvPr/>
        </p:nvSpPr>
        <p:spPr>
          <a:xfrm>
            <a:off x="9140639" y="4208860"/>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210" name="正方形/長方形 209">
            <a:extLst>
              <a:ext uri="{FF2B5EF4-FFF2-40B4-BE49-F238E27FC236}">
                <a16:creationId xmlns:a16="http://schemas.microsoft.com/office/drawing/2014/main" id="{23CDDF67-890D-5BA9-60B0-AC1BC143CA18}"/>
              </a:ext>
            </a:extLst>
          </p:cNvPr>
          <p:cNvSpPr/>
          <p:nvPr/>
        </p:nvSpPr>
        <p:spPr>
          <a:xfrm>
            <a:off x="10106052" y="4208859"/>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211" name="正方形/長方形 210">
            <a:extLst>
              <a:ext uri="{FF2B5EF4-FFF2-40B4-BE49-F238E27FC236}">
                <a16:creationId xmlns:a16="http://schemas.microsoft.com/office/drawing/2014/main" id="{078D73FD-F58F-A4A7-888C-968B0114FAE7}"/>
              </a:ext>
            </a:extLst>
          </p:cNvPr>
          <p:cNvSpPr/>
          <p:nvPr/>
        </p:nvSpPr>
        <p:spPr>
          <a:xfrm>
            <a:off x="11071462" y="4208858"/>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212" name="正方形/長方形 211">
            <a:extLst>
              <a:ext uri="{FF2B5EF4-FFF2-40B4-BE49-F238E27FC236}">
                <a16:creationId xmlns:a16="http://schemas.microsoft.com/office/drawing/2014/main" id="{45EA6849-E830-2F32-D08A-CBCEAA29B16D}"/>
              </a:ext>
            </a:extLst>
          </p:cNvPr>
          <p:cNvSpPr/>
          <p:nvPr/>
        </p:nvSpPr>
        <p:spPr>
          <a:xfrm>
            <a:off x="8175227" y="4768675"/>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213" name="正方形/長方形 212">
            <a:extLst>
              <a:ext uri="{FF2B5EF4-FFF2-40B4-BE49-F238E27FC236}">
                <a16:creationId xmlns:a16="http://schemas.microsoft.com/office/drawing/2014/main" id="{ACA4BD97-4574-D2DB-328E-99654873B87A}"/>
              </a:ext>
            </a:extLst>
          </p:cNvPr>
          <p:cNvSpPr/>
          <p:nvPr/>
        </p:nvSpPr>
        <p:spPr>
          <a:xfrm>
            <a:off x="9140639" y="4768674"/>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214" name="正方形/長方形 213">
            <a:extLst>
              <a:ext uri="{FF2B5EF4-FFF2-40B4-BE49-F238E27FC236}">
                <a16:creationId xmlns:a16="http://schemas.microsoft.com/office/drawing/2014/main" id="{D8551BCE-5216-151E-EC38-F37350F81938}"/>
              </a:ext>
            </a:extLst>
          </p:cNvPr>
          <p:cNvSpPr/>
          <p:nvPr/>
        </p:nvSpPr>
        <p:spPr>
          <a:xfrm>
            <a:off x="10106052" y="4768673"/>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215" name="正方形/長方形 214">
            <a:extLst>
              <a:ext uri="{FF2B5EF4-FFF2-40B4-BE49-F238E27FC236}">
                <a16:creationId xmlns:a16="http://schemas.microsoft.com/office/drawing/2014/main" id="{E99FD140-B665-4B7B-29D7-A423D89516B6}"/>
              </a:ext>
            </a:extLst>
          </p:cNvPr>
          <p:cNvSpPr/>
          <p:nvPr/>
        </p:nvSpPr>
        <p:spPr>
          <a:xfrm>
            <a:off x="11071462" y="4768672"/>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216" name="正方形/長方形 215">
            <a:extLst>
              <a:ext uri="{FF2B5EF4-FFF2-40B4-BE49-F238E27FC236}">
                <a16:creationId xmlns:a16="http://schemas.microsoft.com/office/drawing/2014/main" id="{03ACA4EE-F41D-6237-D292-E2F109F8FBA0}"/>
              </a:ext>
            </a:extLst>
          </p:cNvPr>
          <p:cNvSpPr/>
          <p:nvPr/>
        </p:nvSpPr>
        <p:spPr>
          <a:xfrm>
            <a:off x="8175227" y="5328489"/>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217" name="正方形/長方形 216">
            <a:extLst>
              <a:ext uri="{FF2B5EF4-FFF2-40B4-BE49-F238E27FC236}">
                <a16:creationId xmlns:a16="http://schemas.microsoft.com/office/drawing/2014/main" id="{7CEC1FAE-C796-9D5E-AFBE-DCE892CD2927}"/>
              </a:ext>
            </a:extLst>
          </p:cNvPr>
          <p:cNvSpPr/>
          <p:nvPr/>
        </p:nvSpPr>
        <p:spPr>
          <a:xfrm>
            <a:off x="9140639" y="5328488"/>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218" name="正方形/長方形 217">
            <a:extLst>
              <a:ext uri="{FF2B5EF4-FFF2-40B4-BE49-F238E27FC236}">
                <a16:creationId xmlns:a16="http://schemas.microsoft.com/office/drawing/2014/main" id="{97B716DA-CC27-E9C6-CA39-733C93F69C10}"/>
              </a:ext>
            </a:extLst>
          </p:cNvPr>
          <p:cNvSpPr/>
          <p:nvPr/>
        </p:nvSpPr>
        <p:spPr>
          <a:xfrm>
            <a:off x="10106052" y="5328487"/>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219" name="正方形/長方形 218">
            <a:extLst>
              <a:ext uri="{FF2B5EF4-FFF2-40B4-BE49-F238E27FC236}">
                <a16:creationId xmlns:a16="http://schemas.microsoft.com/office/drawing/2014/main" id="{E117D70E-95EA-31C5-CE2F-3E48BEEE44B2}"/>
              </a:ext>
            </a:extLst>
          </p:cNvPr>
          <p:cNvSpPr/>
          <p:nvPr/>
        </p:nvSpPr>
        <p:spPr>
          <a:xfrm>
            <a:off x="11071462" y="5328485"/>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220" name="正方形/長方形 219">
            <a:extLst>
              <a:ext uri="{FF2B5EF4-FFF2-40B4-BE49-F238E27FC236}">
                <a16:creationId xmlns:a16="http://schemas.microsoft.com/office/drawing/2014/main" id="{23CF0133-88AA-B125-3159-F0502FDA9D3D}"/>
              </a:ext>
            </a:extLst>
          </p:cNvPr>
          <p:cNvSpPr/>
          <p:nvPr/>
        </p:nvSpPr>
        <p:spPr>
          <a:xfrm>
            <a:off x="8175227" y="5888303"/>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221" name="正方形/長方形 220">
            <a:extLst>
              <a:ext uri="{FF2B5EF4-FFF2-40B4-BE49-F238E27FC236}">
                <a16:creationId xmlns:a16="http://schemas.microsoft.com/office/drawing/2014/main" id="{9CB80AE9-457D-91DB-0D7F-BCE7C87AEC1A}"/>
              </a:ext>
            </a:extLst>
          </p:cNvPr>
          <p:cNvSpPr/>
          <p:nvPr/>
        </p:nvSpPr>
        <p:spPr>
          <a:xfrm>
            <a:off x="9140639" y="5888302"/>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222" name="正方形/長方形 221">
            <a:extLst>
              <a:ext uri="{FF2B5EF4-FFF2-40B4-BE49-F238E27FC236}">
                <a16:creationId xmlns:a16="http://schemas.microsoft.com/office/drawing/2014/main" id="{5C18BFC7-B229-4941-689A-2F755CD1191D}"/>
              </a:ext>
            </a:extLst>
          </p:cNvPr>
          <p:cNvSpPr/>
          <p:nvPr/>
        </p:nvSpPr>
        <p:spPr>
          <a:xfrm>
            <a:off x="10106052" y="5888300"/>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223" name="正方形/長方形 222">
            <a:extLst>
              <a:ext uri="{FF2B5EF4-FFF2-40B4-BE49-F238E27FC236}">
                <a16:creationId xmlns:a16="http://schemas.microsoft.com/office/drawing/2014/main" id="{386BB97C-0EB5-C657-1369-F9698D1061C5}"/>
              </a:ext>
            </a:extLst>
          </p:cNvPr>
          <p:cNvSpPr/>
          <p:nvPr/>
        </p:nvSpPr>
        <p:spPr>
          <a:xfrm>
            <a:off x="11071462" y="5888299"/>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225" name="正方形/長方形 224">
            <a:extLst>
              <a:ext uri="{FF2B5EF4-FFF2-40B4-BE49-F238E27FC236}">
                <a16:creationId xmlns:a16="http://schemas.microsoft.com/office/drawing/2014/main" id="{18148C12-5240-DAFD-327E-1E6DA1C219A2}"/>
              </a:ext>
            </a:extLst>
          </p:cNvPr>
          <p:cNvSpPr/>
          <p:nvPr/>
        </p:nvSpPr>
        <p:spPr>
          <a:xfrm>
            <a:off x="-1162763" y="4588209"/>
            <a:ext cx="1375621"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000" dirty="0">
                <a:solidFill>
                  <a:schemeClr val="tx1"/>
                </a:solidFill>
                <a:latin typeface="Meiryo UI" panose="020B0604030504040204" pitchFamily="50" charset="-128"/>
                <a:ea typeface="Meiryo UI" panose="020B0604030504040204" pitchFamily="50" charset="-128"/>
              </a:rPr>
              <a:t>チーム単位の集計値を表示して、その小計として個人の数値を出したい。</a:t>
            </a:r>
            <a:endParaRPr kumimoji="1" lang="ja-JP" altLang="en-US" sz="1000" dirty="0">
              <a:solidFill>
                <a:schemeClr val="tx1"/>
              </a:solidFill>
              <a:latin typeface="Meiryo UI" panose="020B0604030504040204" pitchFamily="50" charset="-128"/>
              <a:ea typeface="Meiryo UI" panose="020B0604030504040204" pitchFamily="50" charset="-128"/>
            </a:endParaRPr>
          </a:p>
        </p:txBody>
      </p:sp>
      <p:sp>
        <p:nvSpPr>
          <p:cNvPr id="226" name="左中かっこ 225">
            <a:extLst>
              <a:ext uri="{FF2B5EF4-FFF2-40B4-BE49-F238E27FC236}">
                <a16:creationId xmlns:a16="http://schemas.microsoft.com/office/drawing/2014/main" id="{0A5C5290-3AFB-FDB3-01F8-1DB7A1DB126B}"/>
              </a:ext>
            </a:extLst>
          </p:cNvPr>
          <p:cNvSpPr/>
          <p:nvPr/>
        </p:nvSpPr>
        <p:spPr>
          <a:xfrm>
            <a:off x="199751" y="3493140"/>
            <a:ext cx="227846" cy="309843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227" name="テキスト ボックス 226">
            <a:extLst>
              <a:ext uri="{FF2B5EF4-FFF2-40B4-BE49-F238E27FC236}">
                <a16:creationId xmlns:a16="http://schemas.microsoft.com/office/drawing/2014/main" id="{63428D4C-59AE-722B-AB09-A639677D2176}"/>
              </a:ext>
            </a:extLst>
          </p:cNvPr>
          <p:cNvSpPr txBox="1"/>
          <p:nvPr/>
        </p:nvSpPr>
        <p:spPr>
          <a:xfrm>
            <a:off x="5094774" y="118420"/>
            <a:ext cx="1800493" cy="369332"/>
          </a:xfrm>
          <a:prstGeom prst="rect">
            <a:avLst/>
          </a:prstGeom>
          <a:noFill/>
        </p:spPr>
        <p:txBody>
          <a:bodyPr wrap="none" rtlCol="0">
            <a:spAutoFit/>
          </a:bodyPr>
          <a:lstStyle/>
          <a:p>
            <a:r>
              <a:rPr kumimoji="1" lang="ja-JP" altLang="en-US" dirty="0"/>
              <a:t>不動産査定件数</a:t>
            </a:r>
            <a:endParaRPr kumimoji="1" lang="en-US" altLang="ja-JP" dirty="0"/>
          </a:p>
        </p:txBody>
      </p:sp>
      <p:sp>
        <p:nvSpPr>
          <p:cNvPr id="228" name="右中かっこ 227">
            <a:extLst>
              <a:ext uri="{FF2B5EF4-FFF2-40B4-BE49-F238E27FC236}">
                <a16:creationId xmlns:a16="http://schemas.microsoft.com/office/drawing/2014/main" id="{ECA08AB2-C3E4-04A0-29F5-A7828A3D3301}"/>
              </a:ext>
            </a:extLst>
          </p:cNvPr>
          <p:cNvSpPr/>
          <p:nvPr/>
        </p:nvSpPr>
        <p:spPr>
          <a:xfrm rot="16200000">
            <a:off x="8885762" y="-2184116"/>
            <a:ext cx="520166" cy="5943200"/>
          </a:xfrm>
          <a:prstGeom prst="righ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229" name="テキスト ボックス 228">
            <a:extLst>
              <a:ext uri="{FF2B5EF4-FFF2-40B4-BE49-F238E27FC236}">
                <a16:creationId xmlns:a16="http://schemas.microsoft.com/office/drawing/2014/main" id="{AC3E14D8-ACDB-CEE8-8CEA-DF1D08C3ACC9}"/>
              </a:ext>
            </a:extLst>
          </p:cNvPr>
          <p:cNvSpPr txBox="1"/>
          <p:nvPr/>
        </p:nvSpPr>
        <p:spPr>
          <a:xfrm>
            <a:off x="8235397" y="140340"/>
            <a:ext cx="646331" cy="369332"/>
          </a:xfrm>
          <a:prstGeom prst="rect">
            <a:avLst/>
          </a:prstGeom>
          <a:noFill/>
        </p:spPr>
        <p:txBody>
          <a:bodyPr wrap="none" rtlCol="0">
            <a:spAutoFit/>
          </a:bodyPr>
          <a:lstStyle/>
          <a:p>
            <a:r>
              <a:rPr kumimoji="1" lang="ja-JP" altLang="en-US" dirty="0"/>
              <a:t>削除</a:t>
            </a:r>
            <a:endParaRPr kumimoji="1" lang="en-US" altLang="ja-JP" dirty="0"/>
          </a:p>
        </p:txBody>
      </p:sp>
      <p:sp>
        <p:nvSpPr>
          <p:cNvPr id="2" name="フローチャート: 端子 1">
            <a:extLst>
              <a:ext uri="{FF2B5EF4-FFF2-40B4-BE49-F238E27FC236}">
                <a16:creationId xmlns:a16="http://schemas.microsoft.com/office/drawing/2014/main" id="{26FB8449-1C44-EDF8-EC7D-A0739F894E10}"/>
              </a:ext>
            </a:extLst>
          </p:cNvPr>
          <p:cNvSpPr/>
          <p:nvPr/>
        </p:nvSpPr>
        <p:spPr>
          <a:xfrm>
            <a:off x="10188657" y="175287"/>
            <a:ext cx="1783486" cy="461918"/>
          </a:xfrm>
          <a:prstGeom prst="flowChartTerminator">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Meiryo UI" panose="020B0604030504040204" pitchFamily="50" charset="-128"/>
                <a:ea typeface="Meiryo UI" panose="020B0604030504040204" pitchFamily="50" charset="-128"/>
              </a:rPr>
              <a:t>修正前</a:t>
            </a:r>
          </a:p>
        </p:txBody>
      </p:sp>
    </p:spTree>
    <p:extLst>
      <p:ext uri="{BB962C8B-B14F-4D97-AF65-F5344CB8AC3E}">
        <p14:creationId xmlns:p14="http://schemas.microsoft.com/office/powerpoint/2010/main" val="2770734421"/>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3C0907EE-0E41-C7E1-95F9-F1F98E92419C}"/>
            </a:ext>
          </a:extLst>
        </p:cNvPr>
        <p:cNvGrpSpPr/>
        <p:nvPr/>
      </p:nvGrpSpPr>
      <p:grpSpPr>
        <a:xfrm>
          <a:off x="0" y="0"/>
          <a:ext cx="0" cy="0"/>
          <a:chOff x="0" y="0"/>
          <a:chExt cx="0" cy="0"/>
        </a:xfrm>
      </p:grpSpPr>
      <p:sp>
        <p:nvSpPr>
          <p:cNvPr id="94" name="テキスト ボックス 93">
            <a:extLst>
              <a:ext uri="{FF2B5EF4-FFF2-40B4-BE49-F238E27FC236}">
                <a16:creationId xmlns:a16="http://schemas.microsoft.com/office/drawing/2014/main" id="{C147103B-DC88-7975-78C4-F449AE9AB169}"/>
              </a:ext>
            </a:extLst>
          </p:cNvPr>
          <p:cNvSpPr txBox="1"/>
          <p:nvPr/>
        </p:nvSpPr>
        <p:spPr>
          <a:xfrm>
            <a:off x="427597" y="368391"/>
            <a:ext cx="1640193" cy="369332"/>
          </a:xfrm>
          <a:prstGeom prst="rect">
            <a:avLst/>
          </a:prstGeom>
          <a:noFill/>
        </p:spPr>
        <p:txBody>
          <a:bodyPr wrap="none" rtlCol="0">
            <a:spAutoFit/>
          </a:bodyPr>
          <a:lstStyle/>
          <a:p>
            <a:r>
              <a:rPr kumimoji="1" lang="ja-JP" altLang="en-US" b="1" dirty="0">
                <a:latin typeface="Meiryo UI" panose="020B0604030504040204" pitchFamily="50" charset="-128"/>
                <a:ea typeface="Meiryo UI" panose="020B0604030504040204" pitchFamily="50" charset="-128"/>
              </a:rPr>
              <a:t>受注担当　</a:t>
            </a:r>
            <a:r>
              <a:rPr kumimoji="1" lang="en-US" altLang="ja-JP" b="1" dirty="0">
                <a:latin typeface="Meiryo UI" panose="020B0604030504040204" pitchFamily="50" charset="-128"/>
                <a:ea typeface="Meiryo UI" panose="020B0604030504040204" pitchFamily="50" charset="-128"/>
              </a:rPr>
              <a:t>x</a:t>
            </a:r>
            <a:r>
              <a:rPr kumimoji="1" lang="ja-JP" altLang="en-US" b="1" dirty="0">
                <a:latin typeface="Meiryo UI" panose="020B0604030504040204" pitchFamily="50" charset="-128"/>
                <a:ea typeface="Meiryo UI" panose="020B0604030504040204" pitchFamily="50" charset="-128"/>
              </a:rPr>
              <a:t>月</a:t>
            </a:r>
          </a:p>
        </p:txBody>
      </p:sp>
      <p:sp>
        <p:nvSpPr>
          <p:cNvPr id="115" name="正方形/長方形 114">
            <a:extLst>
              <a:ext uri="{FF2B5EF4-FFF2-40B4-BE49-F238E27FC236}">
                <a16:creationId xmlns:a16="http://schemas.microsoft.com/office/drawing/2014/main" id="{A91251A6-BC6E-4F1A-FEB2-F50B5B93DA72}"/>
              </a:ext>
            </a:extLst>
          </p:cNvPr>
          <p:cNvSpPr/>
          <p:nvPr/>
        </p:nvSpPr>
        <p:spPr>
          <a:xfrm>
            <a:off x="2704825" y="102358"/>
            <a:ext cx="2061133"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当月の受注担当の数値</a:t>
            </a:r>
          </a:p>
        </p:txBody>
      </p:sp>
      <p:cxnSp>
        <p:nvCxnSpPr>
          <p:cNvPr id="116" name="直線コネクタ 115">
            <a:extLst>
              <a:ext uri="{FF2B5EF4-FFF2-40B4-BE49-F238E27FC236}">
                <a16:creationId xmlns:a16="http://schemas.microsoft.com/office/drawing/2014/main" id="{B1C7C6D8-3C44-69C6-3870-B7B3E446ACDD}"/>
              </a:ext>
            </a:extLst>
          </p:cNvPr>
          <p:cNvCxnSpPr>
            <a:cxnSpLocks/>
            <a:stCxn id="115" idx="1"/>
            <a:endCxn id="94" idx="3"/>
          </p:cNvCxnSpPr>
          <p:nvPr/>
        </p:nvCxnSpPr>
        <p:spPr>
          <a:xfrm flipH="1">
            <a:off x="2067790" y="509672"/>
            <a:ext cx="637035" cy="4338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18" name="正方形/長方形 117">
            <a:extLst>
              <a:ext uri="{FF2B5EF4-FFF2-40B4-BE49-F238E27FC236}">
                <a16:creationId xmlns:a16="http://schemas.microsoft.com/office/drawing/2014/main" id="{CFF191D3-8618-0831-22A3-F4A5F7381BA2}"/>
              </a:ext>
            </a:extLst>
          </p:cNvPr>
          <p:cNvSpPr/>
          <p:nvPr/>
        </p:nvSpPr>
        <p:spPr>
          <a:xfrm>
            <a:off x="1439793" y="3605110"/>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氏名</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19" name="正方形/長方形 118">
            <a:extLst>
              <a:ext uri="{FF2B5EF4-FFF2-40B4-BE49-F238E27FC236}">
                <a16:creationId xmlns:a16="http://schemas.microsoft.com/office/drawing/2014/main" id="{16AFF18D-D3B1-A0F8-F999-1B23D9DDEF13}"/>
              </a:ext>
            </a:extLst>
          </p:cNvPr>
          <p:cNvSpPr/>
          <p:nvPr/>
        </p:nvSpPr>
        <p:spPr>
          <a:xfrm>
            <a:off x="531411" y="3599491"/>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所属チーム</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20" name="正方形/長方形 119">
            <a:extLst>
              <a:ext uri="{FF2B5EF4-FFF2-40B4-BE49-F238E27FC236}">
                <a16:creationId xmlns:a16="http://schemas.microsoft.com/office/drawing/2014/main" id="{07D4BDD8-03A1-1745-4E8B-1E60639E89AC}"/>
              </a:ext>
            </a:extLst>
          </p:cNvPr>
          <p:cNvSpPr/>
          <p:nvPr/>
        </p:nvSpPr>
        <p:spPr>
          <a:xfrm>
            <a:off x="2376026" y="3599491"/>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職種</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21" name="正方形/長方形 120">
            <a:extLst>
              <a:ext uri="{FF2B5EF4-FFF2-40B4-BE49-F238E27FC236}">
                <a16:creationId xmlns:a16="http://schemas.microsoft.com/office/drawing/2014/main" id="{604F5EBF-B725-94EC-5798-CBA59FBD9B55}"/>
              </a:ext>
            </a:extLst>
          </p:cNvPr>
          <p:cNvSpPr/>
          <p:nvPr/>
        </p:nvSpPr>
        <p:spPr>
          <a:xfrm>
            <a:off x="3288211" y="3599491"/>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在籍期間</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40" name="正方形/長方形 139">
            <a:extLst>
              <a:ext uri="{FF2B5EF4-FFF2-40B4-BE49-F238E27FC236}">
                <a16:creationId xmlns:a16="http://schemas.microsoft.com/office/drawing/2014/main" id="{880CF6C9-0B40-254E-C9B9-06D91F1FF540}"/>
              </a:ext>
            </a:extLst>
          </p:cNvPr>
          <p:cNvSpPr/>
          <p:nvPr/>
        </p:nvSpPr>
        <p:spPr>
          <a:xfrm>
            <a:off x="1438101" y="4207056"/>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山田太郎</a:t>
            </a:r>
          </a:p>
        </p:txBody>
      </p:sp>
      <p:sp>
        <p:nvSpPr>
          <p:cNvPr id="141" name="正方形/長方形 140">
            <a:extLst>
              <a:ext uri="{FF2B5EF4-FFF2-40B4-BE49-F238E27FC236}">
                <a16:creationId xmlns:a16="http://schemas.microsoft.com/office/drawing/2014/main" id="{B8540511-8F3C-E620-1774-23A9F4B813D2}"/>
              </a:ext>
            </a:extLst>
          </p:cNvPr>
          <p:cNvSpPr/>
          <p:nvPr/>
        </p:nvSpPr>
        <p:spPr>
          <a:xfrm>
            <a:off x="529720" y="420143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伊藤チーム</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42" name="正方形/長方形 141">
            <a:extLst>
              <a:ext uri="{FF2B5EF4-FFF2-40B4-BE49-F238E27FC236}">
                <a16:creationId xmlns:a16="http://schemas.microsoft.com/office/drawing/2014/main" id="{14439021-1E2C-EFE9-9546-F984417AB441}"/>
              </a:ext>
            </a:extLst>
          </p:cNvPr>
          <p:cNvSpPr/>
          <p:nvPr/>
        </p:nvSpPr>
        <p:spPr>
          <a:xfrm>
            <a:off x="2374335" y="420143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総合職</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43" name="正方形/長方形 142">
            <a:extLst>
              <a:ext uri="{FF2B5EF4-FFF2-40B4-BE49-F238E27FC236}">
                <a16:creationId xmlns:a16="http://schemas.microsoft.com/office/drawing/2014/main" id="{136A7A05-58E0-F393-9F0D-2D5AB1B50214}"/>
              </a:ext>
            </a:extLst>
          </p:cNvPr>
          <p:cNvSpPr/>
          <p:nvPr/>
        </p:nvSpPr>
        <p:spPr>
          <a:xfrm>
            <a:off x="3286520" y="420143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年</a:t>
            </a: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か月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52" name="正方形/長方形 151">
            <a:extLst>
              <a:ext uri="{FF2B5EF4-FFF2-40B4-BE49-F238E27FC236}">
                <a16:creationId xmlns:a16="http://schemas.microsoft.com/office/drawing/2014/main" id="{F67DAF69-F7F4-51BA-2EE1-21154DA262EE}"/>
              </a:ext>
            </a:extLst>
          </p:cNvPr>
          <p:cNvSpPr/>
          <p:nvPr/>
        </p:nvSpPr>
        <p:spPr>
          <a:xfrm>
            <a:off x="1438101" y="4762186"/>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田中</a:t>
            </a:r>
            <a:r>
              <a:rPr kumimoji="1" lang="ja-JP" altLang="en-US" sz="1200" dirty="0">
                <a:solidFill>
                  <a:schemeClr val="tx1"/>
                </a:solidFill>
                <a:latin typeface="Meiryo UI" panose="020B0604030504040204" pitchFamily="50" charset="-128"/>
                <a:ea typeface="Meiryo UI" panose="020B0604030504040204" pitchFamily="50" charset="-128"/>
              </a:rPr>
              <a:t>太郎</a:t>
            </a:r>
          </a:p>
        </p:txBody>
      </p:sp>
      <p:sp>
        <p:nvSpPr>
          <p:cNvPr id="153" name="正方形/長方形 152">
            <a:extLst>
              <a:ext uri="{FF2B5EF4-FFF2-40B4-BE49-F238E27FC236}">
                <a16:creationId xmlns:a16="http://schemas.microsoft.com/office/drawing/2014/main" id="{673E5F4E-4CF4-D6FC-0121-2DD5C07A5A07}"/>
              </a:ext>
            </a:extLst>
          </p:cNvPr>
          <p:cNvSpPr/>
          <p:nvPr/>
        </p:nvSpPr>
        <p:spPr>
          <a:xfrm>
            <a:off x="529720" y="475656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伊藤チーム</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54" name="正方形/長方形 153">
            <a:extLst>
              <a:ext uri="{FF2B5EF4-FFF2-40B4-BE49-F238E27FC236}">
                <a16:creationId xmlns:a16="http://schemas.microsoft.com/office/drawing/2014/main" id="{83B57792-8E68-BD0F-1468-5B6DCE199040}"/>
              </a:ext>
            </a:extLst>
          </p:cNvPr>
          <p:cNvSpPr/>
          <p:nvPr/>
        </p:nvSpPr>
        <p:spPr>
          <a:xfrm>
            <a:off x="2374335" y="475656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総合職</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55" name="正方形/長方形 154">
            <a:extLst>
              <a:ext uri="{FF2B5EF4-FFF2-40B4-BE49-F238E27FC236}">
                <a16:creationId xmlns:a16="http://schemas.microsoft.com/office/drawing/2014/main" id="{8C5BD17E-DC09-3EFB-52EC-015A3C2F5A9E}"/>
              </a:ext>
            </a:extLst>
          </p:cNvPr>
          <p:cNvSpPr/>
          <p:nvPr/>
        </p:nvSpPr>
        <p:spPr>
          <a:xfrm>
            <a:off x="3286520" y="475656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2</a:t>
            </a:r>
            <a:r>
              <a:rPr lang="ja-JP" altLang="en-US" sz="1200" dirty="0">
                <a:solidFill>
                  <a:schemeClr val="tx1"/>
                </a:solidFill>
                <a:latin typeface="Meiryo UI" panose="020B0604030504040204" pitchFamily="50" charset="-128"/>
                <a:ea typeface="Meiryo UI" panose="020B0604030504040204" pitchFamily="50" charset="-128"/>
              </a:rPr>
              <a:t>年</a:t>
            </a: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か月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64" name="正方形/長方形 163">
            <a:extLst>
              <a:ext uri="{FF2B5EF4-FFF2-40B4-BE49-F238E27FC236}">
                <a16:creationId xmlns:a16="http://schemas.microsoft.com/office/drawing/2014/main" id="{CE99194C-D6AB-0CB4-7496-CB9857892A98}"/>
              </a:ext>
            </a:extLst>
          </p:cNvPr>
          <p:cNvSpPr/>
          <p:nvPr/>
        </p:nvSpPr>
        <p:spPr>
          <a:xfrm>
            <a:off x="1438101" y="5317316"/>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鈴木一郎</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65" name="正方形/長方形 164">
            <a:extLst>
              <a:ext uri="{FF2B5EF4-FFF2-40B4-BE49-F238E27FC236}">
                <a16:creationId xmlns:a16="http://schemas.microsoft.com/office/drawing/2014/main" id="{A43A305F-C2E6-6C5B-0528-E3BB4087B72A}"/>
              </a:ext>
            </a:extLst>
          </p:cNvPr>
          <p:cNvSpPr/>
          <p:nvPr/>
        </p:nvSpPr>
        <p:spPr>
          <a:xfrm>
            <a:off x="529720" y="531169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斎藤チーム</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66" name="正方形/長方形 165">
            <a:extLst>
              <a:ext uri="{FF2B5EF4-FFF2-40B4-BE49-F238E27FC236}">
                <a16:creationId xmlns:a16="http://schemas.microsoft.com/office/drawing/2014/main" id="{3673A7D6-95D2-3EAE-EEED-3A5FE816C77B}"/>
              </a:ext>
            </a:extLst>
          </p:cNvPr>
          <p:cNvSpPr/>
          <p:nvPr/>
        </p:nvSpPr>
        <p:spPr>
          <a:xfrm>
            <a:off x="2374335" y="531169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総合職</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67" name="正方形/長方形 166">
            <a:extLst>
              <a:ext uri="{FF2B5EF4-FFF2-40B4-BE49-F238E27FC236}">
                <a16:creationId xmlns:a16="http://schemas.microsoft.com/office/drawing/2014/main" id="{8A4C12BF-A311-E2CC-7A52-32641E141C72}"/>
              </a:ext>
            </a:extLst>
          </p:cNvPr>
          <p:cNvSpPr/>
          <p:nvPr/>
        </p:nvSpPr>
        <p:spPr>
          <a:xfrm>
            <a:off x="3286520" y="531169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年</a:t>
            </a: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か月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76" name="正方形/長方形 175">
            <a:extLst>
              <a:ext uri="{FF2B5EF4-FFF2-40B4-BE49-F238E27FC236}">
                <a16:creationId xmlns:a16="http://schemas.microsoft.com/office/drawing/2014/main" id="{135C3458-33FE-35B5-92E4-BD286B59D0B8}"/>
              </a:ext>
            </a:extLst>
          </p:cNvPr>
          <p:cNvSpPr/>
          <p:nvPr/>
        </p:nvSpPr>
        <p:spPr>
          <a:xfrm>
            <a:off x="1438101" y="5872446"/>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佐藤恵美</a:t>
            </a:r>
          </a:p>
        </p:txBody>
      </p:sp>
      <p:sp>
        <p:nvSpPr>
          <p:cNvPr id="177" name="正方形/長方形 176">
            <a:extLst>
              <a:ext uri="{FF2B5EF4-FFF2-40B4-BE49-F238E27FC236}">
                <a16:creationId xmlns:a16="http://schemas.microsoft.com/office/drawing/2014/main" id="{D2D4EC41-F60B-4B4F-375A-BE49F68F5659}"/>
              </a:ext>
            </a:extLst>
          </p:cNvPr>
          <p:cNvSpPr/>
          <p:nvPr/>
        </p:nvSpPr>
        <p:spPr>
          <a:xfrm>
            <a:off x="529720" y="586682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斎藤チーム</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78" name="正方形/長方形 177">
            <a:extLst>
              <a:ext uri="{FF2B5EF4-FFF2-40B4-BE49-F238E27FC236}">
                <a16:creationId xmlns:a16="http://schemas.microsoft.com/office/drawing/2014/main" id="{B45AE2BC-BDAD-F729-DFE5-31AC51822A9D}"/>
              </a:ext>
            </a:extLst>
          </p:cNvPr>
          <p:cNvSpPr/>
          <p:nvPr/>
        </p:nvSpPr>
        <p:spPr>
          <a:xfrm>
            <a:off x="2374335" y="586682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総合職</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79" name="正方形/長方形 178">
            <a:extLst>
              <a:ext uri="{FF2B5EF4-FFF2-40B4-BE49-F238E27FC236}">
                <a16:creationId xmlns:a16="http://schemas.microsoft.com/office/drawing/2014/main" id="{28303ECA-237A-A830-D9E0-75F030AAEF4B}"/>
              </a:ext>
            </a:extLst>
          </p:cNvPr>
          <p:cNvSpPr/>
          <p:nvPr/>
        </p:nvSpPr>
        <p:spPr>
          <a:xfrm>
            <a:off x="3286520" y="586682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５年</a:t>
            </a: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か月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95" name="正方形/長方形 94">
            <a:extLst>
              <a:ext uri="{FF2B5EF4-FFF2-40B4-BE49-F238E27FC236}">
                <a16:creationId xmlns:a16="http://schemas.microsoft.com/office/drawing/2014/main" id="{791142C1-1DD8-F9C6-6639-3E877CD6A6CF}"/>
              </a:ext>
            </a:extLst>
          </p:cNvPr>
          <p:cNvSpPr/>
          <p:nvPr/>
        </p:nvSpPr>
        <p:spPr>
          <a:xfrm>
            <a:off x="843494" y="1063948"/>
            <a:ext cx="1375621"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当月面談数</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96" name="正方形/長方形 95">
            <a:extLst>
              <a:ext uri="{FF2B5EF4-FFF2-40B4-BE49-F238E27FC236}">
                <a16:creationId xmlns:a16="http://schemas.microsoft.com/office/drawing/2014/main" id="{D4492F89-2E5A-E3E7-3525-69A669EA1193}"/>
              </a:ext>
            </a:extLst>
          </p:cNvPr>
          <p:cNvSpPr/>
          <p:nvPr/>
        </p:nvSpPr>
        <p:spPr>
          <a:xfrm>
            <a:off x="2455942" y="1044165"/>
            <a:ext cx="1375621"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当月新規受注件数</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97" name="正方形/長方形 96">
            <a:extLst>
              <a:ext uri="{FF2B5EF4-FFF2-40B4-BE49-F238E27FC236}">
                <a16:creationId xmlns:a16="http://schemas.microsoft.com/office/drawing/2014/main" id="{BA30814B-469F-9D95-2955-DB646D05D0B7}"/>
              </a:ext>
            </a:extLst>
          </p:cNvPr>
          <p:cNvSpPr/>
          <p:nvPr/>
        </p:nvSpPr>
        <p:spPr>
          <a:xfrm>
            <a:off x="4073396" y="1063948"/>
            <a:ext cx="1375621"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受注率</a:t>
            </a:r>
          </a:p>
        </p:txBody>
      </p:sp>
      <p:sp>
        <p:nvSpPr>
          <p:cNvPr id="98" name="正方形/長方形 97">
            <a:extLst>
              <a:ext uri="{FF2B5EF4-FFF2-40B4-BE49-F238E27FC236}">
                <a16:creationId xmlns:a16="http://schemas.microsoft.com/office/drawing/2014/main" id="{A46AF684-9E5F-3F3C-DA38-2D3D97E56595}"/>
              </a:ext>
            </a:extLst>
          </p:cNvPr>
          <p:cNvSpPr/>
          <p:nvPr/>
        </p:nvSpPr>
        <p:spPr>
          <a:xfrm>
            <a:off x="7059819" y="1047566"/>
            <a:ext cx="1375621"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相続税申告件数</a:t>
            </a:r>
          </a:p>
        </p:txBody>
      </p:sp>
      <p:sp>
        <p:nvSpPr>
          <p:cNvPr id="103" name="正方形/長方形 102">
            <a:extLst>
              <a:ext uri="{FF2B5EF4-FFF2-40B4-BE49-F238E27FC236}">
                <a16:creationId xmlns:a16="http://schemas.microsoft.com/office/drawing/2014/main" id="{329B3A45-2404-94EE-698E-976F6B60D5D4}"/>
              </a:ext>
            </a:extLst>
          </p:cNvPr>
          <p:cNvSpPr/>
          <p:nvPr/>
        </p:nvSpPr>
        <p:spPr>
          <a:xfrm>
            <a:off x="5564104" y="1063948"/>
            <a:ext cx="1375621"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平均受注単価</a:t>
            </a:r>
          </a:p>
        </p:txBody>
      </p:sp>
      <p:sp>
        <p:nvSpPr>
          <p:cNvPr id="185" name="正方形/長方形 184">
            <a:extLst>
              <a:ext uri="{FF2B5EF4-FFF2-40B4-BE49-F238E27FC236}">
                <a16:creationId xmlns:a16="http://schemas.microsoft.com/office/drawing/2014/main" id="{6047A967-31A8-4F78-9F12-C85A42D0D45E}"/>
              </a:ext>
            </a:extLst>
          </p:cNvPr>
          <p:cNvSpPr/>
          <p:nvPr/>
        </p:nvSpPr>
        <p:spPr>
          <a:xfrm>
            <a:off x="8555534" y="1063948"/>
            <a:ext cx="1375621"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不動産査定件数</a:t>
            </a:r>
          </a:p>
        </p:txBody>
      </p:sp>
      <p:sp>
        <p:nvSpPr>
          <p:cNvPr id="123" name="正方形/長方形 122">
            <a:extLst>
              <a:ext uri="{FF2B5EF4-FFF2-40B4-BE49-F238E27FC236}">
                <a16:creationId xmlns:a16="http://schemas.microsoft.com/office/drawing/2014/main" id="{1DF2F18E-B0F0-F573-D73F-41FBBF3C95B7}"/>
              </a:ext>
            </a:extLst>
          </p:cNvPr>
          <p:cNvSpPr/>
          <p:nvPr/>
        </p:nvSpPr>
        <p:spPr>
          <a:xfrm>
            <a:off x="4313582" y="3599498"/>
            <a:ext cx="895251" cy="4722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当月面談数</a:t>
            </a:r>
          </a:p>
        </p:txBody>
      </p:sp>
      <p:sp>
        <p:nvSpPr>
          <p:cNvPr id="124" name="正方形/長方形 123">
            <a:extLst>
              <a:ext uri="{FF2B5EF4-FFF2-40B4-BE49-F238E27FC236}">
                <a16:creationId xmlns:a16="http://schemas.microsoft.com/office/drawing/2014/main" id="{B57CA7A1-3B71-881A-08FE-3186406900A8}"/>
              </a:ext>
            </a:extLst>
          </p:cNvPr>
          <p:cNvSpPr/>
          <p:nvPr/>
        </p:nvSpPr>
        <p:spPr>
          <a:xfrm>
            <a:off x="5278994" y="3599496"/>
            <a:ext cx="895251" cy="4722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当月新規受注件数</a:t>
            </a:r>
          </a:p>
        </p:txBody>
      </p:sp>
      <p:sp>
        <p:nvSpPr>
          <p:cNvPr id="125" name="正方形/長方形 124">
            <a:extLst>
              <a:ext uri="{FF2B5EF4-FFF2-40B4-BE49-F238E27FC236}">
                <a16:creationId xmlns:a16="http://schemas.microsoft.com/office/drawing/2014/main" id="{AE10609A-78E7-A56E-0496-45E0B55A1B49}"/>
              </a:ext>
            </a:extLst>
          </p:cNvPr>
          <p:cNvSpPr/>
          <p:nvPr/>
        </p:nvSpPr>
        <p:spPr>
          <a:xfrm>
            <a:off x="6244407" y="3599493"/>
            <a:ext cx="895251" cy="4722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受注率</a:t>
            </a:r>
          </a:p>
        </p:txBody>
      </p:sp>
      <p:sp>
        <p:nvSpPr>
          <p:cNvPr id="126" name="正方形/長方形 125">
            <a:extLst>
              <a:ext uri="{FF2B5EF4-FFF2-40B4-BE49-F238E27FC236}">
                <a16:creationId xmlns:a16="http://schemas.microsoft.com/office/drawing/2014/main" id="{75D275B0-7D60-D528-F05C-7BE266B94D12}"/>
              </a:ext>
            </a:extLst>
          </p:cNvPr>
          <p:cNvSpPr/>
          <p:nvPr/>
        </p:nvSpPr>
        <p:spPr>
          <a:xfrm>
            <a:off x="7209817" y="3599491"/>
            <a:ext cx="895251" cy="4722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平均受注単価</a:t>
            </a:r>
          </a:p>
        </p:txBody>
      </p:sp>
      <p:sp>
        <p:nvSpPr>
          <p:cNvPr id="132" name="正方形/長方形 131">
            <a:extLst>
              <a:ext uri="{FF2B5EF4-FFF2-40B4-BE49-F238E27FC236}">
                <a16:creationId xmlns:a16="http://schemas.microsoft.com/office/drawing/2014/main" id="{A3A2C950-DB4D-D3E1-198A-1ADEC27980E9}"/>
              </a:ext>
            </a:extLst>
          </p:cNvPr>
          <p:cNvSpPr/>
          <p:nvPr/>
        </p:nvSpPr>
        <p:spPr>
          <a:xfrm>
            <a:off x="4313582" y="4208862"/>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133" name="正方形/長方形 132">
            <a:extLst>
              <a:ext uri="{FF2B5EF4-FFF2-40B4-BE49-F238E27FC236}">
                <a16:creationId xmlns:a16="http://schemas.microsoft.com/office/drawing/2014/main" id="{C4CB6D27-9D0B-F5F0-563B-27FE6389C226}"/>
              </a:ext>
            </a:extLst>
          </p:cNvPr>
          <p:cNvSpPr/>
          <p:nvPr/>
        </p:nvSpPr>
        <p:spPr>
          <a:xfrm>
            <a:off x="5278994" y="4208860"/>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134" name="正方形/長方形 133">
            <a:extLst>
              <a:ext uri="{FF2B5EF4-FFF2-40B4-BE49-F238E27FC236}">
                <a16:creationId xmlns:a16="http://schemas.microsoft.com/office/drawing/2014/main" id="{7453AB9C-C3E1-0375-5D26-86EB89849DA2}"/>
              </a:ext>
            </a:extLst>
          </p:cNvPr>
          <p:cNvSpPr/>
          <p:nvPr/>
        </p:nvSpPr>
        <p:spPr>
          <a:xfrm>
            <a:off x="6244407" y="4208859"/>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135" name="正方形/長方形 134">
            <a:extLst>
              <a:ext uri="{FF2B5EF4-FFF2-40B4-BE49-F238E27FC236}">
                <a16:creationId xmlns:a16="http://schemas.microsoft.com/office/drawing/2014/main" id="{D8753103-FAB8-4331-DEF5-D5DF71D97F73}"/>
              </a:ext>
            </a:extLst>
          </p:cNvPr>
          <p:cNvSpPr/>
          <p:nvPr/>
        </p:nvSpPr>
        <p:spPr>
          <a:xfrm>
            <a:off x="7209817" y="4208858"/>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144" name="正方形/長方形 143">
            <a:extLst>
              <a:ext uri="{FF2B5EF4-FFF2-40B4-BE49-F238E27FC236}">
                <a16:creationId xmlns:a16="http://schemas.microsoft.com/office/drawing/2014/main" id="{9984912C-72F9-599E-99BB-9CB4A2B66E25}"/>
              </a:ext>
            </a:extLst>
          </p:cNvPr>
          <p:cNvSpPr/>
          <p:nvPr/>
        </p:nvSpPr>
        <p:spPr>
          <a:xfrm>
            <a:off x="4313582" y="4768675"/>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145" name="正方形/長方形 144">
            <a:extLst>
              <a:ext uri="{FF2B5EF4-FFF2-40B4-BE49-F238E27FC236}">
                <a16:creationId xmlns:a16="http://schemas.microsoft.com/office/drawing/2014/main" id="{26E31A3C-6CCC-8171-83B6-3CCB921B4EF6}"/>
              </a:ext>
            </a:extLst>
          </p:cNvPr>
          <p:cNvSpPr/>
          <p:nvPr/>
        </p:nvSpPr>
        <p:spPr>
          <a:xfrm>
            <a:off x="5278994" y="4768674"/>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146" name="正方形/長方形 145">
            <a:extLst>
              <a:ext uri="{FF2B5EF4-FFF2-40B4-BE49-F238E27FC236}">
                <a16:creationId xmlns:a16="http://schemas.microsoft.com/office/drawing/2014/main" id="{2B25535E-7B9E-48FD-3BF6-F7B215336F02}"/>
              </a:ext>
            </a:extLst>
          </p:cNvPr>
          <p:cNvSpPr/>
          <p:nvPr/>
        </p:nvSpPr>
        <p:spPr>
          <a:xfrm>
            <a:off x="6244407" y="4768673"/>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147" name="正方形/長方形 146">
            <a:extLst>
              <a:ext uri="{FF2B5EF4-FFF2-40B4-BE49-F238E27FC236}">
                <a16:creationId xmlns:a16="http://schemas.microsoft.com/office/drawing/2014/main" id="{F91B744D-0685-E6E7-475E-A3B89DC45B20}"/>
              </a:ext>
            </a:extLst>
          </p:cNvPr>
          <p:cNvSpPr/>
          <p:nvPr/>
        </p:nvSpPr>
        <p:spPr>
          <a:xfrm>
            <a:off x="7209817" y="4768672"/>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156" name="正方形/長方形 155">
            <a:extLst>
              <a:ext uri="{FF2B5EF4-FFF2-40B4-BE49-F238E27FC236}">
                <a16:creationId xmlns:a16="http://schemas.microsoft.com/office/drawing/2014/main" id="{0A7AE6F9-E841-6DCA-6CE1-97646CB169AA}"/>
              </a:ext>
            </a:extLst>
          </p:cNvPr>
          <p:cNvSpPr/>
          <p:nvPr/>
        </p:nvSpPr>
        <p:spPr>
          <a:xfrm>
            <a:off x="4313582" y="5328489"/>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157" name="正方形/長方形 156">
            <a:extLst>
              <a:ext uri="{FF2B5EF4-FFF2-40B4-BE49-F238E27FC236}">
                <a16:creationId xmlns:a16="http://schemas.microsoft.com/office/drawing/2014/main" id="{E7C71ED2-EFD7-CAA4-2D53-61FDFA145DB1}"/>
              </a:ext>
            </a:extLst>
          </p:cNvPr>
          <p:cNvSpPr/>
          <p:nvPr/>
        </p:nvSpPr>
        <p:spPr>
          <a:xfrm>
            <a:off x="5278994" y="5328488"/>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158" name="正方形/長方形 157">
            <a:extLst>
              <a:ext uri="{FF2B5EF4-FFF2-40B4-BE49-F238E27FC236}">
                <a16:creationId xmlns:a16="http://schemas.microsoft.com/office/drawing/2014/main" id="{8A6AFE2C-B37E-4D2C-0C50-0FEF97FFD5CA}"/>
              </a:ext>
            </a:extLst>
          </p:cNvPr>
          <p:cNvSpPr/>
          <p:nvPr/>
        </p:nvSpPr>
        <p:spPr>
          <a:xfrm>
            <a:off x="6244407" y="5328487"/>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159" name="正方形/長方形 158">
            <a:extLst>
              <a:ext uri="{FF2B5EF4-FFF2-40B4-BE49-F238E27FC236}">
                <a16:creationId xmlns:a16="http://schemas.microsoft.com/office/drawing/2014/main" id="{E7A2243E-F619-BC2E-80CA-B1EF9FA2F2D1}"/>
              </a:ext>
            </a:extLst>
          </p:cNvPr>
          <p:cNvSpPr/>
          <p:nvPr/>
        </p:nvSpPr>
        <p:spPr>
          <a:xfrm>
            <a:off x="7209817" y="5328485"/>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168" name="正方形/長方形 167">
            <a:extLst>
              <a:ext uri="{FF2B5EF4-FFF2-40B4-BE49-F238E27FC236}">
                <a16:creationId xmlns:a16="http://schemas.microsoft.com/office/drawing/2014/main" id="{811567B6-29A5-2233-4CBC-248F11474E14}"/>
              </a:ext>
            </a:extLst>
          </p:cNvPr>
          <p:cNvSpPr/>
          <p:nvPr/>
        </p:nvSpPr>
        <p:spPr>
          <a:xfrm>
            <a:off x="4313582" y="5888303"/>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169" name="正方形/長方形 168">
            <a:extLst>
              <a:ext uri="{FF2B5EF4-FFF2-40B4-BE49-F238E27FC236}">
                <a16:creationId xmlns:a16="http://schemas.microsoft.com/office/drawing/2014/main" id="{DE460EB1-1F21-9433-D8E1-DCC60AE7860C}"/>
              </a:ext>
            </a:extLst>
          </p:cNvPr>
          <p:cNvSpPr/>
          <p:nvPr/>
        </p:nvSpPr>
        <p:spPr>
          <a:xfrm>
            <a:off x="5278994" y="5888302"/>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170" name="正方形/長方形 169">
            <a:extLst>
              <a:ext uri="{FF2B5EF4-FFF2-40B4-BE49-F238E27FC236}">
                <a16:creationId xmlns:a16="http://schemas.microsoft.com/office/drawing/2014/main" id="{E7BD94C2-76C5-782D-15B2-328D6B9E1C87}"/>
              </a:ext>
            </a:extLst>
          </p:cNvPr>
          <p:cNvSpPr/>
          <p:nvPr/>
        </p:nvSpPr>
        <p:spPr>
          <a:xfrm>
            <a:off x="6244407" y="5888300"/>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171" name="正方形/長方形 170">
            <a:extLst>
              <a:ext uri="{FF2B5EF4-FFF2-40B4-BE49-F238E27FC236}">
                <a16:creationId xmlns:a16="http://schemas.microsoft.com/office/drawing/2014/main" id="{69E00D3D-28AB-66C5-1EDE-31A5B84F2001}"/>
              </a:ext>
            </a:extLst>
          </p:cNvPr>
          <p:cNvSpPr/>
          <p:nvPr/>
        </p:nvSpPr>
        <p:spPr>
          <a:xfrm>
            <a:off x="7209817" y="5888299"/>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204" name="正方形/長方形 203">
            <a:extLst>
              <a:ext uri="{FF2B5EF4-FFF2-40B4-BE49-F238E27FC236}">
                <a16:creationId xmlns:a16="http://schemas.microsoft.com/office/drawing/2014/main" id="{2406DDD0-798B-F6B0-010F-1F8B936DA64B}"/>
              </a:ext>
            </a:extLst>
          </p:cNvPr>
          <p:cNvSpPr/>
          <p:nvPr/>
        </p:nvSpPr>
        <p:spPr>
          <a:xfrm>
            <a:off x="8175227" y="3599498"/>
            <a:ext cx="895251" cy="4722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900" dirty="0">
                <a:solidFill>
                  <a:schemeClr val="tx1"/>
                </a:solidFill>
                <a:latin typeface="Meiryo UI" panose="020B0604030504040204" pitchFamily="50" charset="-128"/>
                <a:ea typeface="Meiryo UI" panose="020B0604030504040204" pitchFamily="50" charset="-128"/>
              </a:rPr>
              <a:t>業務完了予定件数</a:t>
            </a:r>
          </a:p>
        </p:txBody>
      </p:sp>
      <p:sp>
        <p:nvSpPr>
          <p:cNvPr id="205" name="正方形/長方形 204">
            <a:extLst>
              <a:ext uri="{FF2B5EF4-FFF2-40B4-BE49-F238E27FC236}">
                <a16:creationId xmlns:a16="http://schemas.microsoft.com/office/drawing/2014/main" id="{59241D4D-E9A0-0E34-4885-0F3440D93CD1}"/>
              </a:ext>
            </a:extLst>
          </p:cNvPr>
          <p:cNvSpPr/>
          <p:nvPr/>
        </p:nvSpPr>
        <p:spPr>
          <a:xfrm>
            <a:off x="9140639" y="3599496"/>
            <a:ext cx="895251" cy="4722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900" dirty="0">
                <a:solidFill>
                  <a:schemeClr val="tx1"/>
                </a:solidFill>
                <a:latin typeface="Meiryo UI" panose="020B0604030504040204" pitchFamily="50" charset="-128"/>
                <a:ea typeface="Meiryo UI" panose="020B0604030504040204" pitchFamily="50" charset="-128"/>
              </a:rPr>
              <a:t>業務完了件数</a:t>
            </a:r>
          </a:p>
        </p:txBody>
      </p:sp>
      <p:sp>
        <p:nvSpPr>
          <p:cNvPr id="206" name="正方形/長方形 205">
            <a:extLst>
              <a:ext uri="{FF2B5EF4-FFF2-40B4-BE49-F238E27FC236}">
                <a16:creationId xmlns:a16="http://schemas.microsoft.com/office/drawing/2014/main" id="{2B9C863B-04B1-C2BF-1ADF-72DA9460BC7E}"/>
              </a:ext>
            </a:extLst>
          </p:cNvPr>
          <p:cNvSpPr/>
          <p:nvPr/>
        </p:nvSpPr>
        <p:spPr>
          <a:xfrm>
            <a:off x="10106052" y="3599493"/>
            <a:ext cx="895251" cy="4722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900" dirty="0">
                <a:solidFill>
                  <a:schemeClr val="tx1"/>
                </a:solidFill>
                <a:latin typeface="Meiryo UI" panose="020B0604030504040204" pitchFamily="50" charset="-128"/>
                <a:ea typeface="Meiryo UI" panose="020B0604030504040204" pitchFamily="50" charset="-128"/>
              </a:rPr>
              <a:t>業務完了金額</a:t>
            </a:r>
          </a:p>
        </p:txBody>
      </p:sp>
      <p:sp>
        <p:nvSpPr>
          <p:cNvPr id="207" name="正方形/長方形 206">
            <a:extLst>
              <a:ext uri="{FF2B5EF4-FFF2-40B4-BE49-F238E27FC236}">
                <a16:creationId xmlns:a16="http://schemas.microsoft.com/office/drawing/2014/main" id="{4788F009-A493-15F8-5A03-44A7FBB93D46}"/>
              </a:ext>
            </a:extLst>
          </p:cNvPr>
          <p:cNvSpPr/>
          <p:nvPr/>
        </p:nvSpPr>
        <p:spPr>
          <a:xfrm>
            <a:off x="11071462" y="3599491"/>
            <a:ext cx="895251" cy="4722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平均サイクル</a:t>
            </a:r>
          </a:p>
        </p:txBody>
      </p:sp>
      <p:sp>
        <p:nvSpPr>
          <p:cNvPr id="208" name="正方形/長方形 207">
            <a:extLst>
              <a:ext uri="{FF2B5EF4-FFF2-40B4-BE49-F238E27FC236}">
                <a16:creationId xmlns:a16="http://schemas.microsoft.com/office/drawing/2014/main" id="{A7EDCB00-C9E1-811B-9A7A-560664461807}"/>
              </a:ext>
            </a:extLst>
          </p:cNvPr>
          <p:cNvSpPr/>
          <p:nvPr/>
        </p:nvSpPr>
        <p:spPr>
          <a:xfrm>
            <a:off x="8175227" y="4208862"/>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209" name="正方形/長方形 208">
            <a:extLst>
              <a:ext uri="{FF2B5EF4-FFF2-40B4-BE49-F238E27FC236}">
                <a16:creationId xmlns:a16="http://schemas.microsoft.com/office/drawing/2014/main" id="{BED9E281-F24B-F84E-821E-ED2082635336}"/>
              </a:ext>
            </a:extLst>
          </p:cNvPr>
          <p:cNvSpPr/>
          <p:nvPr/>
        </p:nvSpPr>
        <p:spPr>
          <a:xfrm>
            <a:off x="9140639" y="4208860"/>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210" name="正方形/長方形 209">
            <a:extLst>
              <a:ext uri="{FF2B5EF4-FFF2-40B4-BE49-F238E27FC236}">
                <a16:creationId xmlns:a16="http://schemas.microsoft.com/office/drawing/2014/main" id="{3289A561-387A-9740-36AF-E9DEA3EA7F6C}"/>
              </a:ext>
            </a:extLst>
          </p:cNvPr>
          <p:cNvSpPr/>
          <p:nvPr/>
        </p:nvSpPr>
        <p:spPr>
          <a:xfrm>
            <a:off x="10106052" y="4208859"/>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211" name="正方形/長方形 210">
            <a:extLst>
              <a:ext uri="{FF2B5EF4-FFF2-40B4-BE49-F238E27FC236}">
                <a16:creationId xmlns:a16="http://schemas.microsoft.com/office/drawing/2014/main" id="{EF215363-24D8-3E9E-3C56-1A0712BC096A}"/>
              </a:ext>
            </a:extLst>
          </p:cNvPr>
          <p:cNvSpPr/>
          <p:nvPr/>
        </p:nvSpPr>
        <p:spPr>
          <a:xfrm>
            <a:off x="11071462" y="4208858"/>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212" name="正方形/長方形 211">
            <a:extLst>
              <a:ext uri="{FF2B5EF4-FFF2-40B4-BE49-F238E27FC236}">
                <a16:creationId xmlns:a16="http://schemas.microsoft.com/office/drawing/2014/main" id="{C7FACC94-4985-EC4A-C404-D0D9B816B415}"/>
              </a:ext>
            </a:extLst>
          </p:cNvPr>
          <p:cNvSpPr/>
          <p:nvPr/>
        </p:nvSpPr>
        <p:spPr>
          <a:xfrm>
            <a:off x="8175227" y="4768675"/>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213" name="正方形/長方形 212">
            <a:extLst>
              <a:ext uri="{FF2B5EF4-FFF2-40B4-BE49-F238E27FC236}">
                <a16:creationId xmlns:a16="http://schemas.microsoft.com/office/drawing/2014/main" id="{8F310BD1-C2E6-C5F2-40CF-844E8669FC67}"/>
              </a:ext>
            </a:extLst>
          </p:cNvPr>
          <p:cNvSpPr/>
          <p:nvPr/>
        </p:nvSpPr>
        <p:spPr>
          <a:xfrm>
            <a:off x="9140639" y="4768674"/>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214" name="正方形/長方形 213">
            <a:extLst>
              <a:ext uri="{FF2B5EF4-FFF2-40B4-BE49-F238E27FC236}">
                <a16:creationId xmlns:a16="http://schemas.microsoft.com/office/drawing/2014/main" id="{E0D4D1D9-6BE4-6F08-8E93-EF1E674E7544}"/>
              </a:ext>
            </a:extLst>
          </p:cNvPr>
          <p:cNvSpPr/>
          <p:nvPr/>
        </p:nvSpPr>
        <p:spPr>
          <a:xfrm>
            <a:off x="10106052" y="4768673"/>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215" name="正方形/長方形 214">
            <a:extLst>
              <a:ext uri="{FF2B5EF4-FFF2-40B4-BE49-F238E27FC236}">
                <a16:creationId xmlns:a16="http://schemas.microsoft.com/office/drawing/2014/main" id="{1236E43F-2828-4230-53A1-64C3CA6E1D03}"/>
              </a:ext>
            </a:extLst>
          </p:cNvPr>
          <p:cNvSpPr/>
          <p:nvPr/>
        </p:nvSpPr>
        <p:spPr>
          <a:xfrm>
            <a:off x="11071462" y="4768672"/>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216" name="正方形/長方形 215">
            <a:extLst>
              <a:ext uri="{FF2B5EF4-FFF2-40B4-BE49-F238E27FC236}">
                <a16:creationId xmlns:a16="http://schemas.microsoft.com/office/drawing/2014/main" id="{A55A789F-19B4-6C5E-F41A-0737C4DBB3AF}"/>
              </a:ext>
            </a:extLst>
          </p:cNvPr>
          <p:cNvSpPr/>
          <p:nvPr/>
        </p:nvSpPr>
        <p:spPr>
          <a:xfrm>
            <a:off x="8175227" y="5328489"/>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217" name="正方形/長方形 216">
            <a:extLst>
              <a:ext uri="{FF2B5EF4-FFF2-40B4-BE49-F238E27FC236}">
                <a16:creationId xmlns:a16="http://schemas.microsoft.com/office/drawing/2014/main" id="{043B0BAA-C3F7-2A82-686B-4E63A1861708}"/>
              </a:ext>
            </a:extLst>
          </p:cNvPr>
          <p:cNvSpPr/>
          <p:nvPr/>
        </p:nvSpPr>
        <p:spPr>
          <a:xfrm>
            <a:off x="9140639" y="5328488"/>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218" name="正方形/長方形 217">
            <a:extLst>
              <a:ext uri="{FF2B5EF4-FFF2-40B4-BE49-F238E27FC236}">
                <a16:creationId xmlns:a16="http://schemas.microsoft.com/office/drawing/2014/main" id="{6BD9976B-1B74-02D8-3706-87ED16E82269}"/>
              </a:ext>
            </a:extLst>
          </p:cNvPr>
          <p:cNvSpPr/>
          <p:nvPr/>
        </p:nvSpPr>
        <p:spPr>
          <a:xfrm>
            <a:off x="10106052" y="5328487"/>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219" name="正方形/長方形 218">
            <a:extLst>
              <a:ext uri="{FF2B5EF4-FFF2-40B4-BE49-F238E27FC236}">
                <a16:creationId xmlns:a16="http://schemas.microsoft.com/office/drawing/2014/main" id="{D506FF94-41EF-E383-AFDE-4984681CC7F7}"/>
              </a:ext>
            </a:extLst>
          </p:cNvPr>
          <p:cNvSpPr/>
          <p:nvPr/>
        </p:nvSpPr>
        <p:spPr>
          <a:xfrm>
            <a:off x="11071462" y="5328485"/>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220" name="正方形/長方形 219">
            <a:extLst>
              <a:ext uri="{FF2B5EF4-FFF2-40B4-BE49-F238E27FC236}">
                <a16:creationId xmlns:a16="http://schemas.microsoft.com/office/drawing/2014/main" id="{9F6D1426-648A-2721-7144-792734EE8A1F}"/>
              </a:ext>
            </a:extLst>
          </p:cNvPr>
          <p:cNvSpPr/>
          <p:nvPr/>
        </p:nvSpPr>
        <p:spPr>
          <a:xfrm>
            <a:off x="8175227" y="5888303"/>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221" name="正方形/長方形 220">
            <a:extLst>
              <a:ext uri="{FF2B5EF4-FFF2-40B4-BE49-F238E27FC236}">
                <a16:creationId xmlns:a16="http://schemas.microsoft.com/office/drawing/2014/main" id="{E11678FD-3421-6F44-D2AE-F4611F0AA778}"/>
              </a:ext>
            </a:extLst>
          </p:cNvPr>
          <p:cNvSpPr/>
          <p:nvPr/>
        </p:nvSpPr>
        <p:spPr>
          <a:xfrm>
            <a:off x="9140639" y="5888302"/>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222" name="正方形/長方形 221">
            <a:extLst>
              <a:ext uri="{FF2B5EF4-FFF2-40B4-BE49-F238E27FC236}">
                <a16:creationId xmlns:a16="http://schemas.microsoft.com/office/drawing/2014/main" id="{74710A81-CA1B-0A5D-EC61-EEE333B9E57F}"/>
              </a:ext>
            </a:extLst>
          </p:cNvPr>
          <p:cNvSpPr/>
          <p:nvPr/>
        </p:nvSpPr>
        <p:spPr>
          <a:xfrm>
            <a:off x="10106052" y="5888300"/>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223" name="正方形/長方形 222">
            <a:extLst>
              <a:ext uri="{FF2B5EF4-FFF2-40B4-BE49-F238E27FC236}">
                <a16:creationId xmlns:a16="http://schemas.microsoft.com/office/drawing/2014/main" id="{2512E36D-E9B0-59BF-2155-10425A288AD8}"/>
              </a:ext>
            </a:extLst>
          </p:cNvPr>
          <p:cNvSpPr/>
          <p:nvPr/>
        </p:nvSpPr>
        <p:spPr>
          <a:xfrm>
            <a:off x="11071462" y="5888299"/>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225" name="正方形/長方形 224">
            <a:extLst>
              <a:ext uri="{FF2B5EF4-FFF2-40B4-BE49-F238E27FC236}">
                <a16:creationId xmlns:a16="http://schemas.microsoft.com/office/drawing/2014/main" id="{6B997D33-4819-2D99-52E1-38B13B81D2A4}"/>
              </a:ext>
            </a:extLst>
          </p:cNvPr>
          <p:cNvSpPr/>
          <p:nvPr/>
        </p:nvSpPr>
        <p:spPr>
          <a:xfrm>
            <a:off x="-1162763" y="4588209"/>
            <a:ext cx="1375621"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000" dirty="0">
                <a:solidFill>
                  <a:schemeClr val="tx1"/>
                </a:solidFill>
                <a:latin typeface="Meiryo UI" panose="020B0604030504040204" pitchFamily="50" charset="-128"/>
                <a:ea typeface="Meiryo UI" panose="020B0604030504040204" pitchFamily="50" charset="-128"/>
              </a:rPr>
              <a:t>チーム単位の集計値を表示して、その小計として個人の数値を出したい。</a:t>
            </a:r>
            <a:endParaRPr kumimoji="1" lang="ja-JP" altLang="en-US" sz="1000" dirty="0">
              <a:solidFill>
                <a:schemeClr val="tx1"/>
              </a:solidFill>
              <a:latin typeface="Meiryo UI" panose="020B0604030504040204" pitchFamily="50" charset="-128"/>
              <a:ea typeface="Meiryo UI" panose="020B0604030504040204" pitchFamily="50" charset="-128"/>
            </a:endParaRPr>
          </a:p>
        </p:txBody>
      </p:sp>
      <p:sp>
        <p:nvSpPr>
          <p:cNvPr id="226" name="左中かっこ 225">
            <a:extLst>
              <a:ext uri="{FF2B5EF4-FFF2-40B4-BE49-F238E27FC236}">
                <a16:creationId xmlns:a16="http://schemas.microsoft.com/office/drawing/2014/main" id="{E7409D16-22C9-F125-9CCC-7415FBE308C9}"/>
              </a:ext>
            </a:extLst>
          </p:cNvPr>
          <p:cNvSpPr/>
          <p:nvPr/>
        </p:nvSpPr>
        <p:spPr>
          <a:xfrm>
            <a:off x="199751" y="3493140"/>
            <a:ext cx="227846" cy="309843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3" name="フローチャート: 端子 2">
            <a:extLst>
              <a:ext uri="{FF2B5EF4-FFF2-40B4-BE49-F238E27FC236}">
                <a16:creationId xmlns:a16="http://schemas.microsoft.com/office/drawing/2014/main" id="{D33D58FC-1369-5298-D824-9243FBB0ABD8}"/>
              </a:ext>
            </a:extLst>
          </p:cNvPr>
          <p:cNvSpPr/>
          <p:nvPr/>
        </p:nvSpPr>
        <p:spPr>
          <a:xfrm>
            <a:off x="10188657" y="175287"/>
            <a:ext cx="1783486" cy="461918"/>
          </a:xfrm>
          <a:prstGeom prst="flowChartTerminator">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Meiryo UI" panose="020B0604030504040204" pitchFamily="50" charset="-128"/>
                <a:ea typeface="Meiryo UI" panose="020B0604030504040204" pitchFamily="50" charset="-128"/>
              </a:rPr>
              <a:t>修正後</a:t>
            </a:r>
          </a:p>
        </p:txBody>
      </p:sp>
      <p:sp>
        <p:nvSpPr>
          <p:cNvPr id="6" name="四角形: 角を丸くする 5">
            <a:extLst>
              <a:ext uri="{FF2B5EF4-FFF2-40B4-BE49-F238E27FC236}">
                <a16:creationId xmlns:a16="http://schemas.microsoft.com/office/drawing/2014/main" id="{D3047F08-BA42-68A2-4419-C58EF77B5915}"/>
              </a:ext>
            </a:extLst>
          </p:cNvPr>
          <p:cNvSpPr/>
          <p:nvPr/>
        </p:nvSpPr>
        <p:spPr>
          <a:xfrm>
            <a:off x="843494" y="1679963"/>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250</a:t>
            </a:r>
            <a:r>
              <a:rPr kumimoji="1" lang="ja-JP" altLang="en-US" sz="1200" dirty="0">
                <a:solidFill>
                  <a:schemeClr val="tx1"/>
                </a:solidFill>
              </a:rPr>
              <a:t>件</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7" name="四角形: 角を丸くする 6">
            <a:extLst>
              <a:ext uri="{FF2B5EF4-FFF2-40B4-BE49-F238E27FC236}">
                <a16:creationId xmlns:a16="http://schemas.microsoft.com/office/drawing/2014/main" id="{4C3D466D-2682-3501-019C-C8373CEC9023}"/>
              </a:ext>
            </a:extLst>
          </p:cNvPr>
          <p:cNvSpPr/>
          <p:nvPr/>
        </p:nvSpPr>
        <p:spPr>
          <a:xfrm>
            <a:off x="2372149" y="1679963"/>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960</a:t>
            </a:r>
            <a:r>
              <a:rPr kumimoji="1" lang="ja-JP" altLang="en-US" sz="1200" dirty="0">
                <a:solidFill>
                  <a:schemeClr val="tx1"/>
                </a:solidFill>
              </a:rPr>
              <a:t>件</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8" name="四角形: 角を丸くする 7">
            <a:extLst>
              <a:ext uri="{FF2B5EF4-FFF2-40B4-BE49-F238E27FC236}">
                <a16:creationId xmlns:a16="http://schemas.microsoft.com/office/drawing/2014/main" id="{D0F801DF-5071-2B73-5BEE-C9CAD0E25BD5}"/>
              </a:ext>
            </a:extLst>
          </p:cNvPr>
          <p:cNvSpPr/>
          <p:nvPr/>
        </p:nvSpPr>
        <p:spPr>
          <a:xfrm>
            <a:off x="3896225" y="1679963"/>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210</a:t>
            </a:r>
            <a:r>
              <a:rPr kumimoji="1" lang="ja-JP" altLang="en-US" sz="1200" dirty="0">
                <a:solidFill>
                  <a:schemeClr val="tx1"/>
                </a:solidFill>
              </a:rPr>
              <a:t>件</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9" name="四角形: 角を丸くする 8">
            <a:extLst>
              <a:ext uri="{FF2B5EF4-FFF2-40B4-BE49-F238E27FC236}">
                <a16:creationId xmlns:a16="http://schemas.microsoft.com/office/drawing/2014/main" id="{CFF4D74A-EE5E-A9A6-7116-3FF6F6707B0E}"/>
              </a:ext>
            </a:extLst>
          </p:cNvPr>
          <p:cNvSpPr/>
          <p:nvPr/>
        </p:nvSpPr>
        <p:spPr>
          <a:xfrm>
            <a:off x="5431289" y="1689151"/>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4,950</a:t>
            </a:r>
            <a:r>
              <a:rPr kumimoji="1" lang="ja-JP" altLang="en-US" sz="1200" dirty="0">
                <a:solidFill>
                  <a:schemeClr val="tx1"/>
                </a:solidFill>
              </a:rPr>
              <a:t>万円</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11" name="四角形: 角を丸くする 10">
            <a:extLst>
              <a:ext uri="{FF2B5EF4-FFF2-40B4-BE49-F238E27FC236}">
                <a16:creationId xmlns:a16="http://schemas.microsoft.com/office/drawing/2014/main" id="{8482F4F8-4354-AE54-9A56-1B4AD83F88BF}"/>
              </a:ext>
            </a:extLst>
          </p:cNvPr>
          <p:cNvSpPr/>
          <p:nvPr/>
        </p:nvSpPr>
        <p:spPr>
          <a:xfrm>
            <a:off x="843494" y="2096426"/>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250</a:t>
            </a:r>
            <a:r>
              <a:rPr kumimoji="1" lang="ja-JP" altLang="en-US" sz="1200" dirty="0">
                <a:solidFill>
                  <a:schemeClr val="tx1"/>
                </a:solidFill>
              </a:rPr>
              <a:t>件</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12" name="四角形: 角を丸くする 11">
            <a:extLst>
              <a:ext uri="{FF2B5EF4-FFF2-40B4-BE49-F238E27FC236}">
                <a16:creationId xmlns:a16="http://schemas.microsoft.com/office/drawing/2014/main" id="{7C9094B6-DCF7-F9D7-FF64-26906056CC70}"/>
              </a:ext>
            </a:extLst>
          </p:cNvPr>
          <p:cNvSpPr/>
          <p:nvPr/>
        </p:nvSpPr>
        <p:spPr>
          <a:xfrm>
            <a:off x="2372149" y="2096426"/>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960</a:t>
            </a:r>
            <a:r>
              <a:rPr kumimoji="1" lang="ja-JP" altLang="en-US" sz="1200" dirty="0">
                <a:solidFill>
                  <a:schemeClr val="tx1"/>
                </a:solidFill>
              </a:rPr>
              <a:t>件</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13" name="四角形: 角を丸くする 12">
            <a:extLst>
              <a:ext uri="{FF2B5EF4-FFF2-40B4-BE49-F238E27FC236}">
                <a16:creationId xmlns:a16="http://schemas.microsoft.com/office/drawing/2014/main" id="{E90A7A7B-0117-8442-1B9F-C6AE75CC4FA8}"/>
              </a:ext>
            </a:extLst>
          </p:cNvPr>
          <p:cNvSpPr/>
          <p:nvPr/>
        </p:nvSpPr>
        <p:spPr>
          <a:xfrm>
            <a:off x="3896225" y="2096426"/>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210</a:t>
            </a:r>
            <a:r>
              <a:rPr kumimoji="1" lang="ja-JP" altLang="en-US" sz="1200" dirty="0">
                <a:solidFill>
                  <a:schemeClr val="tx1"/>
                </a:solidFill>
              </a:rPr>
              <a:t>件</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14" name="四角形: 角を丸くする 13">
            <a:extLst>
              <a:ext uri="{FF2B5EF4-FFF2-40B4-BE49-F238E27FC236}">
                <a16:creationId xmlns:a16="http://schemas.microsoft.com/office/drawing/2014/main" id="{82137EBC-7712-38FA-7A96-CA98F47B30AF}"/>
              </a:ext>
            </a:extLst>
          </p:cNvPr>
          <p:cNvSpPr/>
          <p:nvPr/>
        </p:nvSpPr>
        <p:spPr>
          <a:xfrm>
            <a:off x="5431289" y="2105614"/>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4,950</a:t>
            </a:r>
            <a:r>
              <a:rPr kumimoji="1" lang="ja-JP" altLang="en-US" sz="1200" dirty="0">
                <a:solidFill>
                  <a:schemeClr val="tx1"/>
                </a:solidFill>
              </a:rPr>
              <a:t>万円</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16" name="四角形: 角を丸くする 15">
            <a:extLst>
              <a:ext uri="{FF2B5EF4-FFF2-40B4-BE49-F238E27FC236}">
                <a16:creationId xmlns:a16="http://schemas.microsoft.com/office/drawing/2014/main" id="{18583AE1-DF9E-0DD3-9A96-7011B13A282C}"/>
              </a:ext>
            </a:extLst>
          </p:cNvPr>
          <p:cNvSpPr/>
          <p:nvPr/>
        </p:nvSpPr>
        <p:spPr>
          <a:xfrm>
            <a:off x="843494" y="2512889"/>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17" name="四角形: 角を丸くする 16">
            <a:extLst>
              <a:ext uri="{FF2B5EF4-FFF2-40B4-BE49-F238E27FC236}">
                <a16:creationId xmlns:a16="http://schemas.microsoft.com/office/drawing/2014/main" id="{87BD162B-5D3B-C186-8BE3-3AB34A98F8E8}"/>
              </a:ext>
            </a:extLst>
          </p:cNvPr>
          <p:cNvSpPr/>
          <p:nvPr/>
        </p:nvSpPr>
        <p:spPr>
          <a:xfrm>
            <a:off x="2372149" y="2512889"/>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18" name="四角形: 角を丸くする 17">
            <a:extLst>
              <a:ext uri="{FF2B5EF4-FFF2-40B4-BE49-F238E27FC236}">
                <a16:creationId xmlns:a16="http://schemas.microsoft.com/office/drawing/2014/main" id="{73A008CF-539D-44F6-ABBF-AFCEF8CFF629}"/>
              </a:ext>
            </a:extLst>
          </p:cNvPr>
          <p:cNvSpPr/>
          <p:nvPr/>
        </p:nvSpPr>
        <p:spPr>
          <a:xfrm>
            <a:off x="3896225" y="2512889"/>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sp>
        <p:nvSpPr>
          <p:cNvPr id="19" name="四角形: 角を丸くする 18">
            <a:extLst>
              <a:ext uri="{FF2B5EF4-FFF2-40B4-BE49-F238E27FC236}">
                <a16:creationId xmlns:a16="http://schemas.microsoft.com/office/drawing/2014/main" id="{262561E5-9F0B-C440-FF4B-2B6AC4B0BEF6}"/>
              </a:ext>
            </a:extLst>
          </p:cNvPr>
          <p:cNvSpPr/>
          <p:nvPr/>
        </p:nvSpPr>
        <p:spPr>
          <a:xfrm>
            <a:off x="5431289" y="2522077"/>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grpSp>
        <p:nvGrpSpPr>
          <p:cNvPr id="21" name="グループ化 20">
            <a:extLst>
              <a:ext uri="{FF2B5EF4-FFF2-40B4-BE49-F238E27FC236}">
                <a16:creationId xmlns:a16="http://schemas.microsoft.com/office/drawing/2014/main" id="{4571D43E-D83C-7597-47DD-46A8A0F95A5B}"/>
              </a:ext>
            </a:extLst>
          </p:cNvPr>
          <p:cNvGrpSpPr/>
          <p:nvPr/>
        </p:nvGrpSpPr>
        <p:grpSpPr>
          <a:xfrm>
            <a:off x="1882566" y="2641600"/>
            <a:ext cx="384538" cy="156225"/>
            <a:chOff x="1657350" y="2555407"/>
            <a:chExt cx="869950" cy="128118"/>
          </a:xfrm>
        </p:grpSpPr>
        <p:sp>
          <p:nvSpPr>
            <p:cNvPr id="22" name="正方形/長方形 21">
              <a:extLst>
                <a:ext uri="{FF2B5EF4-FFF2-40B4-BE49-F238E27FC236}">
                  <a16:creationId xmlns:a16="http://schemas.microsoft.com/office/drawing/2014/main" id="{1C8A70A8-5DF0-7592-F21B-5DDB6C1AC252}"/>
                </a:ext>
              </a:extLst>
            </p:cNvPr>
            <p:cNvSpPr/>
            <p:nvPr/>
          </p:nvSpPr>
          <p:spPr>
            <a:xfrm>
              <a:off x="1657350" y="2555408"/>
              <a:ext cx="869950" cy="128117"/>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3" name="正方形/長方形 22">
              <a:extLst>
                <a:ext uri="{FF2B5EF4-FFF2-40B4-BE49-F238E27FC236}">
                  <a16:creationId xmlns:a16="http://schemas.microsoft.com/office/drawing/2014/main" id="{BD89376A-04F6-2465-D538-C1F2DFC4B3CA}"/>
                </a:ext>
              </a:extLst>
            </p:cNvPr>
            <p:cNvSpPr/>
            <p:nvPr/>
          </p:nvSpPr>
          <p:spPr>
            <a:xfrm>
              <a:off x="1657350" y="2555407"/>
              <a:ext cx="641272" cy="128117"/>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4" name="テキスト ボックス 23">
            <a:extLst>
              <a:ext uri="{FF2B5EF4-FFF2-40B4-BE49-F238E27FC236}">
                <a16:creationId xmlns:a16="http://schemas.microsoft.com/office/drawing/2014/main" id="{1F1D1BDA-ED26-7C5F-3C02-C60025867242}"/>
              </a:ext>
            </a:extLst>
          </p:cNvPr>
          <p:cNvSpPr txBox="1"/>
          <p:nvPr/>
        </p:nvSpPr>
        <p:spPr>
          <a:xfrm>
            <a:off x="1309447" y="2513935"/>
            <a:ext cx="471731" cy="369332"/>
          </a:xfrm>
          <a:prstGeom prst="rect">
            <a:avLst/>
          </a:prstGeom>
          <a:noFill/>
        </p:spPr>
        <p:txBody>
          <a:bodyPr wrap="none" rtlCol="0">
            <a:spAutoFit/>
          </a:bodyPr>
          <a:lstStyle/>
          <a:p>
            <a:r>
              <a:rPr kumimoji="1" lang="en-US" altLang="ja-JP" b="1" dirty="0">
                <a:latin typeface="Meiryo UI" panose="020B0604030504040204" pitchFamily="50" charset="-128"/>
                <a:ea typeface="Meiryo UI" panose="020B0604030504040204" pitchFamily="50" charset="-128"/>
              </a:rPr>
              <a:t>90</a:t>
            </a:r>
            <a:r>
              <a:rPr kumimoji="1" lang="en-US" altLang="ja-JP" sz="1200" dirty="0">
                <a:latin typeface="Meiryo UI" panose="020B0604030504040204" pitchFamily="50" charset="-128"/>
                <a:ea typeface="Meiryo UI" panose="020B0604030504040204" pitchFamily="50" charset="-128"/>
              </a:rPr>
              <a:t>%</a:t>
            </a:r>
            <a:endParaRPr kumimoji="1" lang="ja-JP" altLang="en-US" dirty="0">
              <a:latin typeface="Meiryo UI" panose="020B0604030504040204" pitchFamily="50" charset="-128"/>
              <a:ea typeface="Meiryo UI" panose="020B0604030504040204" pitchFamily="50" charset="-128"/>
            </a:endParaRPr>
          </a:p>
        </p:txBody>
      </p:sp>
      <p:grpSp>
        <p:nvGrpSpPr>
          <p:cNvPr id="25" name="グループ化 24">
            <a:extLst>
              <a:ext uri="{FF2B5EF4-FFF2-40B4-BE49-F238E27FC236}">
                <a16:creationId xmlns:a16="http://schemas.microsoft.com/office/drawing/2014/main" id="{FD6D2324-AC9C-E395-C6DD-F39DEA9CE9A2}"/>
              </a:ext>
            </a:extLst>
          </p:cNvPr>
          <p:cNvGrpSpPr/>
          <p:nvPr/>
        </p:nvGrpSpPr>
        <p:grpSpPr>
          <a:xfrm>
            <a:off x="3420375" y="2642568"/>
            <a:ext cx="384538" cy="156225"/>
            <a:chOff x="1657350" y="2555407"/>
            <a:chExt cx="869950" cy="128118"/>
          </a:xfrm>
        </p:grpSpPr>
        <p:sp>
          <p:nvSpPr>
            <p:cNvPr id="26" name="正方形/長方形 25">
              <a:extLst>
                <a:ext uri="{FF2B5EF4-FFF2-40B4-BE49-F238E27FC236}">
                  <a16:creationId xmlns:a16="http://schemas.microsoft.com/office/drawing/2014/main" id="{64ED69F2-91AE-5A41-FB73-3837C1E0B3B9}"/>
                </a:ext>
              </a:extLst>
            </p:cNvPr>
            <p:cNvSpPr/>
            <p:nvPr/>
          </p:nvSpPr>
          <p:spPr>
            <a:xfrm>
              <a:off x="1657350" y="2555408"/>
              <a:ext cx="869950" cy="128117"/>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7" name="正方形/長方形 26">
              <a:extLst>
                <a:ext uri="{FF2B5EF4-FFF2-40B4-BE49-F238E27FC236}">
                  <a16:creationId xmlns:a16="http://schemas.microsoft.com/office/drawing/2014/main" id="{4A64CBC8-6096-7207-27A6-797A7220A456}"/>
                </a:ext>
              </a:extLst>
            </p:cNvPr>
            <p:cNvSpPr/>
            <p:nvPr/>
          </p:nvSpPr>
          <p:spPr>
            <a:xfrm>
              <a:off x="1657350" y="2555407"/>
              <a:ext cx="641272" cy="128117"/>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28" name="テキスト ボックス 27">
            <a:extLst>
              <a:ext uri="{FF2B5EF4-FFF2-40B4-BE49-F238E27FC236}">
                <a16:creationId xmlns:a16="http://schemas.microsoft.com/office/drawing/2014/main" id="{F29A109A-E0F2-3B4B-83C2-755626C12E33}"/>
              </a:ext>
            </a:extLst>
          </p:cNvPr>
          <p:cNvSpPr txBox="1"/>
          <p:nvPr/>
        </p:nvSpPr>
        <p:spPr>
          <a:xfrm>
            <a:off x="2847257" y="2514903"/>
            <a:ext cx="471731" cy="369332"/>
          </a:xfrm>
          <a:prstGeom prst="rect">
            <a:avLst/>
          </a:prstGeom>
          <a:noFill/>
        </p:spPr>
        <p:txBody>
          <a:bodyPr wrap="none" rtlCol="0">
            <a:spAutoFit/>
          </a:bodyPr>
          <a:lstStyle/>
          <a:p>
            <a:r>
              <a:rPr kumimoji="1" lang="en-US" altLang="ja-JP" b="1" dirty="0">
                <a:latin typeface="Meiryo UI" panose="020B0604030504040204" pitchFamily="50" charset="-128"/>
                <a:ea typeface="Meiryo UI" panose="020B0604030504040204" pitchFamily="50" charset="-128"/>
              </a:rPr>
              <a:t>90</a:t>
            </a:r>
            <a:r>
              <a:rPr kumimoji="1" lang="en-US" altLang="ja-JP" sz="1200" dirty="0">
                <a:latin typeface="Meiryo UI" panose="020B0604030504040204" pitchFamily="50" charset="-128"/>
                <a:ea typeface="Meiryo UI" panose="020B0604030504040204" pitchFamily="50" charset="-128"/>
              </a:rPr>
              <a:t>%</a:t>
            </a:r>
            <a:endParaRPr kumimoji="1" lang="ja-JP" altLang="en-US" dirty="0">
              <a:latin typeface="Meiryo UI" panose="020B0604030504040204" pitchFamily="50" charset="-128"/>
              <a:ea typeface="Meiryo UI" panose="020B0604030504040204" pitchFamily="50" charset="-128"/>
            </a:endParaRPr>
          </a:p>
        </p:txBody>
      </p:sp>
      <p:grpSp>
        <p:nvGrpSpPr>
          <p:cNvPr id="29" name="グループ化 28">
            <a:extLst>
              <a:ext uri="{FF2B5EF4-FFF2-40B4-BE49-F238E27FC236}">
                <a16:creationId xmlns:a16="http://schemas.microsoft.com/office/drawing/2014/main" id="{AED30806-AD1D-9FF8-5C58-9B65014F0696}"/>
              </a:ext>
            </a:extLst>
          </p:cNvPr>
          <p:cNvGrpSpPr/>
          <p:nvPr/>
        </p:nvGrpSpPr>
        <p:grpSpPr>
          <a:xfrm>
            <a:off x="4958185" y="2643536"/>
            <a:ext cx="384538" cy="156225"/>
            <a:chOff x="1657350" y="2555407"/>
            <a:chExt cx="869950" cy="128118"/>
          </a:xfrm>
        </p:grpSpPr>
        <p:sp>
          <p:nvSpPr>
            <p:cNvPr id="30" name="正方形/長方形 29">
              <a:extLst>
                <a:ext uri="{FF2B5EF4-FFF2-40B4-BE49-F238E27FC236}">
                  <a16:creationId xmlns:a16="http://schemas.microsoft.com/office/drawing/2014/main" id="{AFF49235-8059-4040-FBCA-C742756FB7DD}"/>
                </a:ext>
              </a:extLst>
            </p:cNvPr>
            <p:cNvSpPr/>
            <p:nvPr/>
          </p:nvSpPr>
          <p:spPr>
            <a:xfrm>
              <a:off x="1657350" y="2555408"/>
              <a:ext cx="869950" cy="128117"/>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1" name="正方形/長方形 30">
              <a:extLst>
                <a:ext uri="{FF2B5EF4-FFF2-40B4-BE49-F238E27FC236}">
                  <a16:creationId xmlns:a16="http://schemas.microsoft.com/office/drawing/2014/main" id="{92367B96-325A-96FD-6886-D3264B164862}"/>
                </a:ext>
              </a:extLst>
            </p:cNvPr>
            <p:cNvSpPr/>
            <p:nvPr/>
          </p:nvSpPr>
          <p:spPr>
            <a:xfrm>
              <a:off x="1657350" y="2555407"/>
              <a:ext cx="641272" cy="128117"/>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32" name="テキスト ボックス 31">
            <a:extLst>
              <a:ext uri="{FF2B5EF4-FFF2-40B4-BE49-F238E27FC236}">
                <a16:creationId xmlns:a16="http://schemas.microsoft.com/office/drawing/2014/main" id="{1588DF25-17C6-C745-709E-E317185B1761}"/>
              </a:ext>
            </a:extLst>
          </p:cNvPr>
          <p:cNvSpPr txBox="1"/>
          <p:nvPr/>
        </p:nvSpPr>
        <p:spPr>
          <a:xfrm>
            <a:off x="4385066" y="2515871"/>
            <a:ext cx="471731" cy="369332"/>
          </a:xfrm>
          <a:prstGeom prst="rect">
            <a:avLst/>
          </a:prstGeom>
          <a:noFill/>
        </p:spPr>
        <p:txBody>
          <a:bodyPr wrap="none" rtlCol="0">
            <a:spAutoFit/>
          </a:bodyPr>
          <a:lstStyle/>
          <a:p>
            <a:r>
              <a:rPr kumimoji="1" lang="en-US" altLang="ja-JP" b="1" dirty="0">
                <a:latin typeface="Meiryo UI" panose="020B0604030504040204" pitchFamily="50" charset="-128"/>
                <a:ea typeface="Meiryo UI" panose="020B0604030504040204" pitchFamily="50" charset="-128"/>
              </a:rPr>
              <a:t>90</a:t>
            </a:r>
            <a:r>
              <a:rPr kumimoji="1" lang="en-US" altLang="ja-JP" sz="1200" dirty="0">
                <a:latin typeface="Meiryo UI" panose="020B0604030504040204" pitchFamily="50" charset="-128"/>
                <a:ea typeface="Meiryo UI" panose="020B0604030504040204" pitchFamily="50" charset="-128"/>
              </a:rPr>
              <a:t>%</a:t>
            </a:r>
            <a:endParaRPr kumimoji="1" lang="ja-JP" altLang="en-US" dirty="0">
              <a:latin typeface="Meiryo UI" panose="020B0604030504040204" pitchFamily="50" charset="-128"/>
              <a:ea typeface="Meiryo UI" panose="020B0604030504040204" pitchFamily="50" charset="-128"/>
            </a:endParaRPr>
          </a:p>
        </p:txBody>
      </p:sp>
      <p:grpSp>
        <p:nvGrpSpPr>
          <p:cNvPr id="37" name="グループ化 36">
            <a:extLst>
              <a:ext uri="{FF2B5EF4-FFF2-40B4-BE49-F238E27FC236}">
                <a16:creationId xmlns:a16="http://schemas.microsoft.com/office/drawing/2014/main" id="{4537E17E-5293-D6EA-BD36-46BC11661257}"/>
              </a:ext>
            </a:extLst>
          </p:cNvPr>
          <p:cNvGrpSpPr/>
          <p:nvPr/>
        </p:nvGrpSpPr>
        <p:grpSpPr>
          <a:xfrm>
            <a:off x="6474937" y="2654660"/>
            <a:ext cx="384538" cy="156225"/>
            <a:chOff x="1657350" y="2555407"/>
            <a:chExt cx="869950" cy="128118"/>
          </a:xfrm>
        </p:grpSpPr>
        <p:sp>
          <p:nvSpPr>
            <p:cNvPr id="38" name="正方形/長方形 37">
              <a:extLst>
                <a:ext uri="{FF2B5EF4-FFF2-40B4-BE49-F238E27FC236}">
                  <a16:creationId xmlns:a16="http://schemas.microsoft.com/office/drawing/2014/main" id="{84920A8B-A3A3-82A6-4BA4-581027C7B74C}"/>
                </a:ext>
              </a:extLst>
            </p:cNvPr>
            <p:cNvSpPr/>
            <p:nvPr/>
          </p:nvSpPr>
          <p:spPr>
            <a:xfrm>
              <a:off x="1657350" y="2555408"/>
              <a:ext cx="869950" cy="128117"/>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39" name="正方形/長方形 38">
              <a:extLst>
                <a:ext uri="{FF2B5EF4-FFF2-40B4-BE49-F238E27FC236}">
                  <a16:creationId xmlns:a16="http://schemas.microsoft.com/office/drawing/2014/main" id="{EFD79083-3A25-9E81-A313-7C1DFBB9A226}"/>
                </a:ext>
              </a:extLst>
            </p:cNvPr>
            <p:cNvSpPr/>
            <p:nvPr/>
          </p:nvSpPr>
          <p:spPr>
            <a:xfrm>
              <a:off x="1657350" y="2555407"/>
              <a:ext cx="641272" cy="128117"/>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40" name="テキスト ボックス 39">
            <a:extLst>
              <a:ext uri="{FF2B5EF4-FFF2-40B4-BE49-F238E27FC236}">
                <a16:creationId xmlns:a16="http://schemas.microsoft.com/office/drawing/2014/main" id="{50500D5F-F5AB-B72C-598C-9AD4D20D2ABD}"/>
              </a:ext>
            </a:extLst>
          </p:cNvPr>
          <p:cNvSpPr txBox="1"/>
          <p:nvPr/>
        </p:nvSpPr>
        <p:spPr>
          <a:xfrm>
            <a:off x="5947597" y="2526995"/>
            <a:ext cx="471731" cy="369332"/>
          </a:xfrm>
          <a:prstGeom prst="rect">
            <a:avLst/>
          </a:prstGeom>
          <a:noFill/>
        </p:spPr>
        <p:txBody>
          <a:bodyPr wrap="none" rtlCol="0">
            <a:spAutoFit/>
          </a:bodyPr>
          <a:lstStyle/>
          <a:p>
            <a:r>
              <a:rPr kumimoji="1" lang="en-US" altLang="ja-JP" b="1" dirty="0">
                <a:latin typeface="Meiryo UI" panose="020B0604030504040204" pitchFamily="50" charset="-128"/>
                <a:ea typeface="Meiryo UI" panose="020B0604030504040204" pitchFamily="50" charset="-128"/>
              </a:rPr>
              <a:t>90</a:t>
            </a:r>
            <a:r>
              <a:rPr kumimoji="1" lang="en-US" altLang="ja-JP" sz="1200" dirty="0">
                <a:latin typeface="Meiryo UI" panose="020B0604030504040204" pitchFamily="50" charset="-128"/>
                <a:ea typeface="Meiryo UI" panose="020B0604030504040204" pitchFamily="50" charset="-128"/>
              </a:rPr>
              <a:t>%</a:t>
            </a:r>
            <a:endParaRPr kumimoji="1" lang="ja-JP" altLang="en-US" dirty="0">
              <a:latin typeface="Meiryo UI" panose="020B0604030504040204" pitchFamily="50" charset="-128"/>
              <a:ea typeface="Meiryo UI" panose="020B0604030504040204" pitchFamily="50" charset="-128"/>
            </a:endParaRPr>
          </a:p>
        </p:txBody>
      </p:sp>
      <p:sp>
        <p:nvSpPr>
          <p:cNvPr id="41" name="正方形/長方形 40">
            <a:extLst>
              <a:ext uri="{FF2B5EF4-FFF2-40B4-BE49-F238E27FC236}">
                <a16:creationId xmlns:a16="http://schemas.microsoft.com/office/drawing/2014/main" id="{B6411DFE-4717-1E3F-A4C3-21675A9694E2}"/>
              </a:ext>
            </a:extLst>
          </p:cNvPr>
          <p:cNvSpPr/>
          <p:nvPr/>
        </p:nvSpPr>
        <p:spPr>
          <a:xfrm>
            <a:off x="188864" y="1679963"/>
            <a:ext cx="611887"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目標</a:t>
            </a:r>
          </a:p>
        </p:txBody>
      </p:sp>
      <p:sp>
        <p:nvSpPr>
          <p:cNvPr id="42" name="正方形/長方形 41">
            <a:extLst>
              <a:ext uri="{FF2B5EF4-FFF2-40B4-BE49-F238E27FC236}">
                <a16:creationId xmlns:a16="http://schemas.microsoft.com/office/drawing/2014/main" id="{8DB0D1F3-2DD5-284B-1649-A0CE28FAF0E0}"/>
              </a:ext>
            </a:extLst>
          </p:cNvPr>
          <p:cNvSpPr/>
          <p:nvPr/>
        </p:nvSpPr>
        <p:spPr>
          <a:xfrm>
            <a:off x="184286" y="2110096"/>
            <a:ext cx="611887"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実績</a:t>
            </a:r>
          </a:p>
        </p:txBody>
      </p:sp>
      <p:sp>
        <p:nvSpPr>
          <p:cNvPr id="43" name="正方形/長方形 42">
            <a:extLst>
              <a:ext uri="{FF2B5EF4-FFF2-40B4-BE49-F238E27FC236}">
                <a16:creationId xmlns:a16="http://schemas.microsoft.com/office/drawing/2014/main" id="{3747B45D-2735-109B-17E4-F41BB1C3F0D2}"/>
              </a:ext>
            </a:extLst>
          </p:cNvPr>
          <p:cNvSpPr/>
          <p:nvPr/>
        </p:nvSpPr>
        <p:spPr>
          <a:xfrm>
            <a:off x="184285" y="2533962"/>
            <a:ext cx="611887"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達成率</a:t>
            </a:r>
          </a:p>
        </p:txBody>
      </p:sp>
      <p:sp>
        <p:nvSpPr>
          <p:cNvPr id="44" name="正方形/長方形 43">
            <a:extLst>
              <a:ext uri="{FF2B5EF4-FFF2-40B4-BE49-F238E27FC236}">
                <a16:creationId xmlns:a16="http://schemas.microsoft.com/office/drawing/2014/main" id="{A0FCACE2-A067-54ED-A92A-D78B92796841}"/>
              </a:ext>
            </a:extLst>
          </p:cNvPr>
          <p:cNvSpPr/>
          <p:nvPr/>
        </p:nvSpPr>
        <p:spPr>
          <a:xfrm>
            <a:off x="10264669" y="1460447"/>
            <a:ext cx="2061133" cy="814628"/>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サマリ部分に目標と実績と達成率を表示</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200" dirty="0">
                <a:solidFill>
                  <a:schemeClr val="tx1"/>
                </a:solidFill>
                <a:latin typeface="Meiryo UI" panose="020B0604030504040204" pitchFamily="50" charset="-128"/>
                <a:ea typeface="Meiryo UI" panose="020B0604030504040204" pitchFamily="50" charset="-128"/>
              </a:rPr>
              <a:t>目標は直接入力できるようにする</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cxnSp>
        <p:nvCxnSpPr>
          <p:cNvPr id="45" name="直線コネクタ 44">
            <a:extLst>
              <a:ext uri="{FF2B5EF4-FFF2-40B4-BE49-F238E27FC236}">
                <a16:creationId xmlns:a16="http://schemas.microsoft.com/office/drawing/2014/main" id="{63E49DB1-A4C9-9DDA-D7FD-8C888DFBBE20}"/>
              </a:ext>
            </a:extLst>
          </p:cNvPr>
          <p:cNvCxnSpPr>
            <a:cxnSpLocks/>
          </p:cNvCxnSpPr>
          <p:nvPr/>
        </p:nvCxnSpPr>
        <p:spPr>
          <a:xfrm flipH="1">
            <a:off x="10106052" y="1892769"/>
            <a:ext cx="158617" cy="407314"/>
          </a:xfrm>
          <a:prstGeom prst="line">
            <a:avLst/>
          </a:prstGeom>
          <a:ln>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6" name="右中かっこ 45">
            <a:extLst>
              <a:ext uri="{FF2B5EF4-FFF2-40B4-BE49-F238E27FC236}">
                <a16:creationId xmlns:a16="http://schemas.microsoft.com/office/drawing/2014/main" id="{FD8695EB-063B-C67A-53CC-51BBDECE0C89}"/>
              </a:ext>
            </a:extLst>
          </p:cNvPr>
          <p:cNvSpPr/>
          <p:nvPr/>
        </p:nvSpPr>
        <p:spPr>
          <a:xfrm>
            <a:off x="9722988" y="1632331"/>
            <a:ext cx="383064" cy="1285487"/>
          </a:xfrm>
          <a:prstGeom prst="rightBrace">
            <a:avLst/>
          </a:prstGeom>
          <a:ln>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50" name="四角形: 角を丸くする 49">
            <a:extLst>
              <a:ext uri="{FF2B5EF4-FFF2-40B4-BE49-F238E27FC236}">
                <a16:creationId xmlns:a16="http://schemas.microsoft.com/office/drawing/2014/main" id="{756FC054-EF8A-0A64-113D-151A489BB00A}"/>
              </a:ext>
            </a:extLst>
          </p:cNvPr>
          <p:cNvSpPr/>
          <p:nvPr/>
        </p:nvSpPr>
        <p:spPr>
          <a:xfrm>
            <a:off x="7004518" y="1679963"/>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250</a:t>
            </a:r>
            <a:r>
              <a:rPr kumimoji="1" lang="ja-JP" altLang="en-US" sz="1200" dirty="0">
                <a:solidFill>
                  <a:schemeClr val="tx1"/>
                </a:solidFill>
              </a:rPr>
              <a:t>件</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51" name="四角形: 角を丸くする 50">
            <a:extLst>
              <a:ext uri="{FF2B5EF4-FFF2-40B4-BE49-F238E27FC236}">
                <a16:creationId xmlns:a16="http://schemas.microsoft.com/office/drawing/2014/main" id="{75E5DEF1-E7BE-3044-FF76-749878F06C44}"/>
              </a:ext>
            </a:extLst>
          </p:cNvPr>
          <p:cNvSpPr/>
          <p:nvPr/>
        </p:nvSpPr>
        <p:spPr>
          <a:xfrm>
            <a:off x="7004518" y="2096426"/>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250</a:t>
            </a:r>
            <a:r>
              <a:rPr kumimoji="1" lang="ja-JP" altLang="en-US" sz="1200" dirty="0">
                <a:solidFill>
                  <a:schemeClr val="tx1"/>
                </a:solidFill>
              </a:rPr>
              <a:t>件</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52" name="四角形: 角を丸くする 51">
            <a:extLst>
              <a:ext uri="{FF2B5EF4-FFF2-40B4-BE49-F238E27FC236}">
                <a16:creationId xmlns:a16="http://schemas.microsoft.com/office/drawing/2014/main" id="{7968143B-08BB-2666-2EC5-2DA516AA2C0A}"/>
              </a:ext>
            </a:extLst>
          </p:cNvPr>
          <p:cNvSpPr/>
          <p:nvPr/>
        </p:nvSpPr>
        <p:spPr>
          <a:xfrm>
            <a:off x="7004518" y="2512889"/>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grpSp>
        <p:nvGrpSpPr>
          <p:cNvPr id="53" name="グループ化 52">
            <a:extLst>
              <a:ext uri="{FF2B5EF4-FFF2-40B4-BE49-F238E27FC236}">
                <a16:creationId xmlns:a16="http://schemas.microsoft.com/office/drawing/2014/main" id="{1DD3B737-00A9-0698-1E8C-41EB2238346C}"/>
              </a:ext>
            </a:extLst>
          </p:cNvPr>
          <p:cNvGrpSpPr/>
          <p:nvPr/>
        </p:nvGrpSpPr>
        <p:grpSpPr>
          <a:xfrm>
            <a:off x="8043590" y="2641600"/>
            <a:ext cx="384538" cy="156225"/>
            <a:chOff x="1657350" y="2555407"/>
            <a:chExt cx="869950" cy="128118"/>
          </a:xfrm>
        </p:grpSpPr>
        <p:sp>
          <p:nvSpPr>
            <p:cNvPr id="54" name="正方形/長方形 53">
              <a:extLst>
                <a:ext uri="{FF2B5EF4-FFF2-40B4-BE49-F238E27FC236}">
                  <a16:creationId xmlns:a16="http://schemas.microsoft.com/office/drawing/2014/main" id="{E43BCF1A-CE35-576D-6656-50827E96F9FC}"/>
                </a:ext>
              </a:extLst>
            </p:cNvPr>
            <p:cNvSpPr/>
            <p:nvPr/>
          </p:nvSpPr>
          <p:spPr>
            <a:xfrm>
              <a:off x="1657350" y="2555408"/>
              <a:ext cx="869950" cy="128117"/>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5" name="正方形/長方形 54">
              <a:extLst>
                <a:ext uri="{FF2B5EF4-FFF2-40B4-BE49-F238E27FC236}">
                  <a16:creationId xmlns:a16="http://schemas.microsoft.com/office/drawing/2014/main" id="{61676DC2-E792-4277-7553-95FE4A0DC759}"/>
                </a:ext>
              </a:extLst>
            </p:cNvPr>
            <p:cNvSpPr/>
            <p:nvPr/>
          </p:nvSpPr>
          <p:spPr>
            <a:xfrm>
              <a:off x="1657350" y="2555407"/>
              <a:ext cx="641272" cy="128117"/>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56" name="テキスト ボックス 55">
            <a:extLst>
              <a:ext uri="{FF2B5EF4-FFF2-40B4-BE49-F238E27FC236}">
                <a16:creationId xmlns:a16="http://schemas.microsoft.com/office/drawing/2014/main" id="{2C18B9A8-2759-1F6F-0796-92C8ECC9343D}"/>
              </a:ext>
            </a:extLst>
          </p:cNvPr>
          <p:cNvSpPr txBox="1"/>
          <p:nvPr/>
        </p:nvSpPr>
        <p:spPr>
          <a:xfrm>
            <a:off x="7470471" y="2513935"/>
            <a:ext cx="471731" cy="369332"/>
          </a:xfrm>
          <a:prstGeom prst="rect">
            <a:avLst/>
          </a:prstGeom>
          <a:noFill/>
        </p:spPr>
        <p:txBody>
          <a:bodyPr wrap="none" rtlCol="0">
            <a:spAutoFit/>
          </a:bodyPr>
          <a:lstStyle/>
          <a:p>
            <a:r>
              <a:rPr kumimoji="1" lang="en-US" altLang="ja-JP" b="1" dirty="0">
                <a:latin typeface="Meiryo UI" panose="020B0604030504040204" pitchFamily="50" charset="-128"/>
                <a:ea typeface="Meiryo UI" panose="020B0604030504040204" pitchFamily="50" charset="-128"/>
              </a:rPr>
              <a:t>90</a:t>
            </a:r>
            <a:r>
              <a:rPr kumimoji="1" lang="en-US" altLang="ja-JP" sz="1200" dirty="0">
                <a:latin typeface="Meiryo UI" panose="020B0604030504040204" pitchFamily="50" charset="-128"/>
                <a:ea typeface="Meiryo UI" panose="020B0604030504040204" pitchFamily="50" charset="-128"/>
              </a:rPr>
              <a:t>%</a:t>
            </a:r>
            <a:endParaRPr kumimoji="1" lang="ja-JP" altLang="en-US" dirty="0">
              <a:latin typeface="Meiryo UI" panose="020B0604030504040204" pitchFamily="50" charset="-128"/>
              <a:ea typeface="Meiryo UI" panose="020B0604030504040204" pitchFamily="50" charset="-128"/>
            </a:endParaRPr>
          </a:p>
        </p:txBody>
      </p:sp>
      <p:sp>
        <p:nvSpPr>
          <p:cNvPr id="57" name="四角形: 角を丸くする 56">
            <a:extLst>
              <a:ext uri="{FF2B5EF4-FFF2-40B4-BE49-F238E27FC236}">
                <a16:creationId xmlns:a16="http://schemas.microsoft.com/office/drawing/2014/main" id="{018A22AE-8C37-EB52-DA37-3C2B8B8744BD}"/>
              </a:ext>
            </a:extLst>
          </p:cNvPr>
          <p:cNvSpPr/>
          <p:nvPr/>
        </p:nvSpPr>
        <p:spPr>
          <a:xfrm>
            <a:off x="8549979" y="1689151"/>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250</a:t>
            </a:r>
            <a:r>
              <a:rPr kumimoji="1" lang="ja-JP" altLang="en-US" sz="1200" dirty="0">
                <a:solidFill>
                  <a:schemeClr val="tx1"/>
                </a:solidFill>
              </a:rPr>
              <a:t>件</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58" name="四角形: 角を丸くする 57">
            <a:extLst>
              <a:ext uri="{FF2B5EF4-FFF2-40B4-BE49-F238E27FC236}">
                <a16:creationId xmlns:a16="http://schemas.microsoft.com/office/drawing/2014/main" id="{68EF7D95-4AE1-34A8-DC99-09F88CB62430}"/>
              </a:ext>
            </a:extLst>
          </p:cNvPr>
          <p:cNvSpPr/>
          <p:nvPr/>
        </p:nvSpPr>
        <p:spPr>
          <a:xfrm>
            <a:off x="8549979" y="2105614"/>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250</a:t>
            </a:r>
            <a:r>
              <a:rPr kumimoji="1" lang="ja-JP" altLang="en-US" sz="1200" dirty="0">
                <a:solidFill>
                  <a:schemeClr val="tx1"/>
                </a:solidFill>
              </a:rPr>
              <a:t>件</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59" name="四角形: 角を丸くする 58">
            <a:extLst>
              <a:ext uri="{FF2B5EF4-FFF2-40B4-BE49-F238E27FC236}">
                <a16:creationId xmlns:a16="http://schemas.microsoft.com/office/drawing/2014/main" id="{7137182F-23CC-2F67-8C49-4E36447419AA}"/>
              </a:ext>
            </a:extLst>
          </p:cNvPr>
          <p:cNvSpPr/>
          <p:nvPr/>
        </p:nvSpPr>
        <p:spPr>
          <a:xfrm>
            <a:off x="8549979" y="2522077"/>
            <a:ext cx="1485911" cy="38218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sz="1200" dirty="0">
              <a:solidFill>
                <a:schemeClr val="tx1"/>
              </a:solidFill>
            </a:endParaRPr>
          </a:p>
        </p:txBody>
      </p:sp>
      <p:grpSp>
        <p:nvGrpSpPr>
          <p:cNvPr id="60" name="グループ化 59">
            <a:extLst>
              <a:ext uri="{FF2B5EF4-FFF2-40B4-BE49-F238E27FC236}">
                <a16:creationId xmlns:a16="http://schemas.microsoft.com/office/drawing/2014/main" id="{C83FD91C-1691-34AF-E0C0-FF8C9A5F191E}"/>
              </a:ext>
            </a:extLst>
          </p:cNvPr>
          <p:cNvGrpSpPr/>
          <p:nvPr/>
        </p:nvGrpSpPr>
        <p:grpSpPr>
          <a:xfrm>
            <a:off x="9589051" y="2650788"/>
            <a:ext cx="384538" cy="156225"/>
            <a:chOff x="1657350" y="2555407"/>
            <a:chExt cx="869950" cy="128118"/>
          </a:xfrm>
        </p:grpSpPr>
        <p:sp>
          <p:nvSpPr>
            <p:cNvPr id="61" name="正方形/長方形 60">
              <a:extLst>
                <a:ext uri="{FF2B5EF4-FFF2-40B4-BE49-F238E27FC236}">
                  <a16:creationId xmlns:a16="http://schemas.microsoft.com/office/drawing/2014/main" id="{C38E52EA-B396-F857-4035-6BA78ABA4D82}"/>
                </a:ext>
              </a:extLst>
            </p:cNvPr>
            <p:cNvSpPr/>
            <p:nvPr/>
          </p:nvSpPr>
          <p:spPr>
            <a:xfrm>
              <a:off x="1657350" y="2555408"/>
              <a:ext cx="869950" cy="128117"/>
            </a:xfrm>
            <a:prstGeom prst="rect">
              <a:avLst/>
            </a:prstGeom>
            <a:solidFill>
              <a:schemeClr val="tx2">
                <a:lumMod val="10000"/>
                <a:lumOff val="90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62" name="正方形/長方形 61">
              <a:extLst>
                <a:ext uri="{FF2B5EF4-FFF2-40B4-BE49-F238E27FC236}">
                  <a16:creationId xmlns:a16="http://schemas.microsoft.com/office/drawing/2014/main" id="{49A99E49-269D-6DEB-95A4-D0EAD308D63A}"/>
                </a:ext>
              </a:extLst>
            </p:cNvPr>
            <p:cNvSpPr/>
            <p:nvPr/>
          </p:nvSpPr>
          <p:spPr>
            <a:xfrm>
              <a:off x="1657350" y="2555407"/>
              <a:ext cx="641272" cy="128117"/>
            </a:xfrm>
            <a:prstGeom prst="rect">
              <a:avLst/>
            </a:prstGeom>
            <a:solidFill>
              <a:schemeClr val="tx2">
                <a:lumMod val="75000"/>
                <a:lumOff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grpSp>
      <p:sp>
        <p:nvSpPr>
          <p:cNvPr id="63" name="テキスト ボックス 62">
            <a:extLst>
              <a:ext uri="{FF2B5EF4-FFF2-40B4-BE49-F238E27FC236}">
                <a16:creationId xmlns:a16="http://schemas.microsoft.com/office/drawing/2014/main" id="{32AAD5C8-3890-B775-0072-41BF85FFDBDE}"/>
              </a:ext>
            </a:extLst>
          </p:cNvPr>
          <p:cNvSpPr txBox="1"/>
          <p:nvPr/>
        </p:nvSpPr>
        <p:spPr>
          <a:xfrm>
            <a:off x="9015932" y="2523123"/>
            <a:ext cx="471731" cy="369332"/>
          </a:xfrm>
          <a:prstGeom prst="rect">
            <a:avLst/>
          </a:prstGeom>
          <a:noFill/>
        </p:spPr>
        <p:txBody>
          <a:bodyPr wrap="none" rtlCol="0">
            <a:spAutoFit/>
          </a:bodyPr>
          <a:lstStyle/>
          <a:p>
            <a:r>
              <a:rPr kumimoji="1" lang="en-US" altLang="ja-JP" b="1" dirty="0">
                <a:latin typeface="Meiryo UI" panose="020B0604030504040204" pitchFamily="50" charset="-128"/>
                <a:ea typeface="Meiryo UI" panose="020B0604030504040204" pitchFamily="50" charset="-128"/>
              </a:rPr>
              <a:t>90</a:t>
            </a:r>
            <a:r>
              <a:rPr kumimoji="1" lang="en-US" altLang="ja-JP" sz="1200" dirty="0">
                <a:latin typeface="Meiryo UI" panose="020B0604030504040204" pitchFamily="50" charset="-128"/>
                <a:ea typeface="Meiryo UI" panose="020B0604030504040204" pitchFamily="50" charset="-128"/>
              </a:rPr>
              <a:t>%</a:t>
            </a:r>
            <a:endParaRPr kumimoji="1" lang="ja-JP" altLang="en-US" dirty="0">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622494253"/>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6FD3BD33-8CFD-960B-04D0-0EEA7323F95F}"/>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87246B57-6749-3E47-F57D-71DA3D9FF5AD}"/>
              </a:ext>
            </a:extLst>
          </p:cNvPr>
          <p:cNvSpPr/>
          <p:nvPr/>
        </p:nvSpPr>
        <p:spPr>
          <a:xfrm>
            <a:off x="0" y="0"/>
            <a:ext cx="12192000" cy="6858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BE8C45A9-AE0C-567F-6340-C9EB991163C5}"/>
              </a:ext>
            </a:extLst>
          </p:cNvPr>
          <p:cNvSpPr txBox="1"/>
          <p:nvPr/>
        </p:nvSpPr>
        <p:spPr>
          <a:xfrm>
            <a:off x="552450" y="2025650"/>
            <a:ext cx="6502101" cy="2123658"/>
          </a:xfrm>
          <a:prstGeom prst="rect">
            <a:avLst/>
          </a:prstGeom>
          <a:noFill/>
        </p:spPr>
        <p:txBody>
          <a:bodyPr wrap="none" rtlCol="0">
            <a:spAutoFit/>
          </a:bodyPr>
          <a:lstStyle/>
          <a:p>
            <a:r>
              <a:rPr kumimoji="1" lang="ja-JP" altLang="en-US" sz="6600" b="1" dirty="0">
                <a:solidFill>
                  <a:schemeClr val="bg1"/>
                </a:solidFill>
                <a:latin typeface="Meiryo UI" panose="020B0604030504040204" pitchFamily="50" charset="-128"/>
                <a:ea typeface="Meiryo UI" panose="020B0604030504040204" pitchFamily="50" charset="-128"/>
              </a:rPr>
              <a:t>受注担当</a:t>
            </a:r>
            <a:endParaRPr kumimoji="1" lang="en-US" altLang="ja-JP" sz="6600" b="1" dirty="0">
              <a:solidFill>
                <a:schemeClr val="bg1"/>
              </a:solidFill>
              <a:latin typeface="Meiryo UI" panose="020B0604030504040204" pitchFamily="50" charset="-128"/>
              <a:ea typeface="Meiryo UI" panose="020B0604030504040204" pitchFamily="50" charset="-128"/>
            </a:endParaRPr>
          </a:p>
          <a:p>
            <a:r>
              <a:rPr lang="ja-JP" altLang="en-US" sz="6600" b="1" dirty="0">
                <a:solidFill>
                  <a:schemeClr val="bg1"/>
                </a:solidFill>
                <a:latin typeface="Meiryo UI" panose="020B0604030504040204" pitchFamily="50" charset="-128"/>
                <a:ea typeface="Meiryo UI" panose="020B0604030504040204" pitchFamily="50" charset="-128"/>
              </a:rPr>
              <a:t>日</a:t>
            </a:r>
            <a:r>
              <a:rPr kumimoji="1" lang="ja-JP" altLang="en-US" sz="6600" b="1" dirty="0">
                <a:solidFill>
                  <a:schemeClr val="bg1"/>
                </a:solidFill>
                <a:latin typeface="Meiryo UI" panose="020B0604030504040204" pitchFamily="50" charset="-128"/>
                <a:ea typeface="Meiryo UI" panose="020B0604030504040204" pitchFamily="50" charset="-128"/>
              </a:rPr>
              <a:t>次ダッシュボード</a:t>
            </a:r>
          </a:p>
        </p:txBody>
      </p:sp>
      <p:sp>
        <p:nvSpPr>
          <p:cNvPr id="7" name="テキスト ボックス 6">
            <a:extLst>
              <a:ext uri="{FF2B5EF4-FFF2-40B4-BE49-F238E27FC236}">
                <a16:creationId xmlns:a16="http://schemas.microsoft.com/office/drawing/2014/main" id="{C5C7FDC4-FDA3-8AC7-85CA-372107746565}"/>
              </a:ext>
            </a:extLst>
          </p:cNvPr>
          <p:cNvSpPr txBox="1"/>
          <p:nvPr/>
        </p:nvSpPr>
        <p:spPr>
          <a:xfrm>
            <a:off x="635000" y="926066"/>
            <a:ext cx="4410182" cy="369332"/>
          </a:xfrm>
          <a:prstGeom prst="rect">
            <a:avLst/>
          </a:prstGeom>
          <a:noFill/>
        </p:spPr>
        <p:txBody>
          <a:bodyPr wrap="none" rtlCol="0">
            <a:spAutoFit/>
          </a:bodyPr>
          <a:lstStyle/>
          <a:p>
            <a:r>
              <a:rPr kumimoji="1" lang="en-US" altLang="ja-JP" b="1" dirty="0">
                <a:solidFill>
                  <a:schemeClr val="bg1"/>
                </a:solidFill>
                <a:latin typeface="Meiryo UI" panose="020B0604030504040204" pitchFamily="50" charset="-128"/>
                <a:ea typeface="Meiryo UI" panose="020B0604030504040204" pitchFamily="50" charset="-128"/>
              </a:rPr>
              <a:t>0</a:t>
            </a:r>
            <a:r>
              <a:rPr kumimoji="1" lang="ja-JP" altLang="en-US" b="1" dirty="0">
                <a:solidFill>
                  <a:schemeClr val="bg1"/>
                </a:solidFill>
                <a:latin typeface="Meiryo UI" panose="020B0604030504040204" pitchFamily="50" charset="-128"/>
                <a:ea typeface="Meiryo UI" panose="020B0604030504040204" pitchFamily="50" charset="-128"/>
              </a:rPr>
              <a:t>４</a:t>
            </a:r>
            <a:r>
              <a:rPr kumimoji="1" lang="en-US" altLang="ja-JP" b="1" dirty="0">
                <a:solidFill>
                  <a:schemeClr val="bg1"/>
                </a:solidFill>
                <a:latin typeface="Meiryo UI" panose="020B0604030504040204" pitchFamily="50" charset="-128"/>
                <a:ea typeface="Meiryo UI" panose="020B0604030504040204" pitchFamily="50" charset="-128"/>
              </a:rPr>
              <a:t> </a:t>
            </a:r>
            <a:r>
              <a:rPr kumimoji="1" lang="ja-JP" altLang="en-US" b="1" dirty="0">
                <a:solidFill>
                  <a:schemeClr val="bg1"/>
                </a:solidFill>
                <a:latin typeface="Meiryo UI" panose="020B0604030504040204" pitchFamily="50" charset="-128"/>
                <a:ea typeface="Meiryo UI" panose="020B0604030504040204" pitchFamily="50" charset="-128"/>
              </a:rPr>
              <a:t>受注担当の日次の受注数値を管理する</a:t>
            </a:r>
          </a:p>
        </p:txBody>
      </p:sp>
      <p:cxnSp>
        <p:nvCxnSpPr>
          <p:cNvPr id="9" name="直線コネクタ 8">
            <a:extLst>
              <a:ext uri="{FF2B5EF4-FFF2-40B4-BE49-F238E27FC236}">
                <a16:creationId xmlns:a16="http://schemas.microsoft.com/office/drawing/2014/main" id="{9AD9FF67-2872-7387-757E-B332D9CE2535}"/>
              </a:ext>
            </a:extLst>
          </p:cNvPr>
          <p:cNvCxnSpPr/>
          <p:nvPr/>
        </p:nvCxnSpPr>
        <p:spPr>
          <a:xfrm>
            <a:off x="736600" y="1568450"/>
            <a:ext cx="7664450"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正方形/長方形 9">
            <a:extLst>
              <a:ext uri="{FF2B5EF4-FFF2-40B4-BE49-F238E27FC236}">
                <a16:creationId xmlns:a16="http://schemas.microsoft.com/office/drawing/2014/main" id="{05365DD3-9DA6-CEE2-A3BE-27178A9AEB9F}"/>
              </a:ext>
            </a:extLst>
          </p:cNvPr>
          <p:cNvSpPr/>
          <p:nvPr/>
        </p:nvSpPr>
        <p:spPr>
          <a:xfrm>
            <a:off x="850900" y="1460500"/>
            <a:ext cx="36000" cy="23494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CAD20090-5691-692A-0C26-5577077B45A4}"/>
              </a:ext>
            </a:extLst>
          </p:cNvPr>
          <p:cNvSpPr/>
          <p:nvPr/>
        </p:nvSpPr>
        <p:spPr>
          <a:xfrm>
            <a:off x="717550" y="1473200"/>
            <a:ext cx="36000" cy="180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CB127E91-F254-92EC-CF6D-1EBF2C0DD8B0}"/>
              </a:ext>
            </a:extLst>
          </p:cNvPr>
          <p:cNvSpPr/>
          <p:nvPr/>
        </p:nvSpPr>
        <p:spPr>
          <a:xfrm>
            <a:off x="8153400" y="1460500"/>
            <a:ext cx="36000" cy="180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006542882"/>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FF682FE-04CF-C378-DE81-68A4A175E0BE}"/>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7EA52EB1-FFBA-91A0-C221-B5A8FE99CDF6}"/>
              </a:ext>
            </a:extLst>
          </p:cNvPr>
          <p:cNvSpPr txBox="1"/>
          <p:nvPr/>
        </p:nvSpPr>
        <p:spPr>
          <a:xfrm>
            <a:off x="427597" y="368391"/>
            <a:ext cx="2807179" cy="369332"/>
          </a:xfrm>
          <a:prstGeom prst="rect">
            <a:avLst/>
          </a:prstGeom>
          <a:noFill/>
        </p:spPr>
        <p:txBody>
          <a:bodyPr wrap="none" rtlCol="0">
            <a:spAutoFit/>
          </a:bodyPr>
          <a:lstStyle/>
          <a:p>
            <a:r>
              <a:rPr kumimoji="1" lang="ja-JP" altLang="en-US" b="1" dirty="0">
                <a:latin typeface="Meiryo UI" panose="020B0604030504040204" pitchFamily="50" charset="-128"/>
                <a:ea typeface="Meiryo UI" panose="020B0604030504040204" pitchFamily="50" charset="-128"/>
              </a:rPr>
              <a:t>受注担当</a:t>
            </a:r>
            <a:r>
              <a:rPr kumimoji="1" lang="en-US" altLang="ja-JP" b="1" dirty="0">
                <a:latin typeface="Meiryo UI" panose="020B0604030504040204" pitchFamily="50" charset="-128"/>
                <a:ea typeface="Meiryo UI" panose="020B0604030504040204" pitchFamily="50" charset="-128"/>
              </a:rPr>
              <a:t>XXX</a:t>
            </a:r>
            <a:r>
              <a:rPr kumimoji="1" lang="ja-JP" altLang="en-US" b="1" dirty="0">
                <a:latin typeface="Meiryo UI" panose="020B0604030504040204" pitchFamily="50" charset="-128"/>
                <a:ea typeface="Meiryo UI" panose="020B0604030504040204" pitchFamily="50" charset="-128"/>
              </a:rPr>
              <a:t>チーム　本日</a:t>
            </a:r>
          </a:p>
        </p:txBody>
      </p:sp>
      <p:sp>
        <p:nvSpPr>
          <p:cNvPr id="5" name="正方形/長方形 4">
            <a:extLst>
              <a:ext uri="{FF2B5EF4-FFF2-40B4-BE49-F238E27FC236}">
                <a16:creationId xmlns:a16="http://schemas.microsoft.com/office/drawing/2014/main" id="{78789C56-F113-C8E1-743A-A588F8800A70}"/>
              </a:ext>
            </a:extLst>
          </p:cNvPr>
          <p:cNvSpPr/>
          <p:nvPr/>
        </p:nvSpPr>
        <p:spPr>
          <a:xfrm>
            <a:off x="552586" y="1052547"/>
            <a:ext cx="206113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新規受注案件</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C7933656-D2F4-220C-75F9-F3D7AD251E59}"/>
              </a:ext>
            </a:extLst>
          </p:cNvPr>
          <p:cNvSpPr/>
          <p:nvPr/>
        </p:nvSpPr>
        <p:spPr>
          <a:xfrm>
            <a:off x="2793660" y="1052547"/>
            <a:ext cx="206113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管理案件</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7" name="正方形/長方形 6">
            <a:extLst>
              <a:ext uri="{FF2B5EF4-FFF2-40B4-BE49-F238E27FC236}">
                <a16:creationId xmlns:a16="http://schemas.microsoft.com/office/drawing/2014/main" id="{B33037AB-88FA-3C8D-92E9-4147124876E8}"/>
              </a:ext>
            </a:extLst>
          </p:cNvPr>
          <p:cNvSpPr/>
          <p:nvPr/>
        </p:nvSpPr>
        <p:spPr>
          <a:xfrm>
            <a:off x="5034733" y="1052547"/>
            <a:ext cx="206113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完了案件</a:t>
            </a:r>
          </a:p>
        </p:txBody>
      </p:sp>
      <p:sp>
        <p:nvSpPr>
          <p:cNvPr id="8" name="四角形: 角を丸くする 7">
            <a:extLst>
              <a:ext uri="{FF2B5EF4-FFF2-40B4-BE49-F238E27FC236}">
                <a16:creationId xmlns:a16="http://schemas.microsoft.com/office/drawing/2014/main" id="{2E89E8F3-98BF-C33B-5289-6D15EF9D0C2F}"/>
              </a:ext>
            </a:extLst>
          </p:cNvPr>
          <p:cNvSpPr/>
          <p:nvPr/>
        </p:nvSpPr>
        <p:spPr>
          <a:xfrm>
            <a:off x="552586" y="1565663"/>
            <a:ext cx="2061133"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5</a:t>
            </a:r>
            <a:r>
              <a:rPr kumimoji="1" lang="ja-JP" altLang="en-US" sz="1200" dirty="0">
                <a:solidFill>
                  <a:schemeClr val="tx1"/>
                </a:solidFill>
              </a:rPr>
              <a:t>件</a:t>
            </a:r>
            <a:r>
              <a:rPr kumimoji="1" lang="en-US" altLang="ja-JP" sz="1200" dirty="0">
                <a:solidFill>
                  <a:schemeClr val="tx1"/>
                </a:solidFill>
              </a:rPr>
              <a:t>/</a:t>
            </a:r>
            <a:r>
              <a:rPr kumimoji="1" lang="ja-JP" altLang="en-US" sz="1200" dirty="0">
                <a:solidFill>
                  <a:schemeClr val="tx1"/>
                </a:solidFill>
              </a:rPr>
              <a:t>日</a:t>
            </a:r>
          </a:p>
        </p:txBody>
      </p:sp>
      <p:sp>
        <p:nvSpPr>
          <p:cNvPr id="9" name="四角形: 角を丸くする 8">
            <a:extLst>
              <a:ext uri="{FF2B5EF4-FFF2-40B4-BE49-F238E27FC236}">
                <a16:creationId xmlns:a16="http://schemas.microsoft.com/office/drawing/2014/main" id="{B49E7BC6-CC37-E3D4-2D8B-B0D5887FAB44}"/>
              </a:ext>
            </a:extLst>
          </p:cNvPr>
          <p:cNvSpPr/>
          <p:nvPr/>
        </p:nvSpPr>
        <p:spPr>
          <a:xfrm>
            <a:off x="2793660" y="1565663"/>
            <a:ext cx="2061133"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3</a:t>
            </a:r>
            <a:r>
              <a:rPr kumimoji="1" lang="ja-JP" altLang="en-US" sz="1200" dirty="0">
                <a:solidFill>
                  <a:schemeClr val="tx1"/>
                </a:solidFill>
              </a:rPr>
              <a:t>件</a:t>
            </a:r>
            <a:r>
              <a:rPr kumimoji="1" lang="en-US" altLang="ja-JP" sz="1200" dirty="0">
                <a:solidFill>
                  <a:schemeClr val="tx1"/>
                </a:solidFill>
              </a:rPr>
              <a:t>/</a:t>
            </a:r>
            <a:r>
              <a:rPr kumimoji="1" lang="ja-JP" altLang="en-US" sz="1200" dirty="0">
                <a:solidFill>
                  <a:schemeClr val="tx1"/>
                </a:solidFill>
              </a:rPr>
              <a:t>日</a:t>
            </a:r>
          </a:p>
        </p:txBody>
      </p:sp>
      <p:sp>
        <p:nvSpPr>
          <p:cNvPr id="10" name="四角形: 角を丸くする 9">
            <a:extLst>
              <a:ext uri="{FF2B5EF4-FFF2-40B4-BE49-F238E27FC236}">
                <a16:creationId xmlns:a16="http://schemas.microsoft.com/office/drawing/2014/main" id="{FC0F3833-CA25-3F87-B50B-AA5400EBC9AC}"/>
              </a:ext>
            </a:extLst>
          </p:cNvPr>
          <p:cNvSpPr/>
          <p:nvPr/>
        </p:nvSpPr>
        <p:spPr>
          <a:xfrm>
            <a:off x="5034733" y="1565663"/>
            <a:ext cx="2061133"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3</a:t>
            </a:r>
            <a:r>
              <a:rPr kumimoji="1" lang="ja-JP" altLang="en-US" sz="1200" dirty="0">
                <a:solidFill>
                  <a:schemeClr val="tx1"/>
                </a:solidFill>
              </a:rPr>
              <a:t>件</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11" name="正方形/長方形 10">
            <a:extLst>
              <a:ext uri="{FF2B5EF4-FFF2-40B4-BE49-F238E27FC236}">
                <a16:creationId xmlns:a16="http://schemas.microsoft.com/office/drawing/2014/main" id="{98F40332-3DEB-DFA2-434E-3AA948BD011D}"/>
              </a:ext>
            </a:extLst>
          </p:cNvPr>
          <p:cNvSpPr/>
          <p:nvPr/>
        </p:nvSpPr>
        <p:spPr>
          <a:xfrm>
            <a:off x="552586" y="2520630"/>
            <a:ext cx="2061133"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200" dirty="0">
                <a:solidFill>
                  <a:schemeClr val="tx1"/>
                </a:solidFill>
                <a:latin typeface="Meiryo UI" panose="020B0604030504040204" pitchFamily="50" charset="-128"/>
                <a:ea typeface="Meiryo UI" panose="020B0604030504040204" pitchFamily="50" charset="-128"/>
              </a:rPr>
              <a:t>本日新たに受注した案件の総数をカウント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cxnSp>
        <p:nvCxnSpPr>
          <p:cNvPr id="12" name="直線コネクタ 11">
            <a:extLst>
              <a:ext uri="{FF2B5EF4-FFF2-40B4-BE49-F238E27FC236}">
                <a16:creationId xmlns:a16="http://schemas.microsoft.com/office/drawing/2014/main" id="{88216716-E4D7-BB1E-4575-D66C6FB72F2F}"/>
              </a:ext>
            </a:extLst>
          </p:cNvPr>
          <p:cNvCxnSpPr>
            <a:stCxn id="11" idx="0"/>
            <a:endCxn id="8" idx="2"/>
          </p:cNvCxnSpPr>
          <p:nvPr/>
        </p:nvCxnSpPr>
        <p:spPr>
          <a:xfrm flipV="1">
            <a:off x="1583153"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正方形/長方形 12">
            <a:extLst>
              <a:ext uri="{FF2B5EF4-FFF2-40B4-BE49-F238E27FC236}">
                <a16:creationId xmlns:a16="http://schemas.microsoft.com/office/drawing/2014/main" id="{78185FC1-E08D-1ED3-B2C7-AF47F250FC3F}"/>
              </a:ext>
            </a:extLst>
          </p:cNvPr>
          <p:cNvSpPr/>
          <p:nvPr/>
        </p:nvSpPr>
        <p:spPr>
          <a:xfrm>
            <a:off x="2795747" y="2520630"/>
            <a:ext cx="2061133"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新規受注した案件の内、当日に、タスク設計等が終わりステータスが対応中に変化したもの。</a:t>
            </a:r>
          </a:p>
        </p:txBody>
      </p:sp>
      <p:cxnSp>
        <p:nvCxnSpPr>
          <p:cNvPr id="14" name="直線コネクタ 13">
            <a:extLst>
              <a:ext uri="{FF2B5EF4-FFF2-40B4-BE49-F238E27FC236}">
                <a16:creationId xmlns:a16="http://schemas.microsoft.com/office/drawing/2014/main" id="{D97C5BB4-B5AF-4B0E-67BB-090629080407}"/>
              </a:ext>
            </a:extLst>
          </p:cNvPr>
          <p:cNvCxnSpPr>
            <a:stCxn id="13" idx="0"/>
          </p:cNvCxnSpPr>
          <p:nvPr/>
        </p:nvCxnSpPr>
        <p:spPr>
          <a:xfrm flipV="1">
            <a:off x="3826314"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5" name="正方形/長方形 14">
            <a:extLst>
              <a:ext uri="{FF2B5EF4-FFF2-40B4-BE49-F238E27FC236}">
                <a16:creationId xmlns:a16="http://schemas.microsoft.com/office/drawing/2014/main" id="{396DD57E-DB40-5527-3E0E-2836F546F93C}"/>
              </a:ext>
            </a:extLst>
          </p:cNvPr>
          <p:cNvSpPr/>
          <p:nvPr/>
        </p:nvSpPr>
        <p:spPr>
          <a:xfrm>
            <a:off x="5038908" y="2520630"/>
            <a:ext cx="2061133"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200" dirty="0">
                <a:solidFill>
                  <a:schemeClr val="tx1"/>
                </a:solidFill>
                <a:latin typeface="Meiryo UI" panose="020B0604030504040204" pitchFamily="50" charset="-128"/>
                <a:ea typeface="Meiryo UI" panose="020B0604030504040204" pitchFamily="50" charset="-128"/>
              </a:rPr>
              <a:t>本日業務完了した案件の総数をカウント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cxnSp>
        <p:nvCxnSpPr>
          <p:cNvPr id="16" name="直線コネクタ 15">
            <a:extLst>
              <a:ext uri="{FF2B5EF4-FFF2-40B4-BE49-F238E27FC236}">
                <a16:creationId xmlns:a16="http://schemas.microsoft.com/office/drawing/2014/main" id="{9878A087-94A8-B384-267C-DF63A2EDECBA}"/>
              </a:ext>
            </a:extLst>
          </p:cNvPr>
          <p:cNvCxnSpPr>
            <a:stCxn id="15" idx="0"/>
          </p:cNvCxnSpPr>
          <p:nvPr/>
        </p:nvCxnSpPr>
        <p:spPr>
          <a:xfrm flipV="1">
            <a:off x="6069475"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7" name="正方形/長方形 16">
            <a:extLst>
              <a:ext uri="{FF2B5EF4-FFF2-40B4-BE49-F238E27FC236}">
                <a16:creationId xmlns:a16="http://schemas.microsoft.com/office/drawing/2014/main" id="{597D332D-2D80-2EF2-DE69-452CDA9520BA}"/>
              </a:ext>
            </a:extLst>
          </p:cNvPr>
          <p:cNvSpPr/>
          <p:nvPr/>
        </p:nvSpPr>
        <p:spPr>
          <a:xfrm>
            <a:off x="9516880" y="1052547"/>
            <a:ext cx="206113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業務完了金額</a:t>
            </a:r>
          </a:p>
        </p:txBody>
      </p:sp>
      <p:sp>
        <p:nvSpPr>
          <p:cNvPr id="18" name="四角形: 角を丸くする 17">
            <a:extLst>
              <a:ext uri="{FF2B5EF4-FFF2-40B4-BE49-F238E27FC236}">
                <a16:creationId xmlns:a16="http://schemas.microsoft.com/office/drawing/2014/main" id="{1354C4EE-A0FE-46E5-2A20-4DE476115302}"/>
              </a:ext>
            </a:extLst>
          </p:cNvPr>
          <p:cNvSpPr/>
          <p:nvPr/>
        </p:nvSpPr>
        <p:spPr>
          <a:xfrm>
            <a:off x="9516880" y="1565663"/>
            <a:ext cx="2061133"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150</a:t>
            </a:r>
            <a:r>
              <a:rPr kumimoji="1" lang="ja-JP" altLang="en-US" sz="1200" dirty="0">
                <a:solidFill>
                  <a:schemeClr val="tx1"/>
                </a:solidFill>
              </a:rPr>
              <a:t>万円</a:t>
            </a:r>
            <a:r>
              <a:rPr kumimoji="1" lang="en-US" altLang="ja-JP" sz="1200" dirty="0">
                <a:solidFill>
                  <a:schemeClr val="tx1"/>
                </a:solidFill>
              </a:rPr>
              <a:t>/</a:t>
            </a:r>
            <a:r>
              <a:rPr kumimoji="1" lang="ja-JP" altLang="en-US" sz="1200" dirty="0">
                <a:solidFill>
                  <a:schemeClr val="tx1"/>
                </a:solidFill>
              </a:rPr>
              <a:t>日</a:t>
            </a:r>
          </a:p>
        </p:txBody>
      </p:sp>
      <p:sp>
        <p:nvSpPr>
          <p:cNvPr id="19" name="正方形/長方形 18">
            <a:extLst>
              <a:ext uri="{FF2B5EF4-FFF2-40B4-BE49-F238E27FC236}">
                <a16:creationId xmlns:a16="http://schemas.microsoft.com/office/drawing/2014/main" id="{58DCA9C4-D15C-8A59-B87F-0F0A7ABA8B1B}"/>
              </a:ext>
            </a:extLst>
          </p:cNvPr>
          <p:cNvSpPr/>
          <p:nvPr/>
        </p:nvSpPr>
        <p:spPr>
          <a:xfrm>
            <a:off x="7273718" y="1052547"/>
            <a:ext cx="206113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完了割合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20" name="四角形: 角を丸くする 19">
            <a:extLst>
              <a:ext uri="{FF2B5EF4-FFF2-40B4-BE49-F238E27FC236}">
                <a16:creationId xmlns:a16="http://schemas.microsoft.com/office/drawing/2014/main" id="{26C19AB1-8669-43E8-E309-C418F032C872}"/>
              </a:ext>
            </a:extLst>
          </p:cNvPr>
          <p:cNvSpPr/>
          <p:nvPr/>
        </p:nvSpPr>
        <p:spPr>
          <a:xfrm>
            <a:off x="7273718" y="1565663"/>
            <a:ext cx="2061133"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chemeClr val="tx1"/>
                </a:solidFill>
              </a:rPr>
              <a:t>23/250</a:t>
            </a:r>
            <a:r>
              <a:rPr lang="ja-JP" altLang="en-US" sz="1200" dirty="0">
                <a:solidFill>
                  <a:schemeClr val="tx1"/>
                </a:solidFill>
              </a:rPr>
              <a:t>件</a:t>
            </a:r>
            <a:endParaRPr kumimoji="1" lang="ja-JP" altLang="en-US" sz="1200" dirty="0">
              <a:solidFill>
                <a:schemeClr val="tx1"/>
              </a:solidFill>
            </a:endParaRPr>
          </a:p>
        </p:txBody>
      </p:sp>
      <p:sp>
        <p:nvSpPr>
          <p:cNvPr id="21" name="正方形/長方形 20">
            <a:extLst>
              <a:ext uri="{FF2B5EF4-FFF2-40B4-BE49-F238E27FC236}">
                <a16:creationId xmlns:a16="http://schemas.microsoft.com/office/drawing/2014/main" id="{39F446E0-544C-BF40-BBB2-E6EA98FF96AE}"/>
              </a:ext>
            </a:extLst>
          </p:cNvPr>
          <p:cNvSpPr/>
          <p:nvPr/>
        </p:nvSpPr>
        <p:spPr>
          <a:xfrm>
            <a:off x="7277893" y="2520630"/>
            <a:ext cx="2061133"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200" dirty="0">
                <a:solidFill>
                  <a:schemeClr val="tx1"/>
                </a:solidFill>
                <a:latin typeface="Meiryo UI" panose="020B0604030504040204" pitchFamily="50" charset="-128"/>
                <a:ea typeface="Meiryo UI" panose="020B0604030504040204" pitchFamily="50" charset="-128"/>
              </a:rPr>
              <a:t>当月業務完了予定の案件数に対して、本日時点でどれくらい完了しているかの割合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cxnSp>
        <p:nvCxnSpPr>
          <p:cNvPr id="22" name="直線コネクタ 21">
            <a:extLst>
              <a:ext uri="{FF2B5EF4-FFF2-40B4-BE49-F238E27FC236}">
                <a16:creationId xmlns:a16="http://schemas.microsoft.com/office/drawing/2014/main" id="{E980E9DD-4A5C-9BE4-72DB-5C09B4292BD8}"/>
              </a:ext>
            </a:extLst>
          </p:cNvPr>
          <p:cNvCxnSpPr>
            <a:stCxn id="21" idx="0"/>
          </p:cNvCxnSpPr>
          <p:nvPr/>
        </p:nvCxnSpPr>
        <p:spPr>
          <a:xfrm flipV="1">
            <a:off x="8308460"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3" name="正方形/長方形 22">
            <a:extLst>
              <a:ext uri="{FF2B5EF4-FFF2-40B4-BE49-F238E27FC236}">
                <a16:creationId xmlns:a16="http://schemas.microsoft.com/office/drawing/2014/main" id="{5CFD59DC-2FAE-ED37-0BFF-6850218ED951}"/>
              </a:ext>
            </a:extLst>
          </p:cNvPr>
          <p:cNvSpPr/>
          <p:nvPr/>
        </p:nvSpPr>
        <p:spPr>
          <a:xfrm>
            <a:off x="9578280" y="2520630"/>
            <a:ext cx="2061133"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本日業務完了した案件の確定売上の合計</a:t>
            </a:r>
          </a:p>
        </p:txBody>
      </p:sp>
      <p:cxnSp>
        <p:nvCxnSpPr>
          <p:cNvPr id="24" name="直線コネクタ 23">
            <a:extLst>
              <a:ext uri="{FF2B5EF4-FFF2-40B4-BE49-F238E27FC236}">
                <a16:creationId xmlns:a16="http://schemas.microsoft.com/office/drawing/2014/main" id="{81103ABC-BA39-B3F7-97CF-A5EB7F07A704}"/>
              </a:ext>
            </a:extLst>
          </p:cNvPr>
          <p:cNvCxnSpPr>
            <a:stCxn id="23" idx="0"/>
          </p:cNvCxnSpPr>
          <p:nvPr/>
        </p:nvCxnSpPr>
        <p:spPr>
          <a:xfrm flipV="1">
            <a:off x="10608847"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6" name="正方形/長方形 25">
            <a:extLst>
              <a:ext uri="{FF2B5EF4-FFF2-40B4-BE49-F238E27FC236}">
                <a16:creationId xmlns:a16="http://schemas.microsoft.com/office/drawing/2014/main" id="{059CB8FC-E563-5909-A586-DF4F91774FA0}"/>
              </a:ext>
            </a:extLst>
          </p:cNvPr>
          <p:cNvSpPr/>
          <p:nvPr/>
        </p:nvSpPr>
        <p:spPr>
          <a:xfrm>
            <a:off x="552753" y="3599491"/>
            <a:ext cx="291648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氏名</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28" name="正方形/長方形 27">
            <a:extLst>
              <a:ext uri="{FF2B5EF4-FFF2-40B4-BE49-F238E27FC236}">
                <a16:creationId xmlns:a16="http://schemas.microsoft.com/office/drawing/2014/main" id="{B1164716-B671-6205-4CE7-87A6DFA7D9ED}"/>
              </a:ext>
            </a:extLst>
          </p:cNvPr>
          <p:cNvSpPr/>
          <p:nvPr/>
        </p:nvSpPr>
        <p:spPr>
          <a:xfrm>
            <a:off x="3560760" y="3599491"/>
            <a:ext cx="137926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職種</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29" name="正方形/長方形 28">
            <a:extLst>
              <a:ext uri="{FF2B5EF4-FFF2-40B4-BE49-F238E27FC236}">
                <a16:creationId xmlns:a16="http://schemas.microsoft.com/office/drawing/2014/main" id="{E20201DB-5872-40FB-C366-52D43CE1008F}"/>
              </a:ext>
            </a:extLst>
          </p:cNvPr>
          <p:cNvSpPr/>
          <p:nvPr/>
        </p:nvSpPr>
        <p:spPr>
          <a:xfrm>
            <a:off x="5064763" y="3599491"/>
            <a:ext cx="137926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在籍期間</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30" name="正方形/長方形 29">
            <a:extLst>
              <a:ext uri="{FF2B5EF4-FFF2-40B4-BE49-F238E27FC236}">
                <a16:creationId xmlns:a16="http://schemas.microsoft.com/office/drawing/2014/main" id="{CC463991-6401-911E-0B5B-BD7FB9CC07DB}"/>
              </a:ext>
            </a:extLst>
          </p:cNvPr>
          <p:cNvSpPr/>
          <p:nvPr/>
        </p:nvSpPr>
        <p:spPr>
          <a:xfrm>
            <a:off x="6568767" y="3599492"/>
            <a:ext cx="2425970" cy="150204"/>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当月累計</a:t>
            </a:r>
          </a:p>
        </p:txBody>
      </p:sp>
      <p:sp>
        <p:nvSpPr>
          <p:cNvPr id="31" name="正方形/長方形 30">
            <a:extLst>
              <a:ext uri="{FF2B5EF4-FFF2-40B4-BE49-F238E27FC236}">
                <a16:creationId xmlns:a16="http://schemas.microsoft.com/office/drawing/2014/main" id="{520FB31E-748B-3180-5DA1-09FFFF18FC6D}"/>
              </a:ext>
            </a:extLst>
          </p:cNvPr>
          <p:cNvSpPr/>
          <p:nvPr/>
        </p:nvSpPr>
        <p:spPr>
          <a:xfrm>
            <a:off x="6568766" y="3817048"/>
            <a:ext cx="572823" cy="150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新規</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32" name="正方形/長方形 31">
            <a:extLst>
              <a:ext uri="{FF2B5EF4-FFF2-40B4-BE49-F238E27FC236}">
                <a16:creationId xmlns:a16="http://schemas.microsoft.com/office/drawing/2014/main" id="{496EB7EF-431C-28A3-ADE5-6A0840051689}"/>
              </a:ext>
            </a:extLst>
          </p:cNvPr>
          <p:cNvSpPr/>
          <p:nvPr/>
        </p:nvSpPr>
        <p:spPr>
          <a:xfrm>
            <a:off x="7186482" y="3817047"/>
            <a:ext cx="572823" cy="150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管理</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33" name="正方形/長方形 32">
            <a:extLst>
              <a:ext uri="{FF2B5EF4-FFF2-40B4-BE49-F238E27FC236}">
                <a16:creationId xmlns:a16="http://schemas.microsoft.com/office/drawing/2014/main" id="{08DB150C-E646-E0D3-075A-B60FC79578AF}"/>
              </a:ext>
            </a:extLst>
          </p:cNvPr>
          <p:cNvSpPr/>
          <p:nvPr/>
        </p:nvSpPr>
        <p:spPr>
          <a:xfrm>
            <a:off x="7804198" y="3817046"/>
            <a:ext cx="572823" cy="150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完了</a:t>
            </a:r>
          </a:p>
        </p:txBody>
      </p:sp>
      <p:sp>
        <p:nvSpPr>
          <p:cNvPr id="34" name="正方形/長方形 33">
            <a:extLst>
              <a:ext uri="{FF2B5EF4-FFF2-40B4-BE49-F238E27FC236}">
                <a16:creationId xmlns:a16="http://schemas.microsoft.com/office/drawing/2014/main" id="{CF8F9BF8-7001-E635-A11F-58D5D0F62854}"/>
              </a:ext>
            </a:extLst>
          </p:cNvPr>
          <p:cNvSpPr/>
          <p:nvPr/>
        </p:nvSpPr>
        <p:spPr>
          <a:xfrm>
            <a:off x="8421913" y="3817045"/>
            <a:ext cx="572823" cy="150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サイクル</a:t>
            </a:r>
          </a:p>
        </p:txBody>
      </p:sp>
      <p:sp>
        <p:nvSpPr>
          <p:cNvPr id="35" name="正方形/長方形 34">
            <a:extLst>
              <a:ext uri="{FF2B5EF4-FFF2-40B4-BE49-F238E27FC236}">
                <a16:creationId xmlns:a16="http://schemas.microsoft.com/office/drawing/2014/main" id="{B36A8CD2-0B72-9188-4BEA-15715818AD00}"/>
              </a:ext>
            </a:extLst>
          </p:cNvPr>
          <p:cNvSpPr/>
          <p:nvPr/>
        </p:nvSpPr>
        <p:spPr>
          <a:xfrm>
            <a:off x="9086260" y="3591812"/>
            <a:ext cx="2425970" cy="157880"/>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本日</a:t>
            </a:r>
          </a:p>
        </p:txBody>
      </p:sp>
      <p:sp>
        <p:nvSpPr>
          <p:cNvPr id="36" name="正方形/長方形 35">
            <a:extLst>
              <a:ext uri="{FF2B5EF4-FFF2-40B4-BE49-F238E27FC236}">
                <a16:creationId xmlns:a16="http://schemas.microsoft.com/office/drawing/2014/main" id="{A5DE8A24-89F9-AA62-C929-3B3CB659A433}"/>
              </a:ext>
            </a:extLst>
          </p:cNvPr>
          <p:cNvSpPr/>
          <p:nvPr/>
        </p:nvSpPr>
        <p:spPr>
          <a:xfrm>
            <a:off x="9086259" y="3809369"/>
            <a:ext cx="572823" cy="150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新規</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37" name="正方形/長方形 36">
            <a:extLst>
              <a:ext uri="{FF2B5EF4-FFF2-40B4-BE49-F238E27FC236}">
                <a16:creationId xmlns:a16="http://schemas.microsoft.com/office/drawing/2014/main" id="{A9834911-6E18-C4C3-62FE-35067327EFBD}"/>
              </a:ext>
            </a:extLst>
          </p:cNvPr>
          <p:cNvSpPr/>
          <p:nvPr/>
        </p:nvSpPr>
        <p:spPr>
          <a:xfrm>
            <a:off x="9703975" y="3809368"/>
            <a:ext cx="572823" cy="150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管理</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38" name="正方形/長方形 37">
            <a:extLst>
              <a:ext uri="{FF2B5EF4-FFF2-40B4-BE49-F238E27FC236}">
                <a16:creationId xmlns:a16="http://schemas.microsoft.com/office/drawing/2014/main" id="{ABFB873F-A9BD-ED69-D0C4-A51DEE62C1D9}"/>
              </a:ext>
            </a:extLst>
          </p:cNvPr>
          <p:cNvSpPr/>
          <p:nvPr/>
        </p:nvSpPr>
        <p:spPr>
          <a:xfrm>
            <a:off x="10321691" y="3809367"/>
            <a:ext cx="572823" cy="150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完了</a:t>
            </a:r>
          </a:p>
        </p:txBody>
      </p:sp>
      <p:sp>
        <p:nvSpPr>
          <p:cNvPr id="39" name="正方形/長方形 38">
            <a:extLst>
              <a:ext uri="{FF2B5EF4-FFF2-40B4-BE49-F238E27FC236}">
                <a16:creationId xmlns:a16="http://schemas.microsoft.com/office/drawing/2014/main" id="{FB4D1D01-DDA8-61E4-09F3-860A9478700D}"/>
              </a:ext>
            </a:extLst>
          </p:cNvPr>
          <p:cNvSpPr/>
          <p:nvPr/>
        </p:nvSpPr>
        <p:spPr>
          <a:xfrm>
            <a:off x="10939406" y="3809366"/>
            <a:ext cx="572823" cy="15020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サイクル</a:t>
            </a:r>
          </a:p>
        </p:txBody>
      </p:sp>
      <p:sp>
        <p:nvSpPr>
          <p:cNvPr id="40" name="正方形/長方形 39">
            <a:extLst>
              <a:ext uri="{FF2B5EF4-FFF2-40B4-BE49-F238E27FC236}">
                <a16:creationId xmlns:a16="http://schemas.microsoft.com/office/drawing/2014/main" id="{FA20BC6F-A821-4B06-D14A-664C5D729237}"/>
              </a:ext>
            </a:extLst>
          </p:cNvPr>
          <p:cNvSpPr/>
          <p:nvPr/>
        </p:nvSpPr>
        <p:spPr>
          <a:xfrm>
            <a:off x="6568766" y="4064680"/>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41" name="正方形/長方形 40">
            <a:extLst>
              <a:ext uri="{FF2B5EF4-FFF2-40B4-BE49-F238E27FC236}">
                <a16:creationId xmlns:a16="http://schemas.microsoft.com/office/drawing/2014/main" id="{2AE11962-30D5-CC7B-EDAF-80C65CCDFFFC}"/>
              </a:ext>
            </a:extLst>
          </p:cNvPr>
          <p:cNvSpPr/>
          <p:nvPr/>
        </p:nvSpPr>
        <p:spPr>
          <a:xfrm>
            <a:off x="7186482" y="4064679"/>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42" name="正方形/長方形 41">
            <a:extLst>
              <a:ext uri="{FF2B5EF4-FFF2-40B4-BE49-F238E27FC236}">
                <a16:creationId xmlns:a16="http://schemas.microsoft.com/office/drawing/2014/main" id="{E423C309-F3E7-EE98-2CEE-4C3FFAF0F6B9}"/>
              </a:ext>
            </a:extLst>
          </p:cNvPr>
          <p:cNvSpPr/>
          <p:nvPr/>
        </p:nvSpPr>
        <p:spPr>
          <a:xfrm>
            <a:off x="7804198" y="4064678"/>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43" name="正方形/長方形 42">
            <a:extLst>
              <a:ext uri="{FF2B5EF4-FFF2-40B4-BE49-F238E27FC236}">
                <a16:creationId xmlns:a16="http://schemas.microsoft.com/office/drawing/2014/main" id="{9F8F8280-580B-C5BF-C09E-2C54A1414DC7}"/>
              </a:ext>
            </a:extLst>
          </p:cNvPr>
          <p:cNvSpPr/>
          <p:nvPr/>
        </p:nvSpPr>
        <p:spPr>
          <a:xfrm>
            <a:off x="8421913" y="4064677"/>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44" name="正方形/長方形 43">
            <a:extLst>
              <a:ext uri="{FF2B5EF4-FFF2-40B4-BE49-F238E27FC236}">
                <a16:creationId xmlns:a16="http://schemas.microsoft.com/office/drawing/2014/main" id="{485A2441-0388-9052-05F7-2B68C1741AD3}"/>
              </a:ext>
            </a:extLst>
          </p:cNvPr>
          <p:cNvSpPr/>
          <p:nvPr/>
        </p:nvSpPr>
        <p:spPr>
          <a:xfrm>
            <a:off x="9086259" y="4057001"/>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900" dirty="0">
                <a:solidFill>
                  <a:schemeClr val="tx1"/>
                </a:solidFill>
                <a:latin typeface="Meiryo UI" panose="020B0604030504040204" pitchFamily="50" charset="-128"/>
                <a:ea typeface="Meiryo UI" panose="020B0604030504040204" pitchFamily="50" charset="-128"/>
              </a:rPr>
              <a:t>6</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45" name="正方形/長方形 44">
            <a:extLst>
              <a:ext uri="{FF2B5EF4-FFF2-40B4-BE49-F238E27FC236}">
                <a16:creationId xmlns:a16="http://schemas.microsoft.com/office/drawing/2014/main" id="{84E6776B-20FA-361A-E562-E2F70C692568}"/>
              </a:ext>
            </a:extLst>
          </p:cNvPr>
          <p:cNvSpPr/>
          <p:nvPr/>
        </p:nvSpPr>
        <p:spPr>
          <a:xfrm>
            <a:off x="9703975" y="4057000"/>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46" name="正方形/長方形 45">
            <a:extLst>
              <a:ext uri="{FF2B5EF4-FFF2-40B4-BE49-F238E27FC236}">
                <a16:creationId xmlns:a16="http://schemas.microsoft.com/office/drawing/2014/main" id="{C2B2C301-F538-5F6B-DF53-2882D3F334A9}"/>
              </a:ext>
            </a:extLst>
          </p:cNvPr>
          <p:cNvSpPr/>
          <p:nvPr/>
        </p:nvSpPr>
        <p:spPr>
          <a:xfrm>
            <a:off x="10321691" y="4056999"/>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47" name="正方形/長方形 46">
            <a:extLst>
              <a:ext uri="{FF2B5EF4-FFF2-40B4-BE49-F238E27FC236}">
                <a16:creationId xmlns:a16="http://schemas.microsoft.com/office/drawing/2014/main" id="{04542CBE-3CE2-B3E9-2587-C7D6D2861419}"/>
              </a:ext>
            </a:extLst>
          </p:cNvPr>
          <p:cNvSpPr/>
          <p:nvPr/>
        </p:nvSpPr>
        <p:spPr>
          <a:xfrm>
            <a:off x="10939406" y="4056998"/>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48" name="正方形/長方形 47">
            <a:extLst>
              <a:ext uri="{FF2B5EF4-FFF2-40B4-BE49-F238E27FC236}">
                <a16:creationId xmlns:a16="http://schemas.microsoft.com/office/drawing/2014/main" id="{21385ADF-E845-FD5C-2A42-1C8465978BF4}"/>
              </a:ext>
            </a:extLst>
          </p:cNvPr>
          <p:cNvSpPr/>
          <p:nvPr/>
        </p:nvSpPr>
        <p:spPr>
          <a:xfrm>
            <a:off x="549964" y="4064677"/>
            <a:ext cx="291648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山田太郎</a:t>
            </a:r>
          </a:p>
        </p:txBody>
      </p:sp>
      <p:sp>
        <p:nvSpPr>
          <p:cNvPr id="50" name="正方形/長方形 49">
            <a:extLst>
              <a:ext uri="{FF2B5EF4-FFF2-40B4-BE49-F238E27FC236}">
                <a16:creationId xmlns:a16="http://schemas.microsoft.com/office/drawing/2014/main" id="{2F279B34-8162-4D1B-C6E3-D0440F4AE901}"/>
              </a:ext>
            </a:extLst>
          </p:cNvPr>
          <p:cNvSpPr/>
          <p:nvPr/>
        </p:nvSpPr>
        <p:spPr>
          <a:xfrm>
            <a:off x="3557971" y="4064677"/>
            <a:ext cx="137926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総合職</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51" name="正方形/長方形 50">
            <a:extLst>
              <a:ext uri="{FF2B5EF4-FFF2-40B4-BE49-F238E27FC236}">
                <a16:creationId xmlns:a16="http://schemas.microsoft.com/office/drawing/2014/main" id="{65C796B1-A9E1-103B-4423-8131D2FC5E19}"/>
              </a:ext>
            </a:extLst>
          </p:cNvPr>
          <p:cNvSpPr/>
          <p:nvPr/>
        </p:nvSpPr>
        <p:spPr>
          <a:xfrm>
            <a:off x="5061974" y="4064677"/>
            <a:ext cx="137926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年</a:t>
            </a: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か月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52" name="正方形/長方形 51">
            <a:extLst>
              <a:ext uri="{FF2B5EF4-FFF2-40B4-BE49-F238E27FC236}">
                <a16:creationId xmlns:a16="http://schemas.microsoft.com/office/drawing/2014/main" id="{DAE3E677-40A4-C8A3-871E-650275472CED}"/>
              </a:ext>
            </a:extLst>
          </p:cNvPr>
          <p:cNvSpPr/>
          <p:nvPr/>
        </p:nvSpPr>
        <p:spPr>
          <a:xfrm>
            <a:off x="6568766" y="4493686"/>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53" name="正方形/長方形 52">
            <a:extLst>
              <a:ext uri="{FF2B5EF4-FFF2-40B4-BE49-F238E27FC236}">
                <a16:creationId xmlns:a16="http://schemas.microsoft.com/office/drawing/2014/main" id="{F40C2A0A-BBFC-415E-A5F1-9B14E1F6E575}"/>
              </a:ext>
            </a:extLst>
          </p:cNvPr>
          <p:cNvSpPr/>
          <p:nvPr/>
        </p:nvSpPr>
        <p:spPr>
          <a:xfrm>
            <a:off x="7186482" y="4493685"/>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54" name="正方形/長方形 53">
            <a:extLst>
              <a:ext uri="{FF2B5EF4-FFF2-40B4-BE49-F238E27FC236}">
                <a16:creationId xmlns:a16="http://schemas.microsoft.com/office/drawing/2014/main" id="{AD8D2E50-28B9-BDB1-B11C-CBD6232D8B89}"/>
              </a:ext>
            </a:extLst>
          </p:cNvPr>
          <p:cNvSpPr/>
          <p:nvPr/>
        </p:nvSpPr>
        <p:spPr>
          <a:xfrm>
            <a:off x="7804198" y="4493684"/>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55" name="正方形/長方形 54">
            <a:extLst>
              <a:ext uri="{FF2B5EF4-FFF2-40B4-BE49-F238E27FC236}">
                <a16:creationId xmlns:a16="http://schemas.microsoft.com/office/drawing/2014/main" id="{00E22089-2EFF-2F77-D73D-C5FC8ACC655C}"/>
              </a:ext>
            </a:extLst>
          </p:cNvPr>
          <p:cNvSpPr/>
          <p:nvPr/>
        </p:nvSpPr>
        <p:spPr>
          <a:xfrm>
            <a:off x="8421913" y="4493683"/>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56" name="正方形/長方形 55">
            <a:extLst>
              <a:ext uri="{FF2B5EF4-FFF2-40B4-BE49-F238E27FC236}">
                <a16:creationId xmlns:a16="http://schemas.microsoft.com/office/drawing/2014/main" id="{F938E0D7-0688-014A-29C8-2BB009F5EBC0}"/>
              </a:ext>
            </a:extLst>
          </p:cNvPr>
          <p:cNvSpPr/>
          <p:nvPr/>
        </p:nvSpPr>
        <p:spPr>
          <a:xfrm>
            <a:off x="9086259" y="4486007"/>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900" dirty="0">
                <a:solidFill>
                  <a:schemeClr val="tx1"/>
                </a:solidFill>
                <a:latin typeface="Meiryo UI" panose="020B0604030504040204" pitchFamily="50" charset="-128"/>
                <a:ea typeface="Meiryo UI" panose="020B0604030504040204" pitchFamily="50" charset="-128"/>
              </a:rPr>
              <a:t>6</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57" name="正方形/長方形 56">
            <a:extLst>
              <a:ext uri="{FF2B5EF4-FFF2-40B4-BE49-F238E27FC236}">
                <a16:creationId xmlns:a16="http://schemas.microsoft.com/office/drawing/2014/main" id="{0DDEC44E-1BA7-DA0B-8EAB-2B64B31C62DA}"/>
              </a:ext>
            </a:extLst>
          </p:cNvPr>
          <p:cNvSpPr/>
          <p:nvPr/>
        </p:nvSpPr>
        <p:spPr>
          <a:xfrm>
            <a:off x="9703975" y="4486006"/>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58" name="正方形/長方形 57">
            <a:extLst>
              <a:ext uri="{FF2B5EF4-FFF2-40B4-BE49-F238E27FC236}">
                <a16:creationId xmlns:a16="http://schemas.microsoft.com/office/drawing/2014/main" id="{099B27B0-CA3B-6C3B-2D1F-DC3CBE7467CC}"/>
              </a:ext>
            </a:extLst>
          </p:cNvPr>
          <p:cNvSpPr/>
          <p:nvPr/>
        </p:nvSpPr>
        <p:spPr>
          <a:xfrm>
            <a:off x="10321691" y="4486005"/>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59" name="正方形/長方形 58">
            <a:extLst>
              <a:ext uri="{FF2B5EF4-FFF2-40B4-BE49-F238E27FC236}">
                <a16:creationId xmlns:a16="http://schemas.microsoft.com/office/drawing/2014/main" id="{45719AA8-9AE1-FEEF-064D-46C9B6B027D3}"/>
              </a:ext>
            </a:extLst>
          </p:cNvPr>
          <p:cNvSpPr/>
          <p:nvPr/>
        </p:nvSpPr>
        <p:spPr>
          <a:xfrm>
            <a:off x="10939406" y="4486004"/>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60" name="正方形/長方形 59">
            <a:extLst>
              <a:ext uri="{FF2B5EF4-FFF2-40B4-BE49-F238E27FC236}">
                <a16:creationId xmlns:a16="http://schemas.microsoft.com/office/drawing/2014/main" id="{DB1BCF70-A6DE-49C2-91FB-EF6896581791}"/>
              </a:ext>
            </a:extLst>
          </p:cNvPr>
          <p:cNvSpPr/>
          <p:nvPr/>
        </p:nvSpPr>
        <p:spPr>
          <a:xfrm>
            <a:off x="549964" y="4493683"/>
            <a:ext cx="291648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田中</a:t>
            </a:r>
            <a:r>
              <a:rPr kumimoji="1" lang="ja-JP" altLang="en-US" sz="1200" dirty="0">
                <a:solidFill>
                  <a:schemeClr val="tx1"/>
                </a:solidFill>
                <a:latin typeface="Meiryo UI" panose="020B0604030504040204" pitchFamily="50" charset="-128"/>
                <a:ea typeface="Meiryo UI" panose="020B0604030504040204" pitchFamily="50" charset="-128"/>
              </a:rPr>
              <a:t>太郎</a:t>
            </a:r>
          </a:p>
        </p:txBody>
      </p:sp>
      <p:sp>
        <p:nvSpPr>
          <p:cNvPr id="62" name="正方形/長方形 61">
            <a:extLst>
              <a:ext uri="{FF2B5EF4-FFF2-40B4-BE49-F238E27FC236}">
                <a16:creationId xmlns:a16="http://schemas.microsoft.com/office/drawing/2014/main" id="{E174DAC8-CA82-33EB-4C8E-7B864CAFD532}"/>
              </a:ext>
            </a:extLst>
          </p:cNvPr>
          <p:cNvSpPr/>
          <p:nvPr/>
        </p:nvSpPr>
        <p:spPr>
          <a:xfrm>
            <a:off x="3557971" y="4493683"/>
            <a:ext cx="137926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総合職</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63" name="正方形/長方形 62">
            <a:extLst>
              <a:ext uri="{FF2B5EF4-FFF2-40B4-BE49-F238E27FC236}">
                <a16:creationId xmlns:a16="http://schemas.microsoft.com/office/drawing/2014/main" id="{5EDF57B7-D3B9-C690-A4D4-0349CA63B06B}"/>
              </a:ext>
            </a:extLst>
          </p:cNvPr>
          <p:cNvSpPr/>
          <p:nvPr/>
        </p:nvSpPr>
        <p:spPr>
          <a:xfrm>
            <a:off x="5061974" y="4493683"/>
            <a:ext cx="137926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2</a:t>
            </a:r>
            <a:r>
              <a:rPr lang="ja-JP" altLang="en-US" sz="1200" dirty="0">
                <a:solidFill>
                  <a:schemeClr val="tx1"/>
                </a:solidFill>
                <a:latin typeface="Meiryo UI" panose="020B0604030504040204" pitchFamily="50" charset="-128"/>
                <a:ea typeface="Meiryo UI" panose="020B0604030504040204" pitchFamily="50" charset="-128"/>
              </a:rPr>
              <a:t>年</a:t>
            </a: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か月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64" name="正方形/長方形 63">
            <a:extLst>
              <a:ext uri="{FF2B5EF4-FFF2-40B4-BE49-F238E27FC236}">
                <a16:creationId xmlns:a16="http://schemas.microsoft.com/office/drawing/2014/main" id="{1035BEA2-3CEF-0A4C-9562-631791EB9CDF}"/>
              </a:ext>
            </a:extLst>
          </p:cNvPr>
          <p:cNvSpPr/>
          <p:nvPr/>
        </p:nvSpPr>
        <p:spPr>
          <a:xfrm>
            <a:off x="6568766" y="4922692"/>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65" name="正方形/長方形 64">
            <a:extLst>
              <a:ext uri="{FF2B5EF4-FFF2-40B4-BE49-F238E27FC236}">
                <a16:creationId xmlns:a16="http://schemas.microsoft.com/office/drawing/2014/main" id="{277AF28E-0AC5-78FC-76ED-6AE2C1BF98CD}"/>
              </a:ext>
            </a:extLst>
          </p:cNvPr>
          <p:cNvSpPr/>
          <p:nvPr/>
        </p:nvSpPr>
        <p:spPr>
          <a:xfrm>
            <a:off x="7186482" y="4922691"/>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66" name="正方形/長方形 65">
            <a:extLst>
              <a:ext uri="{FF2B5EF4-FFF2-40B4-BE49-F238E27FC236}">
                <a16:creationId xmlns:a16="http://schemas.microsoft.com/office/drawing/2014/main" id="{595FF45A-FECC-60F6-F079-BA0BF1460423}"/>
              </a:ext>
            </a:extLst>
          </p:cNvPr>
          <p:cNvSpPr/>
          <p:nvPr/>
        </p:nvSpPr>
        <p:spPr>
          <a:xfrm>
            <a:off x="7804198" y="4922690"/>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67" name="正方形/長方形 66">
            <a:extLst>
              <a:ext uri="{FF2B5EF4-FFF2-40B4-BE49-F238E27FC236}">
                <a16:creationId xmlns:a16="http://schemas.microsoft.com/office/drawing/2014/main" id="{B3B9EE7C-1CB5-E1F6-9194-227DA35EFE8E}"/>
              </a:ext>
            </a:extLst>
          </p:cNvPr>
          <p:cNvSpPr/>
          <p:nvPr/>
        </p:nvSpPr>
        <p:spPr>
          <a:xfrm>
            <a:off x="8421913" y="4922689"/>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68" name="正方形/長方形 67">
            <a:extLst>
              <a:ext uri="{FF2B5EF4-FFF2-40B4-BE49-F238E27FC236}">
                <a16:creationId xmlns:a16="http://schemas.microsoft.com/office/drawing/2014/main" id="{BE6B18FF-3EBA-3D4C-64B2-DAC0493B0EF5}"/>
              </a:ext>
            </a:extLst>
          </p:cNvPr>
          <p:cNvSpPr/>
          <p:nvPr/>
        </p:nvSpPr>
        <p:spPr>
          <a:xfrm>
            <a:off x="9086259" y="4915013"/>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900" dirty="0">
                <a:solidFill>
                  <a:schemeClr val="tx1"/>
                </a:solidFill>
                <a:latin typeface="Meiryo UI" panose="020B0604030504040204" pitchFamily="50" charset="-128"/>
                <a:ea typeface="Meiryo UI" panose="020B0604030504040204" pitchFamily="50" charset="-128"/>
              </a:rPr>
              <a:t>6</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69" name="正方形/長方形 68">
            <a:extLst>
              <a:ext uri="{FF2B5EF4-FFF2-40B4-BE49-F238E27FC236}">
                <a16:creationId xmlns:a16="http://schemas.microsoft.com/office/drawing/2014/main" id="{9A1A2EF7-CB19-7C72-8B9D-65700366820A}"/>
              </a:ext>
            </a:extLst>
          </p:cNvPr>
          <p:cNvSpPr/>
          <p:nvPr/>
        </p:nvSpPr>
        <p:spPr>
          <a:xfrm>
            <a:off x="9703975" y="4915012"/>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70" name="正方形/長方形 69">
            <a:extLst>
              <a:ext uri="{FF2B5EF4-FFF2-40B4-BE49-F238E27FC236}">
                <a16:creationId xmlns:a16="http://schemas.microsoft.com/office/drawing/2014/main" id="{C885359E-D1E8-9385-DFCB-DBB4B0E459A9}"/>
              </a:ext>
            </a:extLst>
          </p:cNvPr>
          <p:cNvSpPr/>
          <p:nvPr/>
        </p:nvSpPr>
        <p:spPr>
          <a:xfrm>
            <a:off x="10321691" y="4915011"/>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71" name="正方形/長方形 70">
            <a:extLst>
              <a:ext uri="{FF2B5EF4-FFF2-40B4-BE49-F238E27FC236}">
                <a16:creationId xmlns:a16="http://schemas.microsoft.com/office/drawing/2014/main" id="{A9921DCC-FEF3-0489-548A-178772C14794}"/>
              </a:ext>
            </a:extLst>
          </p:cNvPr>
          <p:cNvSpPr/>
          <p:nvPr/>
        </p:nvSpPr>
        <p:spPr>
          <a:xfrm>
            <a:off x="10939406" y="4915010"/>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72" name="正方形/長方形 71">
            <a:extLst>
              <a:ext uri="{FF2B5EF4-FFF2-40B4-BE49-F238E27FC236}">
                <a16:creationId xmlns:a16="http://schemas.microsoft.com/office/drawing/2014/main" id="{6974BDAE-FB90-8BCA-23C8-7721E7E82B8C}"/>
              </a:ext>
            </a:extLst>
          </p:cNvPr>
          <p:cNvSpPr/>
          <p:nvPr/>
        </p:nvSpPr>
        <p:spPr>
          <a:xfrm>
            <a:off x="549964" y="4922689"/>
            <a:ext cx="291648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鈴木一郎</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74" name="正方形/長方形 73">
            <a:extLst>
              <a:ext uri="{FF2B5EF4-FFF2-40B4-BE49-F238E27FC236}">
                <a16:creationId xmlns:a16="http://schemas.microsoft.com/office/drawing/2014/main" id="{9746942C-3CE7-8C33-0CA4-A0E62C81EBAD}"/>
              </a:ext>
            </a:extLst>
          </p:cNvPr>
          <p:cNvSpPr/>
          <p:nvPr/>
        </p:nvSpPr>
        <p:spPr>
          <a:xfrm>
            <a:off x="3557971" y="4922689"/>
            <a:ext cx="137926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総合職</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75" name="正方形/長方形 74">
            <a:extLst>
              <a:ext uri="{FF2B5EF4-FFF2-40B4-BE49-F238E27FC236}">
                <a16:creationId xmlns:a16="http://schemas.microsoft.com/office/drawing/2014/main" id="{D3EB84E1-BCB0-2DD2-976E-9168EA6AB5F3}"/>
              </a:ext>
            </a:extLst>
          </p:cNvPr>
          <p:cNvSpPr/>
          <p:nvPr/>
        </p:nvSpPr>
        <p:spPr>
          <a:xfrm>
            <a:off x="5061974" y="4922689"/>
            <a:ext cx="137926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年</a:t>
            </a: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か月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76" name="正方形/長方形 75">
            <a:extLst>
              <a:ext uri="{FF2B5EF4-FFF2-40B4-BE49-F238E27FC236}">
                <a16:creationId xmlns:a16="http://schemas.microsoft.com/office/drawing/2014/main" id="{F7074E58-71C5-DB6A-00DC-08D91267DBD7}"/>
              </a:ext>
            </a:extLst>
          </p:cNvPr>
          <p:cNvSpPr/>
          <p:nvPr/>
        </p:nvSpPr>
        <p:spPr>
          <a:xfrm>
            <a:off x="6568766" y="5351698"/>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77" name="正方形/長方形 76">
            <a:extLst>
              <a:ext uri="{FF2B5EF4-FFF2-40B4-BE49-F238E27FC236}">
                <a16:creationId xmlns:a16="http://schemas.microsoft.com/office/drawing/2014/main" id="{83F1EDE7-4859-5404-C4C9-B53F92DE3917}"/>
              </a:ext>
            </a:extLst>
          </p:cNvPr>
          <p:cNvSpPr/>
          <p:nvPr/>
        </p:nvSpPr>
        <p:spPr>
          <a:xfrm>
            <a:off x="7186482" y="5351697"/>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78" name="正方形/長方形 77">
            <a:extLst>
              <a:ext uri="{FF2B5EF4-FFF2-40B4-BE49-F238E27FC236}">
                <a16:creationId xmlns:a16="http://schemas.microsoft.com/office/drawing/2014/main" id="{E6E424C0-1673-B3B2-AC5F-C0DA20D2378E}"/>
              </a:ext>
            </a:extLst>
          </p:cNvPr>
          <p:cNvSpPr/>
          <p:nvPr/>
        </p:nvSpPr>
        <p:spPr>
          <a:xfrm>
            <a:off x="7804198" y="5351696"/>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79" name="正方形/長方形 78">
            <a:extLst>
              <a:ext uri="{FF2B5EF4-FFF2-40B4-BE49-F238E27FC236}">
                <a16:creationId xmlns:a16="http://schemas.microsoft.com/office/drawing/2014/main" id="{6AC25B8C-7382-0949-7645-2889D7C2329A}"/>
              </a:ext>
            </a:extLst>
          </p:cNvPr>
          <p:cNvSpPr/>
          <p:nvPr/>
        </p:nvSpPr>
        <p:spPr>
          <a:xfrm>
            <a:off x="8421913" y="5351695"/>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80" name="正方形/長方形 79">
            <a:extLst>
              <a:ext uri="{FF2B5EF4-FFF2-40B4-BE49-F238E27FC236}">
                <a16:creationId xmlns:a16="http://schemas.microsoft.com/office/drawing/2014/main" id="{6B20230D-1279-3840-A45B-AC3FBA4AB6AC}"/>
              </a:ext>
            </a:extLst>
          </p:cNvPr>
          <p:cNvSpPr/>
          <p:nvPr/>
        </p:nvSpPr>
        <p:spPr>
          <a:xfrm>
            <a:off x="9086259" y="5344019"/>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900" dirty="0">
                <a:solidFill>
                  <a:schemeClr val="tx1"/>
                </a:solidFill>
                <a:latin typeface="Meiryo UI" panose="020B0604030504040204" pitchFamily="50" charset="-128"/>
                <a:ea typeface="Meiryo UI" panose="020B0604030504040204" pitchFamily="50" charset="-128"/>
              </a:rPr>
              <a:t>6</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81" name="正方形/長方形 80">
            <a:extLst>
              <a:ext uri="{FF2B5EF4-FFF2-40B4-BE49-F238E27FC236}">
                <a16:creationId xmlns:a16="http://schemas.microsoft.com/office/drawing/2014/main" id="{BEDFE9A9-F3FF-EEA0-50AA-2598122E066E}"/>
              </a:ext>
            </a:extLst>
          </p:cNvPr>
          <p:cNvSpPr/>
          <p:nvPr/>
        </p:nvSpPr>
        <p:spPr>
          <a:xfrm>
            <a:off x="9703975" y="5344018"/>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82" name="正方形/長方形 81">
            <a:extLst>
              <a:ext uri="{FF2B5EF4-FFF2-40B4-BE49-F238E27FC236}">
                <a16:creationId xmlns:a16="http://schemas.microsoft.com/office/drawing/2014/main" id="{1B386FC6-BD44-3A57-0989-84496FE6BDAF}"/>
              </a:ext>
            </a:extLst>
          </p:cNvPr>
          <p:cNvSpPr/>
          <p:nvPr/>
        </p:nvSpPr>
        <p:spPr>
          <a:xfrm>
            <a:off x="10321691" y="5344017"/>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83" name="正方形/長方形 82">
            <a:extLst>
              <a:ext uri="{FF2B5EF4-FFF2-40B4-BE49-F238E27FC236}">
                <a16:creationId xmlns:a16="http://schemas.microsoft.com/office/drawing/2014/main" id="{40D2DB5B-32BC-1BB3-E60F-8D5DF03E2A07}"/>
              </a:ext>
            </a:extLst>
          </p:cNvPr>
          <p:cNvSpPr/>
          <p:nvPr/>
        </p:nvSpPr>
        <p:spPr>
          <a:xfrm>
            <a:off x="10939406" y="5344016"/>
            <a:ext cx="57282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84" name="正方形/長方形 83">
            <a:extLst>
              <a:ext uri="{FF2B5EF4-FFF2-40B4-BE49-F238E27FC236}">
                <a16:creationId xmlns:a16="http://schemas.microsoft.com/office/drawing/2014/main" id="{7E9044BE-688F-8329-A2FA-81D9D758CDBE}"/>
              </a:ext>
            </a:extLst>
          </p:cNvPr>
          <p:cNvSpPr/>
          <p:nvPr/>
        </p:nvSpPr>
        <p:spPr>
          <a:xfrm>
            <a:off x="549964" y="5351695"/>
            <a:ext cx="2916483"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佐藤恵美</a:t>
            </a:r>
          </a:p>
        </p:txBody>
      </p:sp>
      <p:sp>
        <p:nvSpPr>
          <p:cNvPr id="86" name="正方形/長方形 85">
            <a:extLst>
              <a:ext uri="{FF2B5EF4-FFF2-40B4-BE49-F238E27FC236}">
                <a16:creationId xmlns:a16="http://schemas.microsoft.com/office/drawing/2014/main" id="{D8F6F1C3-C9E4-00B5-2165-FDA5133C4DF3}"/>
              </a:ext>
            </a:extLst>
          </p:cNvPr>
          <p:cNvSpPr/>
          <p:nvPr/>
        </p:nvSpPr>
        <p:spPr>
          <a:xfrm>
            <a:off x="3557971" y="5351695"/>
            <a:ext cx="137926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総合職</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87" name="正方形/長方形 86">
            <a:extLst>
              <a:ext uri="{FF2B5EF4-FFF2-40B4-BE49-F238E27FC236}">
                <a16:creationId xmlns:a16="http://schemas.microsoft.com/office/drawing/2014/main" id="{44AFF4A1-A0E4-E0B8-A322-8DCFBAF19E6F}"/>
              </a:ext>
            </a:extLst>
          </p:cNvPr>
          <p:cNvSpPr/>
          <p:nvPr/>
        </p:nvSpPr>
        <p:spPr>
          <a:xfrm>
            <a:off x="5061974" y="5351695"/>
            <a:ext cx="137926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５年</a:t>
            </a: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か月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88" name="二等辺三角形 87">
            <a:extLst>
              <a:ext uri="{FF2B5EF4-FFF2-40B4-BE49-F238E27FC236}">
                <a16:creationId xmlns:a16="http://schemas.microsoft.com/office/drawing/2014/main" id="{329D3AF3-0F8D-6C74-C5AC-92997FD0EDC9}"/>
              </a:ext>
            </a:extLst>
          </p:cNvPr>
          <p:cNvSpPr/>
          <p:nvPr/>
        </p:nvSpPr>
        <p:spPr>
          <a:xfrm rot="5400000">
            <a:off x="11499073" y="4529241"/>
            <a:ext cx="585480" cy="111833"/>
          </a:xfrm>
          <a:prstGeom prst="triangl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 name="フローチャート: 端子 1">
            <a:extLst>
              <a:ext uri="{FF2B5EF4-FFF2-40B4-BE49-F238E27FC236}">
                <a16:creationId xmlns:a16="http://schemas.microsoft.com/office/drawing/2014/main" id="{FCE207FB-AEB1-2845-A79C-DE1FEF74FC94}"/>
              </a:ext>
            </a:extLst>
          </p:cNvPr>
          <p:cNvSpPr/>
          <p:nvPr/>
        </p:nvSpPr>
        <p:spPr>
          <a:xfrm>
            <a:off x="10188657" y="175287"/>
            <a:ext cx="1783486" cy="461918"/>
          </a:xfrm>
          <a:prstGeom prst="flowChartTerminator">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Meiryo UI" panose="020B0604030504040204" pitchFamily="50" charset="-128"/>
                <a:ea typeface="Meiryo UI" panose="020B0604030504040204" pitchFamily="50" charset="-128"/>
              </a:rPr>
              <a:t>修正前</a:t>
            </a:r>
          </a:p>
        </p:txBody>
      </p:sp>
    </p:spTree>
    <p:extLst>
      <p:ext uri="{BB962C8B-B14F-4D97-AF65-F5344CB8AC3E}">
        <p14:creationId xmlns:p14="http://schemas.microsoft.com/office/powerpoint/2010/main" val="3214161925"/>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B0C117CF-5106-8DEB-D32C-228192375F4E}"/>
            </a:ext>
          </a:extLst>
        </p:cNvPr>
        <p:cNvGrpSpPr/>
        <p:nvPr/>
      </p:nvGrpSpPr>
      <p:grpSpPr>
        <a:xfrm>
          <a:off x="0" y="0"/>
          <a:ext cx="0" cy="0"/>
          <a:chOff x="0" y="0"/>
          <a:chExt cx="0" cy="0"/>
        </a:xfrm>
      </p:grpSpPr>
      <p:sp>
        <p:nvSpPr>
          <p:cNvPr id="118" name="正方形/長方形 117">
            <a:extLst>
              <a:ext uri="{FF2B5EF4-FFF2-40B4-BE49-F238E27FC236}">
                <a16:creationId xmlns:a16="http://schemas.microsoft.com/office/drawing/2014/main" id="{D8EBCBE8-39A9-2F0A-5965-7584D67EBE5F}"/>
              </a:ext>
            </a:extLst>
          </p:cNvPr>
          <p:cNvSpPr/>
          <p:nvPr/>
        </p:nvSpPr>
        <p:spPr>
          <a:xfrm>
            <a:off x="1439793" y="3605110"/>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氏名</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19" name="正方形/長方形 118">
            <a:extLst>
              <a:ext uri="{FF2B5EF4-FFF2-40B4-BE49-F238E27FC236}">
                <a16:creationId xmlns:a16="http://schemas.microsoft.com/office/drawing/2014/main" id="{D22FD159-26DD-F3F3-C0EC-4A19441BB8AF}"/>
              </a:ext>
            </a:extLst>
          </p:cNvPr>
          <p:cNvSpPr/>
          <p:nvPr/>
        </p:nvSpPr>
        <p:spPr>
          <a:xfrm>
            <a:off x="531411" y="3599491"/>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所属チーム</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20" name="正方形/長方形 119">
            <a:extLst>
              <a:ext uri="{FF2B5EF4-FFF2-40B4-BE49-F238E27FC236}">
                <a16:creationId xmlns:a16="http://schemas.microsoft.com/office/drawing/2014/main" id="{FA34C885-F5B5-B763-C92E-B7C15D8538DF}"/>
              </a:ext>
            </a:extLst>
          </p:cNvPr>
          <p:cNvSpPr/>
          <p:nvPr/>
        </p:nvSpPr>
        <p:spPr>
          <a:xfrm>
            <a:off x="2376026" y="3599491"/>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職種</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21" name="正方形/長方形 120">
            <a:extLst>
              <a:ext uri="{FF2B5EF4-FFF2-40B4-BE49-F238E27FC236}">
                <a16:creationId xmlns:a16="http://schemas.microsoft.com/office/drawing/2014/main" id="{B7EC4A03-86BC-BF73-F194-6BD8B9899CCB}"/>
              </a:ext>
            </a:extLst>
          </p:cNvPr>
          <p:cNvSpPr/>
          <p:nvPr/>
        </p:nvSpPr>
        <p:spPr>
          <a:xfrm>
            <a:off x="3288211" y="3599491"/>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在籍期間</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40" name="正方形/長方形 139">
            <a:extLst>
              <a:ext uri="{FF2B5EF4-FFF2-40B4-BE49-F238E27FC236}">
                <a16:creationId xmlns:a16="http://schemas.microsoft.com/office/drawing/2014/main" id="{7F18DF8C-9D0C-80E8-414F-EFA12DDCE1A4}"/>
              </a:ext>
            </a:extLst>
          </p:cNvPr>
          <p:cNvSpPr/>
          <p:nvPr/>
        </p:nvSpPr>
        <p:spPr>
          <a:xfrm>
            <a:off x="1438101" y="4207056"/>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山田太郎</a:t>
            </a:r>
          </a:p>
        </p:txBody>
      </p:sp>
      <p:sp>
        <p:nvSpPr>
          <p:cNvPr id="141" name="正方形/長方形 140">
            <a:extLst>
              <a:ext uri="{FF2B5EF4-FFF2-40B4-BE49-F238E27FC236}">
                <a16:creationId xmlns:a16="http://schemas.microsoft.com/office/drawing/2014/main" id="{AE099B25-7A57-D5FC-0781-EC4338561220}"/>
              </a:ext>
            </a:extLst>
          </p:cNvPr>
          <p:cNvSpPr/>
          <p:nvPr/>
        </p:nvSpPr>
        <p:spPr>
          <a:xfrm>
            <a:off x="529720" y="420143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伊藤チーム</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42" name="正方形/長方形 141">
            <a:extLst>
              <a:ext uri="{FF2B5EF4-FFF2-40B4-BE49-F238E27FC236}">
                <a16:creationId xmlns:a16="http://schemas.microsoft.com/office/drawing/2014/main" id="{F63F96A4-2DCE-9CCE-FAAF-10F8BA9C4369}"/>
              </a:ext>
            </a:extLst>
          </p:cNvPr>
          <p:cNvSpPr/>
          <p:nvPr/>
        </p:nvSpPr>
        <p:spPr>
          <a:xfrm>
            <a:off x="2374335" y="420143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総合職</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43" name="正方形/長方形 142">
            <a:extLst>
              <a:ext uri="{FF2B5EF4-FFF2-40B4-BE49-F238E27FC236}">
                <a16:creationId xmlns:a16="http://schemas.microsoft.com/office/drawing/2014/main" id="{7D1BD204-102E-7431-B2A3-8B9D239886CF}"/>
              </a:ext>
            </a:extLst>
          </p:cNvPr>
          <p:cNvSpPr/>
          <p:nvPr/>
        </p:nvSpPr>
        <p:spPr>
          <a:xfrm>
            <a:off x="3286520" y="420143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年</a:t>
            </a: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か月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52" name="正方形/長方形 151">
            <a:extLst>
              <a:ext uri="{FF2B5EF4-FFF2-40B4-BE49-F238E27FC236}">
                <a16:creationId xmlns:a16="http://schemas.microsoft.com/office/drawing/2014/main" id="{23DB8F25-5F4E-0A62-EC1A-043024B96090}"/>
              </a:ext>
            </a:extLst>
          </p:cNvPr>
          <p:cNvSpPr/>
          <p:nvPr/>
        </p:nvSpPr>
        <p:spPr>
          <a:xfrm>
            <a:off x="1438101" y="4762186"/>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田中</a:t>
            </a:r>
            <a:r>
              <a:rPr kumimoji="1" lang="ja-JP" altLang="en-US" sz="1200" dirty="0">
                <a:solidFill>
                  <a:schemeClr val="tx1"/>
                </a:solidFill>
                <a:latin typeface="Meiryo UI" panose="020B0604030504040204" pitchFamily="50" charset="-128"/>
                <a:ea typeface="Meiryo UI" panose="020B0604030504040204" pitchFamily="50" charset="-128"/>
              </a:rPr>
              <a:t>太郎</a:t>
            </a:r>
          </a:p>
        </p:txBody>
      </p:sp>
      <p:sp>
        <p:nvSpPr>
          <p:cNvPr id="153" name="正方形/長方形 152">
            <a:extLst>
              <a:ext uri="{FF2B5EF4-FFF2-40B4-BE49-F238E27FC236}">
                <a16:creationId xmlns:a16="http://schemas.microsoft.com/office/drawing/2014/main" id="{E250AB0D-8C66-6E7C-F7A2-3F0E599CD119}"/>
              </a:ext>
            </a:extLst>
          </p:cNvPr>
          <p:cNvSpPr/>
          <p:nvPr/>
        </p:nvSpPr>
        <p:spPr>
          <a:xfrm>
            <a:off x="529720" y="475656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伊藤チーム</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54" name="正方形/長方形 153">
            <a:extLst>
              <a:ext uri="{FF2B5EF4-FFF2-40B4-BE49-F238E27FC236}">
                <a16:creationId xmlns:a16="http://schemas.microsoft.com/office/drawing/2014/main" id="{9F95A8FC-FC9A-9411-117F-92C1CEA2D8E7}"/>
              </a:ext>
            </a:extLst>
          </p:cNvPr>
          <p:cNvSpPr/>
          <p:nvPr/>
        </p:nvSpPr>
        <p:spPr>
          <a:xfrm>
            <a:off x="2374335" y="475656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総合職</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55" name="正方形/長方形 154">
            <a:extLst>
              <a:ext uri="{FF2B5EF4-FFF2-40B4-BE49-F238E27FC236}">
                <a16:creationId xmlns:a16="http://schemas.microsoft.com/office/drawing/2014/main" id="{AFD18657-DC54-C3EB-C869-7FA08F17F725}"/>
              </a:ext>
            </a:extLst>
          </p:cNvPr>
          <p:cNvSpPr/>
          <p:nvPr/>
        </p:nvSpPr>
        <p:spPr>
          <a:xfrm>
            <a:off x="3286520" y="475656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2</a:t>
            </a:r>
            <a:r>
              <a:rPr lang="ja-JP" altLang="en-US" sz="1200" dirty="0">
                <a:solidFill>
                  <a:schemeClr val="tx1"/>
                </a:solidFill>
                <a:latin typeface="Meiryo UI" panose="020B0604030504040204" pitchFamily="50" charset="-128"/>
                <a:ea typeface="Meiryo UI" panose="020B0604030504040204" pitchFamily="50" charset="-128"/>
              </a:rPr>
              <a:t>年</a:t>
            </a: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か月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64" name="正方形/長方形 163">
            <a:extLst>
              <a:ext uri="{FF2B5EF4-FFF2-40B4-BE49-F238E27FC236}">
                <a16:creationId xmlns:a16="http://schemas.microsoft.com/office/drawing/2014/main" id="{A7C1750A-0F41-51BF-0FF0-8689688FAEE2}"/>
              </a:ext>
            </a:extLst>
          </p:cNvPr>
          <p:cNvSpPr/>
          <p:nvPr/>
        </p:nvSpPr>
        <p:spPr>
          <a:xfrm>
            <a:off x="1438101" y="5317316"/>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鈴木一郎</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65" name="正方形/長方形 164">
            <a:extLst>
              <a:ext uri="{FF2B5EF4-FFF2-40B4-BE49-F238E27FC236}">
                <a16:creationId xmlns:a16="http://schemas.microsoft.com/office/drawing/2014/main" id="{C29D0F48-C67B-19FF-F7FC-0951AB8A500F}"/>
              </a:ext>
            </a:extLst>
          </p:cNvPr>
          <p:cNvSpPr/>
          <p:nvPr/>
        </p:nvSpPr>
        <p:spPr>
          <a:xfrm>
            <a:off x="529720" y="531169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斎藤チーム</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66" name="正方形/長方形 165">
            <a:extLst>
              <a:ext uri="{FF2B5EF4-FFF2-40B4-BE49-F238E27FC236}">
                <a16:creationId xmlns:a16="http://schemas.microsoft.com/office/drawing/2014/main" id="{1BDB468C-D39D-0A62-52B5-DA5319BCFC44}"/>
              </a:ext>
            </a:extLst>
          </p:cNvPr>
          <p:cNvSpPr/>
          <p:nvPr/>
        </p:nvSpPr>
        <p:spPr>
          <a:xfrm>
            <a:off x="2374335" y="531169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総合職</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67" name="正方形/長方形 166">
            <a:extLst>
              <a:ext uri="{FF2B5EF4-FFF2-40B4-BE49-F238E27FC236}">
                <a16:creationId xmlns:a16="http://schemas.microsoft.com/office/drawing/2014/main" id="{1AA8AA94-4EC8-CCBF-DDD9-E68221C69B56}"/>
              </a:ext>
            </a:extLst>
          </p:cNvPr>
          <p:cNvSpPr/>
          <p:nvPr/>
        </p:nvSpPr>
        <p:spPr>
          <a:xfrm>
            <a:off x="3286520" y="531169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年</a:t>
            </a: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か月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76" name="正方形/長方形 175">
            <a:extLst>
              <a:ext uri="{FF2B5EF4-FFF2-40B4-BE49-F238E27FC236}">
                <a16:creationId xmlns:a16="http://schemas.microsoft.com/office/drawing/2014/main" id="{3D4777F2-2218-E975-29B3-56F1000D141A}"/>
              </a:ext>
            </a:extLst>
          </p:cNvPr>
          <p:cNvSpPr/>
          <p:nvPr/>
        </p:nvSpPr>
        <p:spPr>
          <a:xfrm>
            <a:off x="1438101" y="5872446"/>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佐藤恵美</a:t>
            </a:r>
          </a:p>
        </p:txBody>
      </p:sp>
      <p:sp>
        <p:nvSpPr>
          <p:cNvPr id="177" name="正方形/長方形 176">
            <a:extLst>
              <a:ext uri="{FF2B5EF4-FFF2-40B4-BE49-F238E27FC236}">
                <a16:creationId xmlns:a16="http://schemas.microsoft.com/office/drawing/2014/main" id="{1AD98C97-003A-BE64-7DA8-4E953A1835F5}"/>
              </a:ext>
            </a:extLst>
          </p:cNvPr>
          <p:cNvSpPr/>
          <p:nvPr/>
        </p:nvSpPr>
        <p:spPr>
          <a:xfrm>
            <a:off x="529720" y="586682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斎藤チーム</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78" name="正方形/長方形 177">
            <a:extLst>
              <a:ext uri="{FF2B5EF4-FFF2-40B4-BE49-F238E27FC236}">
                <a16:creationId xmlns:a16="http://schemas.microsoft.com/office/drawing/2014/main" id="{97FC543B-AB45-A7D1-ECEC-B0DCFD5FBFFC}"/>
              </a:ext>
            </a:extLst>
          </p:cNvPr>
          <p:cNvSpPr/>
          <p:nvPr/>
        </p:nvSpPr>
        <p:spPr>
          <a:xfrm>
            <a:off x="2374335" y="586682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総合職</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79" name="正方形/長方形 178">
            <a:extLst>
              <a:ext uri="{FF2B5EF4-FFF2-40B4-BE49-F238E27FC236}">
                <a16:creationId xmlns:a16="http://schemas.microsoft.com/office/drawing/2014/main" id="{FE2FBF4F-55C3-07D5-A9F9-E37450842D36}"/>
              </a:ext>
            </a:extLst>
          </p:cNvPr>
          <p:cNvSpPr/>
          <p:nvPr/>
        </p:nvSpPr>
        <p:spPr>
          <a:xfrm>
            <a:off x="3286520" y="5866827"/>
            <a:ext cx="836528"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５年</a:t>
            </a:r>
            <a:r>
              <a:rPr lang="en-US" altLang="ja-JP" sz="1200" dirty="0">
                <a:solidFill>
                  <a:schemeClr val="tx1"/>
                </a:solidFill>
                <a:latin typeface="Meiryo UI" panose="020B0604030504040204" pitchFamily="50" charset="-128"/>
                <a:ea typeface="Meiryo UI" panose="020B0604030504040204" pitchFamily="50" charset="-128"/>
              </a:rPr>
              <a:t>1</a:t>
            </a:r>
            <a:r>
              <a:rPr lang="ja-JP" altLang="en-US" sz="1200" dirty="0">
                <a:solidFill>
                  <a:schemeClr val="tx1"/>
                </a:solidFill>
                <a:latin typeface="Meiryo UI" panose="020B0604030504040204" pitchFamily="50" charset="-128"/>
                <a:ea typeface="Meiryo UI" panose="020B0604030504040204" pitchFamily="50" charset="-128"/>
              </a:rPr>
              <a:t>か月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95" name="正方形/長方形 94">
            <a:extLst>
              <a:ext uri="{FF2B5EF4-FFF2-40B4-BE49-F238E27FC236}">
                <a16:creationId xmlns:a16="http://schemas.microsoft.com/office/drawing/2014/main" id="{D7DFF3BE-499B-1C71-0E46-D77D92CB5B87}"/>
              </a:ext>
            </a:extLst>
          </p:cNvPr>
          <p:cNvSpPr/>
          <p:nvPr/>
        </p:nvSpPr>
        <p:spPr>
          <a:xfrm>
            <a:off x="1438101" y="1030510"/>
            <a:ext cx="1375621"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当月面談数</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96" name="正方形/長方形 95">
            <a:extLst>
              <a:ext uri="{FF2B5EF4-FFF2-40B4-BE49-F238E27FC236}">
                <a16:creationId xmlns:a16="http://schemas.microsoft.com/office/drawing/2014/main" id="{DBD7F298-7A3E-5ADA-135E-AFFFD1290BE0}"/>
              </a:ext>
            </a:extLst>
          </p:cNvPr>
          <p:cNvSpPr/>
          <p:nvPr/>
        </p:nvSpPr>
        <p:spPr>
          <a:xfrm>
            <a:off x="2933817" y="1030510"/>
            <a:ext cx="1375621"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当月新規受注件数</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97" name="正方形/長方形 96">
            <a:extLst>
              <a:ext uri="{FF2B5EF4-FFF2-40B4-BE49-F238E27FC236}">
                <a16:creationId xmlns:a16="http://schemas.microsoft.com/office/drawing/2014/main" id="{68C16877-1AE8-C47A-4150-4F28571AA9C8}"/>
              </a:ext>
            </a:extLst>
          </p:cNvPr>
          <p:cNvSpPr/>
          <p:nvPr/>
        </p:nvSpPr>
        <p:spPr>
          <a:xfrm>
            <a:off x="4429532" y="1030510"/>
            <a:ext cx="1375621"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受注率</a:t>
            </a:r>
          </a:p>
        </p:txBody>
      </p:sp>
      <p:sp>
        <p:nvSpPr>
          <p:cNvPr id="98" name="正方形/長方形 97">
            <a:extLst>
              <a:ext uri="{FF2B5EF4-FFF2-40B4-BE49-F238E27FC236}">
                <a16:creationId xmlns:a16="http://schemas.microsoft.com/office/drawing/2014/main" id="{6B70A38A-F090-77D8-690C-38D8570652F4}"/>
              </a:ext>
            </a:extLst>
          </p:cNvPr>
          <p:cNvSpPr/>
          <p:nvPr/>
        </p:nvSpPr>
        <p:spPr>
          <a:xfrm>
            <a:off x="7420962" y="1030510"/>
            <a:ext cx="1375621"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相続税申告件数</a:t>
            </a:r>
          </a:p>
        </p:txBody>
      </p:sp>
      <p:sp>
        <p:nvSpPr>
          <p:cNvPr id="99" name="四角形: 角を丸くする 98">
            <a:extLst>
              <a:ext uri="{FF2B5EF4-FFF2-40B4-BE49-F238E27FC236}">
                <a16:creationId xmlns:a16="http://schemas.microsoft.com/office/drawing/2014/main" id="{510EF04F-A673-8840-9B1D-73933F4A31B6}"/>
              </a:ext>
            </a:extLst>
          </p:cNvPr>
          <p:cNvSpPr/>
          <p:nvPr/>
        </p:nvSpPr>
        <p:spPr>
          <a:xfrm>
            <a:off x="1438101" y="1543626"/>
            <a:ext cx="1375621"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250</a:t>
            </a:r>
            <a:r>
              <a:rPr kumimoji="1" lang="ja-JP" altLang="en-US" sz="1200" dirty="0">
                <a:solidFill>
                  <a:schemeClr val="tx1"/>
                </a:solidFill>
              </a:rPr>
              <a:t>件</a:t>
            </a:r>
            <a:r>
              <a:rPr kumimoji="1" lang="en-US" altLang="ja-JP" sz="1200" dirty="0">
                <a:solidFill>
                  <a:schemeClr val="tx1"/>
                </a:solidFill>
              </a:rPr>
              <a:t>/</a:t>
            </a:r>
            <a:r>
              <a:rPr kumimoji="1" lang="ja-JP" altLang="en-US" sz="1200" dirty="0">
                <a:solidFill>
                  <a:schemeClr val="tx1"/>
                </a:solidFill>
              </a:rPr>
              <a:t>日</a:t>
            </a:r>
          </a:p>
        </p:txBody>
      </p:sp>
      <p:sp>
        <p:nvSpPr>
          <p:cNvPr id="100" name="四角形: 角を丸くする 99">
            <a:extLst>
              <a:ext uri="{FF2B5EF4-FFF2-40B4-BE49-F238E27FC236}">
                <a16:creationId xmlns:a16="http://schemas.microsoft.com/office/drawing/2014/main" id="{64AEF5D5-DD6B-1125-9C66-940E3964EB9E}"/>
              </a:ext>
            </a:extLst>
          </p:cNvPr>
          <p:cNvSpPr/>
          <p:nvPr/>
        </p:nvSpPr>
        <p:spPr>
          <a:xfrm>
            <a:off x="2933817" y="1543626"/>
            <a:ext cx="1375621"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chemeClr val="tx1"/>
                </a:solidFill>
              </a:rPr>
              <a:t>125</a:t>
            </a:r>
            <a:r>
              <a:rPr kumimoji="1" lang="ja-JP" altLang="en-US" sz="1200" dirty="0">
                <a:solidFill>
                  <a:schemeClr val="tx1"/>
                </a:solidFill>
              </a:rPr>
              <a:t>件</a:t>
            </a:r>
            <a:r>
              <a:rPr kumimoji="1" lang="en-US" altLang="ja-JP" sz="1200" dirty="0">
                <a:solidFill>
                  <a:schemeClr val="tx1"/>
                </a:solidFill>
              </a:rPr>
              <a:t>/</a:t>
            </a:r>
            <a:r>
              <a:rPr lang="ja-JP" altLang="en-US" sz="1200" dirty="0">
                <a:solidFill>
                  <a:schemeClr val="tx1"/>
                </a:solidFill>
              </a:rPr>
              <a:t>日</a:t>
            </a:r>
            <a:endParaRPr kumimoji="1" lang="ja-JP" altLang="en-US" sz="1200" dirty="0">
              <a:solidFill>
                <a:schemeClr val="tx1"/>
              </a:solidFill>
            </a:endParaRPr>
          </a:p>
        </p:txBody>
      </p:sp>
      <p:sp>
        <p:nvSpPr>
          <p:cNvPr id="101" name="四角形: 角を丸くする 100">
            <a:extLst>
              <a:ext uri="{FF2B5EF4-FFF2-40B4-BE49-F238E27FC236}">
                <a16:creationId xmlns:a16="http://schemas.microsoft.com/office/drawing/2014/main" id="{632619DD-87F9-6184-0C9E-55B1EE5DD086}"/>
              </a:ext>
            </a:extLst>
          </p:cNvPr>
          <p:cNvSpPr/>
          <p:nvPr/>
        </p:nvSpPr>
        <p:spPr>
          <a:xfrm>
            <a:off x="4429532" y="1543626"/>
            <a:ext cx="1375621"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50</a:t>
            </a:r>
            <a:r>
              <a:rPr kumimoji="1" lang="ja-JP" altLang="en-US" sz="1200" b="1" dirty="0">
                <a:solidFill>
                  <a:schemeClr val="tx1"/>
                </a:solidFill>
              </a:rPr>
              <a:t>％</a:t>
            </a:r>
            <a:endParaRPr kumimoji="1" lang="ja-JP" altLang="en-US" sz="1200" dirty="0">
              <a:solidFill>
                <a:schemeClr val="tx1"/>
              </a:solidFill>
            </a:endParaRPr>
          </a:p>
        </p:txBody>
      </p:sp>
      <p:sp>
        <p:nvSpPr>
          <p:cNvPr id="102" name="四角形: 角を丸くする 101">
            <a:extLst>
              <a:ext uri="{FF2B5EF4-FFF2-40B4-BE49-F238E27FC236}">
                <a16:creationId xmlns:a16="http://schemas.microsoft.com/office/drawing/2014/main" id="{EC20ACFF-F47A-E0FE-AD4B-751A2F9312FB}"/>
              </a:ext>
            </a:extLst>
          </p:cNvPr>
          <p:cNvSpPr/>
          <p:nvPr/>
        </p:nvSpPr>
        <p:spPr>
          <a:xfrm>
            <a:off x="7420962" y="1543626"/>
            <a:ext cx="1375621"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latin typeface="Meiryo UI" panose="020B0604030504040204" pitchFamily="50" charset="-128"/>
                <a:ea typeface="Meiryo UI" panose="020B0604030504040204" pitchFamily="50" charset="-128"/>
              </a:rPr>
              <a:t>30</a:t>
            </a:r>
            <a:r>
              <a:rPr kumimoji="1" lang="ja-JP" altLang="en-US" sz="1200" dirty="0">
                <a:solidFill>
                  <a:schemeClr val="tx1"/>
                </a:solidFill>
                <a:latin typeface="Meiryo UI" panose="020B0604030504040204" pitchFamily="50" charset="-128"/>
                <a:ea typeface="Meiryo UI" panose="020B0604030504040204" pitchFamily="50" charset="-128"/>
              </a:rPr>
              <a:t>件</a:t>
            </a:r>
            <a:r>
              <a:rPr kumimoji="1" lang="en-US" altLang="ja-JP" sz="1200" dirty="0">
                <a:solidFill>
                  <a:schemeClr val="tx1"/>
                </a:solidFill>
                <a:latin typeface="Meiryo UI" panose="020B0604030504040204" pitchFamily="50" charset="-128"/>
                <a:ea typeface="Meiryo UI" panose="020B0604030504040204" pitchFamily="50" charset="-128"/>
              </a:rPr>
              <a:t>/</a:t>
            </a:r>
            <a:r>
              <a:rPr lang="ja-JP" altLang="en-US" sz="1200" dirty="0">
                <a:solidFill>
                  <a:schemeClr val="tx1"/>
                </a:solidFill>
              </a:rPr>
              <a:t>日</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03" name="正方形/長方形 102">
            <a:extLst>
              <a:ext uri="{FF2B5EF4-FFF2-40B4-BE49-F238E27FC236}">
                <a16:creationId xmlns:a16="http://schemas.microsoft.com/office/drawing/2014/main" id="{D0893487-F09C-14DE-6F95-1E090FDC4C5A}"/>
              </a:ext>
            </a:extLst>
          </p:cNvPr>
          <p:cNvSpPr/>
          <p:nvPr/>
        </p:nvSpPr>
        <p:spPr>
          <a:xfrm>
            <a:off x="5925247" y="1030510"/>
            <a:ext cx="1375621"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平均受注単価</a:t>
            </a:r>
          </a:p>
        </p:txBody>
      </p:sp>
      <p:sp>
        <p:nvSpPr>
          <p:cNvPr id="104" name="四角形: 角を丸くする 103">
            <a:extLst>
              <a:ext uri="{FF2B5EF4-FFF2-40B4-BE49-F238E27FC236}">
                <a16:creationId xmlns:a16="http://schemas.microsoft.com/office/drawing/2014/main" id="{12D9C0B0-788F-3524-C9DD-32D260E02782}"/>
              </a:ext>
            </a:extLst>
          </p:cNvPr>
          <p:cNvSpPr/>
          <p:nvPr/>
        </p:nvSpPr>
        <p:spPr>
          <a:xfrm>
            <a:off x="5925247" y="1543626"/>
            <a:ext cx="1375621"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20</a:t>
            </a:r>
            <a:r>
              <a:rPr kumimoji="1" lang="ja-JP" altLang="en-US" b="1" dirty="0">
                <a:solidFill>
                  <a:schemeClr val="tx1"/>
                </a:solidFill>
              </a:rPr>
              <a:t>万</a:t>
            </a:r>
            <a:r>
              <a:rPr kumimoji="1" lang="ja-JP" altLang="en-US" sz="1000" dirty="0">
                <a:solidFill>
                  <a:schemeClr val="tx1"/>
                </a:solidFill>
              </a:rPr>
              <a:t>円</a:t>
            </a:r>
            <a:r>
              <a:rPr kumimoji="1" lang="en-US" altLang="ja-JP" sz="1000" dirty="0">
                <a:solidFill>
                  <a:schemeClr val="tx1"/>
                </a:solidFill>
              </a:rPr>
              <a:t>/</a:t>
            </a:r>
            <a:r>
              <a:rPr kumimoji="1" lang="ja-JP" altLang="en-US" sz="1000" dirty="0">
                <a:solidFill>
                  <a:schemeClr val="tx1"/>
                </a:solidFill>
              </a:rPr>
              <a:t>件</a:t>
            </a:r>
          </a:p>
        </p:txBody>
      </p:sp>
      <p:sp>
        <p:nvSpPr>
          <p:cNvPr id="185" name="正方形/長方形 184">
            <a:extLst>
              <a:ext uri="{FF2B5EF4-FFF2-40B4-BE49-F238E27FC236}">
                <a16:creationId xmlns:a16="http://schemas.microsoft.com/office/drawing/2014/main" id="{99ED4BC4-D536-319C-6275-93EC2F840F9F}"/>
              </a:ext>
            </a:extLst>
          </p:cNvPr>
          <p:cNvSpPr/>
          <p:nvPr/>
        </p:nvSpPr>
        <p:spPr>
          <a:xfrm>
            <a:off x="8916677" y="1030510"/>
            <a:ext cx="1375621"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不動産査定件数</a:t>
            </a:r>
          </a:p>
        </p:txBody>
      </p:sp>
      <p:sp>
        <p:nvSpPr>
          <p:cNvPr id="186" name="四角形: 角を丸くする 185">
            <a:extLst>
              <a:ext uri="{FF2B5EF4-FFF2-40B4-BE49-F238E27FC236}">
                <a16:creationId xmlns:a16="http://schemas.microsoft.com/office/drawing/2014/main" id="{3C21F3D6-E51E-94F8-CD2A-ADDF98751901}"/>
              </a:ext>
            </a:extLst>
          </p:cNvPr>
          <p:cNvSpPr/>
          <p:nvPr/>
        </p:nvSpPr>
        <p:spPr>
          <a:xfrm>
            <a:off x="8916677" y="1543626"/>
            <a:ext cx="1375621"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chemeClr val="tx1"/>
                </a:solidFill>
                <a:latin typeface="Meiryo UI" panose="020B0604030504040204" pitchFamily="50" charset="-128"/>
                <a:ea typeface="Meiryo UI" panose="020B0604030504040204" pitchFamily="50" charset="-128"/>
              </a:rPr>
              <a:t>20</a:t>
            </a:r>
            <a:r>
              <a:rPr lang="ja-JP" altLang="en-US" sz="1200" dirty="0">
                <a:solidFill>
                  <a:schemeClr val="tx1"/>
                </a:solidFill>
                <a:latin typeface="Meiryo UI" panose="020B0604030504040204" pitchFamily="50" charset="-128"/>
                <a:ea typeface="Meiryo UI" panose="020B0604030504040204" pitchFamily="50" charset="-128"/>
              </a:rPr>
              <a:t>件</a:t>
            </a:r>
            <a:r>
              <a:rPr lang="en-US" altLang="ja-JP" sz="1200" dirty="0">
                <a:solidFill>
                  <a:schemeClr val="tx1"/>
                </a:solidFill>
                <a:latin typeface="Meiryo UI" panose="020B0604030504040204" pitchFamily="50" charset="-128"/>
                <a:ea typeface="Meiryo UI" panose="020B0604030504040204" pitchFamily="50" charset="-128"/>
              </a:rPr>
              <a:t>/</a:t>
            </a:r>
            <a:r>
              <a:rPr lang="ja-JP" altLang="en-US" sz="1200" dirty="0">
                <a:solidFill>
                  <a:schemeClr val="tx1"/>
                </a:solidFill>
              </a:rPr>
              <a:t>日</a:t>
            </a:r>
            <a:endParaRPr lang="ja-JP" altLang="en-US" sz="1200" dirty="0">
              <a:solidFill>
                <a:schemeClr val="tx1"/>
              </a:solidFill>
              <a:latin typeface="Meiryo UI" panose="020B0604030504040204" pitchFamily="50" charset="-128"/>
              <a:ea typeface="Meiryo UI" panose="020B0604030504040204" pitchFamily="50" charset="-128"/>
            </a:endParaRPr>
          </a:p>
        </p:txBody>
      </p:sp>
      <p:sp>
        <p:nvSpPr>
          <p:cNvPr id="123" name="正方形/長方形 122">
            <a:extLst>
              <a:ext uri="{FF2B5EF4-FFF2-40B4-BE49-F238E27FC236}">
                <a16:creationId xmlns:a16="http://schemas.microsoft.com/office/drawing/2014/main" id="{D73ED611-E269-B018-8A08-F12CC7D673DF}"/>
              </a:ext>
            </a:extLst>
          </p:cNvPr>
          <p:cNvSpPr/>
          <p:nvPr/>
        </p:nvSpPr>
        <p:spPr>
          <a:xfrm>
            <a:off x="4313582" y="3599498"/>
            <a:ext cx="895251" cy="4722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当月面談数</a:t>
            </a:r>
          </a:p>
        </p:txBody>
      </p:sp>
      <p:sp>
        <p:nvSpPr>
          <p:cNvPr id="124" name="正方形/長方形 123">
            <a:extLst>
              <a:ext uri="{FF2B5EF4-FFF2-40B4-BE49-F238E27FC236}">
                <a16:creationId xmlns:a16="http://schemas.microsoft.com/office/drawing/2014/main" id="{7B499EB1-24F2-E56D-3549-B04E86173631}"/>
              </a:ext>
            </a:extLst>
          </p:cNvPr>
          <p:cNvSpPr/>
          <p:nvPr/>
        </p:nvSpPr>
        <p:spPr>
          <a:xfrm>
            <a:off x="5278994" y="3599496"/>
            <a:ext cx="895251" cy="4722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当月新規受注件数</a:t>
            </a:r>
          </a:p>
        </p:txBody>
      </p:sp>
      <p:sp>
        <p:nvSpPr>
          <p:cNvPr id="125" name="正方形/長方形 124">
            <a:extLst>
              <a:ext uri="{FF2B5EF4-FFF2-40B4-BE49-F238E27FC236}">
                <a16:creationId xmlns:a16="http://schemas.microsoft.com/office/drawing/2014/main" id="{7592EEBD-6536-2A69-2BF9-A6A720BE9426}"/>
              </a:ext>
            </a:extLst>
          </p:cNvPr>
          <p:cNvSpPr/>
          <p:nvPr/>
        </p:nvSpPr>
        <p:spPr>
          <a:xfrm>
            <a:off x="6244407" y="3599493"/>
            <a:ext cx="895251" cy="4722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受注率</a:t>
            </a:r>
          </a:p>
        </p:txBody>
      </p:sp>
      <p:sp>
        <p:nvSpPr>
          <p:cNvPr id="126" name="正方形/長方形 125">
            <a:extLst>
              <a:ext uri="{FF2B5EF4-FFF2-40B4-BE49-F238E27FC236}">
                <a16:creationId xmlns:a16="http://schemas.microsoft.com/office/drawing/2014/main" id="{F0FEB4AE-68E4-42D6-FBFD-3861EC4B9C27}"/>
              </a:ext>
            </a:extLst>
          </p:cNvPr>
          <p:cNvSpPr/>
          <p:nvPr/>
        </p:nvSpPr>
        <p:spPr>
          <a:xfrm>
            <a:off x="7209817" y="3599491"/>
            <a:ext cx="895251" cy="4722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平均受注単価</a:t>
            </a:r>
          </a:p>
        </p:txBody>
      </p:sp>
      <p:sp>
        <p:nvSpPr>
          <p:cNvPr id="132" name="正方形/長方形 131">
            <a:extLst>
              <a:ext uri="{FF2B5EF4-FFF2-40B4-BE49-F238E27FC236}">
                <a16:creationId xmlns:a16="http://schemas.microsoft.com/office/drawing/2014/main" id="{A37E69D8-88FD-A9F9-D9C3-7D9702327708}"/>
              </a:ext>
            </a:extLst>
          </p:cNvPr>
          <p:cNvSpPr/>
          <p:nvPr/>
        </p:nvSpPr>
        <p:spPr>
          <a:xfrm>
            <a:off x="4313582" y="4208862"/>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133" name="正方形/長方形 132">
            <a:extLst>
              <a:ext uri="{FF2B5EF4-FFF2-40B4-BE49-F238E27FC236}">
                <a16:creationId xmlns:a16="http://schemas.microsoft.com/office/drawing/2014/main" id="{5801EE32-752B-DE94-89E5-0A01E91DD096}"/>
              </a:ext>
            </a:extLst>
          </p:cNvPr>
          <p:cNvSpPr/>
          <p:nvPr/>
        </p:nvSpPr>
        <p:spPr>
          <a:xfrm>
            <a:off x="5278994" y="4208860"/>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134" name="正方形/長方形 133">
            <a:extLst>
              <a:ext uri="{FF2B5EF4-FFF2-40B4-BE49-F238E27FC236}">
                <a16:creationId xmlns:a16="http://schemas.microsoft.com/office/drawing/2014/main" id="{B26846FD-6371-D79F-5ADC-82303C11C967}"/>
              </a:ext>
            </a:extLst>
          </p:cNvPr>
          <p:cNvSpPr/>
          <p:nvPr/>
        </p:nvSpPr>
        <p:spPr>
          <a:xfrm>
            <a:off x="6244407" y="4208859"/>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135" name="正方形/長方形 134">
            <a:extLst>
              <a:ext uri="{FF2B5EF4-FFF2-40B4-BE49-F238E27FC236}">
                <a16:creationId xmlns:a16="http://schemas.microsoft.com/office/drawing/2014/main" id="{218F4ABD-0438-CAD9-70E7-0581C52CD30B}"/>
              </a:ext>
            </a:extLst>
          </p:cNvPr>
          <p:cNvSpPr/>
          <p:nvPr/>
        </p:nvSpPr>
        <p:spPr>
          <a:xfrm>
            <a:off x="7209817" y="4208858"/>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144" name="正方形/長方形 143">
            <a:extLst>
              <a:ext uri="{FF2B5EF4-FFF2-40B4-BE49-F238E27FC236}">
                <a16:creationId xmlns:a16="http://schemas.microsoft.com/office/drawing/2014/main" id="{8BEC6312-0B1F-1ED5-208B-07B2011162FD}"/>
              </a:ext>
            </a:extLst>
          </p:cNvPr>
          <p:cNvSpPr/>
          <p:nvPr/>
        </p:nvSpPr>
        <p:spPr>
          <a:xfrm>
            <a:off x="4313582" y="4768675"/>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145" name="正方形/長方形 144">
            <a:extLst>
              <a:ext uri="{FF2B5EF4-FFF2-40B4-BE49-F238E27FC236}">
                <a16:creationId xmlns:a16="http://schemas.microsoft.com/office/drawing/2014/main" id="{0341B166-C589-F734-86B7-4551E8C48EEC}"/>
              </a:ext>
            </a:extLst>
          </p:cNvPr>
          <p:cNvSpPr/>
          <p:nvPr/>
        </p:nvSpPr>
        <p:spPr>
          <a:xfrm>
            <a:off x="5278994" y="4768674"/>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146" name="正方形/長方形 145">
            <a:extLst>
              <a:ext uri="{FF2B5EF4-FFF2-40B4-BE49-F238E27FC236}">
                <a16:creationId xmlns:a16="http://schemas.microsoft.com/office/drawing/2014/main" id="{F5945B4C-1211-21AC-F853-ADE59C75416F}"/>
              </a:ext>
            </a:extLst>
          </p:cNvPr>
          <p:cNvSpPr/>
          <p:nvPr/>
        </p:nvSpPr>
        <p:spPr>
          <a:xfrm>
            <a:off x="6244407" y="4768673"/>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147" name="正方形/長方形 146">
            <a:extLst>
              <a:ext uri="{FF2B5EF4-FFF2-40B4-BE49-F238E27FC236}">
                <a16:creationId xmlns:a16="http://schemas.microsoft.com/office/drawing/2014/main" id="{211E803E-19B8-9DC0-92E7-7BAA0DAB545E}"/>
              </a:ext>
            </a:extLst>
          </p:cNvPr>
          <p:cNvSpPr/>
          <p:nvPr/>
        </p:nvSpPr>
        <p:spPr>
          <a:xfrm>
            <a:off x="7209817" y="4768672"/>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156" name="正方形/長方形 155">
            <a:extLst>
              <a:ext uri="{FF2B5EF4-FFF2-40B4-BE49-F238E27FC236}">
                <a16:creationId xmlns:a16="http://schemas.microsoft.com/office/drawing/2014/main" id="{CD9599E3-6447-91A6-7BD8-5228DD2110BF}"/>
              </a:ext>
            </a:extLst>
          </p:cNvPr>
          <p:cNvSpPr/>
          <p:nvPr/>
        </p:nvSpPr>
        <p:spPr>
          <a:xfrm>
            <a:off x="4313582" y="5328489"/>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157" name="正方形/長方形 156">
            <a:extLst>
              <a:ext uri="{FF2B5EF4-FFF2-40B4-BE49-F238E27FC236}">
                <a16:creationId xmlns:a16="http://schemas.microsoft.com/office/drawing/2014/main" id="{CA770A5B-8E3D-E2D5-369F-27B6AE21DF1C}"/>
              </a:ext>
            </a:extLst>
          </p:cNvPr>
          <p:cNvSpPr/>
          <p:nvPr/>
        </p:nvSpPr>
        <p:spPr>
          <a:xfrm>
            <a:off x="5278994" y="5328488"/>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158" name="正方形/長方形 157">
            <a:extLst>
              <a:ext uri="{FF2B5EF4-FFF2-40B4-BE49-F238E27FC236}">
                <a16:creationId xmlns:a16="http://schemas.microsoft.com/office/drawing/2014/main" id="{2F5E4951-BC47-E8E5-69D7-C4B810A6D6CC}"/>
              </a:ext>
            </a:extLst>
          </p:cNvPr>
          <p:cNvSpPr/>
          <p:nvPr/>
        </p:nvSpPr>
        <p:spPr>
          <a:xfrm>
            <a:off x="6244407" y="5328487"/>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159" name="正方形/長方形 158">
            <a:extLst>
              <a:ext uri="{FF2B5EF4-FFF2-40B4-BE49-F238E27FC236}">
                <a16:creationId xmlns:a16="http://schemas.microsoft.com/office/drawing/2014/main" id="{BA5C607F-1D44-1AC1-E61A-B71709E362F8}"/>
              </a:ext>
            </a:extLst>
          </p:cNvPr>
          <p:cNvSpPr/>
          <p:nvPr/>
        </p:nvSpPr>
        <p:spPr>
          <a:xfrm>
            <a:off x="7209817" y="5328485"/>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168" name="正方形/長方形 167">
            <a:extLst>
              <a:ext uri="{FF2B5EF4-FFF2-40B4-BE49-F238E27FC236}">
                <a16:creationId xmlns:a16="http://schemas.microsoft.com/office/drawing/2014/main" id="{DD59BA41-EBD4-5165-1539-C72CFE3068F9}"/>
              </a:ext>
            </a:extLst>
          </p:cNvPr>
          <p:cNvSpPr/>
          <p:nvPr/>
        </p:nvSpPr>
        <p:spPr>
          <a:xfrm>
            <a:off x="4313582" y="5888303"/>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169" name="正方形/長方形 168">
            <a:extLst>
              <a:ext uri="{FF2B5EF4-FFF2-40B4-BE49-F238E27FC236}">
                <a16:creationId xmlns:a16="http://schemas.microsoft.com/office/drawing/2014/main" id="{3CB5E0DC-1186-E1EE-C126-454EEFE49672}"/>
              </a:ext>
            </a:extLst>
          </p:cNvPr>
          <p:cNvSpPr/>
          <p:nvPr/>
        </p:nvSpPr>
        <p:spPr>
          <a:xfrm>
            <a:off x="5278994" y="5888302"/>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170" name="正方形/長方形 169">
            <a:extLst>
              <a:ext uri="{FF2B5EF4-FFF2-40B4-BE49-F238E27FC236}">
                <a16:creationId xmlns:a16="http://schemas.microsoft.com/office/drawing/2014/main" id="{305A3306-69E0-7D2E-7600-EB57269B6B35}"/>
              </a:ext>
            </a:extLst>
          </p:cNvPr>
          <p:cNvSpPr/>
          <p:nvPr/>
        </p:nvSpPr>
        <p:spPr>
          <a:xfrm>
            <a:off x="6244407" y="5888300"/>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171" name="正方形/長方形 170">
            <a:extLst>
              <a:ext uri="{FF2B5EF4-FFF2-40B4-BE49-F238E27FC236}">
                <a16:creationId xmlns:a16="http://schemas.microsoft.com/office/drawing/2014/main" id="{FC879E91-A2C6-1B86-DE60-0DA1685E2F47}"/>
              </a:ext>
            </a:extLst>
          </p:cNvPr>
          <p:cNvSpPr/>
          <p:nvPr/>
        </p:nvSpPr>
        <p:spPr>
          <a:xfrm>
            <a:off x="7209817" y="5888299"/>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204" name="正方形/長方形 203">
            <a:extLst>
              <a:ext uri="{FF2B5EF4-FFF2-40B4-BE49-F238E27FC236}">
                <a16:creationId xmlns:a16="http://schemas.microsoft.com/office/drawing/2014/main" id="{5EA663EE-EBED-E40D-4A11-0470F3F2C8C6}"/>
              </a:ext>
            </a:extLst>
          </p:cNvPr>
          <p:cNvSpPr/>
          <p:nvPr/>
        </p:nvSpPr>
        <p:spPr>
          <a:xfrm>
            <a:off x="8175227" y="3599498"/>
            <a:ext cx="895251" cy="4722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900" dirty="0">
                <a:solidFill>
                  <a:schemeClr val="tx1"/>
                </a:solidFill>
                <a:latin typeface="Meiryo UI" panose="020B0604030504040204" pitchFamily="50" charset="-128"/>
                <a:ea typeface="Meiryo UI" panose="020B0604030504040204" pitchFamily="50" charset="-128"/>
              </a:rPr>
              <a:t>業務完了予定件数</a:t>
            </a:r>
          </a:p>
        </p:txBody>
      </p:sp>
      <p:sp>
        <p:nvSpPr>
          <p:cNvPr id="205" name="正方形/長方形 204">
            <a:extLst>
              <a:ext uri="{FF2B5EF4-FFF2-40B4-BE49-F238E27FC236}">
                <a16:creationId xmlns:a16="http://schemas.microsoft.com/office/drawing/2014/main" id="{835F8AF1-A211-9BEC-31E6-FBC7E835A3BD}"/>
              </a:ext>
            </a:extLst>
          </p:cNvPr>
          <p:cNvSpPr/>
          <p:nvPr/>
        </p:nvSpPr>
        <p:spPr>
          <a:xfrm>
            <a:off x="9140639" y="3599496"/>
            <a:ext cx="895251" cy="4722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900" dirty="0">
                <a:solidFill>
                  <a:schemeClr val="tx1"/>
                </a:solidFill>
                <a:latin typeface="Meiryo UI" panose="020B0604030504040204" pitchFamily="50" charset="-128"/>
                <a:ea typeface="Meiryo UI" panose="020B0604030504040204" pitchFamily="50" charset="-128"/>
              </a:rPr>
              <a:t>業務完了件数</a:t>
            </a:r>
          </a:p>
        </p:txBody>
      </p:sp>
      <p:sp>
        <p:nvSpPr>
          <p:cNvPr id="206" name="正方形/長方形 205">
            <a:extLst>
              <a:ext uri="{FF2B5EF4-FFF2-40B4-BE49-F238E27FC236}">
                <a16:creationId xmlns:a16="http://schemas.microsoft.com/office/drawing/2014/main" id="{069334B9-AFB9-C82B-95C9-C104E613C258}"/>
              </a:ext>
            </a:extLst>
          </p:cNvPr>
          <p:cNvSpPr/>
          <p:nvPr/>
        </p:nvSpPr>
        <p:spPr>
          <a:xfrm>
            <a:off x="10106052" y="3599493"/>
            <a:ext cx="895251" cy="4722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zh-TW" altLang="en-US" sz="900" dirty="0">
                <a:solidFill>
                  <a:schemeClr val="tx1"/>
                </a:solidFill>
                <a:latin typeface="Meiryo UI" panose="020B0604030504040204" pitchFamily="50" charset="-128"/>
                <a:ea typeface="Meiryo UI" panose="020B0604030504040204" pitchFamily="50" charset="-128"/>
              </a:rPr>
              <a:t>業務完了金額</a:t>
            </a:r>
          </a:p>
        </p:txBody>
      </p:sp>
      <p:sp>
        <p:nvSpPr>
          <p:cNvPr id="207" name="正方形/長方形 206">
            <a:extLst>
              <a:ext uri="{FF2B5EF4-FFF2-40B4-BE49-F238E27FC236}">
                <a16:creationId xmlns:a16="http://schemas.microsoft.com/office/drawing/2014/main" id="{CA202557-1669-AA49-86F2-79030635F7A5}"/>
              </a:ext>
            </a:extLst>
          </p:cNvPr>
          <p:cNvSpPr/>
          <p:nvPr/>
        </p:nvSpPr>
        <p:spPr>
          <a:xfrm>
            <a:off x="11071462" y="3599491"/>
            <a:ext cx="895251" cy="472293"/>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900" dirty="0">
                <a:solidFill>
                  <a:schemeClr val="tx1"/>
                </a:solidFill>
                <a:latin typeface="Meiryo UI" panose="020B0604030504040204" pitchFamily="50" charset="-128"/>
                <a:ea typeface="Meiryo UI" panose="020B0604030504040204" pitchFamily="50" charset="-128"/>
              </a:rPr>
              <a:t>平均サイクル</a:t>
            </a:r>
          </a:p>
        </p:txBody>
      </p:sp>
      <p:sp>
        <p:nvSpPr>
          <p:cNvPr id="208" name="正方形/長方形 207">
            <a:extLst>
              <a:ext uri="{FF2B5EF4-FFF2-40B4-BE49-F238E27FC236}">
                <a16:creationId xmlns:a16="http://schemas.microsoft.com/office/drawing/2014/main" id="{052B7415-D535-91A3-DA8B-7CD8DCB6FE59}"/>
              </a:ext>
            </a:extLst>
          </p:cNvPr>
          <p:cNvSpPr/>
          <p:nvPr/>
        </p:nvSpPr>
        <p:spPr>
          <a:xfrm>
            <a:off x="8175227" y="4208862"/>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209" name="正方形/長方形 208">
            <a:extLst>
              <a:ext uri="{FF2B5EF4-FFF2-40B4-BE49-F238E27FC236}">
                <a16:creationId xmlns:a16="http://schemas.microsoft.com/office/drawing/2014/main" id="{4FB979F6-A051-9687-CE78-829C53FBB778}"/>
              </a:ext>
            </a:extLst>
          </p:cNvPr>
          <p:cNvSpPr/>
          <p:nvPr/>
        </p:nvSpPr>
        <p:spPr>
          <a:xfrm>
            <a:off x="9140639" y="4208860"/>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210" name="正方形/長方形 209">
            <a:extLst>
              <a:ext uri="{FF2B5EF4-FFF2-40B4-BE49-F238E27FC236}">
                <a16:creationId xmlns:a16="http://schemas.microsoft.com/office/drawing/2014/main" id="{40D7F310-0FC7-0EBC-B7E8-1D5E1AB5E8E0}"/>
              </a:ext>
            </a:extLst>
          </p:cNvPr>
          <p:cNvSpPr/>
          <p:nvPr/>
        </p:nvSpPr>
        <p:spPr>
          <a:xfrm>
            <a:off x="10106052" y="4208859"/>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211" name="正方形/長方形 210">
            <a:extLst>
              <a:ext uri="{FF2B5EF4-FFF2-40B4-BE49-F238E27FC236}">
                <a16:creationId xmlns:a16="http://schemas.microsoft.com/office/drawing/2014/main" id="{2E87CE61-28DE-176A-ABF8-9BB9BDB262E2}"/>
              </a:ext>
            </a:extLst>
          </p:cNvPr>
          <p:cNvSpPr/>
          <p:nvPr/>
        </p:nvSpPr>
        <p:spPr>
          <a:xfrm>
            <a:off x="11071462" y="4208858"/>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212" name="正方形/長方形 211">
            <a:extLst>
              <a:ext uri="{FF2B5EF4-FFF2-40B4-BE49-F238E27FC236}">
                <a16:creationId xmlns:a16="http://schemas.microsoft.com/office/drawing/2014/main" id="{217BF877-5330-DCEF-E7D8-254AF188B2AE}"/>
              </a:ext>
            </a:extLst>
          </p:cNvPr>
          <p:cNvSpPr/>
          <p:nvPr/>
        </p:nvSpPr>
        <p:spPr>
          <a:xfrm>
            <a:off x="8175227" y="4768675"/>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213" name="正方形/長方形 212">
            <a:extLst>
              <a:ext uri="{FF2B5EF4-FFF2-40B4-BE49-F238E27FC236}">
                <a16:creationId xmlns:a16="http://schemas.microsoft.com/office/drawing/2014/main" id="{E0C708C0-A39F-4D46-7DA1-E8D0DA84F4BF}"/>
              </a:ext>
            </a:extLst>
          </p:cNvPr>
          <p:cNvSpPr/>
          <p:nvPr/>
        </p:nvSpPr>
        <p:spPr>
          <a:xfrm>
            <a:off x="9140639" y="4768674"/>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214" name="正方形/長方形 213">
            <a:extLst>
              <a:ext uri="{FF2B5EF4-FFF2-40B4-BE49-F238E27FC236}">
                <a16:creationId xmlns:a16="http://schemas.microsoft.com/office/drawing/2014/main" id="{F1510680-26B4-E79A-2BD9-31B7302C94B2}"/>
              </a:ext>
            </a:extLst>
          </p:cNvPr>
          <p:cNvSpPr/>
          <p:nvPr/>
        </p:nvSpPr>
        <p:spPr>
          <a:xfrm>
            <a:off x="10106052" y="4768673"/>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215" name="正方形/長方形 214">
            <a:extLst>
              <a:ext uri="{FF2B5EF4-FFF2-40B4-BE49-F238E27FC236}">
                <a16:creationId xmlns:a16="http://schemas.microsoft.com/office/drawing/2014/main" id="{DDF9DA04-2A27-00D0-AA67-1F63CD4AD9D3}"/>
              </a:ext>
            </a:extLst>
          </p:cNvPr>
          <p:cNvSpPr/>
          <p:nvPr/>
        </p:nvSpPr>
        <p:spPr>
          <a:xfrm>
            <a:off x="11071462" y="4768672"/>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216" name="正方形/長方形 215">
            <a:extLst>
              <a:ext uri="{FF2B5EF4-FFF2-40B4-BE49-F238E27FC236}">
                <a16:creationId xmlns:a16="http://schemas.microsoft.com/office/drawing/2014/main" id="{40900594-5F7A-1C87-267E-0EDD123B9005}"/>
              </a:ext>
            </a:extLst>
          </p:cNvPr>
          <p:cNvSpPr/>
          <p:nvPr/>
        </p:nvSpPr>
        <p:spPr>
          <a:xfrm>
            <a:off x="8175227" y="5328489"/>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217" name="正方形/長方形 216">
            <a:extLst>
              <a:ext uri="{FF2B5EF4-FFF2-40B4-BE49-F238E27FC236}">
                <a16:creationId xmlns:a16="http://schemas.microsoft.com/office/drawing/2014/main" id="{F2654E74-1178-DE9E-4556-53FF259B9D52}"/>
              </a:ext>
            </a:extLst>
          </p:cNvPr>
          <p:cNvSpPr/>
          <p:nvPr/>
        </p:nvSpPr>
        <p:spPr>
          <a:xfrm>
            <a:off x="9140639" y="5328488"/>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218" name="正方形/長方形 217">
            <a:extLst>
              <a:ext uri="{FF2B5EF4-FFF2-40B4-BE49-F238E27FC236}">
                <a16:creationId xmlns:a16="http://schemas.microsoft.com/office/drawing/2014/main" id="{0B0F0625-6359-B77C-56AB-FDED7A29ECEF}"/>
              </a:ext>
            </a:extLst>
          </p:cNvPr>
          <p:cNvSpPr/>
          <p:nvPr/>
        </p:nvSpPr>
        <p:spPr>
          <a:xfrm>
            <a:off x="10106052" y="5328487"/>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219" name="正方形/長方形 218">
            <a:extLst>
              <a:ext uri="{FF2B5EF4-FFF2-40B4-BE49-F238E27FC236}">
                <a16:creationId xmlns:a16="http://schemas.microsoft.com/office/drawing/2014/main" id="{6963D965-24AB-4118-DBB6-EE76AC46D162}"/>
              </a:ext>
            </a:extLst>
          </p:cNvPr>
          <p:cNvSpPr/>
          <p:nvPr/>
        </p:nvSpPr>
        <p:spPr>
          <a:xfrm>
            <a:off x="11071462" y="5328485"/>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220" name="正方形/長方形 219">
            <a:extLst>
              <a:ext uri="{FF2B5EF4-FFF2-40B4-BE49-F238E27FC236}">
                <a16:creationId xmlns:a16="http://schemas.microsoft.com/office/drawing/2014/main" id="{EB8BE5BA-129E-DE5E-645C-7231DBD4FDD4}"/>
              </a:ext>
            </a:extLst>
          </p:cNvPr>
          <p:cNvSpPr/>
          <p:nvPr/>
        </p:nvSpPr>
        <p:spPr>
          <a:xfrm>
            <a:off x="8175227" y="5888303"/>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7</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221" name="正方形/長方形 220">
            <a:extLst>
              <a:ext uri="{FF2B5EF4-FFF2-40B4-BE49-F238E27FC236}">
                <a16:creationId xmlns:a16="http://schemas.microsoft.com/office/drawing/2014/main" id="{F0A80279-2C2C-6AE3-5B2F-46B7DBB50969}"/>
              </a:ext>
            </a:extLst>
          </p:cNvPr>
          <p:cNvSpPr/>
          <p:nvPr/>
        </p:nvSpPr>
        <p:spPr>
          <a:xfrm>
            <a:off x="9140639" y="5888302"/>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50</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222" name="正方形/長方形 221">
            <a:extLst>
              <a:ext uri="{FF2B5EF4-FFF2-40B4-BE49-F238E27FC236}">
                <a16:creationId xmlns:a16="http://schemas.microsoft.com/office/drawing/2014/main" id="{D32CD8F6-349D-D2A2-7C58-8A971BA48134}"/>
              </a:ext>
            </a:extLst>
          </p:cNvPr>
          <p:cNvSpPr/>
          <p:nvPr/>
        </p:nvSpPr>
        <p:spPr>
          <a:xfrm>
            <a:off x="10106052" y="5888300"/>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5</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223" name="正方形/長方形 222">
            <a:extLst>
              <a:ext uri="{FF2B5EF4-FFF2-40B4-BE49-F238E27FC236}">
                <a16:creationId xmlns:a16="http://schemas.microsoft.com/office/drawing/2014/main" id="{F5BE5C48-719F-765D-1900-E5E91EB28F04}"/>
              </a:ext>
            </a:extLst>
          </p:cNvPr>
          <p:cNvSpPr/>
          <p:nvPr/>
        </p:nvSpPr>
        <p:spPr>
          <a:xfrm>
            <a:off x="11071462" y="5888299"/>
            <a:ext cx="895251" cy="48194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900" dirty="0">
                <a:solidFill>
                  <a:schemeClr val="tx1"/>
                </a:solidFill>
                <a:latin typeface="Meiryo UI" panose="020B0604030504040204" pitchFamily="50" charset="-128"/>
                <a:ea typeface="Meiryo UI" panose="020B0604030504040204" pitchFamily="50" charset="-128"/>
              </a:rPr>
              <a:t>4.3</a:t>
            </a:r>
            <a:endParaRPr lang="ja-JP" altLang="en-US" sz="900" dirty="0">
              <a:solidFill>
                <a:schemeClr val="tx1"/>
              </a:solidFill>
              <a:latin typeface="Meiryo UI" panose="020B0604030504040204" pitchFamily="50" charset="-128"/>
              <a:ea typeface="Meiryo UI" panose="020B0604030504040204" pitchFamily="50" charset="-128"/>
            </a:endParaRPr>
          </a:p>
        </p:txBody>
      </p:sp>
      <p:sp>
        <p:nvSpPr>
          <p:cNvPr id="225" name="正方形/長方形 224">
            <a:extLst>
              <a:ext uri="{FF2B5EF4-FFF2-40B4-BE49-F238E27FC236}">
                <a16:creationId xmlns:a16="http://schemas.microsoft.com/office/drawing/2014/main" id="{6158A100-B023-8876-2CE7-EF0FAC38160D}"/>
              </a:ext>
            </a:extLst>
          </p:cNvPr>
          <p:cNvSpPr/>
          <p:nvPr/>
        </p:nvSpPr>
        <p:spPr>
          <a:xfrm>
            <a:off x="-1162763" y="4588209"/>
            <a:ext cx="1375621"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000" dirty="0">
                <a:solidFill>
                  <a:schemeClr val="tx1"/>
                </a:solidFill>
                <a:latin typeface="Meiryo UI" panose="020B0604030504040204" pitchFamily="50" charset="-128"/>
                <a:ea typeface="Meiryo UI" panose="020B0604030504040204" pitchFamily="50" charset="-128"/>
              </a:rPr>
              <a:t>チーム単位の集計値を表示して、その小計として個人の数値を出したい。</a:t>
            </a:r>
            <a:endParaRPr kumimoji="1" lang="ja-JP" altLang="en-US" sz="1000" dirty="0">
              <a:solidFill>
                <a:schemeClr val="tx1"/>
              </a:solidFill>
              <a:latin typeface="Meiryo UI" panose="020B0604030504040204" pitchFamily="50" charset="-128"/>
              <a:ea typeface="Meiryo UI" panose="020B0604030504040204" pitchFamily="50" charset="-128"/>
            </a:endParaRPr>
          </a:p>
        </p:txBody>
      </p:sp>
      <p:sp>
        <p:nvSpPr>
          <p:cNvPr id="226" name="左中かっこ 225">
            <a:extLst>
              <a:ext uri="{FF2B5EF4-FFF2-40B4-BE49-F238E27FC236}">
                <a16:creationId xmlns:a16="http://schemas.microsoft.com/office/drawing/2014/main" id="{639C69BD-F1EA-AE60-8784-63C433D25F25}"/>
              </a:ext>
            </a:extLst>
          </p:cNvPr>
          <p:cNvSpPr/>
          <p:nvPr/>
        </p:nvSpPr>
        <p:spPr>
          <a:xfrm>
            <a:off x="199751" y="3493140"/>
            <a:ext cx="227846" cy="3098434"/>
          </a:xfrm>
          <a:prstGeom prst="leftBrace">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sp>
        <p:nvSpPr>
          <p:cNvPr id="3" name="フローチャート: 端子 2">
            <a:extLst>
              <a:ext uri="{FF2B5EF4-FFF2-40B4-BE49-F238E27FC236}">
                <a16:creationId xmlns:a16="http://schemas.microsoft.com/office/drawing/2014/main" id="{FA12C664-C2A1-E4D3-03D2-47F87B51C6AC}"/>
              </a:ext>
            </a:extLst>
          </p:cNvPr>
          <p:cNvSpPr/>
          <p:nvPr/>
        </p:nvSpPr>
        <p:spPr>
          <a:xfrm>
            <a:off x="10188657" y="175287"/>
            <a:ext cx="1783486" cy="461918"/>
          </a:xfrm>
          <a:prstGeom prst="flowChartTerminator">
            <a:avLst/>
          </a:prstGeom>
          <a:solidFill>
            <a:srgbClr val="00B0F0"/>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Meiryo UI" panose="020B0604030504040204" pitchFamily="50" charset="-128"/>
                <a:ea typeface="Meiryo UI" panose="020B0604030504040204" pitchFamily="50" charset="-128"/>
              </a:rPr>
              <a:t>修正後</a:t>
            </a:r>
          </a:p>
        </p:txBody>
      </p:sp>
      <p:sp>
        <p:nvSpPr>
          <p:cNvPr id="2" name="テキスト ボックス 1">
            <a:extLst>
              <a:ext uri="{FF2B5EF4-FFF2-40B4-BE49-F238E27FC236}">
                <a16:creationId xmlns:a16="http://schemas.microsoft.com/office/drawing/2014/main" id="{CCC63331-2A1C-EB23-A603-730F207A60E5}"/>
              </a:ext>
            </a:extLst>
          </p:cNvPr>
          <p:cNvSpPr txBox="1"/>
          <p:nvPr/>
        </p:nvSpPr>
        <p:spPr>
          <a:xfrm>
            <a:off x="427597" y="368391"/>
            <a:ext cx="3147453" cy="369332"/>
          </a:xfrm>
          <a:prstGeom prst="rect">
            <a:avLst/>
          </a:prstGeom>
          <a:noFill/>
        </p:spPr>
        <p:txBody>
          <a:bodyPr wrap="square" rtlCol="0">
            <a:spAutoFit/>
          </a:bodyPr>
          <a:lstStyle/>
          <a:p>
            <a:r>
              <a:rPr kumimoji="1" lang="ja-JP" altLang="en-US" b="1" dirty="0">
                <a:latin typeface="Meiryo UI" panose="020B0604030504040204" pitchFamily="50" charset="-128"/>
                <a:ea typeface="Meiryo UI" panose="020B0604030504040204" pitchFamily="50" charset="-128"/>
              </a:rPr>
              <a:t>受注担当</a:t>
            </a:r>
            <a:r>
              <a:rPr kumimoji="1" lang="en-US" altLang="ja-JP" b="1" dirty="0">
                <a:latin typeface="Meiryo UI" panose="020B0604030504040204" pitchFamily="50" charset="-128"/>
                <a:ea typeface="Meiryo UI" panose="020B0604030504040204" pitchFamily="50" charset="-128"/>
              </a:rPr>
              <a:t>XXX</a:t>
            </a:r>
            <a:r>
              <a:rPr kumimoji="1" lang="ja-JP" altLang="en-US" b="1" dirty="0">
                <a:latin typeface="Meiryo UI" panose="020B0604030504040204" pitchFamily="50" charset="-128"/>
                <a:ea typeface="Meiryo UI" panose="020B0604030504040204" pitchFamily="50" charset="-128"/>
              </a:rPr>
              <a:t>チーム　本日</a:t>
            </a:r>
          </a:p>
        </p:txBody>
      </p:sp>
      <p:sp>
        <p:nvSpPr>
          <p:cNvPr id="4" name="正方形/長方形 3">
            <a:extLst>
              <a:ext uri="{FF2B5EF4-FFF2-40B4-BE49-F238E27FC236}">
                <a16:creationId xmlns:a16="http://schemas.microsoft.com/office/drawing/2014/main" id="{0A07DC8C-447D-7E60-A738-3024F605968A}"/>
              </a:ext>
            </a:extLst>
          </p:cNvPr>
          <p:cNvSpPr/>
          <p:nvPr/>
        </p:nvSpPr>
        <p:spPr>
          <a:xfrm>
            <a:off x="752589" y="2582435"/>
            <a:ext cx="2061133" cy="814628"/>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管理担当は排除して、受注担当の実にしてください。</a:t>
            </a:r>
          </a:p>
        </p:txBody>
      </p:sp>
      <p:cxnSp>
        <p:nvCxnSpPr>
          <p:cNvPr id="5" name="直線コネクタ 4">
            <a:extLst>
              <a:ext uri="{FF2B5EF4-FFF2-40B4-BE49-F238E27FC236}">
                <a16:creationId xmlns:a16="http://schemas.microsoft.com/office/drawing/2014/main" id="{35A0FE83-25A6-C0C3-1128-7D568164D8F1}"/>
              </a:ext>
            </a:extLst>
          </p:cNvPr>
          <p:cNvCxnSpPr>
            <a:cxnSpLocks/>
          </p:cNvCxnSpPr>
          <p:nvPr/>
        </p:nvCxnSpPr>
        <p:spPr>
          <a:xfrm flipH="1">
            <a:off x="590145" y="3014757"/>
            <a:ext cx="162444" cy="704845"/>
          </a:xfrm>
          <a:prstGeom prst="line">
            <a:avLst/>
          </a:prstGeom>
          <a:ln>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092775705"/>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DB95F730-A034-B915-11B0-80B1F73E4DCE}"/>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5D204DAF-CF06-8884-2C20-DF2BE4030FEB}"/>
              </a:ext>
            </a:extLst>
          </p:cNvPr>
          <p:cNvSpPr/>
          <p:nvPr/>
        </p:nvSpPr>
        <p:spPr>
          <a:xfrm>
            <a:off x="0" y="0"/>
            <a:ext cx="12192000" cy="6858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2067F757-754D-D857-6505-1CFDFF61279B}"/>
              </a:ext>
            </a:extLst>
          </p:cNvPr>
          <p:cNvSpPr txBox="1"/>
          <p:nvPr/>
        </p:nvSpPr>
        <p:spPr>
          <a:xfrm>
            <a:off x="552450" y="2025650"/>
            <a:ext cx="4809330" cy="2123658"/>
          </a:xfrm>
          <a:prstGeom prst="rect">
            <a:avLst/>
          </a:prstGeom>
          <a:noFill/>
        </p:spPr>
        <p:txBody>
          <a:bodyPr wrap="none" rtlCol="0">
            <a:spAutoFit/>
          </a:bodyPr>
          <a:lstStyle/>
          <a:p>
            <a:r>
              <a:rPr kumimoji="1" lang="ja-JP" altLang="en-US" sz="6600" b="1" dirty="0">
                <a:solidFill>
                  <a:schemeClr val="bg1"/>
                </a:solidFill>
                <a:latin typeface="Meiryo UI" panose="020B0604030504040204" pitchFamily="50" charset="-128"/>
                <a:ea typeface="Meiryo UI" panose="020B0604030504040204" pitchFamily="50" charset="-128"/>
              </a:rPr>
              <a:t>管理担当</a:t>
            </a:r>
            <a:endParaRPr kumimoji="1" lang="en-US" altLang="ja-JP" sz="6600" b="1" dirty="0">
              <a:solidFill>
                <a:schemeClr val="bg1"/>
              </a:solidFill>
              <a:latin typeface="Meiryo UI" panose="020B0604030504040204" pitchFamily="50" charset="-128"/>
              <a:ea typeface="Meiryo UI" panose="020B0604030504040204" pitchFamily="50" charset="-128"/>
            </a:endParaRPr>
          </a:p>
          <a:p>
            <a:r>
              <a:rPr kumimoji="1" lang="ja-JP" altLang="en-US" sz="6600" b="1" dirty="0">
                <a:solidFill>
                  <a:schemeClr val="bg1"/>
                </a:solidFill>
                <a:latin typeface="Meiryo UI" panose="020B0604030504040204" pitchFamily="50" charset="-128"/>
                <a:ea typeface="Meiryo UI" panose="020B0604030504040204" pitchFamily="50" charset="-128"/>
              </a:rPr>
              <a:t>ダッシュボード</a:t>
            </a:r>
          </a:p>
        </p:txBody>
      </p:sp>
      <p:sp>
        <p:nvSpPr>
          <p:cNvPr id="7" name="テキスト ボックス 6">
            <a:extLst>
              <a:ext uri="{FF2B5EF4-FFF2-40B4-BE49-F238E27FC236}">
                <a16:creationId xmlns:a16="http://schemas.microsoft.com/office/drawing/2014/main" id="{73BCE002-D020-4020-B1E2-33B6919398AC}"/>
              </a:ext>
            </a:extLst>
          </p:cNvPr>
          <p:cNvSpPr txBox="1"/>
          <p:nvPr/>
        </p:nvSpPr>
        <p:spPr>
          <a:xfrm>
            <a:off x="635000" y="926066"/>
            <a:ext cx="5168403" cy="369332"/>
          </a:xfrm>
          <a:prstGeom prst="rect">
            <a:avLst/>
          </a:prstGeom>
          <a:noFill/>
        </p:spPr>
        <p:txBody>
          <a:bodyPr wrap="none" rtlCol="0">
            <a:spAutoFit/>
          </a:bodyPr>
          <a:lstStyle/>
          <a:p>
            <a:r>
              <a:rPr kumimoji="1" lang="en-US" altLang="ja-JP" b="1" dirty="0">
                <a:solidFill>
                  <a:schemeClr val="bg1"/>
                </a:solidFill>
                <a:latin typeface="Meiryo UI" panose="020B0604030504040204" pitchFamily="50" charset="-128"/>
                <a:ea typeface="Meiryo UI" panose="020B0604030504040204" pitchFamily="50" charset="-128"/>
              </a:rPr>
              <a:t>0</a:t>
            </a:r>
            <a:r>
              <a:rPr lang="en-US" altLang="ja-JP" b="1" dirty="0">
                <a:solidFill>
                  <a:schemeClr val="bg1"/>
                </a:solidFill>
                <a:latin typeface="Meiryo UI" panose="020B0604030504040204" pitchFamily="50" charset="-128"/>
                <a:ea typeface="Meiryo UI" panose="020B0604030504040204" pitchFamily="50" charset="-128"/>
              </a:rPr>
              <a:t>5</a:t>
            </a:r>
            <a:r>
              <a:rPr kumimoji="1" lang="en-US" altLang="ja-JP" b="1" dirty="0">
                <a:solidFill>
                  <a:schemeClr val="bg1"/>
                </a:solidFill>
                <a:latin typeface="Meiryo UI" panose="020B0604030504040204" pitchFamily="50" charset="-128"/>
                <a:ea typeface="Meiryo UI" panose="020B0604030504040204" pitchFamily="50" charset="-128"/>
              </a:rPr>
              <a:t> </a:t>
            </a:r>
            <a:r>
              <a:rPr kumimoji="1" lang="ja-JP" altLang="en-US" b="1" dirty="0">
                <a:solidFill>
                  <a:schemeClr val="bg1"/>
                </a:solidFill>
                <a:latin typeface="Meiryo UI" panose="020B0604030504040204" pitchFamily="50" charset="-128"/>
                <a:ea typeface="Meiryo UI" panose="020B0604030504040204" pitchFamily="50" charset="-128"/>
              </a:rPr>
              <a:t>管理担当が日々の案件の進捗状況を管理する</a:t>
            </a:r>
          </a:p>
        </p:txBody>
      </p:sp>
      <p:cxnSp>
        <p:nvCxnSpPr>
          <p:cNvPr id="9" name="直線コネクタ 8">
            <a:extLst>
              <a:ext uri="{FF2B5EF4-FFF2-40B4-BE49-F238E27FC236}">
                <a16:creationId xmlns:a16="http://schemas.microsoft.com/office/drawing/2014/main" id="{7C1D3D36-2A6E-88D1-1C7D-B527259DBC9F}"/>
              </a:ext>
            </a:extLst>
          </p:cNvPr>
          <p:cNvCxnSpPr/>
          <p:nvPr/>
        </p:nvCxnSpPr>
        <p:spPr>
          <a:xfrm>
            <a:off x="736600" y="1568450"/>
            <a:ext cx="7664450"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正方形/長方形 9">
            <a:extLst>
              <a:ext uri="{FF2B5EF4-FFF2-40B4-BE49-F238E27FC236}">
                <a16:creationId xmlns:a16="http://schemas.microsoft.com/office/drawing/2014/main" id="{24B76345-D9D4-9517-BA2B-F87421B833C8}"/>
              </a:ext>
            </a:extLst>
          </p:cNvPr>
          <p:cNvSpPr/>
          <p:nvPr/>
        </p:nvSpPr>
        <p:spPr>
          <a:xfrm>
            <a:off x="850900" y="1460500"/>
            <a:ext cx="36000" cy="23494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55CC4558-B29C-AEC3-0242-947DAE39EFCC}"/>
              </a:ext>
            </a:extLst>
          </p:cNvPr>
          <p:cNvSpPr/>
          <p:nvPr/>
        </p:nvSpPr>
        <p:spPr>
          <a:xfrm>
            <a:off x="717550" y="1473200"/>
            <a:ext cx="36000" cy="180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EE376B57-5FD9-F05D-D3DB-1D1C74452809}"/>
              </a:ext>
            </a:extLst>
          </p:cNvPr>
          <p:cNvSpPr/>
          <p:nvPr/>
        </p:nvSpPr>
        <p:spPr>
          <a:xfrm>
            <a:off x="8153400" y="1460500"/>
            <a:ext cx="36000" cy="180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821063006"/>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22D0053F-8F51-5D89-8615-C1D3F48C92ED}"/>
              </a:ext>
            </a:extLst>
          </p:cNvPr>
          <p:cNvSpPr txBox="1"/>
          <p:nvPr/>
        </p:nvSpPr>
        <p:spPr>
          <a:xfrm>
            <a:off x="427597" y="368391"/>
            <a:ext cx="3376245" cy="369332"/>
          </a:xfrm>
          <a:prstGeom prst="rect">
            <a:avLst/>
          </a:prstGeom>
          <a:noFill/>
        </p:spPr>
        <p:txBody>
          <a:bodyPr wrap="none" rtlCol="0">
            <a:spAutoFit/>
          </a:bodyPr>
          <a:lstStyle/>
          <a:p>
            <a:r>
              <a:rPr kumimoji="1" lang="en-US" altLang="ja-JP" b="1" dirty="0">
                <a:latin typeface="Meiryo UI" panose="020B0604030504040204" pitchFamily="50" charset="-128"/>
                <a:ea typeface="Meiryo UI" panose="020B0604030504040204" pitchFamily="50" charset="-128"/>
              </a:rPr>
              <a:t>XXX</a:t>
            </a:r>
            <a:r>
              <a:rPr kumimoji="1" lang="ja-JP" altLang="en-US" b="1" dirty="0">
                <a:latin typeface="Meiryo UI" panose="020B0604030504040204" pitchFamily="50" charset="-128"/>
                <a:ea typeface="Meiryo UI" panose="020B0604030504040204" pitchFamily="50" charset="-128"/>
              </a:rPr>
              <a:t>チーム　月間進捗管理ボード</a:t>
            </a:r>
          </a:p>
        </p:txBody>
      </p:sp>
      <p:sp>
        <p:nvSpPr>
          <p:cNvPr id="5" name="正方形/長方形 4">
            <a:extLst>
              <a:ext uri="{FF2B5EF4-FFF2-40B4-BE49-F238E27FC236}">
                <a16:creationId xmlns:a16="http://schemas.microsoft.com/office/drawing/2014/main" id="{BC0CC50F-30EB-EBDA-6490-4F55BDC5DDB8}"/>
              </a:ext>
            </a:extLst>
          </p:cNvPr>
          <p:cNvSpPr/>
          <p:nvPr/>
        </p:nvSpPr>
        <p:spPr>
          <a:xfrm>
            <a:off x="552587" y="1052547"/>
            <a:ext cx="1165235"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担当件数</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818CDB71-E2AA-9638-5DC7-35EAE5FC4BF3}"/>
              </a:ext>
            </a:extLst>
          </p:cNvPr>
          <p:cNvSpPr/>
          <p:nvPr/>
        </p:nvSpPr>
        <p:spPr>
          <a:xfrm>
            <a:off x="1819549" y="1052547"/>
            <a:ext cx="1165235"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青件数</a:t>
            </a:r>
          </a:p>
        </p:txBody>
      </p:sp>
      <p:sp>
        <p:nvSpPr>
          <p:cNvPr id="7" name="正方形/長方形 6">
            <a:extLst>
              <a:ext uri="{FF2B5EF4-FFF2-40B4-BE49-F238E27FC236}">
                <a16:creationId xmlns:a16="http://schemas.microsoft.com/office/drawing/2014/main" id="{578417E7-F301-AAA8-BBBF-FEE2870E0A55}"/>
              </a:ext>
            </a:extLst>
          </p:cNvPr>
          <p:cNvSpPr/>
          <p:nvPr/>
        </p:nvSpPr>
        <p:spPr>
          <a:xfrm>
            <a:off x="3086511" y="1052547"/>
            <a:ext cx="1165235"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黄色件数</a:t>
            </a:r>
          </a:p>
        </p:txBody>
      </p:sp>
      <p:sp>
        <p:nvSpPr>
          <p:cNvPr id="8" name="四角形: 角を丸くする 7">
            <a:extLst>
              <a:ext uri="{FF2B5EF4-FFF2-40B4-BE49-F238E27FC236}">
                <a16:creationId xmlns:a16="http://schemas.microsoft.com/office/drawing/2014/main" id="{A315F750-A78F-D2F4-7FA3-EFFE90FDD0E3}"/>
              </a:ext>
            </a:extLst>
          </p:cNvPr>
          <p:cNvSpPr/>
          <p:nvPr/>
        </p:nvSpPr>
        <p:spPr>
          <a:xfrm>
            <a:off x="552587" y="1565663"/>
            <a:ext cx="1165235"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50</a:t>
            </a:r>
            <a:r>
              <a:rPr kumimoji="1" lang="ja-JP" altLang="en-US" sz="1200" dirty="0">
                <a:solidFill>
                  <a:schemeClr val="tx1"/>
                </a:solidFill>
              </a:rPr>
              <a:t>件</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9" name="四角形: 角を丸くする 8">
            <a:extLst>
              <a:ext uri="{FF2B5EF4-FFF2-40B4-BE49-F238E27FC236}">
                <a16:creationId xmlns:a16="http://schemas.microsoft.com/office/drawing/2014/main" id="{080314AC-BAFA-869E-28AD-C9A6086DA8E8}"/>
              </a:ext>
            </a:extLst>
          </p:cNvPr>
          <p:cNvSpPr/>
          <p:nvPr/>
        </p:nvSpPr>
        <p:spPr>
          <a:xfrm>
            <a:off x="1819549" y="1565663"/>
            <a:ext cx="1165235"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12</a:t>
            </a:r>
            <a:r>
              <a:rPr kumimoji="1" lang="ja-JP" altLang="en-US" sz="1200" dirty="0">
                <a:solidFill>
                  <a:schemeClr val="tx1"/>
                </a:solidFill>
              </a:rPr>
              <a:t>件</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10" name="四角形: 角を丸くする 9">
            <a:extLst>
              <a:ext uri="{FF2B5EF4-FFF2-40B4-BE49-F238E27FC236}">
                <a16:creationId xmlns:a16="http://schemas.microsoft.com/office/drawing/2014/main" id="{E5AEC37E-70B3-B113-3897-1A215490DD1C}"/>
              </a:ext>
            </a:extLst>
          </p:cNvPr>
          <p:cNvSpPr/>
          <p:nvPr/>
        </p:nvSpPr>
        <p:spPr>
          <a:xfrm>
            <a:off x="3086511" y="1565663"/>
            <a:ext cx="1165235"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chemeClr val="tx1"/>
                </a:solidFill>
              </a:rPr>
              <a:t>20</a:t>
            </a:r>
            <a:r>
              <a:rPr kumimoji="1" lang="ja-JP" altLang="en-US" sz="1200" dirty="0">
                <a:solidFill>
                  <a:schemeClr val="tx1"/>
                </a:solidFill>
              </a:rPr>
              <a:t>件</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11" name="正方形/長方形 10">
            <a:extLst>
              <a:ext uri="{FF2B5EF4-FFF2-40B4-BE49-F238E27FC236}">
                <a16:creationId xmlns:a16="http://schemas.microsoft.com/office/drawing/2014/main" id="{DAE9166D-E882-E882-8ABF-3A1FBCC8F4F4}"/>
              </a:ext>
            </a:extLst>
          </p:cNvPr>
          <p:cNvSpPr/>
          <p:nvPr/>
        </p:nvSpPr>
        <p:spPr>
          <a:xfrm>
            <a:off x="552587" y="2520630"/>
            <a:ext cx="1165235"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このチームに割り当てられた当月の案件数の合計</a:t>
            </a:r>
          </a:p>
        </p:txBody>
      </p:sp>
      <p:cxnSp>
        <p:nvCxnSpPr>
          <p:cNvPr id="12" name="直線コネクタ 11">
            <a:extLst>
              <a:ext uri="{FF2B5EF4-FFF2-40B4-BE49-F238E27FC236}">
                <a16:creationId xmlns:a16="http://schemas.microsoft.com/office/drawing/2014/main" id="{9F217CEC-82D4-D53E-71F0-CC6360C74849}"/>
              </a:ext>
            </a:extLst>
          </p:cNvPr>
          <p:cNvCxnSpPr>
            <a:stCxn id="11" idx="0"/>
            <a:endCxn id="8" idx="2"/>
          </p:cNvCxnSpPr>
          <p:nvPr/>
        </p:nvCxnSpPr>
        <p:spPr>
          <a:xfrm flipV="1">
            <a:off x="1135204"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正方形/長方形 12">
            <a:extLst>
              <a:ext uri="{FF2B5EF4-FFF2-40B4-BE49-F238E27FC236}">
                <a16:creationId xmlns:a16="http://schemas.microsoft.com/office/drawing/2014/main" id="{0BAC6F8A-A69F-5CF4-CB15-BCDE2D476D76}"/>
              </a:ext>
            </a:extLst>
          </p:cNvPr>
          <p:cNvSpPr/>
          <p:nvPr/>
        </p:nvSpPr>
        <p:spPr>
          <a:xfrm>
            <a:off x="1820727" y="2520630"/>
            <a:ext cx="1165235"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900" dirty="0">
                <a:solidFill>
                  <a:schemeClr val="tx1"/>
                </a:solidFill>
                <a:latin typeface="Meiryo UI" panose="020B0604030504040204" pitchFamily="50" charset="-128"/>
                <a:ea typeface="Meiryo UI" panose="020B0604030504040204" pitchFamily="50" charset="-128"/>
              </a:rPr>
              <a:t>当月に業務完了予定日が設定されており、進捗が順調で予定通り完了できそうな案件</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cxnSp>
        <p:nvCxnSpPr>
          <p:cNvPr id="14" name="直線コネクタ 13">
            <a:extLst>
              <a:ext uri="{FF2B5EF4-FFF2-40B4-BE49-F238E27FC236}">
                <a16:creationId xmlns:a16="http://schemas.microsoft.com/office/drawing/2014/main" id="{DD85B0DF-A94A-76D4-2751-AC109E0982C5}"/>
              </a:ext>
            </a:extLst>
          </p:cNvPr>
          <p:cNvCxnSpPr>
            <a:stCxn id="13" idx="0"/>
          </p:cNvCxnSpPr>
          <p:nvPr/>
        </p:nvCxnSpPr>
        <p:spPr>
          <a:xfrm flipV="1">
            <a:off x="2403346"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5" name="正方形/長方形 14">
            <a:extLst>
              <a:ext uri="{FF2B5EF4-FFF2-40B4-BE49-F238E27FC236}">
                <a16:creationId xmlns:a16="http://schemas.microsoft.com/office/drawing/2014/main" id="{855CEF3E-7C18-800E-7921-8F48F1046A82}"/>
              </a:ext>
            </a:extLst>
          </p:cNvPr>
          <p:cNvSpPr/>
          <p:nvPr/>
        </p:nvSpPr>
        <p:spPr>
          <a:xfrm>
            <a:off x="3088870" y="2520630"/>
            <a:ext cx="1165235"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900" dirty="0">
                <a:solidFill>
                  <a:schemeClr val="tx1"/>
                </a:solidFill>
                <a:latin typeface="Meiryo UI" panose="020B0604030504040204" pitchFamily="50" charset="-128"/>
                <a:ea typeface="Meiryo UI" panose="020B0604030504040204" pitchFamily="50" charset="-128"/>
              </a:rPr>
              <a:t>当月に業務完了予定日が設定されているのにタスクに遅れが出始めており、事態が深刻化する前に対応が必要な案件</a:t>
            </a:r>
          </a:p>
        </p:txBody>
      </p:sp>
      <p:cxnSp>
        <p:nvCxnSpPr>
          <p:cNvPr id="16" name="直線コネクタ 15">
            <a:extLst>
              <a:ext uri="{FF2B5EF4-FFF2-40B4-BE49-F238E27FC236}">
                <a16:creationId xmlns:a16="http://schemas.microsoft.com/office/drawing/2014/main" id="{66944B34-8F69-8672-EFBA-2A37F23E1916}"/>
              </a:ext>
            </a:extLst>
          </p:cNvPr>
          <p:cNvCxnSpPr>
            <a:stCxn id="15" idx="0"/>
          </p:cNvCxnSpPr>
          <p:nvPr/>
        </p:nvCxnSpPr>
        <p:spPr>
          <a:xfrm flipV="1">
            <a:off x="3671488"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7" name="正方形/長方形 16">
            <a:extLst>
              <a:ext uri="{FF2B5EF4-FFF2-40B4-BE49-F238E27FC236}">
                <a16:creationId xmlns:a16="http://schemas.microsoft.com/office/drawing/2014/main" id="{D70F33E1-985A-0639-24FA-6A4E69FAE1D4}"/>
              </a:ext>
            </a:extLst>
          </p:cNvPr>
          <p:cNvSpPr/>
          <p:nvPr/>
        </p:nvSpPr>
        <p:spPr>
          <a:xfrm>
            <a:off x="5620433" y="1052547"/>
            <a:ext cx="1165235"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業完対象</a:t>
            </a:r>
          </a:p>
        </p:txBody>
      </p:sp>
      <p:sp>
        <p:nvSpPr>
          <p:cNvPr id="18" name="四角形: 角を丸くする 17">
            <a:extLst>
              <a:ext uri="{FF2B5EF4-FFF2-40B4-BE49-F238E27FC236}">
                <a16:creationId xmlns:a16="http://schemas.microsoft.com/office/drawing/2014/main" id="{D4A47E33-8DD0-6ADE-1A2E-C556484057AE}"/>
              </a:ext>
            </a:extLst>
          </p:cNvPr>
          <p:cNvSpPr/>
          <p:nvPr/>
        </p:nvSpPr>
        <p:spPr>
          <a:xfrm>
            <a:off x="5620433" y="1565663"/>
            <a:ext cx="1165235"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50</a:t>
            </a:r>
            <a:r>
              <a:rPr kumimoji="1" lang="ja-JP" altLang="en-US" sz="1200" dirty="0">
                <a:solidFill>
                  <a:schemeClr val="tx1"/>
                </a:solidFill>
              </a:rPr>
              <a:t>件</a:t>
            </a:r>
            <a:r>
              <a:rPr kumimoji="1" lang="en-US" altLang="ja-JP" sz="1200" dirty="0">
                <a:solidFill>
                  <a:schemeClr val="tx1"/>
                </a:solidFill>
              </a:rPr>
              <a:t>/</a:t>
            </a:r>
            <a:r>
              <a:rPr kumimoji="1" lang="ja-JP" altLang="en-US" sz="1200" dirty="0">
                <a:solidFill>
                  <a:schemeClr val="tx1"/>
                </a:solidFill>
              </a:rPr>
              <a:t>月</a:t>
            </a:r>
          </a:p>
        </p:txBody>
      </p:sp>
      <p:sp>
        <p:nvSpPr>
          <p:cNvPr id="19" name="正方形/長方形 18">
            <a:extLst>
              <a:ext uri="{FF2B5EF4-FFF2-40B4-BE49-F238E27FC236}">
                <a16:creationId xmlns:a16="http://schemas.microsoft.com/office/drawing/2014/main" id="{2254F35F-DD70-B23A-F5BC-9FEE8AE7736E}"/>
              </a:ext>
            </a:extLst>
          </p:cNvPr>
          <p:cNvSpPr/>
          <p:nvPr/>
        </p:nvSpPr>
        <p:spPr>
          <a:xfrm>
            <a:off x="4352291" y="1052547"/>
            <a:ext cx="1165235"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赤件数</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20" name="四角形: 角を丸くする 19">
            <a:extLst>
              <a:ext uri="{FF2B5EF4-FFF2-40B4-BE49-F238E27FC236}">
                <a16:creationId xmlns:a16="http://schemas.microsoft.com/office/drawing/2014/main" id="{17F497B0-55A1-AC6B-C046-C96453435EE7}"/>
              </a:ext>
            </a:extLst>
          </p:cNvPr>
          <p:cNvSpPr/>
          <p:nvPr/>
        </p:nvSpPr>
        <p:spPr>
          <a:xfrm>
            <a:off x="4352291" y="1565663"/>
            <a:ext cx="1165235"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chemeClr val="tx1"/>
                </a:solidFill>
              </a:rPr>
              <a:t>20</a:t>
            </a:r>
            <a:r>
              <a:rPr lang="ja-JP" altLang="en-US" sz="1200" dirty="0">
                <a:solidFill>
                  <a:schemeClr val="tx1"/>
                </a:solidFill>
              </a:rPr>
              <a:t>件</a:t>
            </a:r>
            <a:r>
              <a:rPr lang="en-US" altLang="ja-JP" sz="1200" dirty="0">
                <a:solidFill>
                  <a:schemeClr val="tx1"/>
                </a:solidFill>
              </a:rPr>
              <a:t>/</a:t>
            </a:r>
            <a:r>
              <a:rPr lang="ja-JP" altLang="en-US" sz="1200" dirty="0">
                <a:solidFill>
                  <a:schemeClr val="tx1"/>
                </a:solidFill>
              </a:rPr>
              <a:t>月</a:t>
            </a:r>
          </a:p>
        </p:txBody>
      </p:sp>
      <p:sp>
        <p:nvSpPr>
          <p:cNvPr id="21" name="正方形/長方形 20">
            <a:extLst>
              <a:ext uri="{FF2B5EF4-FFF2-40B4-BE49-F238E27FC236}">
                <a16:creationId xmlns:a16="http://schemas.microsoft.com/office/drawing/2014/main" id="{6F5B0C65-E4E4-0A00-CF4B-B2CDB4BA57D9}"/>
              </a:ext>
            </a:extLst>
          </p:cNvPr>
          <p:cNvSpPr/>
          <p:nvPr/>
        </p:nvSpPr>
        <p:spPr>
          <a:xfrm>
            <a:off x="4354651" y="2520630"/>
            <a:ext cx="1165235"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800" dirty="0">
                <a:solidFill>
                  <a:schemeClr val="tx1"/>
                </a:solidFill>
                <a:latin typeface="Meiryo UI" panose="020B0604030504040204" pitchFamily="50" charset="-128"/>
                <a:ea typeface="Meiryo UI" panose="020B0604030504040204" pitchFamily="50" charset="-128"/>
              </a:rPr>
              <a:t>当月に業務完了予定日が設定されているのにタスクに遅れが出ており、早急にリカバリサポートが必要な案件。すでに完了予定を超過している案件</a:t>
            </a:r>
            <a:endParaRPr kumimoji="1" lang="ja-JP" altLang="en-US" sz="800" dirty="0">
              <a:solidFill>
                <a:schemeClr val="tx1"/>
              </a:solidFill>
              <a:latin typeface="Meiryo UI" panose="020B0604030504040204" pitchFamily="50" charset="-128"/>
              <a:ea typeface="Meiryo UI" panose="020B0604030504040204" pitchFamily="50" charset="-128"/>
            </a:endParaRPr>
          </a:p>
        </p:txBody>
      </p:sp>
      <p:cxnSp>
        <p:nvCxnSpPr>
          <p:cNvPr id="22" name="直線コネクタ 21">
            <a:extLst>
              <a:ext uri="{FF2B5EF4-FFF2-40B4-BE49-F238E27FC236}">
                <a16:creationId xmlns:a16="http://schemas.microsoft.com/office/drawing/2014/main" id="{E812BD57-16A2-8EA6-E6E0-04387E4D7435}"/>
              </a:ext>
            </a:extLst>
          </p:cNvPr>
          <p:cNvCxnSpPr>
            <a:stCxn id="21" idx="0"/>
          </p:cNvCxnSpPr>
          <p:nvPr/>
        </p:nvCxnSpPr>
        <p:spPr>
          <a:xfrm flipV="1">
            <a:off x="4937268"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3" name="正方形/長方形 22">
            <a:extLst>
              <a:ext uri="{FF2B5EF4-FFF2-40B4-BE49-F238E27FC236}">
                <a16:creationId xmlns:a16="http://schemas.microsoft.com/office/drawing/2014/main" id="{74792CD3-FE9D-66DF-2324-17605FF1EC51}"/>
              </a:ext>
            </a:extLst>
          </p:cNvPr>
          <p:cNvSpPr/>
          <p:nvPr/>
        </p:nvSpPr>
        <p:spPr>
          <a:xfrm>
            <a:off x="5655144" y="2520630"/>
            <a:ext cx="1165235"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200" dirty="0">
                <a:solidFill>
                  <a:schemeClr val="tx1"/>
                </a:solidFill>
                <a:latin typeface="Meiryo UI" panose="020B0604030504040204" pitchFamily="50" charset="-128"/>
                <a:ea typeface="Meiryo UI" panose="020B0604030504040204" pitchFamily="50" charset="-128"/>
              </a:rPr>
              <a:t>当月において</a:t>
            </a:r>
            <a:r>
              <a:rPr kumimoji="1" lang="ja-JP" altLang="en-US" sz="1200" dirty="0">
                <a:solidFill>
                  <a:schemeClr val="tx1"/>
                </a:solidFill>
                <a:latin typeface="Meiryo UI" panose="020B0604030504040204" pitchFamily="50" charset="-128"/>
                <a:ea typeface="Meiryo UI" panose="020B0604030504040204" pitchFamily="50" charset="-128"/>
              </a:rPr>
              <a:t>業務完了する予定の案件数</a:t>
            </a:r>
          </a:p>
        </p:txBody>
      </p:sp>
      <p:cxnSp>
        <p:nvCxnSpPr>
          <p:cNvPr id="24" name="直線コネクタ 23">
            <a:extLst>
              <a:ext uri="{FF2B5EF4-FFF2-40B4-BE49-F238E27FC236}">
                <a16:creationId xmlns:a16="http://schemas.microsoft.com/office/drawing/2014/main" id="{FDB2DE4F-8F64-6AF6-7D8A-DE95B9E59FBF}"/>
              </a:ext>
            </a:extLst>
          </p:cNvPr>
          <p:cNvCxnSpPr>
            <a:stCxn id="23" idx="0"/>
          </p:cNvCxnSpPr>
          <p:nvPr/>
        </p:nvCxnSpPr>
        <p:spPr>
          <a:xfrm flipV="1">
            <a:off x="6237762"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6" name="正方形/長方形 25">
            <a:extLst>
              <a:ext uri="{FF2B5EF4-FFF2-40B4-BE49-F238E27FC236}">
                <a16:creationId xmlns:a16="http://schemas.microsoft.com/office/drawing/2014/main" id="{C59E9EB6-7AB9-36F7-93D5-43C636C48455}"/>
              </a:ext>
            </a:extLst>
          </p:cNvPr>
          <p:cNvSpPr/>
          <p:nvPr/>
        </p:nvSpPr>
        <p:spPr>
          <a:xfrm>
            <a:off x="8261554" y="1052547"/>
            <a:ext cx="1165235"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サイクル</a:t>
            </a:r>
          </a:p>
        </p:txBody>
      </p:sp>
      <p:sp>
        <p:nvSpPr>
          <p:cNvPr id="27" name="四角形: 角を丸くする 26">
            <a:extLst>
              <a:ext uri="{FF2B5EF4-FFF2-40B4-BE49-F238E27FC236}">
                <a16:creationId xmlns:a16="http://schemas.microsoft.com/office/drawing/2014/main" id="{EC9D532B-DADE-35BA-B739-2183EF5505A9}"/>
              </a:ext>
            </a:extLst>
          </p:cNvPr>
          <p:cNvSpPr/>
          <p:nvPr/>
        </p:nvSpPr>
        <p:spPr>
          <a:xfrm>
            <a:off x="8261554" y="1565663"/>
            <a:ext cx="1165235"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4.1</a:t>
            </a:r>
            <a:r>
              <a:rPr kumimoji="1" lang="ja-JP" altLang="en-US" sz="1100" b="1" dirty="0">
                <a:solidFill>
                  <a:schemeClr val="tx1"/>
                </a:solidFill>
              </a:rPr>
              <a:t>カ月</a:t>
            </a:r>
            <a:r>
              <a:rPr kumimoji="1" lang="en-US" altLang="ja-JP" sz="1100" b="1" dirty="0">
                <a:solidFill>
                  <a:schemeClr val="tx1"/>
                </a:solidFill>
              </a:rPr>
              <a:t>/</a:t>
            </a:r>
            <a:r>
              <a:rPr lang="ja-JP" altLang="en-US" sz="1100" b="1" dirty="0">
                <a:solidFill>
                  <a:schemeClr val="tx1"/>
                </a:solidFill>
              </a:rPr>
              <a:t>件</a:t>
            </a:r>
            <a:endParaRPr kumimoji="1" lang="ja-JP" altLang="en-US" sz="1200" dirty="0">
              <a:solidFill>
                <a:schemeClr val="tx1"/>
              </a:solidFill>
            </a:endParaRPr>
          </a:p>
        </p:txBody>
      </p:sp>
      <p:sp>
        <p:nvSpPr>
          <p:cNvPr id="28" name="正方形/長方形 27">
            <a:extLst>
              <a:ext uri="{FF2B5EF4-FFF2-40B4-BE49-F238E27FC236}">
                <a16:creationId xmlns:a16="http://schemas.microsoft.com/office/drawing/2014/main" id="{701B8463-4696-FACB-0776-7BA25AB0ECF1}"/>
              </a:ext>
            </a:extLst>
          </p:cNvPr>
          <p:cNvSpPr/>
          <p:nvPr/>
        </p:nvSpPr>
        <p:spPr>
          <a:xfrm>
            <a:off x="8296265" y="2520630"/>
            <a:ext cx="1165235"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900" dirty="0">
                <a:solidFill>
                  <a:schemeClr val="tx1"/>
                </a:solidFill>
                <a:latin typeface="Meiryo UI" panose="020B0604030504040204" pitchFamily="50" charset="-128"/>
                <a:ea typeface="Meiryo UI" panose="020B0604030504040204" pitchFamily="50" charset="-128"/>
              </a:rPr>
              <a:t>今月業務完了した案件が受注してから業務完了するまでにかかった期間の平均</a:t>
            </a:r>
          </a:p>
        </p:txBody>
      </p:sp>
      <p:cxnSp>
        <p:nvCxnSpPr>
          <p:cNvPr id="29" name="直線コネクタ 28">
            <a:extLst>
              <a:ext uri="{FF2B5EF4-FFF2-40B4-BE49-F238E27FC236}">
                <a16:creationId xmlns:a16="http://schemas.microsoft.com/office/drawing/2014/main" id="{0CC78B48-AC37-1710-3DEA-FEFBF58F1FE4}"/>
              </a:ext>
            </a:extLst>
          </p:cNvPr>
          <p:cNvCxnSpPr>
            <a:stCxn id="28" idx="0"/>
          </p:cNvCxnSpPr>
          <p:nvPr/>
        </p:nvCxnSpPr>
        <p:spPr>
          <a:xfrm flipV="1">
            <a:off x="8878884"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1" name="正方形/長方形 30">
            <a:extLst>
              <a:ext uri="{FF2B5EF4-FFF2-40B4-BE49-F238E27FC236}">
                <a16:creationId xmlns:a16="http://schemas.microsoft.com/office/drawing/2014/main" id="{36485AFF-51AB-6543-8363-9A05638D5B2D}"/>
              </a:ext>
            </a:extLst>
          </p:cNvPr>
          <p:cNvSpPr/>
          <p:nvPr/>
        </p:nvSpPr>
        <p:spPr>
          <a:xfrm>
            <a:off x="6920926" y="1052547"/>
            <a:ext cx="1165235"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完了割合</a:t>
            </a:r>
          </a:p>
        </p:txBody>
      </p:sp>
      <p:sp>
        <p:nvSpPr>
          <p:cNvPr id="32" name="四角形: 角を丸くする 31">
            <a:extLst>
              <a:ext uri="{FF2B5EF4-FFF2-40B4-BE49-F238E27FC236}">
                <a16:creationId xmlns:a16="http://schemas.microsoft.com/office/drawing/2014/main" id="{A16DB9F5-AD64-C353-CB60-1EC2241AC5D1}"/>
              </a:ext>
            </a:extLst>
          </p:cNvPr>
          <p:cNvSpPr/>
          <p:nvPr/>
        </p:nvSpPr>
        <p:spPr>
          <a:xfrm>
            <a:off x="6920926" y="1565663"/>
            <a:ext cx="1165235"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chemeClr val="tx1"/>
                </a:solidFill>
              </a:rPr>
              <a:t>23/250</a:t>
            </a:r>
            <a:r>
              <a:rPr lang="ja-JP" altLang="en-US" sz="1200" dirty="0">
                <a:solidFill>
                  <a:schemeClr val="tx1"/>
                </a:solidFill>
              </a:rPr>
              <a:t>件</a:t>
            </a:r>
          </a:p>
        </p:txBody>
      </p:sp>
      <p:sp>
        <p:nvSpPr>
          <p:cNvPr id="33" name="正方形/長方形 32">
            <a:extLst>
              <a:ext uri="{FF2B5EF4-FFF2-40B4-BE49-F238E27FC236}">
                <a16:creationId xmlns:a16="http://schemas.microsoft.com/office/drawing/2014/main" id="{585E0849-302A-0E24-4956-9C5D0689F485}"/>
              </a:ext>
            </a:extLst>
          </p:cNvPr>
          <p:cNvSpPr/>
          <p:nvPr/>
        </p:nvSpPr>
        <p:spPr>
          <a:xfrm>
            <a:off x="6955638" y="2520630"/>
            <a:ext cx="1165235"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900" dirty="0">
                <a:solidFill>
                  <a:schemeClr val="tx1"/>
                </a:solidFill>
                <a:latin typeface="Meiryo UI" panose="020B0604030504040204" pitchFamily="50" charset="-128"/>
                <a:ea typeface="Meiryo UI" panose="020B0604030504040204" pitchFamily="50" charset="-128"/>
              </a:rPr>
              <a:t>当月業務完了予定の案件数に対して、本日時点でどれくらい完了しているかの割合</a:t>
            </a:r>
          </a:p>
        </p:txBody>
      </p:sp>
      <p:cxnSp>
        <p:nvCxnSpPr>
          <p:cNvPr id="34" name="直線コネクタ 33">
            <a:extLst>
              <a:ext uri="{FF2B5EF4-FFF2-40B4-BE49-F238E27FC236}">
                <a16:creationId xmlns:a16="http://schemas.microsoft.com/office/drawing/2014/main" id="{C50B9414-92C9-D8D9-C5B2-BCDC5509984F}"/>
              </a:ext>
            </a:extLst>
          </p:cNvPr>
          <p:cNvCxnSpPr>
            <a:stCxn id="33" idx="0"/>
          </p:cNvCxnSpPr>
          <p:nvPr/>
        </p:nvCxnSpPr>
        <p:spPr>
          <a:xfrm flipV="1">
            <a:off x="8575529"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6" name="正方形/長方形 35">
            <a:extLst>
              <a:ext uri="{FF2B5EF4-FFF2-40B4-BE49-F238E27FC236}">
                <a16:creationId xmlns:a16="http://schemas.microsoft.com/office/drawing/2014/main" id="{C9C4EC48-13F5-A108-5DD5-FE416F5FA67E}"/>
              </a:ext>
            </a:extLst>
          </p:cNvPr>
          <p:cNvSpPr/>
          <p:nvPr/>
        </p:nvSpPr>
        <p:spPr>
          <a:xfrm>
            <a:off x="2095433" y="3599491"/>
            <a:ext cx="223063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案件管理番号</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37" name="正方形/長方形 36">
            <a:extLst>
              <a:ext uri="{FF2B5EF4-FFF2-40B4-BE49-F238E27FC236}">
                <a16:creationId xmlns:a16="http://schemas.microsoft.com/office/drawing/2014/main" id="{7F60E6D2-9FFB-91AD-DACA-C69571B88C2B}"/>
              </a:ext>
            </a:extLst>
          </p:cNvPr>
          <p:cNvSpPr/>
          <p:nvPr/>
        </p:nvSpPr>
        <p:spPr>
          <a:xfrm>
            <a:off x="4443454" y="3599491"/>
            <a:ext cx="1769074"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案件名</a:t>
            </a:r>
          </a:p>
        </p:txBody>
      </p:sp>
      <p:sp>
        <p:nvSpPr>
          <p:cNvPr id="38" name="正方形/長方形 37">
            <a:extLst>
              <a:ext uri="{FF2B5EF4-FFF2-40B4-BE49-F238E27FC236}">
                <a16:creationId xmlns:a16="http://schemas.microsoft.com/office/drawing/2014/main" id="{CCD345C0-155F-2054-A0F6-FBA247AC4178}"/>
              </a:ext>
            </a:extLst>
          </p:cNvPr>
          <p:cNvSpPr/>
          <p:nvPr/>
        </p:nvSpPr>
        <p:spPr>
          <a:xfrm>
            <a:off x="6372527" y="3599491"/>
            <a:ext cx="1769074"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担当者</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39" name="正方形/長方形 38">
            <a:extLst>
              <a:ext uri="{FF2B5EF4-FFF2-40B4-BE49-F238E27FC236}">
                <a16:creationId xmlns:a16="http://schemas.microsoft.com/office/drawing/2014/main" id="{DF7A74C9-56FD-E230-8CD7-741B6CC051C2}"/>
              </a:ext>
            </a:extLst>
          </p:cNvPr>
          <p:cNvSpPr/>
          <p:nvPr/>
        </p:nvSpPr>
        <p:spPr>
          <a:xfrm>
            <a:off x="437564" y="3594950"/>
            <a:ext cx="1540478"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フラグ</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9646D3A0-C631-523C-D502-D2A8C9A98AB5}"/>
              </a:ext>
            </a:extLst>
          </p:cNvPr>
          <p:cNvSpPr/>
          <p:nvPr/>
        </p:nvSpPr>
        <p:spPr>
          <a:xfrm>
            <a:off x="8293373" y="3585868"/>
            <a:ext cx="1769074"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完了予定日</a:t>
            </a:r>
          </a:p>
        </p:txBody>
      </p:sp>
      <p:sp>
        <p:nvSpPr>
          <p:cNvPr id="46" name="正方形/長方形 45">
            <a:extLst>
              <a:ext uri="{FF2B5EF4-FFF2-40B4-BE49-F238E27FC236}">
                <a16:creationId xmlns:a16="http://schemas.microsoft.com/office/drawing/2014/main" id="{B22F3E59-F2C2-C961-E321-73BFE21FC666}"/>
              </a:ext>
            </a:extLst>
          </p:cNvPr>
          <p:cNvSpPr/>
          <p:nvPr/>
        </p:nvSpPr>
        <p:spPr>
          <a:xfrm>
            <a:off x="10159149" y="3585868"/>
            <a:ext cx="1769074"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依頼者名</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75" name="正方形/長方形 74">
            <a:extLst>
              <a:ext uri="{FF2B5EF4-FFF2-40B4-BE49-F238E27FC236}">
                <a16:creationId xmlns:a16="http://schemas.microsoft.com/office/drawing/2014/main" id="{6E9582C5-871F-8B7B-3DDA-DA1655D3FBFE}"/>
              </a:ext>
            </a:extLst>
          </p:cNvPr>
          <p:cNvSpPr/>
          <p:nvPr/>
        </p:nvSpPr>
        <p:spPr>
          <a:xfrm>
            <a:off x="3342177" y="6238687"/>
            <a:ext cx="1493688"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900" dirty="0">
                <a:solidFill>
                  <a:schemeClr val="tx1"/>
                </a:solidFill>
                <a:latin typeface="Meiryo UI" panose="020B0604030504040204" pitchFamily="50" charset="-128"/>
                <a:ea typeface="Meiryo UI" panose="020B0604030504040204" pitchFamily="50" charset="-128"/>
              </a:rPr>
              <a:t>案件詳細画面に飛ぶようにしたい</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sp>
        <p:nvSpPr>
          <p:cNvPr id="41" name="正方形/長方形 40">
            <a:extLst>
              <a:ext uri="{FF2B5EF4-FFF2-40B4-BE49-F238E27FC236}">
                <a16:creationId xmlns:a16="http://schemas.microsoft.com/office/drawing/2014/main" id="{E6540B52-55E6-B596-61E6-7A4B0E67DF0A}"/>
              </a:ext>
            </a:extLst>
          </p:cNvPr>
          <p:cNvSpPr/>
          <p:nvPr/>
        </p:nvSpPr>
        <p:spPr>
          <a:xfrm>
            <a:off x="437564" y="4664729"/>
            <a:ext cx="1540478" cy="26683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赤</a:t>
            </a:r>
            <a:endParaRPr kumimoji="1" lang="ja-JP" altLang="en-US" sz="1200" dirty="0">
              <a:solidFill>
                <a:schemeClr val="bg1"/>
              </a:solidFill>
              <a:latin typeface="Meiryo UI" panose="020B0604030504040204" pitchFamily="50" charset="-128"/>
              <a:ea typeface="Meiryo UI" panose="020B0604030504040204" pitchFamily="50" charset="-128"/>
            </a:endParaRPr>
          </a:p>
        </p:txBody>
      </p:sp>
      <p:sp>
        <p:nvSpPr>
          <p:cNvPr id="42" name="正方形/長方形 41">
            <a:extLst>
              <a:ext uri="{FF2B5EF4-FFF2-40B4-BE49-F238E27FC236}">
                <a16:creationId xmlns:a16="http://schemas.microsoft.com/office/drawing/2014/main" id="{22E5B0FC-6BB2-791E-55A1-D6B9BEC060BD}"/>
              </a:ext>
            </a:extLst>
          </p:cNvPr>
          <p:cNvSpPr/>
          <p:nvPr/>
        </p:nvSpPr>
        <p:spPr>
          <a:xfrm>
            <a:off x="2095433" y="4674571"/>
            <a:ext cx="2230630"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R70519</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43" name="正方形/長方形 42">
            <a:extLst>
              <a:ext uri="{FF2B5EF4-FFF2-40B4-BE49-F238E27FC236}">
                <a16:creationId xmlns:a16="http://schemas.microsoft.com/office/drawing/2014/main" id="{1DE0E338-0AA0-ACA5-AB65-DB4E9AC302EB}"/>
              </a:ext>
            </a:extLst>
          </p:cNvPr>
          <p:cNvSpPr/>
          <p:nvPr/>
        </p:nvSpPr>
        <p:spPr>
          <a:xfrm>
            <a:off x="4443454" y="4674571"/>
            <a:ext cx="1769074"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福島案件</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44" name="正方形/長方形 43">
            <a:extLst>
              <a:ext uri="{FF2B5EF4-FFF2-40B4-BE49-F238E27FC236}">
                <a16:creationId xmlns:a16="http://schemas.microsoft.com/office/drawing/2014/main" id="{BCEACE7C-111B-CAB8-3D24-168CD6A6E24E}"/>
              </a:ext>
            </a:extLst>
          </p:cNvPr>
          <p:cNvSpPr/>
          <p:nvPr/>
        </p:nvSpPr>
        <p:spPr>
          <a:xfrm>
            <a:off x="6372527" y="4674571"/>
            <a:ext cx="1769074"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福島優</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45" name="正方形/長方形 44">
            <a:extLst>
              <a:ext uri="{FF2B5EF4-FFF2-40B4-BE49-F238E27FC236}">
                <a16:creationId xmlns:a16="http://schemas.microsoft.com/office/drawing/2014/main" id="{351977F8-3304-81FB-7823-F1A606F1C962}"/>
              </a:ext>
            </a:extLst>
          </p:cNvPr>
          <p:cNvSpPr/>
          <p:nvPr/>
        </p:nvSpPr>
        <p:spPr>
          <a:xfrm>
            <a:off x="8293373" y="4664729"/>
            <a:ext cx="1769074"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latin typeface="Meiryo UI" panose="020B0604030504040204" pitchFamily="50" charset="-128"/>
                <a:ea typeface="Meiryo UI" panose="020B0604030504040204" pitchFamily="50" charset="-128"/>
              </a:rPr>
              <a:t>2026/5/19</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47" name="正方形/長方形 46">
            <a:extLst>
              <a:ext uri="{FF2B5EF4-FFF2-40B4-BE49-F238E27FC236}">
                <a16:creationId xmlns:a16="http://schemas.microsoft.com/office/drawing/2014/main" id="{7DDD469A-5AA0-3F70-9194-CDF7B3B2AEE4}"/>
              </a:ext>
            </a:extLst>
          </p:cNvPr>
          <p:cNvSpPr/>
          <p:nvPr/>
        </p:nvSpPr>
        <p:spPr>
          <a:xfrm>
            <a:off x="10159149" y="4664729"/>
            <a:ext cx="1769074"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Ｘｘｘｘ</a:t>
            </a:r>
          </a:p>
        </p:txBody>
      </p:sp>
      <p:sp>
        <p:nvSpPr>
          <p:cNvPr id="50" name="正方形/長方形 49">
            <a:extLst>
              <a:ext uri="{FF2B5EF4-FFF2-40B4-BE49-F238E27FC236}">
                <a16:creationId xmlns:a16="http://schemas.microsoft.com/office/drawing/2014/main" id="{BFF34B8A-C0CB-B461-C3A2-F6E43644929E}"/>
              </a:ext>
            </a:extLst>
          </p:cNvPr>
          <p:cNvSpPr/>
          <p:nvPr/>
        </p:nvSpPr>
        <p:spPr>
          <a:xfrm>
            <a:off x="437564" y="4989049"/>
            <a:ext cx="1540478" cy="26683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赤</a:t>
            </a:r>
            <a:endParaRPr kumimoji="1" lang="ja-JP" altLang="en-US" sz="1200" dirty="0">
              <a:solidFill>
                <a:schemeClr val="bg1"/>
              </a:solidFill>
              <a:latin typeface="Meiryo UI" panose="020B0604030504040204" pitchFamily="50" charset="-128"/>
              <a:ea typeface="Meiryo UI" panose="020B0604030504040204" pitchFamily="50" charset="-128"/>
            </a:endParaRPr>
          </a:p>
        </p:txBody>
      </p:sp>
      <p:sp>
        <p:nvSpPr>
          <p:cNvPr id="51" name="正方形/長方形 50">
            <a:extLst>
              <a:ext uri="{FF2B5EF4-FFF2-40B4-BE49-F238E27FC236}">
                <a16:creationId xmlns:a16="http://schemas.microsoft.com/office/drawing/2014/main" id="{8561ACA9-7B3B-8E1B-499F-A5FF28E83738}"/>
              </a:ext>
            </a:extLst>
          </p:cNvPr>
          <p:cNvSpPr/>
          <p:nvPr/>
        </p:nvSpPr>
        <p:spPr>
          <a:xfrm>
            <a:off x="2095433" y="4998892"/>
            <a:ext cx="2230630"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R70519</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52" name="正方形/長方形 51">
            <a:extLst>
              <a:ext uri="{FF2B5EF4-FFF2-40B4-BE49-F238E27FC236}">
                <a16:creationId xmlns:a16="http://schemas.microsoft.com/office/drawing/2014/main" id="{44827532-0B06-73DC-07EA-276044E01B9F}"/>
              </a:ext>
            </a:extLst>
          </p:cNvPr>
          <p:cNvSpPr/>
          <p:nvPr/>
        </p:nvSpPr>
        <p:spPr>
          <a:xfrm>
            <a:off x="4443454" y="4998892"/>
            <a:ext cx="1769074"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福島案件</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53" name="正方形/長方形 52">
            <a:extLst>
              <a:ext uri="{FF2B5EF4-FFF2-40B4-BE49-F238E27FC236}">
                <a16:creationId xmlns:a16="http://schemas.microsoft.com/office/drawing/2014/main" id="{46D84593-943F-0E8B-458A-D39E07B985D0}"/>
              </a:ext>
            </a:extLst>
          </p:cNvPr>
          <p:cNvSpPr/>
          <p:nvPr/>
        </p:nvSpPr>
        <p:spPr>
          <a:xfrm>
            <a:off x="6372527" y="4998892"/>
            <a:ext cx="1769074"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福島優</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54" name="正方形/長方形 53">
            <a:extLst>
              <a:ext uri="{FF2B5EF4-FFF2-40B4-BE49-F238E27FC236}">
                <a16:creationId xmlns:a16="http://schemas.microsoft.com/office/drawing/2014/main" id="{697C8737-0DCE-78D2-9EBD-6FD98DB19963}"/>
              </a:ext>
            </a:extLst>
          </p:cNvPr>
          <p:cNvSpPr/>
          <p:nvPr/>
        </p:nvSpPr>
        <p:spPr>
          <a:xfrm>
            <a:off x="8293373" y="4989049"/>
            <a:ext cx="1769074"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latin typeface="Meiryo UI" panose="020B0604030504040204" pitchFamily="50" charset="-128"/>
                <a:ea typeface="Meiryo UI" panose="020B0604030504040204" pitchFamily="50" charset="-128"/>
              </a:rPr>
              <a:t>2026/5/19</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55" name="正方形/長方形 54">
            <a:extLst>
              <a:ext uri="{FF2B5EF4-FFF2-40B4-BE49-F238E27FC236}">
                <a16:creationId xmlns:a16="http://schemas.microsoft.com/office/drawing/2014/main" id="{B53FEC51-6EB7-7D47-6790-D6731E9AB9B4}"/>
              </a:ext>
            </a:extLst>
          </p:cNvPr>
          <p:cNvSpPr/>
          <p:nvPr/>
        </p:nvSpPr>
        <p:spPr>
          <a:xfrm>
            <a:off x="10159149" y="4989049"/>
            <a:ext cx="1769074"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Ｘｘｘｘ</a:t>
            </a:r>
          </a:p>
        </p:txBody>
      </p:sp>
      <p:sp>
        <p:nvSpPr>
          <p:cNvPr id="56" name="正方形/長方形 55">
            <a:extLst>
              <a:ext uri="{FF2B5EF4-FFF2-40B4-BE49-F238E27FC236}">
                <a16:creationId xmlns:a16="http://schemas.microsoft.com/office/drawing/2014/main" id="{BBEF5DDA-1688-E300-BE3E-C46E670D932E}"/>
              </a:ext>
            </a:extLst>
          </p:cNvPr>
          <p:cNvSpPr/>
          <p:nvPr/>
        </p:nvSpPr>
        <p:spPr>
          <a:xfrm>
            <a:off x="437564" y="5313369"/>
            <a:ext cx="1540478" cy="266835"/>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黄色</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57" name="正方形/長方形 56">
            <a:extLst>
              <a:ext uri="{FF2B5EF4-FFF2-40B4-BE49-F238E27FC236}">
                <a16:creationId xmlns:a16="http://schemas.microsoft.com/office/drawing/2014/main" id="{D1A33D95-1BB8-F624-D1C8-747E54CF4A9E}"/>
              </a:ext>
            </a:extLst>
          </p:cNvPr>
          <p:cNvSpPr/>
          <p:nvPr/>
        </p:nvSpPr>
        <p:spPr>
          <a:xfrm>
            <a:off x="2095433" y="5323212"/>
            <a:ext cx="2230630"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R70519</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58" name="正方形/長方形 57">
            <a:extLst>
              <a:ext uri="{FF2B5EF4-FFF2-40B4-BE49-F238E27FC236}">
                <a16:creationId xmlns:a16="http://schemas.microsoft.com/office/drawing/2014/main" id="{625FD2BE-2B59-A03D-AA96-66A86CE7C8E0}"/>
              </a:ext>
            </a:extLst>
          </p:cNvPr>
          <p:cNvSpPr/>
          <p:nvPr/>
        </p:nvSpPr>
        <p:spPr>
          <a:xfrm>
            <a:off x="4443454" y="5323212"/>
            <a:ext cx="1769074"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福島案件</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59" name="正方形/長方形 58">
            <a:extLst>
              <a:ext uri="{FF2B5EF4-FFF2-40B4-BE49-F238E27FC236}">
                <a16:creationId xmlns:a16="http://schemas.microsoft.com/office/drawing/2014/main" id="{0D71717D-2E72-A587-D3C2-F47162812737}"/>
              </a:ext>
            </a:extLst>
          </p:cNvPr>
          <p:cNvSpPr/>
          <p:nvPr/>
        </p:nvSpPr>
        <p:spPr>
          <a:xfrm>
            <a:off x="6372527" y="5323212"/>
            <a:ext cx="1769074"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福島優</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60" name="正方形/長方形 59">
            <a:extLst>
              <a:ext uri="{FF2B5EF4-FFF2-40B4-BE49-F238E27FC236}">
                <a16:creationId xmlns:a16="http://schemas.microsoft.com/office/drawing/2014/main" id="{BA073DE2-BA54-8CA4-90AB-D1CF3A81BACA}"/>
              </a:ext>
            </a:extLst>
          </p:cNvPr>
          <p:cNvSpPr/>
          <p:nvPr/>
        </p:nvSpPr>
        <p:spPr>
          <a:xfrm>
            <a:off x="8293373" y="5313369"/>
            <a:ext cx="1769074"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latin typeface="Meiryo UI" panose="020B0604030504040204" pitchFamily="50" charset="-128"/>
                <a:ea typeface="Meiryo UI" panose="020B0604030504040204" pitchFamily="50" charset="-128"/>
              </a:rPr>
              <a:t>2026/5/19</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61" name="正方形/長方形 60">
            <a:extLst>
              <a:ext uri="{FF2B5EF4-FFF2-40B4-BE49-F238E27FC236}">
                <a16:creationId xmlns:a16="http://schemas.microsoft.com/office/drawing/2014/main" id="{6114D113-D87E-0552-46BB-570A8420D0CF}"/>
              </a:ext>
            </a:extLst>
          </p:cNvPr>
          <p:cNvSpPr/>
          <p:nvPr/>
        </p:nvSpPr>
        <p:spPr>
          <a:xfrm>
            <a:off x="10159149" y="5313369"/>
            <a:ext cx="1769074"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Ｘｘｘｘ</a:t>
            </a:r>
          </a:p>
        </p:txBody>
      </p:sp>
      <p:sp>
        <p:nvSpPr>
          <p:cNvPr id="62" name="正方形/長方形 61">
            <a:extLst>
              <a:ext uri="{FF2B5EF4-FFF2-40B4-BE49-F238E27FC236}">
                <a16:creationId xmlns:a16="http://schemas.microsoft.com/office/drawing/2014/main" id="{86D702ED-CCCE-1D90-C6F5-FB438BA83A28}"/>
              </a:ext>
            </a:extLst>
          </p:cNvPr>
          <p:cNvSpPr/>
          <p:nvPr/>
        </p:nvSpPr>
        <p:spPr>
          <a:xfrm>
            <a:off x="437564" y="5637690"/>
            <a:ext cx="1540478" cy="266835"/>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黄色</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63" name="正方形/長方形 62">
            <a:extLst>
              <a:ext uri="{FF2B5EF4-FFF2-40B4-BE49-F238E27FC236}">
                <a16:creationId xmlns:a16="http://schemas.microsoft.com/office/drawing/2014/main" id="{13A2B17E-D2D9-33F4-282B-C2D47BEBAB25}"/>
              </a:ext>
            </a:extLst>
          </p:cNvPr>
          <p:cNvSpPr/>
          <p:nvPr/>
        </p:nvSpPr>
        <p:spPr>
          <a:xfrm>
            <a:off x="2095433" y="5647532"/>
            <a:ext cx="2230630"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R70519</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64" name="正方形/長方形 63">
            <a:extLst>
              <a:ext uri="{FF2B5EF4-FFF2-40B4-BE49-F238E27FC236}">
                <a16:creationId xmlns:a16="http://schemas.microsoft.com/office/drawing/2014/main" id="{B3270855-E8A8-4DAC-4BF9-761557631D2C}"/>
              </a:ext>
            </a:extLst>
          </p:cNvPr>
          <p:cNvSpPr/>
          <p:nvPr/>
        </p:nvSpPr>
        <p:spPr>
          <a:xfrm>
            <a:off x="4443454" y="5647532"/>
            <a:ext cx="1769074"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福島案件</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65" name="正方形/長方形 64">
            <a:extLst>
              <a:ext uri="{FF2B5EF4-FFF2-40B4-BE49-F238E27FC236}">
                <a16:creationId xmlns:a16="http://schemas.microsoft.com/office/drawing/2014/main" id="{67CCDC10-6206-80E2-C980-7D95E44231EE}"/>
              </a:ext>
            </a:extLst>
          </p:cNvPr>
          <p:cNvSpPr/>
          <p:nvPr/>
        </p:nvSpPr>
        <p:spPr>
          <a:xfrm>
            <a:off x="6372527" y="5647532"/>
            <a:ext cx="1769074"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福島優</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66" name="正方形/長方形 65">
            <a:extLst>
              <a:ext uri="{FF2B5EF4-FFF2-40B4-BE49-F238E27FC236}">
                <a16:creationId xmlns:a16="http://schemas.microsoft.com/office/drawing/2014/main" id="{2BC8EC94-2618-DE4F-55B7-BF77B7355D67}"/>
              </a:ext>
            </a:extLst>
          </p:cNvPr>
          <p:cNvSpPr/>
          <p:nvPr/>
        </p:nvSpPr>
        <p:spPr>
          <a:xfrm>
            <a:off x="8293373" y="5637690"/>
            <a:ext cx="1769074"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latin typeface="Meiryo UI" panose="020B0604030504040204" pitchFamily="50" charset="-128"/>
                <a:ea typeface="Meiryo UI" panose="020B0604030504040204" pitchFamily="50" charset="-128"/>
              </a:rPr>
              <a:t>2026/5/19</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67" name="正方形/長方形 66">
            <a:extLst>
              <a:ext uri="{FF2B5EF4-FFF2-40B4-BE49-F238E27FC236}">
                <a16:creationId xmlns:a16="http://schemas.microsoft.com/office/drawing/2014/main" id="{283D8FF7-D148-D912-4397-81F021344A31}"/>
              </a:ext>
            </a:extLst>
          </p:cNvPr>
          <p:cNvSpPr/>
          <p:nvPr/>
        </p:nvSpPr>
        <p:spPr>
          <a:xfrm>
            <a:off x="10159149" y="5637690"/>
            <a:ext cx="1769074"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Ｘｘｘｘ</a:t>
            </a:r>
          </a:p>
        </p:txBody>
      </p:sp>
      <p:sp>
        <p:nvSpPr>
          <p:cNvPr id="68" name="正方形/長方形 67">
            <a:extLst>
              <a:ext uri="{FF2B5EF4-FFF2-40B4-BE49-F238E27FC236}">
                <a16:creationId xmlns:a16="http://schemas.microsoft.com/office/drawing/2014/main" id="{B88731AC-B73B-4D9F-27E2-45B2F75D4B19}"/>
              </a:ext>
            </a:extLst>
          </p:cNvPr>
          <p:cNvSpPr/>
          <p:nvPr/>
        </p:nvSpPr>
        <p:spPr>
          <a:xfrm>
            <a:off x="437564" y="5962010"/>
            <a:ext cx="1540478" cy="266835"/>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青</a:t>
            </a:r>
            <a:endParaRPr kumimoji="1" lang="ja-JP" altLang="en-US" sz="1200" dirty="0">
              <a:solidFill>
                <a:schemeClr val="bg1"/>
              </a:solidFill>
              <a:latin typeface="Meiryo UI" panose="020B0604030504040204" pitchFamily="50" charset="-128"/>
              <a:ea typeface="Meiryo UI" panose="020B0604030504040204" pitchFamily="50" charset="-128"/>
            </a:endParaRPr>
          </a:p>
        </p:txBody>
      </p:sp>
      <p:sp>
        <p:nvSpPr>
          <p:cNvPr id="69" name="正方形/長方形 68">
            <a:extLst>
              <a:ext uri="{FF2B5EF4-FFF2-40B4-BE49-F238E27FC236}">
                <a16:creationId xmlns:a16="http://schemas.microsoft.com/office/drawing/2014/main" id="{991D837C-A2CD-DE2D-BF24-F391CEB52748}"/>
              </a:ext>
            </a:extLst>
          </p:cNvPr>
          <p:cNvSpPr/>
          <p:nvPr/>
        </p:nvSpPr>
        <p:spPr>
          <a:xfrm>
            <a:off x="2095433" y="5971852"/>
            <a:ext cx="2230630"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R70519</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70" name="正方形/長方形 69">
            <a:extLst>
              <a:ext uri="{FF2B5EF4-FFF2-40B4-BE49-F238E27FC236}">
                <a16:creationId xmlns:a16="http://schemas.microsoft.com/office/drawing/2014/main" id="{92E4BCFA-BC87-1BEB-4137-9F7617EE5B82}"/>
              </a:ext>
            </a:extLst>
          </p:cNvPr>
          <p:cNvSpPr/>
          <p:nvPr/>
        </p:nvSpPr>
        <p:spPr>
          <a:xfrm>
            <a:off x="4443454" y="5971852"/>
            <a:ext cx="1769074"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福島案件</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71" name="正方形/長方形 70">
            <a:extLst>
              <a:ext uri="{FF2B5EF4-FFF2-40B4-BE49-F238E27FC236}">
                <a16:creationId xmlns:a16="http://schemas.microsoft.com/office/drawing/2014/main" id="{B45A87BD-6E47-A262-3EBE-5A44ECB9507F}"/>
              </a:ext>
            </a:extLst>
          </p:cNvPr>
          <p:cNvSpPr/>
          <p:nvPr/>
        </p:nvSpPr>
        <p:spPr>
          <a:xfrm>
            <a:off x="6372527" y="5971852"/>
            <a:ext cx="1769074"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福島優</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72" name="正方形/長方形 71">
            <a:extLst>
              <a:ext uri="{FF2B5EF4-FFF2-40B4-BE49-F238E27FC236}">
                <a16:creationId xmlns:a16="http://schemas.microsoft.com/office/drawing/2014/main" id="{76122AA2-0AD5-A3CF-8CC1-4123927DA849}"/>
              </a:ext>
            </a:extLst>
          </p:cNvPr>
          <p:cNvSpPr/>
          <p:nvPr/>
        </p:nvSpPr>
        <p:spPr>
          <a:xfrm>
            <a:off x="8293373" y="5962010"/>
            <a:ext cx="1769074"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latin typeface="Meiryo UI" panose="020B0604030504040204" pitchFamily="50" charset="-128"/>
                <a:ea typeface="Meiryo UI" panose="020B0604030504040204" pitchFamily="50" charset="-128"/>
              </a:rPr>
              <a:t>2026/5/19</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73" name="正方形/長方形 72">
            <a:extLst>
              <a:ext uri="{FF2B5EF4-FFF2-40B4-BE49-F238E27FC236}">
                <a16:creationId xmlns:a16="http://schemas.microsoft.com/office/drawing/2014/main" id="{F26BC511-0092-7378-0BD8-67B6C718B5B1}"/>
              </a:ext>
            </a:extLst>
          </p:cNvPr>
          <p:cNvSpPr/>
          <p:nvPr/>
        </p:nvSpPr>
        <p:spPr>
          <a:xfrm>
            <a:off x="10159149" y="5962010"/>
            <a:ext cx="1769074"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Ｘｘｘｘ</a:t>
            </a:r>
          </a:p>
        </p:txBody>
      </p:sp>
      <p:cxnSp>
        <p:nvCxnSpPr>
          <p:cNvPr id="76" name="直線コネクタ 75">
            <a:extLst>
              <a:ext uri="{FF2B5EF4-FFF2-40B4-BE49-F238E27FC236}">
                <a16:creationId xmlns:a16="http://schemas.microsoft.com/office/drawing/2014/main" id="{F1BB0DD9-530F-5F6F-153A-D8FA502D32A1}"/>
              </a:ext>
            </a:extLst>
          </p:cNvPr>
          <p:cNvCxnSpPr>
            <a:cxnSpLocks/>
            <a:stCxn id="75" idx="0"/>
          </p:cNvCxnSpPr>
          <p:nvPr/>
        </p:nvCxnSpPr>
        <p:spPr>
          <a:xfrm flipH="1" flipV="1">
            <a:off x="3933894" y="6080150"/>
            <a:ext cx="155127" cy="158537"/>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 name="正方形/長方形 1">
            <a:extLst>
              <a:ext uri="{FF2B5EF4-FFF2-40B4-BE49-F238E27FC236}">
                <a16:creationId xmlns:a16="http://schemas.microsoft.com/office/drawing/2014/main" id="{ABAAD153-228D-BEDD-CE98-4DA04D51421C}"/>
              </a:ext>
            </a:extLst>
          </p:cNvPr>
          <p:cNvSpPr/>
          <p:nvPr/>
        </p:nvSpPr>
        <p:spPr>
          <a:xfrm>
            <a:off x="6809717" y="158352"/>
            <a:ext cx="2061133" cy="814628"/>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紫、クレーム案件を追加</a:t>
            </a:r>
          </a:p>
        </p:txBody>
      </p:sp>
      <p:cxnSp>
        <p:nvCxnSpPr>
          <p:cNvPr id="3" name="直線コネクタ 2">
            <a:extLst>
              <a:ext uri="{FF2B5EF4-FFF2-40B4-BE49-F238E27FC236}">
                <a16:creationId xmlns:a16="http://schemas.microsoft.com/office/drawing/2014/main" id="{11B048DF-7445-E105-8189-4203E53B9449}"/>
              </a:ext>
            </a:extLst>
          </p:cNvPr>
          <p:cNvCxnSpPr>
            <a:cxnSpLocks/>
          </p:cNvCxnSpPr>
          <p:nvPr/>
        </p:nvCxnSpPr>
        <p:spPr>
          <a:xfrm flipH="1">
            <a:off x="6651100" y="590674"/>
            <a:ext cx="158617" cy="407314"/>
          </a:xfrm>
          <a:prstGeom prst="line">
            <a:avLst/>
          </a:prstGeom>
          <a:ln>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30" name="正方形/長方形 29">
            <a:extLst>
              <a:ext uri="{FF2B5EF4-FFF2-40B4-BE49-F238E27FC236}">
                <a16:creationId xmlns:a16="http://schemas.microsoft.com/office/drawing/2014/main" id="{E782A9EA-A6E9-FD22-E8CF-21B68A9A8846}"/>
              </a:ext>
            </a:extLst>
          </p:cNvPr>
          <p:cNvSpPr/>
          <p:nvPr/>
        </p:nvSpPr>
        <p:spPr>
          <a:xfrm>
            <a:off x="9576531" y="1052547"/>
            <a:ext cx="1165235"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請求件数</a:t>
            </a:r>
          </a:p>
        </p:txBody>
      </p:sp>
      <p:sp>
        <p:nvSpPr>
          <p:cNvPr id="35" name="四角形: 角を丸くする 34">
            <a:extLst>
              <a:ext uri="{FF2B5EF4-FFF2-40B4-BE49-F238E27FC236}">
                <a16:creationId xmlns:a16="http://schemas.microsoft.com/office/drawing/2014/main" id="{4D7E1B42-A316-EABD-22CD-27B82333EE0B}"/>
              </a:ext>
            </a:extLst>
          </p:cNvPr>
          <p:cNvSpPr/>
          <p:nvPr/>
        </p:nvSpPr>
        <p:spPr>
          <a:xfrm>
            <a:off x="9576531" y="1565663"/>
            <a:ext cx="1165235"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chemeClr val="tx1"/>
                </a:solidFill>
              </a:rPr>
              <a:t>20</a:t>
            </a:r>
            <a:r>
              <a:rPr lang="ja-JP" altLang="en-US" dirty="0">
                <a:solidFill>
                  <a:schemeClr val="tx1"/>
                </a:solidFill>
              </a:rPr>
              <a:t>件</a:t>
            </a:r>
            <a:r>
              <a:rPr lang="en-US" altLang="ja-JP" dirty="0">
                <a:solidFill>
                  <a:schemeClr val="tx1"/>
                </a:solidFill>
              </a:rPr>
              <a:t>/</a:t>
            </a:r>
            <a:r>
              <a:rPr lang="ja-JP" altLang="en-US" dirty="0">
                <a:solidFill>
                  <a:schemeClr val="tx1"/>
                </a:solidFill>
              </a:rPr>
              <a:t>月</a:t>
            </a:r>
          </a:p>
        </p:txBody>
      </p:sp>
      <p:sp>
        <p:nvSpPr>
          <p:cNvPr id="48" name="正方形/長方形 47">
            <a:extLst>
              <a:ext uri="{FF2B5EF4-FFF2-40B4-BE49-F238E27FC236}">
                <a16:creationId xmlns:a16="http://schemas.microsoft.com/office/drawing/2014/main" id="{9682400C-86F5-05EF-8CB8-484EBB46352A}"/>
              </a:ext>
            </a:extLst>
          </p:cNvPr>
          <p:cNvSpPr/>
          <p:nvPr/>
        </p:nvSpPr>
        <p:spPr>
          <a:xfrm>
            <a:off x="9611242" y="2520630"/>
            <a:ext cx="1165235" cy="814628"/>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900" dirty="0">
                <a:solidFill>
                  <a:schemeClr val="tx1"/>
                </a:solidFill>
                <a:latin typeface="Meiryo UI" panose="020B0604030504040204" pitchFamily="50" charset="-128"/>
                <a:ea typeface="Meiryo UI" panose="020B0604030504040204" pitchFamily="50" charset="-128"/>
              </a:rPr>
              <a:t>請求書を送付した件数</a:t>
            </a:r>
            <a:endParaRPr lang="en-US" altLang="ja-JP" sz="9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900" dirty="0">
                <a:solidFill>
                  <a:schemeClr val="tx1"/>
                </a:solidFill>
                <a:latin typeface="Meiryo UI" panose="020B0604030504040204" pitchFamily="50" charset="-128"/>
                <a:ea typeface="Meiryo UI" panose="020B0604030504040204" pitchFamily="50" charset="-128"/>
              </a:rPr>
              <a:t>クリックすると、請求タブにリンクするようにして</a:t>
            </a:r>
          </a:p>
        </p:txBody>
      </p:sp>
      <p:cxnSp>
        <p:nvCxnSpPr>
          <p:cNvPr id="49" name="直線コネクタ 48">
            <a:extLst>
              <a:ext uri="{FF2B5EF4-FFF2-40B4-BE49-F238E27FC236}">
                <a16:creationId xmlns:a16="http://schemas.microsoft.com/office/drawing/2014/main" id="{BD5C079B-FE94-21A0-31C3-724966F8FBE8}"/>
              </a:ext>
            </a:extLst>
          </p:cNvPr>
          <p:cNvCxnSpPr>
            <a:stCxn id="48" idx="0"/>
          </p:cNvCxnSpPr>
          <p:nvPr/>
        </p:nvCxnSpPr>
        <p:spPr>
          <a:xfrm flipV="1">
            <a:off x="10193861"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cxnSp>
        <p:nvCxnSpPr>
          <p:cNvPr id="74" name="直線コネクタ 73">
            <a:extLst>
              <a:ext uri="{FF2B5EF4-FFF2-40B4-BE49-F238E27FC236}">
                <a16:creationId xmlns:a16="http://schemas.microsoft.com/office/drawing/2014/main" id="{3EC1005A-6D47-D5FA-7421-E8E2A132D2BB}"/>
              </a:ext>
            </a:extLst>
          </p:cNvPr>
          <p:cNvCxnSpPr/>
          <p:nvPr/>
        </p:nvCxnSpPr>
        <p:spPr>
          <a:xfrm flipV="1">
            <a:off x="9890506"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77" name="正方形/長方形 76">
            <a:extLst>
              <a:ext uri="{FF2B5EF4-FFF2-40B4-BE49-F238E27FC236}">
                <a16:creationId xmlns:a16="http://schemas.microsoft.com/office/drawing/2014/main" id="{C2796E41-ED8A-AB84-385E-2C9021B1502E}"/>
              </a:ext>
            </a:extLst>
          </p:cNvPr>
          <p:cNvSpPr/>
          <p:nvPr/>
        </p:nvSpPr>
        <p:spPr>
          <a:xfrm>
            <a:off x="427597" y="4019064"/>
            <a:ext cx="1540478" cy="266835"/>
          </a:xfrm>
          <a:prstGeom prst="rect">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Meiryo UI" panose="020B0604030504040204" pitchFamily="50" charset="-128"/>
                <a:ea typeface="Meiryo UI" panose="020B0604030504040204" pitchFamily="50" charset="-128"/>
              </a:rPr>
              <a:t>紫</a:t>
            </a:r>
          </a:p>
        </p:txBody>
      </p:sp>
      <p:sp>
        <p:nvSpPr>
          <p:cNvPr id="78" name="正方形/長方形 77">
            <a:extLst>
              <a:ext uri="{FF2B5EF4-FFF2-40B4-BE49-F238E27FC236}">
                <a16:creationId xmlns:a16="http://schemas.microsoft.com/office/drawing/2014/main" id="{E90608B1-580A-7AA6-E1D8-34A86F219881}"/>
              </a:ext>
            </a:extLst>
          </p:cNvPr>
          <p:cNvSpPr/>
          <p:nvPr/>
        </p:nvSpPr>
        <p:spPr>
          <a:xfrm>
            <a:off x="2085466" y="4028906"/>
            <a:ext cx="2230630"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R70519</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79" name="正方形/長方形 78">
            <a:extLst>
              <a:ext uri="{FF2B5EF4-FFF2-40B4-BE49-F238E27FC236}">
                <a16:creationId xmlns:a16="http://schemas.microsoft.com/office/drawing/2014/main" id="{FBC61D4B-FE14-433B-A261-02210A429F2B}"/>
              </a:ext>
            </a:extLst>
          </p:cNvPr>
          <p:cNvSpPr/>
          <p:nvPr/>
        </p:nvSpPr>
        <p:spPr>
          <a:xfrm>
            <a:off x="4433487" y="4028906"/>
            <a:ext cx="1769074"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福島案件</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80" name="正方形/長方形 79">
            <a:extLst>
              <a:ext uri="{FF2B5EF4-FFF2-40B4-BE49-F238E27FC236}">
                <a16:creationId xmlns:a16="http://schemas.microsoft.com/office/drawing/2014/main" id="{26C2EACB-FCDA-7860-069E-F1CE55C7BECC}"/>
              </a:ext>
            </a:extLst>
          </p:cNvPr>
          <p:cNvSpPr/>
          <p:nvPr/>
        </p:nvSpPr>
        <p:spPr>
          <a:xfrm>
            <a:off x="6362560" y="4028906"/>
            <a:ext cx="1769074"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福島優</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81" name="正方形/長方形 80">
            <a:extLst>
              <a:ext uri="{FF2B5EF4-FFF2-40B4-BE49-F238E27FC236}">
                <a16:creationId xmlns:a16="http://schemas.microsoft.com/office/drawing/2014/main" id="{E2BDB397-15EE-F137-8F9C-2129827DDAC8}"/>
              </a:ext>
            </a:extLst>
          </p:cNvPr>
          <p:cNvSpPr/>
          <p:nvPr/>
        </p:nvSpPr>
        <p:spPr>
          <a:xfrm>
            <a:off x="8283406" y="4019064"/>
            <a:ext cx="1769074"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latin typeface="Meiryo UI" panose="020B0604030504040204" pitchFamily="50" charset="-128"/>
                <a:ea typeface="Meiryo UI" panose="020B0604030504040204" pitchFamily="50" charset="-128"/>
              </a:rPr>
              <a:t>2026/5/19</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82" name="正方形/長方形 81">
            <a:extLst>
              <a:ext uri="{FF2B5EF4-FFF2-40B4-BE49-F238E27FC236}">
                <a16:creationId xmlns:a16="http://schemas.microsoft.com/office/drawing/2014/main" id="{A59E71FC-11F4-D1AF-4727-6FDE137A1B03}"/>
              </a:ext>
            </a:extLst>
          </p:cNvPr>
          <p:cNvSpPr/>
          <p:nvPr/>
        </p:nvSpPr>
        <p:spPr>
          <a:xfrm>
            <a:off x="10149182" y="4019064"/>
            <a:ext cx="1769074"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Ｘｘｘｘ</a:t>
            </a:r>
          </a:p>
        </p:txBody>
      </p:sp>
      <p:sp>
        <p:nvSpPr>
          <p:cNvPr id="83" name="正方形/長方形 82">
            <a:extLst>
              <a:ext uri="{FF2B5EF4-FFF2-40B4-BE49-F238E27FC236}">
                <a16:creationId xmlns:a16="http://schemas.microsoft.com/office/drawing/2014/main" id="{CDA8D275-A5B0-8FEF-12FF-C7B45E180E94}"/>
              </a:ext>
            </a:extLst>
          </p:cNvPr>
          <p:cNvSpPr/>
          <p:nvPr/>
        </p:nvSpPr>
        <p:spPr>
          <a:xfrm>
            <a:off x="437564" y="4344968"/>
            <a:ext cx="1540478" cy="266835"/>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赤</a:t>
            </a:r>
            <a:endParaRPr kumimoji="1" lang="ja-JP" altLang="en-US" sz="1200" dirty="0">
              <a:solidFill>
                <a:schemeClr val="bg1"/>
              </a:solidFill>
              <a:latin typeface="Meiryo UI" panose="020B0604030504040204" pitchFamily="50" charset="-128"/>
              <a:ea typeface="Meiryo UI" panose="020B0604030504040204" pitchFamily="50" charset="-128"/>
            </a:endParaRPr>
          </a:p>
        </p:txBody>
      </p:sp>
      <p:sp>
        <p:nvSpPr>
          <p:cNvPr id="84" name="正方形/長方形 83">
            <a:extLst>
              <a:ext uri="{FF2B5EF4-FFF2-40B4-BE49-F238E27FC236}">
                <a16:creationId xmlns:a16="http://schemas.microsoft.com/office/drawing/2014/main" id="{53C258F4-F996-8CAB-D726-23AC1396E7F6}"/>
              </a:ext>
            </a:extLst>
          </p:cNvPr>
          <p:cNvSpPr/>
          <p:nvPr/>
        </p:nvSpPr>
        <p:spPr>
          <a:xfrm>
            <a:off x="2095433" y="4354810"/>
            <a:ext cx="2230630"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R70519</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85" name="正方形/長方形 84">
            <a:extLst>
              <a:ext uri="{FF2B5EF4-FFF2-40B4-BE49-F238E27FC236}">
                <a16:creationId xmlns:a16="http://schemas.microsoft.com/office/drawing/2014/main" id="{1E37567D-56D9-E50D-25BD-BC0A5AD21928}"/>
              </a:ext>
            </a:extLst>
          </p:cNvPr>
          <p:cNvSpPr/>
          <p:nvPr/>
        </p:nvSpPr>
        <p:spPr>
          <a:xfrm>
            <a:off x="4443454" y="4354810"/>
            <a:ext cx="1769074"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福島案件</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86" name="正方形/長方形 85">
            <a:extLst>
              <a:ext uri="{FF2B5EF4-FFF2-40B4-BE49-F238E27FC236}">
                <a16:creationId xmlns:a16="http://schemas.microsoft.com/office/drawing/2014/main" id="{664947E4-51FE-3526-F6BA-5D5A935740F5}"/>
              </a:ext>
            </a:extLst>
          </p:cNvPr>
          <p:cNvSpPr/>
          <p:nvPr/>
        </p:nvSpPr>
        <p:spPr>
          <a:xfrm>
            <a:off x="6372527" y="4354810"/>
            <a:ext cx="1769074"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福島優</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87" name="正方形/長方形 86">
            <a:extLst>
              <a:ext uri="{FF2B5EF4-FFF2-40B4-BE49-F238E27FC236}">
                <a16:creationId xmlns:a16="http://schemas.microsoft.com/office/drawing/2014/main" id="{A0B37B39-8584-2577-5E76-AB39DB26897B}"/>
              </a:ext>
            </a:extLst>
          </p:cNvPr>
          <p:cNvSpPr/>
          <p:nvPr/>
        </p:nvSpPr>
        <p:spPr>
          <a:xfrm>
            <a:off x="8293373" y="4344968"/>
            <a:ext cx="1769074"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latin typeface="Meiryo UI" panose="020B0604030504040204" pitchFamily="50" charset="-128"/>
                <a:ea typeface="Meiryo UI" panose="020B0604030504040204" pitchFamily="50" charset="-128"/>
              </a:rPr>
              <a:t>2026/5/19</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88" name="正方形/長方形 87">
            <a:extLst>
              <a:ext uri="{FF2B5EF4-FFF2-40B4-BE49-F238E27FC236}">
                <a16:creationId xmlns:a16="http://schemas.microsoft.com/office/drawing/2014/main" id="{47C46D90-52D8-41D6-B8EB-F77C89D168E8}"/>
              </a:ext>
            </a:extLst>
          </p:cNvPr>
          <p:cNvSpPr/>
          <p:nvPr/>
        </p:nvSpPr>
        <p:spPr>
          <a:xfrm>
            <a:off x="10159149" y="4344968"/>
            <a:ext cx="1769074" cy="266835"/>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Ｘｘｘｘ</a:t>
            </a:r>
          </a:p>
        </p:txBody>
      </p:sp>
      <p:sp>
        <p:nvSpPr>
          <p:cNvPr id="89" name="正方形/長方形 88">
            <a:extLst>
              <a:ext uri="{FF2B5EF4-FFF2-40B4-BE49-F238E27FC236}">
                <a16:creationId xmlns:a16="http://schemas.microsoft.com/office/drawing/2014/main" id="{CBAF41C0-ADB7-F0FB-3EE3-D371EF8BCFB5}"/>
              </a:ext>
            </a:extLst>
          </p:cNvPr>
          <p:cNvSpPr/>
          <p:nvPr/>
        </p:nvSpPr>
        <p:spPr>
          <a:xfrm>
            <a:off x="-1280829" y="2927944"/>
            <a:ext cx="2061133" cy="814628"/>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クレーム案件を紫にするんです。案件詳細の依頼者情報のクレームの欄に記載がある案件をここに表示。</a:t>
            </a:r>
          </a:p>
        </p:txBody>
      </p:sp>
      <p:cxnSp>
        <p:nvCxnSpPr>
          <p:cNvPr id="90" name="直線コネクタ 89">
            <a:extLst>
              <a:ext uri="{FF2B5EF4-FFF2-40B4-BE49-F238E27FC236}">
                <a16:creationId xmlns:a16="http://schemas.microsoft.com/office/drawing/2014/main" id="{670A8D96-4DE8-6D73-692A-749ED81BA9E3}"/>
              </a:ext>
            </a:extLst>
          </p:cNvPr>
          <p:cNvCxnSpPr>
            <a:cxnSpLocks/>
            <a:stCxn id="89" idx="2"/>
            <a:endCxn id="77" idx="1"/>
          </p:cNvCxnSpPr>
          <p:nvPr/>
        </p:nvCxnSpPr>
        <p:spPr>
          <a:xfrm>
            <a:off x="-250262" y="3742572"/>
            <a:ext cx="677859" cy="409910"/>
          </a:xfrm>
          <a:prstGeom prst="line">
            <a:avLst/>
          </a:prstGeom>
          <a:ln>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206986025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03FE26A1-9646-6AC9-CCC1-76E53FE9F241}"/>
            </a:ext>
          </a:extLst>
        </p:cNvPr>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32389225-7B7E-F556-35BD-1C939CCBB2F0}"/>
              </a:ext>
            </a:extLst>
          </p:cNvPr>
          <p:cNvSpPr txBox="1"/>
          <p:nvPr/>
        </p:nvSpPr>
        <p:spPr>
          <a:xfrm>
            <a:off x="427597" y="368391"/>
            <a:ext cx="2523448" cy="369332"/>
          </a:xfrm>
          <a:prstGeom prst="rect">
            <a:avLst/>
          </a:prstGeom>
          <a:noFill/>
        </p:spPr>
        <p:txBody>
          <a:bodyPr wrap="none" rtlCol="0">
            <a:spAutoFit/>
          </a:bodyPr>
          <a:lstStyle/>
          <a:p>
            <a:r>
              <a:rPr kumimoji="1" lang="ja-JP" altLang="en-US" b="1" dirty="0">
                <a:latin typeface="Meiryo UI" panose="020B0604030504040204" pitchFamily="50" charset="-128"/>
                <a:ea typeface="Meiryo UI" panose="020B0604030504040204" pitchFamily="50" charset="-128"/>
              </a:rPr>
              <a:t>福島優　進捗管理ボード</a:t>
            </a:r>
          </a:p>
        </p:txBody>
      </p:sp>
      <p:sp>
        <p:nvSpPr>
          <p:cNvPr id="5" name="正方形/長方形 4">
            <a:extLst>
              <a:ext uri="{FF2B5EF4-FFF2-40B4-BE49-F238E27FC236}">
                <a16:creationId xmlns:a16="http://schemas.microsoft.com/office/drawing/2014/main" id="{BFFC3111-C543-731D-0FEB-A8CCB996F2CB}"/>
              </a:ext>
            </a:extLst>
          </p:cNvPr>
          <p:cNvSpPr/>
          <p:nvPr/>
        </p:nvSpPr>
        <p:spPr>
          <a:xfrm>
            <a:off x="552587" y="1052547"/>
            <a:ext cx="1493688"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担当件数</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6" name="正方形/長方形 5">
            <a:extLst>
              <a:ext uri="{FF2B5EF4-FFF2-40B4-BE49-F238E27FC236}">
                <a16:creationId xmlns:a16="http://schemas.microsoft.com/office/drawing/2014/main" id="{AACCC4A2-3939-28FF-1ED4-3A06486B4EDB}"/>
              </a:ext>
            </a:extLst>
          </p:cNvPr>
          <p:cNvSpPr/>
          <p:nvPr/>
        </p:nvSpPr>
        <p:spPr>
          <a:xfrm>
            <a:off x="2176677" y="1052547"/>
            <a:ext cx="1493688"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青件数</a:t>
            </a:r>
          </a:p>
        </p:txBody>
      </p:sp>
      <p:sp>
        <p:nvSpPr>
          <p:cNvPr id="7" name="正方形/長方形 6">
            <a:extLst>
              <a:ext uri="{FF2B5EF4-FFF2-40B4-BE49-F238E27FC236}">
                <a16:creationId xmlns:a16="http://schemas.microsoft.com/office/drawing/2014/main" id="{7675C957-BAE1-D897-61F4-E73C1B974350}"/>
              </a:ext>
            </a:extLst>
          </p:cNvPr>
          <p:cNvSpPr/>
          <p:nvPr/>
        </p:nvSpPr>
        <p:spPr>
          <a:xfrm>
            <a:off x="3800766" y="1052547"/>
            <a:ext cx="1493688"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黄色件数</a:t>
            </a:r>
          </a:p>
        </p:txBody>
      </p:sp>
      <p:sp>
        <p:nvSpPr>
          <p:cNvPr id="8" name="四角形: 角を丸くする 7">
            <a:extLst>
              <a:ext uri="{FF2B5EF4-FFF2-40B4-BE49-F238E27FC236}">
                <a16:creationId xmlns:a16="http://schemas.microsoft.com/office/drawing/2014/main" id="{2D90B5E7-7E26-77B1-0D4D-6A37B0B098BF}"/>
              </a:ext>
            </a:extLst>
          </p:cNvPr>
          <p:cNvSpPr/>
          <p:nvPr/>
        </p:nvSpPr>
        <p:spPr>
          <a:xfrm>
            <a:off x="552587" y="1565663"/>
            <a:ext cx="1493688"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50</a:t>
            </a:r>
            <a:r>
              <a:rPr kumimoji="1" lang="ja-JP" altLang="en-US" sz="1200" dirty="0">
                <a:solidFill>
                  <a:schemeClr val="tx1"/>
                </a:solidFill>
              </a:rPr>
              <a:t>件</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9" name="四角形: 角を丸くする 8">
            <a:extLst>
              <a:ext uri="{FF2B5EF4-FFF2-40B4-BE49-F238E27FC236}">
                <a16:creationId xmlns:a16="http://schemas.microsoft.com/office/drawing/2014/main" id="{467F68FF-8EB8-6D09-23F5-F7D7EC65265A}"/>
              </a:ext>
            </a:extLst>
          </p:cNvPr>
          <p:cNvSpPr/>
          <p:nvPr/>
        </p:nvSpPr>
        <p:spPr>
          <a:xfrm>
            <a:off x="2176677" y="1565663"/>
            <a:ext cx="1493688"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12</a:t>
            </a:r>
            <a:r>
              <a:rPr kumimoji="1" lang="ja-JP" altLang="en-US" sz="1200" dirty="0">
                <a:solidFill>
                  <a:schemeClr val="tx1"/>
                </a:solidFill>
              </a:rPr>
              <a:t>件</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10" name="四角形: 角を丸くする 9">
            <a:extLst>
              <a:ext uri="{FF2B5EF4-FFF2-40B4-BE49-F238E27FC236}">
                <a16:creationId xmlns:a16="http://schemas.microsoft.com/office/drawing/2014/main" id="{666800E0-A412-1DC3-5D3D-4290983BF6EA}"/>
              </a:ext>
            </a:extLst>
          </p:cNvPr>
          <p:cNvSpPr/>
          <p:nvPr/>
        </p:nvSpPr>
        <p:spPr>
          <a:xfrm>
            <a:off x="3800766" y="1565663"/>
            <a:ext cx="1493688"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chemeClr val="tx1"/>
                </a:solidFill>
              </a:rPr>
              <a:t>20</a:t>
            </a:r>
            <a:r>
              <a:rPr kumimoji="1" lang="ja-JP" altLang="en-US" sz="1200" dirty="0">
                <a:solidFill>
                  <a:schemeClr val="tx1"/>
                </a:solidFill>
              </a:rPr>
              <a:t>件</a:t>
            </a:r>
            <a:r>
              <a:rPr kumimoji="1" lang="en-US" altLang="ja-JP" sz="1200" dirty="0">
                <a:solidFill>
                  <a:schemeClr val="tx1"/>
                </a:solidFill>
              </a:rPr>
              <a:t>/</a:t>
            </a:r>
            <a:r>
              <a:rPr lang="ja-JP" altLang="en-US" sz="1200" dirty="0">
                <a:solidFill>
                  <a:schemeClr val="tx1"/>
                </a:solidFill>
              </a:rPr>
              <a:t>月</a:t>
            </a:r>
            <a:endParaRPr kumimoji="1" lang="ja-JP" altLang="en-US" sz="1200" dirty="0">
              <a:solidFill>
                <a:schemeClr val="tx1"/>
              </a:solidFill>
            </a:endParaRPr>
          </a:p>
        </p:txBody>
      </p:sp>
      <p:sp>
        <p:nvSpPr>
          <p:cNvPr id="11" name="正方形/長方形 10">
            <a:extLst>
              <a:ext uri="{FF2B5EF4-FFF2-40B4-BE49-F238E27FC236}">
                <a16:creationId xmlns:a16="http://schemas.microsoft.com/office/drawing/2014/main" id="{9FC8E047-A3F6-3EDC-FB77-5CD894938415}"/>
              </a:ext>
            </a:extLst>
          </p:cNvPr>
          <p:cNvSpPr/>
          <p:nvPr/>
        </p:nvSpPr>
        <p:spPr>
          <a:xfrm>
            <a:off x="552587" y="2520630"/>
            <a:ext cx="1493688"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このチームに割り当てられた当月の案件数の合計</a:t>
            </a:r>
          </a:p>
        </p:txBody>
      </p:sp>
      <p:cxnSp>
        <p:nvCxnSpPr>
          <p:cNvPr id="12" name="直線コネクタ 11">
            <a:extLst>
              <a:ext uri="{FF2B5EF4-FFF2-40B4-BE49-F238E27FC236}">
                <a16:creationId xmlns:a16="http://schemas.microsoft.com/office/drawing/2014/main" id="{21504E71-47C0-0791-D6F7-2B890F261EC9}"/>
              </a:ext>
            </a:extLst>
          </p:cNvPr>
          <p:cNvCxnSpPr>
            <a:stCxn id="11" idx="0"/>
            <a:endCxn id="8" idx="2"/>
          </p:cNvCxnSpPr>
          <p:nvPr/>
        </p:nvCxnSpPr>
        <p:spPr>
          <a:xfrm flipV="1">
            <a:off x="1299431"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3" name="正方形/長方形 12">
            <a:extLst>
              <a:ext uri="{FF2B5EF4-FFF2-40B4-BE49-F238E27FC236}">
                <a16:creationId xmlns:a16="http://schemas.microsoft.com/office/drawing/2014/main" id="{E9FEF8BD-5A76-3129-7119-C9F8CC978441}"/>
              </a:ext>
            </a:extLst>
          </p:cNvPr>
          <p:cNvSpPr/>
          <p:nvPr/>
        </p:nvSpPr>
        <p:spPr>
          <a:xfrm>
            <a:off x="2178187" y="2520630"/>
            <a:ext cx="1493688"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900" dirty="0">
                <a:solidFill>
                  <a:schemeClr val="tx1"/>
                </a:solidFill>
                <a:latin typeface="Meiryo UI" panose="020B0604030504040204" pitchFamily="50" charset="-128"/>
                <a:ea typeface="Meiryo UI" panose="020B0604030504040204" pitchFamily="50" charset="-128"/>
              </a:rPr>
              <a:t>当月に業務完了予定日が設定されており、進捗が順調で予定通り完了できそうな案件</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cxnSp>
        <p:nvCxnSpPr>
          <p:cNvPr id="14" name="直線コネクタ 13">
            <a:extLst>
              <a:ext uri="{FF2B5EF4-FFF2-40B4-BE49-F238E27FC236}">
                <a16:creationId xmlns:a16="http://schemas.microsoft.com/office/drawing/2014/main" id="{555E30CE-1784-F5F8-EEF1-D8399A49FF33}"/>
              </a:ext>
            </a:extLst>
          </p:cNvPr>
          <p:cNvCxnSpPr>
            <a:stCxn id="13" idx="0"/>
          </p:cNvCxnSpPr>
          <p:nvPr/>
        </p:nvCxnSpPr>
        <p:spPr>
          <a:xfrm flipV="1">
            <a:off x="2925033"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5" name="正方形/長方形 14">
            <a:extLst>
              <a:ext uri="{FF2B5EF4-FFF2-40B4-BE49-F238E27FC236}">
                <a16:creationId xmlns:a16="http://schemas.microsoft.com/office/drawing/2014/main" id="{AC7CA8E8-2E2C-2D51-FF8B-780429AEEBD6}"/>
              </a:ext>
            </a:extLst>
          </p:cNvPr>
          <p:cNvSpPr/>
          <p:nvPr/>
        </p:nvSpPr>
        <p:spPr>
          <a:xfrm>
            <a:off x="3803791" y="2520630"/>
            <a:ext cx="1493688"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900" dirty="0">
                <a:solidFill>
                  <a:schemeClr val="tx1"/>
                </a:solidFill>
                <a:latin typeface="Meiryo UI" panose="020B0604030504040204" pitchFamily="50" charset="-128"/>
                <a:ea typeface="Meiryo UI" panose="020B0604030504040204" pitchFamily="50" charset="-128"/>
              </a:rPr>
              <a:t>当月に業務完了予定日が設定されているのにタスクに遅れが出始めており、事態が深刻化する前に対応が必要な案件</a:t>
            </a:r>
          </a:p>
        </p:txBody>
      </p:sp>
      <p:cxnSp>
        <p:nvCxnSpPr>
          <p:cNvPr id="16" name="直線コネクタ 15">
            <a:extLst>
              <a:ext uri="{FF2B5EF4-FFF2-40B4-BE49-F238E27FC236}">
                <a16:creationId xmlns:a16="http://schemas.microsoft.com/office/drawing/2014/main" id="{74672FDB-E0FA-FEFA-0964-A9A318DFAA03}"/>
              </a:ext>
            </a:extLst>
          </p:cNvPr>
          <p:cNvCxnSpPr>
            <a:stCxn id="15" idx="0"/>
          </p:cNvCxnSpPr>
          <p:nvPr/>
        </p:nvCxnSpPr>
        <p:spPr>
          <a:xfrm flipV="1">
            <a:off x="4550635"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7" name="正方形/長方形 16">
            <a:extLst>
              <a:ext uri="{FF2B5EF4-FFF2-40B4-BE49-F238E27FC236}">
                <a16:creationId xmlns:a16="http://schemas.microsoft.com/office/drawing/2014/main" id="{D47C83A8-B0F7-D170-E0E9-620BC1489C9E}"/>
              </a:ext>
            </a:extLst>
          </p:cNvPr>
          <p:cNvSpPr/>
          <p:nvPr/>
        </p:nvSpPr>
        <p:spPr>
          <a:xfrm>
            <a:off x="7048943" y="1052547"/>
            <a:ext cx="1493688"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業完対象</a:t>
            </a:r>
          </a:p>
        </p:txBody>
      </p:sp>
      <p:sp>
        <p:nvSpPr>
          <p:cNvPr id="18" name="四角形: 角を丸くする 17">
            <a:extLst>
              <a:ext uri="{FF2B5EF4-FFF2-40B4-BE49-F238E27FC236}">
                <a16:creationId xmlns:a16="http://schemas.microsoft.com/office/drawing/2014/main" id="{1A3804E4-F3A7-1E48-75DF-5CE92BE33354}"/>
              </a:ext>
            </a:extLst>
          </p:cNvPr>
          <p:cNvSpPr/>
          <p:nvPr/>
        </p:nvSpPr>
        <p:spPr>
          <a:xfrm>
            <a:off x="7048943" y="1565663"/>
            <a:ext cx="1493688"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50</a:t>
            </a:r>
            <a:r>
              <a:rPr kumimoji="1" lang="ja-JP" altLang="en-US" sz="1200" dirty="0">
                <a:solidFill>
                  <a:schemeClr val="tx1"/>
                </a:solidFill>
              </a:rPr>
              <a:t>件</a:t>
            </a:r>
            <a:r>
              <a:rPr kumimoji="1" lang="en-US" altLang="ja-JP" sz="1200" dirty="0">
                <a:solidFill>
                  <a:schemeClr val="tx1"/>
                </a:solidFill>
              </a:rPr>
              <a:t>/</a:t>
            </a:r>
            <a:r>
              <a:rPr kumimoji="1" lang="ja-JP" altLang="en-US" sz="1200" dirty="0">
                <a:solidFill>
                  <a:schemeClr val="tx1"/>
                </a:solidFill>
              </a:rPr>
              <a:t>月</a:t>
            </a:r>
          </a:p>
        </p:txBody>
      </p:sp>
      <p:sp>
        <p:nvSpPr>
          <p:cNvPr id="19" name="正方形/長方形 18">
            <a:extLst>
              <a:ext uri="{FF2B5EF4-FFF2-40B4-BE49-F238E27FC236}">
                <a16:creationId xmlns:a16="http://schemas.microsoft.com/office/drawing/2014/main" id="{848B40AE-71BF-8C39-BCB4-421CCA8C9AC4}"/>
              </a:ext>
            </a:extLst>
          </p:cNvPr>
          <p:cNvSpPr/>
          <p:nvPr/>
        </p:nvSpPr>
        <p:spPr>
          <a:xfrm>
            <a:off x="5423341" y="1052547"/>
            <a:ext cx="1493688"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赤件数</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20" name="四角形: 角を丸くする 19">
            <a:extLst>
              <a:ext uri="{FF2B5EF4-FFF2-40B4-BE49-F238E27FC236}">
                <a16:creationId xmlns:a16="http://schemas.microsoft.com/office/drawing/2014/main" id="{445AF137-C66C-4141-7763-44357F96E6AE}"/>
              </a:ext>
            </a:extLst>
          </p:cNvPr>
          <p:cNvSpPr/>
          <p:nvPr/>
        </p:nvSpPr>
        <p:spPr>
          <a:xfrm>
            <a:off x="5423341" y="1565663"/>
            <a:ext cx="1493688"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chemeClr val="tx1"/>
                </a:solidFill>
              </a:rPr>
              <a:t>20</a:t>
            </a:r>
            <a:r>
              <a:rPr lang="ja-JP" altLang="en-US" sz="1200" dirty="0">
                <a:solidFill>
                  <a:schemeClr val="tx1"/>
                </a:solidFill>
              </a:rPr>
              <a:t>件</a:t>
            </a:r>
            <a:r>
              <a:rPr lang="en-US" altLang="ja-JP" sz="1200" dirty="0">
                <a:solidFill>
                  <a:schemeClr val="tx1"/>
                </a:solidFill>
              </a:rPr>
              <a:t>/</a:t>
            </a:r>
            <a:r>
              <a:rPr lang="ja-JP" altLang="en-US" sz="1200" dirty="0">
                <a:solidFill>
                  <a:schemeClr val="tx1"/>
                </a:solidFill>
              </a:rPr>
              <a:t>月</a:t>
            </a:r>
          </a:p>
        </p:txBody>
      </p:sp>
      <p:sp>
        <p:nvSpPr>
          <p:cNvPr id="21" name="正方形/長方形 20">
            <a:extLst>
              <a:ext uri="{FF2B5EF4-FFF2-40B4-BE49-F238E27FC236}">
                <a16:creationId xmlns:a16="http://schemas.microsoft.com/office/drawing/2014/main" id="{0A1FF167-A31D-0C8F-F3C7-54A1D179D064}"/>
              </a:ext>
            </a:extLst>
          </p:cNvPr>
          <p:cNvSpPr/>
          <p:nvPr/>
        </p:nvSpPr>
        <p:spPr>
          <a:xfrm>
            <a:off x="5426367" y="2520630"/>
            <a:ext cx="1493688"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800" dirty="0">
                <a:solidFill>
                  <a:schemeClr val="tx1"/>
                </a:solidFill>
                <a:latin typeface="Meiryo UI" panose="020B0604030504040204" pitchFamily="50" charset="-128"/>
                <a:ea typeface="Meiryo UI" panose="020B0604030504040204" pitchFamily="50" charset="-128"/>
              </a:rPr>
              <a:t>当月に業務完了予定日が設定されているのにタスクに遅れが出ており、早急にリカバリサポートが必要な案件。すでに完了予定を超過している案件</a:t>
            </a:r>
            <a:endParaRPr kumimoji="1" lang="ja-JP" altLang="en-US" sz="800" dirty="0">
              <a:solidFill>
                <a:schemeClr val="tx1"/>
              </a:solidFill>
              <a:latin typeface="Meiryo UI" panose="020B0604030504040204" pitchFamily="50" charset="-128"/>
              <a:ea typeface="Meiryo UI" panose="020B0604030504040204" pitchFamily="50" charset="-128"/>
            </a:endParaRPr>
          </a:p>
        </p:txBody>
      </p:sp>
      <p:cxnSp>
        <p:nvCxnSpPr>
          <p:cNvPr id="22" name="直線コネクタ 21">
            <a:extLst>
              <a:ext uri="{FF2B5EF4-FFF2-40B4-BE49-F238E27FC236}">
                <a16:creationId xmlns:a16="http://schemas.microsoft.com/office/drawing/2014/main" id="{19919582-B356-584C-132C-7F04CE62AF1F}"/>
              </a:ext>
            </a:extLst>
          </p:cNvPr>
          <p:cNvCxnSpPr>
            <a:stCxn id="21" idx="0"/>
          </p:cNvCxnSpPr>
          <p:nvPr/>
        </p:nvCxnSpPr>
        <p:spPr>
          <a:xfrm flipV="1">
            <a:off x="6173210"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3" name="正方形/長方形 22">
            <a:extLst>
              <a:ext uri="{FF2B5EF4-FFF2-40B4-BE49-F238E27FC236}">
                <a16:creationId xmlns:a16="http://schemas.microsoft.com/office/drawing/2014/main" id="{F7F95FCA-3E50-D92D-7C2E-43CEC71CFE56}"/>
              </a:ext>
            </a:extLst>
          </p:cNvPr>
          <p:cNvSpPr/>
          <p:nvPr/>
        </p:nvSpPr>
        <p:spPr>
          <a:xfrm>
            <a:off x="7093439" y="2520630"/>
            <a:ext cx="1493688"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200" dirty="0">
                <a:solidFill>
                  <a:schemeClr val="tx1"/>
                </a:solidFill>
                <a:latin typeface="Meiryo UI" panose="020B0604030504040204" pitchFamily="50" charset="-128"/>
                <a:ea typeface="Meiryo UI" panose="020B0604030504040204" pitchFamily="50" charset="-128"/>
              </a:rPr>
              <a:t>当月において</a:t>
            </a:r>
            <a:r>
              <a:rPr kumimoji="1" lang="ja-JP" altLang="en-US" sz="1200" dirty="0">
                <a:solidFill>
                  <a:schemeClr val="tx1"/>
                </a:solidFill>
                <a:latin typeface="Meiryo UI" panose="020B0604030504040204" pitchFamily="50" charset="-128"/>
                <a:ea typeface="Meiryo UI" panose="020B0604030504040204" pitchFamily="50" charset="-128"/>
              </a:rPr>
              <a:t>業務完了する予定の案件数</a:t>
            </a:r>
          </a:p>
        </p:txBody>
      </p:sp>
      <p:cxnSp>
        <p:nvCxnSpPr>
          <p:cNvPr id="24" name="直線コネクタ 23">
            <a:extLst>
              <a:ext uri="{FF2B5EF4-FFF2-40B4-BE49-F238E27FC236}">
                <a16:creationId xmlns:a16="http://schemas.microsoft.com/office/drawing/2014/main" id="{80B2369B-9E9B-F8E5-FD10-82E9DFC99A34}"/>
              </a:ext>
            </a:extLst>
          </p:cNvPr>
          <p:cNvCxnSpPr>
            <a:stCxn id="23" idx="0"/>
          </p:cNvCxnSpPr>
          <p:nvPr/>
        </p:nvCxnSpPr>
        <p:spPr>
          <a:xfrm flipV="1">
            <a:off x="7840284"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6" name="正方形/長方形 25">
            <a:extLst>
              <a:ext uri="{FF2B5EF4-FFF2-40B4-BE49-F238E27FC236}">
                <a16:creationId xmlns:a16="http://schemas.microsoft.com/office/drawing/2014/main" id="{5F589E1F-73A1-5B92-88BD-792DEA6AD800}"/>
              </a:ext>
            </a:extLst>
          </p:cNvPr>
          <p:cNvSpPr/>
          <p:nvPr/>
        </p:nvSpPr>
        <p:spPr>
          <a:xfrm>
            <a:off x="10434536" y="1052547"/>
            <a:ext cx="1493688"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サイクル</a:t>
            </a:r>
          </a:p>
        </p:txBody>
      </p:sp>
      <p:sp>
        <p:nvSpPr>
          <p:cNvPr id="27" name="四角形: 角を丸くする 26">
            <a:extLst>
              <a:ext uri="{FF2B5EF4-FFF2-40B4-BE49-F238E27FC236}">
                <a16:creationId xmlns:a16="http://schemas.microsoft.com/office/drawing/2014/main" id="{C3D26D00-38CF-A764-DB1F-8C23CDAA2222}"/>
              </a:ext>
            </a:extLst>
          </p:cNvPr>
          <p:cNvSpPr/>
          <p:nvPr/>
        </p:nvSpPr>
        <p:spPr>
          <a:xfrm>
            <a:off x="10434536" y="1565663"/>
            <a:ext cx="1493688"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b="1" dirty="0">
                <a:solidFill>
                  <a:schemeClr val="tx1"/>
                </a:solidFill>
              </a:rPr>
              <a:t>4.1</a:t>
            </a:r>
            <a:r>
              <a:rPr kumimoji="1" lang="ja-JP" altLang="en-US" sz="1100" b="1" dirty="0">
                <a:solidFill>
                  <a:schemeClr val="tx1"/>
                </a:solidFill>
              </a:rPr>
              <a:t>カ月</a:t>
            </a:r>
            <a:r>
              <a:rPr kumimoji="1" lang="en-US" altLang="ja-JP" sz="1100" b="1" dirty="0">
                <a:solidFill>
                  <a:schemeClr val="tx1"/>
                </a:solidFill>
              </a:rPr>
              <a:t>/</a:t>
            </a:r>
            <a:r>
              <a:rPr lang="ja-JP" altLang="en-US" sz="1100" b="1" dirty="0">
                <a:solidFill>
                  <a:schemeClr val="tx1"/>
                </a:solidFill>
              </a:rPr>
              <a:t>件</a:t>
            </a:r>
            <a:endParaRPr kumimoji="1" lang="ja-JP" altLang="en-US" sz="1200" dirty="0">
              <a:solidFill>
                <a:schemeClr val="tx1"/>
              </a:solidFill>
            </a:endParaRPr>
          </a:p>
        </p:txBody>
      </p:sp>
      <p:sp>
        <p:nvSpPr>
          <p:cNvPr id="28" name="正方形/長方形 27">
            <a:extLst>
              <a:ext uri="{FF2B5EF4-FFF2-40B4-BE49-F238E27FC236}">
                <a16:creationId xmlns:a16="http://schemas.microsoft.com/office/drawing/2014/main" id="{9C9F9010-E006-CF43-562E-1C9B34712B67}"/>
              </a:ext>
            </a:extLst>
          </p:cNvPr>
          <p:cNvSpPr/>
          <p:nvPr/>
        </p:nvSpPr>
        <p:spPr>
          <a:xfrm>
            <a:off x="10479032" y="2520630"/>
            <a:ext cx="1493688"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200" dirty="0">
                <a:solidFill>
                  <a:schemeClr val="tx1"/>
                </a:solidFill>
                <a:latin typeface="Meiryo UI" panose="020B0604030504040204" pitchFamily="50" charset="-128"/>
                <a:ea typeface="Meiryo UI" panose="020B0604030504040204" pitchFamily="50" charset="-128"/>
              </a:rPr>
              <a:t>今月業務完了した案件が受注してから業務完了するまでにかかった期間の平均</a:t>
            </a:r>
          </a:p>
        </p:txBody>
      </p:sp>
      <p:cxnSp>
        <p:nvCxnSpPr>
          <p:cNvPr id="29" name="直線コネクタ 28">
            <a:extLst>
              <a:ext uri="{FF2B5EF4-FFF2-40B4-BE49-F238E27FC236}">
                <a16:creationId xmlns:a16="http://schemas.microsoft.com/office/drawing/2014/main" id="{9B0872B9-88C5-3265-867B-9969A05D5FD6}"/>
              </a:ext>
            </a:extLst>
          </p:cNvPr>
          <p:cNvCxnSpPr>
            <a:stCxn id="28" idx="0"/>
          </p:cNvCxnSpPr>
          <p:nvPr/>
        </p:nvCxnSpPr>
        <p:spPr>
          <a:xfrm flipV="1">
            <a:off x="11225878"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1" name="正方形/長方形 30">
            <a:extLst>
              <a:ext uri="{FF2B5EF4-FFF2-40B4-BE49-F238E27FC236}">
                <a16:creationId xmlns:a16="http://schemas.microsoft.com/office/drawing/2014/main" id="{31E03464-1243-01F1-25F1-90451DAD6B69}"/>
              </a:ext>
            </a:extLst>
          </p:cNvPr>
          <p:cNvSpPr/>
          <p:nvPr/>
        </p:nvSpPr>
        <p:spPr>
          <a:xfrm>
            <a:off x="8716016" y="1052547"/>
            <a:ext cx="1493688"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完了割合</a:t>
            </a:r>
          </a:p>
        </p:txBody>
      </p:sp>
      <p:sp>
        <p:nvSpPr>
          <p:cNvPr id="32" name="四角形: 角を丸くする 31">
            <a:extLst>
              <a:ext uri="{FF2B5EF4-FFF2-40B4-BE49-F238E27FC236}">
                <a16:creationId xmlns:a16="http://schemas.microsoft.com/office/drawing/2014/main" id="{D2F469A5-72F4-33EA-90AC-17FEA43E0DDA}"/>
              </a:ext>
            </a:extLst>
          </p:cNvPr>
          <p:cNvSpPr/>
          <p:nvPr/>
        </p:nvSpPr>
        <p:spPr>
          <a:xfrm>
            <a:off x="8716016" y="1565663"/>
            <a:ext cx="1493688" cy="690734"/>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b="1" dirty="0">
                <a:solidFill>
                  <a:schemeClr val="tx1"/>
                </a:solidFill>
              </a:rPr>
              <a:t>23/250</a:t>
            </a:r>
            <a:r>
              <a:rPr lang="ja-JP" altLang="en-US" sz="1200" dirty="0">
                <a:solidFill>
                  <a:schemeClr val="tx1"/>
                </a:solidFill>
              </a:rPr>
              <a:t>件</a:t>
            </a:r>
          </a:p>
        </p:txBody>
      </p:sp>
      <p:sp>
        <p:nvSpPr>
          <p:cNvPr id="33" name="正方形/長方形 32">
            <a:extLst>
              <a:ext uri="{FF2B5EF4-FFF2-40B4-BE49-F238E27FC236}">
                <a16:creationId xmlns:a16="http://schemas.microsoft.com/office/drawing/2014/main" id="{EA843A49-4E77-FEEB-C526-2BB8F1350F81}"/>
              </a:ext>
            </a:extLst>
          </p:cNvPr>
          <p:cNvSpPr/>
          <p:nvPr/>
        </p:nvSpPr>
        <p:spPr>
          <a:xfrm>
            <a:off x="8760512" y="2520630"/>
            <a:ext cx="1493688"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200" dirty="0">
                <a:solidFill>
                  <a:schemeClr val="tx1"/>
                </a:solidFill>
                <a:latin typeface="Meiryo UI" panose="020B0604030504040204" pitchFamily="50" charset="-128"/>
                <a:ea typeface="Meiryo UI" panose="020B0604030504040204" pitchFamily="50" charset="-128"/>
              </a:rPr>
              <a:t>当月業務完了予定の案件数に対して、本日時点でどれくらい完了しているかの割合</a:t>
            </a:r>
          </a:p>
        </p:txBody>
      </p:sp>
      <p:cxnSp>
        <p:nvCxnSpPr>
          <p:cNvPr id="34" name="直線コネクタ 33">
            <a:extLst>
              <a:ext uri="{FF2B5EF4-FFF2-40B4-BE49-F238E27FC236}">
                <a16:creationId xmlns:a16="http://schemas.microsoft.com/office/drawing/2014/main" id="{2ABDB361-7041-FB1A-9F76-5C9AC27E9992}"/>
              </a:ext>
            </a:extLst>
          </p:cNvPr>
          <p:cNvCxnSpPr>
            <a:stCxn id="33" idx="0"/>
          </p:cNvCxnSpPr>
          <p:nvPr/>
        </p:nvCxnSpPr>
        <p:spPr>
          <a:xfrm flipV="1">
            <a:off x="10837014" y="2256397"/>
            <a:ext cx="0" cy="264233"/>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36" name="正方形/長方形 35">
            <a:extLst>
              <a:ext uri="{FF2B5EF4-FFF2-40B4-BE49-F238E27FC236}">
                <a16:creationId xmlns:a16="http://schemas.microsoft.com/office/drawing/2014/main" id="{9C2AFBCF-CBF8-0DBE-A306-E81BB3BFDAB6}"/>
              </a:ext>
            </a:extLst>
          </p:cNvPr>
          <p:cNvSpPr/>
          <p:nvPr/>
        </p:nvSpPr>
        <p:spPr>
          <a:xfrm>
            <a:off x="2095433" y="3599491"/>
            <a:ext cx="223063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案件管理番号</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37" name="正方形/長方形 36">
            <a:extLst>
              <a:ext uri="{FF2B5EF4-FFF2-40B4-BE49-F238E27FC236}">
                <a16:creationId xmlns:a16="http://schemas.microsoft.com/office/drawing/2014/main" id="{C4BF53FD-24DF-A819-541A-EBF7D92F3780}"/>
              </a:ext>
            </a:extLst>
          </p:cNvPr>
          <p:cNvSpPr/>
          <p:nvPr/>
        </p:nvSpPr>
        <p:spPr>
          <a:xfrm>
            <a:off x="4443454" y="3599491"/>
            <a:ext cx="1769074"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案件名</a:t>
            </a:r>
          </a:p>
        </p:txBody>
      </p:sp>
      <p:sp>
        <p:nvSpPr>
          <p:cNvPr id="38" name="正方形/長方形 37">
            <a:extLst>
              <a:ext uri="{FF2B5EF4-FFF2-40B4-BE49-F238E27FC236}">
                <a16:creationId xmlns:a16="http://schemas.microsoft.com/office/drawing/2014/main" id="{D954F8A7-A00A-2CCE-CBA8-815DE7677267}"/>
              </a:ext>
            </a:extLst>
          </p:cNvPr>
          <p:cNvSpPr/>
          <p:nvPr/>
        </p:nvSpPr>
        <p:spPr>
          <a:xfrm>
            <a:off x="6372527" y="3599491"/>
            <a:ext cx="1769074"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担当者</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39" name="正方形/長方形 38">
            <a:extLst>
              <a:ext uri="{FF2B5EF4-FFF2-40B4-BE49-F238E27FC236}">
                <a16:creationId xmlns:a16="http://schemas.microsoft.com/office/drawing/2014/main" id="{26FDCFF4-6B4F-C4AD-49B6-592417785DA9}"/>
              </a:ext>
            </a:extLst>
          </p:cNvPr>
          <p:cNvSpPr/>
          <p:nvPr/>
        </p:nvSpPr>
        <p:spPr>
          <a:xfrm>
            <a:off x="437564" y="3594950"/>
            <a:ext cx="1540478"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フラグ</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40" name="正方形/長方形 39">
            <a:extLst>
              <a:ext uri="{FF2B5EF4-FFF2-40B4-BE49-F238E27FC236}">
                <a16:creationId xmlns:a16="http://schemas.microsoft.com/office/drawing/2014/main" id="{656D8AFE-B95C-98E9-07AD-2984262D4A78}"/>
              </a:ext>
            </a:extLst>
          </p:cNvPr>
          <p:cNvSpPr/>
          <p:nvPr/>
        </p:nvSpPr>
        <p:spPr>
          <a:xfrm>
            <a:off x="8293373" y="3585868"/>
            <a:ext cx="1769074"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完了予定日</a:t>
            </a:r>
          </a:p>
        </p:txBody>
      </p:sp>
      <p:sp>
        <p:nvSpPr>
          <p:cNvPr id="41" name="正方形/長方形 40">
            <a:extLst>
              <a:ext uri="{FF2B5EF4-FFF2-40B4-BE49-F238E27FC236}">
                <a16:creationId xmlns:a16="http://schemas.microsoft.com/office/drawing/2014/main" id="{32B6ABC6-D4EB-0BDD-8BED-D6B50F70B7BB}"/>
              </a:ext>
            </a:extLst>
          </p:cNvPr>
          <p:cNvSpPr/>
          <p:nvPr/>
        </p:nvSpPr>
        <p:spPr>
          <a:xfrm>
            <a:off x="437564" y="4060136"/>
            <a:ext cx="1540478" cy="369332"/>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赤</a:t>
            </a:r>
            <a:endParaRPr kumimoji="1" lang="ja-JP" altLang="en-US" sz="1200" dirty="0">
              <a:solidFill>
                <a:schemeClr val="bg1"/>
              </a:solidFill>
              <a:latin typeface="Meiryo UI" panose="020B0604030504040204" pitchFamily="50" charset="-128"/>
              <a:ea typeface="Meiryo UI" panose="020B0604030504040204" pitchFamily="50" charset="-128"/>
            </a:endParaRPr>
          </a:p>
        </p:txBody>
      </p:sp>
      <p:sp>
        <p:nvSpPr>
          <p:cNvPr id="42" name="正方形/長方形 41">
            <a:extLst>
              <a:ext uri="{FF2B5EF4-FFF2-40B4-BE49-F238E27FC236}">
                <a16:creationId xmlns:a16="http://schemas.microsoft.com/office/drawing/2014/main" id="{06D16C29-EBA8-3274-B519-4E816888076E}"/>
              </a:ext>
            </a:extLst>
          </p:cNvPr>
          <p:cNvSpPr/>
          <p:nvPr/>
        </p:nvSpPr>
        <p:spPr>
          <a:xfrm>
            <a:off x="2095433" y="4073759"/>
            <a:ext cx="223063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R70519</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43" name="正方形/長方形 42">
            <a:extLst>
              <a:ext uri="{FF2B5EF4-FFF2-40B4-BE49-F238E27FC236}">
                <a16:creationId xmlns:a16="http://schemas.microsoft.com/office/drawing/2014/main" id="{96AAF658-1953-154F-DDFB-37791095AA4C}"/>
              </a:ext>
            </a:extLst>
          </p:cNvPr>
          <p:cNvSpPr/>
          <p:nvPr/>
        </p:nvSpPr>
        <p:spPr>
          <a:xfrm>
            <a:off x="4443454" y="4073759"/>
            <a:ext cx="1769074"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福島案件</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44" name="正方形/長方形 43">
            <a:extLst>
              <a:ext uri="{FF2B5EF4-FFF2-40B4-BE49-F238E27FC236}">
                <a16:creationId xmlns:a16="http://schemas.microsoft.com/office/drawing/2014/main" id="{4FF2899E-D2FC-4374-CAFC-58A93AE1CEA4}"/>
              </a:ext>
            </a:extLst>
          </p:cNvPr>
          <p:cNvSpPr/>
          <p:nvPr/>
        </p:nvSpPr>
        <p:spPr>
          <a:xfrm>
            <a:off x="6372527" y="4073759"/>
            <a:ext cx="1769074"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福島優</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45" name="正方形/長方形 44">
            <a:extLst>
              <a:ext uri="{FF2B5EF4-FFF2-40B4-BE49-F238E27FC236}">
                <a16:creationId xmlns:a16="http://schemas.microsoft.com/office/drawing/2014/main" id="{F9F5B42D-962E-40B4-5CD5-54534B7F692E}"/>
              </a:ext>
            </a:extLst>
          </p:cNvPr>
          <p:cNvSpPr/>
          <p:nvPr/>
        </p:nvSpPr>
        <p:spPr>
          <a:xfrm>
            <a:off x="8293373" y="4060136"/>
            <a:ext cx="1769074"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latin typeface="Meiryo UI" panose="020B0604030504040204" pitchFamily="50" charset="-128"/>
                <a:ea typeface="Meiryo UI" panose="020B0604030504040204" pitchFamily="50" charset="-128"/>
              </a:rPr>
              <a:t>2026/5/19</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46" name="正方形/長方形 45">
            <a:extLst>
              <a:ext uri="{FF2B5EF4-FFF2-40B4-BE49-F238E27FC236}">
                <a16:creationId xmlns:a16="http://schemas.microsoft.com/office/drawing/2014/main" id="{2A7C7C01-CAC4-D991-E03B-6137E496BF62}"/>
              </a:ext>
            </a:extLst>
          </p:cNvPr>
          <p:cNvSpPr/>
          <p:nvPr/>
        </p:nvSpPr>
        <p:spPr>
          <a:xfrm>
            <a:off x="10159149" y="3585868"/>
            <a:ext cx="1769074"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依頼者名</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47" name="正方形/長方形 46">
            <a:extLst>
              <a:ext uri="{FF2B5EF4-FFF2-40B4-BE49-F238E27FC236}">
                <a16:creationId xmlns:a16="http://schemas.microsoft.com/office/drawing/2014/main" id="{11419B10-E6FC-6EA6-C2AF-CEE720FF888D}"/>
              </a:ext>
            </a:extLst>
          </p:cNvPr>
          <p:cNvSpPr/>
          <p:nvPr/>
        </p:nvSpPr>
        <p:spPr>
          <a:xfrm>
            <a:off x="10159149" y="4060136"/>
            <a:ext cx="1769074"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Ｘｘｘｘ</a:t>
            </a:r>
          </a:p>
        </p:txBody>
      </p:sp>
      <p:sp>
        <p:nvSpPr>
          <p:cNvPr id="50" name="正方形/長方形 49">
            <a:extLst>
              <a:ext uri="{FF2B5EF4-FFF2-40B4-BE49-F238E27FC236}">
                <a16:creationId xmlns:a16="http://schemas.microsoft.com/office/drawing/2014/main" id="{1403A160-48FA-FA87-EF56-966E45FB2B47}"/>
              </a:ext>
            </a:extLst>
          </p:cNvPr>
          <p:cNvSpPr/>
          <p:nvPr/>
        </p:nvSpPr>
        <p:spPr>
          <a:xfrm>
            <a:off x="437564" y="4509035"/>
            <a:ext cx="1540478" cy="369332"/>
          </a:xfrm>
          <a:prstGeom prst="rect">
            <a:avLst/>
          </a:prstGeom>
          <a:solidFill>
            <a:srgbClr val="FF00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赤</a:t>
            </a:r>
            <a:endParaRPr kumimoji="1" lang="ja-JP" altLang="en-US" sz="1200" dirty="0">
              <a:solidFill>
                <a:schemeClr val="bg1"/>
              </a:solidFill>
              <a:latin typeface="Meiryo UI" panose="020B0604030504040204" pitchFamily="50" charset="-128"/>
              <a:ea typeface="Meiryo UI" panose="020B0604030504040204" pitchFamily="50" charset="-128"/>
            </a:endParaRPr>
          </a:p>
        </p:txBody>
      </p:sp>
      <p:sp>
        <p:nvSpPr>
          <p:cNvPr id="51" name="正方形/長方形 50">
            <a:extLst>
              <a:ext uri="{FF2B5EF4-FFF2-40B4-BE49-F238E27FC236}">
                <a16:creationId xmlns:a16="http://schemas.microsoft.com/office/drawing/2014/main" id="{DEDC5321-13D3-0679-57AB-4EB532B250B5}"/>
              </a:ext>
            </a:extLst>
          </p:cNvPr>
          <p:cNvSpPr/>
          <p:nvPr/>
        </p:nvSpPr>
        <p:spPr>
          <a:xfrm>
            <a:off x="2095433" y="4522658"/>
            <a:ext cx="223063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R70519</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52" name="正方形/長方形 51">
            <a:extLst>
              <a:ext uri="{FF2B5EF4-FFF2-40B4-BE49-F238E27FC236}">
                <a16:creationId xmlns:a16="http://schemas.microsoft.com/office/drawing/2014/main" id="{B24F18F8-2893-EF3D-BCB8-E9020C3BA889}"/>
              </a:ext>
            </a:extLst>
          </p:cNvPr>
          <p:cNvSpPr/>
          <p:nvPr/>
        </p:nvSpPr>
        <p:spPr>
          <a:xfrm>
            <a:off x="4443454" y="4522658"/>
            <a:ext cx="1769074"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福島案件</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53" name="正方形/長方形 52">
            <a:extLst>
              <a:ext uri="{FF2B5EF4-FFF2-40B4-BE49-F238E27FC236}">
                <a16:creationId xmlns:a16="http://schemas.microsoft.com/office/drawing/2014/main" id="{A5640FBB-43D6-3F93-7F33-9CDCFD9C149C}"/>
              </a:ext>
            </a:extLst>
          </p:cNvPr>
          <p:cNvSpPr/>
          <p:nvPr/>
        </p:nvSpPr>
        <p:spPr>
          <a:xfrm>
            <a:off x="6372527" y="4522658"/>
            <a:ext cx="1769074"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福島優</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54" name="正方形/長方形 53">
            <a:extLst>
              <a:ext uri="{FF2B5EF4-FFF2-40B4-BE49-F238E27FC236}">
                <a16:creationId xmlns:a16="http://schemas.microsoft.com/office/drawing/2014/main" id="{CBEFC338-5968-41ED-FD5E-1B7C9410E5FD}"/>
              </a:ext>
            </a:extLst>
          </p:cNvPr>
          <p:cNvSpPr/>
          <p:nvPr/>
        </p:nvSpPr>
        <p:spPr>
          <a:xfrm>
            <a:off x="8293373" y="4509035"/>
            <a:ext cx="1769074"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latin typeface="Meiryo UI" panose="020B0604030504040204" pitchFamily="50" charset="-128"/>
                <a:ea typeface="Meiryo UI" panose="020B0604030504040204" pitchFamily="50" charset="-128"/>
              </a:rPr>
              <a:t>2026/5/19</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55" name="正方形/長方形 54">
            <a:extLst>
              <a:ext uri="{FF2B5EF4-FFF2-40B4-BE49-F238E27FC236}">
                <a16:creationId xmlns:a16="http://schemas.microsoft.com/office/drawing/2014/main" id="{1DC593F3-7155-EB0F-5C26-154BD5FBBF07}"/>
              </a:ext>
            </a:extLst>
          </p:cNvPr>
          <p:cNvSpPr/>
          <p:nvPr/>
        </p:nvSpPr>
        <p:spPr>
          <a:xfrm>
            <a:off x="10159149" y="4509035"/>
            <a:ext cx="1769074"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Ｘｘｘｘ</a:t>
            </a:r>
          </a:p>
        </p:txBody>
      </p:sp>
      <p:sp>
        <p:nvSpPr>
          <p:cNvPr id="56" name="正方形/長方形 55">
            <a:extLst>
              <a:ext uri="{FF2B5EF4-FFF2-40B4-BE49-F238E27FC236}">
                <a16:creationId xmlns:a16="http://schemas.microsoft.com/office/drawing/2014/main" id="{B9DAA368-8930-E8D3-B178-106B3E8B3017}"/>
              </a:ext>
            </a:extLst>
          </p:cNvPr>
          <p:cNvSpPr/>
          <p:nvPr/>
        </p:nvSpPr>
        <p:spPr>
          <a:xfrm>
            <a:off x="437564" y="4957934"/>
            <a:ext cx="1540478" cy="369332"/>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黄色</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57" name="正方形/長方形 56">
            <a:extLst>
              <a:ext uri="{FF2B5EF4-FFF2-40B4-BE49-F238E27FC236}">
                <a16:creationId xmlns:a16="http://schemas.microsoft.com/office/drawing/2014/main" id="{F8803D75-A340-71A1-12B6-0E91BB4A5F8B}"/>
              </a:ext>
            </a:extLst>
          </p:cNvPr>
          <p:cNvSpPr/>
          <p:nvPr/>
        </p:nvSpPr>
        <p:spPr>
          <a:xfrm>
            <a:off x="2095433" y="4971557"/>
            <a:ext cx="223063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R70519</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58" name="正方形/長方形 57">
            <a:extLst>
              <a:ext uri="{FF2B5EF4-FFF2-40B4-BE49-F238E27FC236}">
                <a16:creationId xmlns:a16="http://schemas.microsoft.com/office/drawing/2014/main" id="{A6414165-1376-5203-175D-45D51991F0AD}"/>
              </a:ext>
            </a:extLst>
          </p:cNvPr>
          <p:cNvSpPr/>
          <p:nvPr/>
        </p:nvSpPr>
        <p:spPr>
          <a:xfrm>
            <a:off x="4443454" y="4971557"/>
            <a:ext cx="1769074"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福島案件</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59" name="正方形/長方形 58">
            <a:extLst>
              <a:ext uri="{FF2B5EF4-FFF2-40B4-BE49-F238E27FC236}">
                <a16:creationId xmlns:a16="http://schemas.microsoft.com/office/drawing/2014/main" id="{020FAB8A-3F66-B6E0-1515-3FE6B82BB3AC}"/>
              </a:ext>
            </a:extLst>
          </p:cNvPr>
          <p:cNvSpPr/>
          <p:nvPr/>
        </p:nvSpPr>
        <p:spPr>
          <a:xfrm>
            <a:off x="6372527" y="4971557"/>
            <a:ext cx="1769074"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福島優</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60" name="正方形/長方形 59">
            <a:extLst>
              <a:ext uri="{FF2B5EF4-FFF2-40B4-BE49-F238E27FC236}">
                <a16:creationId xmlns:a16="http://schemas.microsoft.com/office/drawing/2014/main" id="{AA22547D-FCA6-B81A-E62C-93D1D129D0C6}"/>
              </a:ext>
            </a:extLst>
          </p:cNvPr>
          <p:cNvSpPr/>
          <p:nvPr/>
        </p:nvSpPr>
        <p:spPr>
          <a:xfrm>
            <a:off x="8293373" y="4957934"/>
            <a:ext cx="1769074"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latin typeface="Meiryo UI" panose="020B0604030504040204" pitchFamily="50" charset="-128"/>
                <a:ea typeface="Meiryo UI" panose="020B0604030504040204" pitchFamily="50" charset="-128"/>
              </a:rPr>
              <a:t>2026/5/19</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61" name="正方形/長方形 60">
            <a:extLst>
              <a:ext uri="{FF2B5EF4-FFF2-40B4-BE49-F238E27FC236}">
                <a16:creationId xmlns:a16="http://schemas.microsoft.com/office/drawing/2014/main" id="{834C9980-E4DF-187C-241F-080D599236B5}"/>
              </a:ext>
            </a:extLst>
          </p:cNvPr>
          <p:cNvSpPr/>
          <p:nvPr/>
        </p:nvSpPr>
        <p:spPr>
          <a:xfrm>
            <a:off x="10159149" y="4957934"/>
            <a:ext cx="1769074"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Ｘｘｘｘ</a:t>
            </a:r>
          </a:p>
        </p:txBody>
      </p:sp>
      <p:sp>
        <p:nvSpPr>
          <p:cNvPr id="62" name="正方形/長方形 61">
            <a:extLst>
              <a:ext uri="{FF2B5EF4-FFF2-40B4-BE49-F238E27FC236}">
                <a16:creationId xmlns:a16="http://schemas.microsoft.com/office/drawing/2014/main" id="{220826D1-5A25-DD95-9CD1-0011FF78ABCF}"/>
              </a:ext>
            </a:extLst>
          </p:cNvPr>
          <p:cNvSpPr/>
          <p:nvPr/>
        </p:nvSpPr>
        <p:spPr>
          <a:xfrm>
            <a:off x="437564" y="5406833"/>
            <a:ext cx="1540478" cy="369332"/>
          </a:xfrm>
          <a:prstGeom prst="rect">
            <a:avLst/>
          </a:prstGeom>
          <a:solidFill>
            <a:srgbClr val="FFFF0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黄色</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63" name="正方形/長方形 62">
            <a:extLst>
              <a:ext uri="{FF2B5EF4-FFF2-40B4-BE49-F238E27FC236}">
                <a16:creationId xmlns:a16="http://schemas.microsoft.com/office/drawing/2014/main" id="{50F381C8-5919-3254-6045-7DE71FEC7B29}"/>
              </a:ext>
            </a:extLst>
          </p:cNvPr>
          <p:cNvSpPr/>
          <p:nvPr/>
        </p:nvSpPr>
        <p:spPr>
          <a:xfrm>
            <a:off x="2095433" y="5420456"/>
            <a:ext cx="223063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R70519</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64" name="正方形/長方形 63">
            <a:extLst>
              <a:ext uri="{FF2B5EF4-FFF2-40B4-BE49-F238E27FC236}">
                <a16:creationId xmlns:a16="http://schemas.microsoft.com/office/drawing/2014/main" id="{AEF0C98B-E6AE-DC35-5023-2F0C5A9EBE20}"/>
              </a:ext>
            </a:extLst>
          </p:cNvPr>
          <p:cNvSpPr/>
          <p:nvPr/>
        </p:nvSpPr>
        <p:spPr>
          <a:xfrm>
            <a:off x="4443454" y="5420456"/>
            <a:ext cx="1769074"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福島案件</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65" name="正方形/長方形 64">
            <a:extLst>
              <a:ext uri="{FF2B5EF4-FFF2-40B4-BE49-F238E27FC236}">
                <a16:creationId xmlns:a16="http://schemas.microsoft.com/office/drawing/2014/main" id="{10EAC4C5-F770-B3ED-CFCD-6BE744C4A87C}"/>
              </a:ext>
            </a:extLst>
          </p:cNvPr>
          <p:cNvSpPr/>
          <p:nvPr/>
        </p:nvSpPr>
        <p:spPr>
          <a:xfrm>
            <a:off x="6372527" y="5420456"/>
            <a:ext cx="1769074"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福島優</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66" name="正方形/長方形 65">
            <a:extLst>
              <a:ext uri="{FF2B5EF4-FFF2-40B4-BE49-F238E27FC236}">
                <a16:creationId xmlns:a16="http://schemas.microsoft.com/office/drawing/2014/main" id="{AEB4A67C-4EEF-14CA-7136-0317606ECD0C}"/>
              </a:ext>
            </a:extLst>
          </p:cNvPr>
          <p:cNvSpPr/>
          <p:nvPr/>
        </p:nvSpPr>
        <p:spPr>
          <a:xfrm>
            <a:off x="8293373" y="5406833"/>
            <a:ext cx="1769074"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latin typeface="Meiryo UI" panose="020B0604030504040204" pitchFamily="50" charset="-128"/>
                <a:ea typeface="Meiryo UI" panose="020B0604030504040204" pitchFamily="50" charset="-128"/>
              </a:rPr>
              <a:t>2026/5/19</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67" name="正方形/長方形 66">
            <a:extLst>
              <a:ext uri="{FF2B5EF4-FFF2-40B4-BE49-F238E27FC236}">
                <a16:creationId xmlns:a16="http://schemas.microsoft.com/office/drawing/2014/main" id="{2BE96FEF-2B82-4C59-73A5-57862CFF0A96}"/>
              </a:ext>
            </a:extLst>
          </p:cNvPr>
          <p:cNvSpPr/>
          <p:nvPr/>
        </p:nvSpPr>
        <p:spPr>
          <a:xfrm>
            <a:off x="10159149" y="5406833"/>
            <a:ext cx="1769074"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Ｘｘｘｘ</a:t>
            </a:r>
          </a:p>
        </p:txBody>
      </p:sp>
      <p:sp>
        <p:nvSpPr>
          <p:cNvPr id="68" name="正方形/長方形 67">
            <a:extLst>
              <a:ext uri="{FF2B5EF4-FFF2-40B4-BE49-F238E27FC236}">
                <a16:creationId xmlns:a16="http://schemas.microsoft.com/office/drawing/2014/main" id="{96EAF61C-6CBB-00C4-C08D-2FE8C5833C41}"/>
              </a:ext>
            </a:extLst>
          </p:cNvPr>
          <p:cNvSpPr/>
          <p:nvPr/>
        </p:nvSpPr>
        <p:spPr>
          <a:xfrm>
            <a:off x="437564" y="5855732"/>
            <a:ext cx="1540478" cy="369332"/>
          </a:xfrm>
          <a:prstGeom prst="rect">
            <a:avLst/>
          </a:prstGeom>
          <a:solidFill>
            <a:srgbClr val="0070C0"/>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bg1"/>
                </a:solidFill>
                <a:latin typeface="Meiryo UI" panose="020B0604030504040204" pitchFamily="50" charset="-128"/>
                <a:ea typeface="Meiryo UI" panose="020B0604030504040204" pitchFamily="50" charset="-128"/>
              </a:rPr>
              <a:t>青</a:t>
            </a:r>
            <a:endParaRPr kumimoji="1" lang="ja-JP" altLang="en-US" sz="1200" dirty="0">
              <a:solidFill>
                <a:schemeClr val="bg1"/>
              </a:solidFill>
              <a:latin typeface="Meiryo UI" panose="020B0604030504040204" pitchFamily="50" charset="-128"/>
              <a:ea typeface="Meiryo UI" panose="020B0604030504040204" pitchFamily="50" charset="-128"/>
            </a:endParaRPr>
          </a:p>
        </p:txBody>
      </p:sp>
      <p:sp>
        <p:nvSpPr>
          <p:cNvPr id="69" name="正方形/長方形 68">
            <a:extLst>
              <a:ext uri="{FF2B5EF4-FFF2-40B4-BE49-F238E27FC236}">
                <a16:creationId xmlns:a16="http://schemas.microsoft.com/office/drawing/2014/main" id="{AF94CC23-C969-5C09-DE15-73C10F921D31}"/>
              </a:ext>
            </a:extLst>
          </p:cNvPr>
          <p:cNvSpPr/>
          <p:nvPr/>
        </p:nvSpPr>
        <p:spPr>
          <a:xfrm>
            <a:off x="2095433" y="5869355"/>
            <a:ext cx="2230630"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R70519</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70" name="正方形/長方形 69">
            <a:extLst>
              <a:ext uri="{FF2B5EF4-FFF2-40B4-BE49-F238E27FC236}">
                <a16:creationId xmlns:a16="http://schemas.microsoft.com/office/drawing/2014/main" id="{5AEFA19E-F98E-68F9-365E-B00BD1AE00F7}"/>
              </a:ext>
            </a:extLst>
          </p:cNvPr>
          <p:cNvSpPr/>
          <p:nvPr/>
        </p:nvSpPr>
        <p:spPr>
          <a:xfrm>
            <a:off x="4443454" y="5869355"/>
            <a:ext cx="1769074"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福島案件</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71" name="正方形/長方形 70">
            <a:extLst>
              <a:ext uri="{FF2B5EF4-FFF2-40B4-BE49-F238E27FC236}">
                <a16:creationId xmlns:a16="http://schemas.microsoft.com/office/drawing/2014/main" id="{FD5507CE-BF9D-2651-B547-4AB1819CD5AD}"/>
              </a:ext>
            </a:extLst>
          </p:cNvPr>
          <p:cNvSpPr/>
          <p:nvPr/>
        </p:nvSpPr>
        <p:spPr>
          <a:xfrm>
            <a:off x="6372527" y="5869355"/>
            <a:ext cx="1769074"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福島優</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72" name="正方形/長方形 71">
            <a:extLst>
              <a:ext uri="{FF2B5EF4-FFF2-40B4-BE49-F238E27FC236}">
                <a16:creationId xmlns:a16="http://schemas.microsoft.com/office/drawing/2014/main" id="{1B736D9B-58EF-DE26-59F4-6333CEECA8C4}"/>
              </a:ext>
            </a:extLst>
          </p:cNvPr>
          <p:cNvSpPr/>
          <p:nvPr/>
        </p:nvSpPr>
        <p:spPr>
          <a:xfrm>
            <a:off x="8293373" y="5855732"/>
            <a:ext cx="1769074"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latin typeface="Meiryo UI" panose="020B0604030504040204" pitchFamily="50" charset="-128"/>
                <a:ea typeface="Meiryo UI" panose="020B0604030504040204" pitchFamily="50" charset="-128"/>
              </a:rPr>
              <a:t>2026/5/19</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73" name="正方形/長方形 72">
            <a:extLst>
              <a:ext uri="{FF2B5EF4-FFF2-40B4-BE49-F238E27FC236}">
                <a16:creationId xmlns:a16="http://schemas.microsoft.com/office/drawing/2014/main" id="{DCC6CEDB-1188-ABA6-639B-E024D78E2AFD}"/>
              </a:ext>
            </a:extLst>
          </p:cNvPr>
          <p:cNvSpPr/>
          <p:nvPr/>
        </p:nvSpPr>
        <p:spPr>
          <a:xfrm>
            <a:off x="10159149" y="5855732"/>
            <a:ext cx="1769074" cy="36933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Ｘｘｘｘ</a:t>
            </a:r>
          </a:p>
        </p:txBody>
      </p:sp>
      <p:sp>
        <p:nvSpPr>
          <p:cNvPr id="75" name="正方形/長方形 74">
            <a:extLst>
              <a:ext uri="{FF2B5EF4-FFF2-40B4-BE49-F238E27FC236}">
                <a16:creationId xmlns:a16="http://schemas.microsoft.com/office/drawing/2014/main" id="{06D23F55-0842-A3B9-201B-1C8C1FD7D32E}"/>
              </a:ext>
            </a:extLst>
          </p:cNvPr>
          <p:cNvSpPr/>
          <p:nvPr/>
        </p:nvSpPr>
        <p:spPr>
          <a:xfrm>
            <a:off x="3342177" y="6238687"/>
            <a:ext cx="1493688" cy="814628"/>
          </a:xfrm>
          <a:prstGeom prst="rect">
            <a:avLst/>
          </a:prstGeom>
          <a:solidFill>
            <a:schemeClr val="bg1">
              <a:lumMod val="8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900" dirty="0">
                <a:solidFill>
                  <a:schemeClr val="tx1"/>
                </a:solidFill>
                <a:latin typeface="Meiryo UI" panose="020B0604030504040204" pitchFamily="50" charset="-128"/>
                <a:ea typeface="Meiryo UI" panose="020B0604030504040204" pitchFamily="50" charset="-128"/>
              </a:rPr>
              <a:t>案件詳細画面に飛ぶようにしたい</a:t>
            </a:r>
            <a:endParaRPr kumimoji="1" lang="ja-JP" altLang="en-US" sz="900" dirty="0">
              <a:solidFill>
                <a:schemeClr val="tx1"/>
              </a:solidFill>
              <a:latin typeface="Meiryo UI" panose="020B0604030504040204" pitchFamily="50" charset="-128"/>
              <a:ea typeface="Meiryo UI" panose="020B0604030504040204" pitchFamily="50" charset="-128"/>
            </a:endParaRPr>
          </a:p>
        </p:txBody>
      </p:sp>
      <p:cxnSp>
        <p:nvCxnSpPr>
          <p:cNvPr id="76" name="直線コネクタ 75">
            <a:extLst>
              <a:ext uri="{FF2B5EF4-FFF2-40B4-BE49-F238E27FC236}">
                <a16:creationId xmlns:a16="http://schemas.microsoft.com/office/drawing/2014/main" id="{D67FA257-D786-4518-DE2F-2924EA21BF12}"/>
              </a:ext>
            </a:extLst>
          </p:cNvPr>
          <p:cNvCxnSpPr>
            <a:cxnSpLocks/>
            <a:stCxn id="75" idx="0"/>
          </p:cNvCxnSpPr>
          <p:nvPr/>
        </p:nvCxnSpPr>
        <p:spPr>
          <a:xfrm flipH="1" flipV="1">
            <a:off x="3933894" y="6019252"/>
            <a:ext cx="155127" cy="219435"/>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903522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25433101-A8FB-F6B8-F102-E891D712BBE1}"/>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AF9FF257-EBD5-80EF-631D-9ABB66D1E029}"/>
              </a:ext>
            </a:extLst>
          </p:cNvPr>
          <p:cNvSpPr/>
          <p:nvPr/>
        </p:nvSpPr>
        <p:spPr>
          <a:xfrm>
            <a:off x="0" y="0"/>
            <a:ext cx="12192000" cy="6858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E9CC8203-245B-4C7B-8C2F-D30297783DBA}"/>
              </a:ext>
            </a:extLst>
          </p:cNvPr>
          <p:cNvSpPr txBox="1"/>
          <p:nvPr/>
        </p:nvSpPr>
        <p:spPr>
          <a:xfrm>
            <a:off x="552450" y="2025650"/>
            <a:ext cx="6109365" cy="1107996"/>
          </a:xfrm>
          <a:prstGeom prst="rect">
            <a:avLst/>
          </a:prstGeom>
          <a:noFill/>
        </p:spPr>
        <p:txBody>
          <a:bodyPr wrap="none" rtlCol="0">
            <a:spAutoFit/>
          </a:bodyPr>
          <a:lstStyle/>
          <a:p>
            <a:r>
              <a:rPr kumimoji="1" lang="ja-JP" altLang="en-US" sz="6600" b="1" dirty="0">
                <a:solidFill>
                  <a:schemeClr val="bg1"/>
                </a:solidFill>
                <a:latin typeface="Meiryo UI" panose="020B0604030504040204" pitchFamily="50" charset="-128"/>
                <a:ea typeface="Meiryo UI" panose="020B0604030504040204" pitchFamily="50" charset="-128"/>
              </a:rPr>
              <a:t>書類受信簿機能</a:t>
            </a:r>
          </a:p>
        </p:txBody>
      </p:sp>
      <p:sp>
        <p:nvSpPr>
          <p:cNvPr id="7" name="テキスト ボックス 6">
            <a:extLst>
              <a:ext uri="{FF2B5EF4-FFF2-40B4-BE49-F238E27FC236}">
                <a16:creationId xmlns:a16="http://schemas.microsoft.com/office/drawing/2014/main" id="{00FA196F-58E6-2563-98DB-397135B6C169}"/>
              </a:ext>
            </a:extLst>
          </p:cNvPr>
          <p:cNvSpPr txBox="1"/>
          <p:nvPr/>
        </p:nvSpPr>
        <p:spPr>
          <a:xfrm>
            <a:off x="635000" y="926066"/>
            <a:ext cx="2454518" cy="369332"/>
          </a:xfrm>
          <a:prstGeom prst="rect">
            <a:avLst/>
          </a:prstGeom>
          <a:noFill/>
        </p:spPr>
        <p:txBody>
          <a:bodyPr wrap="none" rtlCol="0">
            <a:spAutoFit/>
          </a:bodyPr>
          <a:lstStyle/>
          <a:p>
            <a:r>
              <a:rPr kumimoji="1" lang="ja-JP" altLang="en-US" b="1" dirty="0">
                <a:solidFill>
                  <a:schemeClr val="bg1"/>
                </a:solidFill>
                <a:latin typeface="Meiryo UI" panose="020B0604030504040204" pitchFamily="50" charset="-128"/>
                <a:ea typeface="Meiryo UI" panose="020B0604030504040204" pitchFamily="50" charset="-128"/>
              </a:rPr>
              <a:t>書類の受領履歴の管理</a:t>
            </a:r>
          </a:p>
        </p:txBody>
      </p:sp>
      <p:cxnSp>
        <p:nvCxnSpPr>
          <p:cNvPr id="9" name="直線コネクタ 8">
            <a:extLst>
              <a:ext uri="{FF2B5EF4-FFF2-40B4-BE49-F238E27FC236}">
                <a16:creationId xmlns:a16="http://schemas.microsoft.com/office/drawing/2014/main" id="{0D316253-04E8-A752-8843-DEFBA3C7B7C8}"/>
              </a:ext>
            </a:extLst>
          </p:cNvPr>
          <p:cNvCxnSpPr/>
          <p:nvPr/>
        </p:nvCxnSpPr>
        <p:spPr>
          <a:xfrm>
            <a:off x="736600" y="1568450"/>
            <a:ext cx="7664450"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正方形/長方形 9">
            <a:extLst>
              <a:ext uri="{FF2B5EF4-FFF2-40B4-BE49-F238E27FC236}">
                <a16:creationId xmlns:a16="http://schemas.microsoft.com/office/drawing/2014/main" id="{6FDA5E77-579F-3D4A-8AAE-4B459994A21E}"/>
              </a:ext>
            </a:extLst>
          </p:cNvPr>
          <p:cNvSpPr/>
          <p:nvPr/>
        </p:nvSpPr>
        <p:spPr>
          <a:xfrm>
            <a:off x="850900" y="1460500"/>
            <a:ext cx="36000" cy="23494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458CD699-544C-247B-7879-894243D53240}"/>
              </a:ext>
            </a:extLst>
          </p:cNvPr>
          <p:cNvSpPr/>
          <p:nvPr/>
        </p:nvSpPr>
        <p:spPr>
          <a:xfrm>
            <a:off x="717550" y="1473200"/>
            <a:ext cx="36000" cy="180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F86DFA6F-BB0D-295D-8364-66384B54EA47}"/>
              </a:ext>
            </a:extLst>
          </p:cNvPr>
          <p:cNvSpPr/>
          <p:nvPr/>
        </p:nvSpPr>
        <p:spPr>
          <a:xfrm>
            <a:off x="8153400" y="1460500"/>
            <a:ext cx="36000" cy="180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907961829"/>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矢印: 五方向 3">
            <a:extLst>
              <a:ext uri="{FF2B5EF4-FFF2-40B4-BE49-F238E27FC236}">
                <a16:creationId xmlns:a16="http://schemas.microsoft.com/office/drawing/2014/main" id="{223737C8-48A4-7533-73AD-EDF7C1967B91}"/>
              </a:ext>
            </a:extLst>
          </p:cNvPr>
          <p:cNvSpPr/>
          <p:nvPr/>
        </p:nvSpPr>
        <p:spPr>
          <a:xfrm>
            <a:off x="631528" y="888086"/>
            <a:ext cx="1605134" cy="585479"/>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書類到着</a:t>
            </a:r>
          </a:p>
        </p:txBody>
      </p:sp>
      <p:sp>
        <p:nvSpPr>
          <p:cNvPr id="5" name="矢印: 五方向 4">
            <a:extLst>
              <a:ext uri="{FF2B5EF4-FFF2-40B4-BE49-F238E27FC236}">
                <a16:creationId xmlns:a16="http://schemas.microsoft.com/office/drawing/2014/main" id="{FEF33646-4D2A-7DEF-EBC7-37C12D479175}"/>
              </a:ext>
            </a:extLst>
          </p:cNvPr>
          <p:cNvSpPr/>
          <p:nvPr/>
        </p:nvSpPr>
        <p:spPr>
          <a:xfrm>
            <a:off x="3927316" y="888086"/>
            <a:ext cx="1605134" cy="585479"/>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400" dirty="0"/>
              <a:t>コピー</a:t>
            </a:r>
            <a:br>
              <a:rPr kumimoji="1" lang="en-US" altLang="ja-JP" sz="1400" dirty="0"/>
            </a:br>
            <a:r>
              <a:rPr kumimoji="1" lang="en-US" altLang="ja-JP" sz="1400" dirty="0"/>
              <a:t>※</a:t>
            </a:r>
            <a:r>
              <a:rPr kumimoji="1" lang="ja-JP" altLang="en-US" sz="1400" dirty="0"/>
              <a:t>後々スキャン</a:t>
            </a:r>
          </a:p>
        </p:txBody>
      </p:sp>
      <p:sp>
        <p:nvSpPr>
          <p:cNvPr id="6" name="矢印: 五方向 5">
            <a:extLst>
              <a:ext uri="{FF2B5EF4-FFF2-40B4-BE49-F238E27FC236}">
                <a16:creationId xmlns:a16="http://schemas.microsoft.com/office/drawing/2014/main" id="{A3FC25E3-CECA-F784-A60A-52C99489D2A0}"/>
              </a:ext>
            </a:extLst>
          </p:cNvPr>
          <p:cNvSpPr/>
          <p:nvPr/>
        </p:nvSpPr>
        <p:spPr>
          <a:xfrm>
            <a:off x="2322182" y="888086"/>
            <a:ext cx="1605134" cy="585479"/>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システム格納</a:t>
            </a:r>
          </a:p>
        </p:txBody>
      </p:sp>
      <p:sp>
        <p:nvSpPr>
          <p:cNvPr id="7" name="矢印: 五方向 6">
            <a:extLst>
              <a:ext uri="{FF2B5EF4-FFF2-40B4-BE49-F238E27FC236}">
                <a16:creationId xmlns:a16="http://schemas.microsoft.com/office/drawing/2014/main" id="{B61B0A85-529A-4F28-FEDC-D0220DAD2AE2}"/>
              </a:ext>
            </a:extLst>
          </p:cNvPr>
          <p:cNvSpPr/>
          <p:nvPr/>
        </p:nvSpPr>
        <p:spPr>
          <a:xfrm>
            <a:off x="3927316" y="1618290"/>
            <a:ext cx="1605134" cy="585479"/>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原本保管</a:t>
            </a:r>
          </a:p>
        </p:txBody>
      </p:sp>
      <p:sp>
        <p:nvSpPr>
          <p:cNvPr id="10" name="テキスト ボックス 9">
            <a:extLst>
              <a:ext uri="{FF2B5EF4-FFF2-40B4-BE49-F238E27FC236}">
                <a16:creationId xmlns:a16="http://schemas.microsoft.com/office/drawing/2014/main" id="{73AB59BA-5C9A-132D-340D-3FFDD7BA3339}"/>
              </a:ext>
            </a:extLst>
          </p:cNvPr>
          <p:cNvSpPr txBox="1"/>
          <p:nvPr/>
        </p:nvSpPr>
        <p:spPr>
          <a:xfrm>
            <a:off x="2322183" y="1763016"/>
            <a:ext cx="1480144" cy="1754326"/>
          </a:xfrm>
          <a:prstGeom prst="rect">
            <a:avLst/>
          </a:prstGeom>
          <a:noFill/>
        </p:spPr>
        <p:txBody>
          <a:bodyPr wrap="square" rtlCol="0">
            <a:spAutoFit/>
          </a:bodyPr>
          <a:lstStyle/>
          <a:p>
            <a:r>
              <a:rPr kumimoji="1" lang="ja-JP" altLang="en-US" dirty="0"/>
              <a:t>・案件に紐づけて、何が何通届いたのか記録する</a:t>
            </a:r>
            <a:endParaRPr kumimoji="1" lang="en-US" altLang="ja-JP" dirty="0"/>
          </a:p>
          <a:p>
            <a:r>
              <a:rPr lang="ja-JP" altLang="en-US" dirty="0"/>
              <a:t>・</a:t>
            </a:r>
            <a:endParaRPr kumimoji="1" lang="ja-JP" altLang="en-US" dirty="0"/>
          </a:p>
        </p:txBody>
      </p:sp>
      <p:sp>
        <p:nvSpPr>
          <p:cNvPr id="13" name="正方形/長方形 12">
            <a:extLst>
              <a:ext uri="{FF2B5EF4-FFF2-40B4-BE49-F238E27FC236}">
                <a16:creationId xmlns:a16="http://schemas.microsoft.com/office/drawing/2014/main" id="{8032125D-0B7B-FAB5-6900-9560F50CCC46}"/>
              </a:ext>
            </a:extLst>
          </p:cNvPr>
          <p:cNvSpPr/>
          <p:nvPr/>
        </p:nvSpPr>
        <p:spPr>
          <a:xfrm>
            <a:off x="565744" y="144725"/>
            <a:ext cx="5032489" cy="3749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書類格納</a:t>
            </a:r>
          </a:p>
        </p:txBody>
      </p:sp>
      <p:cxnSp>
        <p:nvCxnSpPr>
          <p:cNvPr id="16" name="直線矢印コネクタ 15">
            <a:extLst>
              <a:ext uri="{FF2B5EF4-FFF2-40B4-BE49-F238E27FC236}">
                <a16:creationId xmlns:a16="http://schemas.microsoft.com/office/drawing/2014/main" id="{5596F465-C6D2-6622-9AA1-FEAB97DEA7F1}"/>
              </a:ext>
            </a:extLst>
          </p:cNvPr>
          <p:cNvCxnSpPr/>
          <p:nvPr/>
        </p:nvCxnSpPr>
        <p:spPr>
          <a:xfrm>
            <a:off x="6407720" y="1180825"/>
            <a:ext cx="756518" cy="0"/>
          </a:xfrm>
          <a:prstGeom prst="straightConnector1">
            <a:avLst/>
          </a:prstGeom>
          <a:ln>
            <a:tailEnd type="triangle"/>
          </a:ln>
        </p:spPr>
        <p:style>
          <a:lnRef idx="2">
            <a:schemeClr val="accent1"/>
          </a:lnRef>
          <a:fillRef idx="0">
            <a:schemeClr val="accent1"/>
          </a:fillRef>
          <a:effectRef idx="1">
            <a:schemeClr val="accent1"/>
          </a:effectRef>
          <a:fontRef idx="minor">
            <a:schemeClr val="tx1"/>
          </a:fontRef>
        </p:style>
      </p:cxnSp>
      <p:sp>
        <p:nvSpPr>
          <p:cNvPr id="17" name="テキスト ボックス 16">
            <a:extLst>
              <a:ext uri="{FF2B5EF4-FFF2-40B4-BE49-F238E27FC236}">
                <a16:creationId xmlns:a16="http://schemas.microsoft.com/office/drawing/2014/main" id="{8DC93376-0610-B96E-DA7E-BBB5C0DC4C03}"/>
              </a:ext>
            </a:extLst>
          </p:cNvPr>
          <p:cNvSpPr txBox="1"/>
          <p:nvPr/>
        </p:nvSpPr>
        <p:spPr>
          <a:xfrm>
            <a:off x="5459880" y="1402845"/>
            <a:ext cx="1454244" cy="430887"/>
          </a:xfrm>
          <a:prstGeom prst="rect">
            <a:avLst/>
          </a:prstGeom>
          <a:noFill/>
        </p:spPr>
        <p:txBody>
          <a:bodyPr wrap="none" rtlCol="0">
            <a:spAutoFit/>
          </a:bodyPr>
          <a:lstStyle/>
          <a:p>
            <a:pPr algn="ctr"/>
            <a:r>
              <a:rPr kumimoji="1" lang="ja-JP" altLang="en-US" sz="1100" dirty="0"/>
              <a:t>到着通知</a:t>
            </a:r>
            <a:endParaRPr kumimoji="1" lang="en-US" altLang="ja-JP" sz="1100" dirty="0"/>
          </a:p>
          <a:p>
            <a:pPr algn="ctr"/>
            <a:r>
              <a:rPr lang="ja-JP" altLang="en-US" sz="1100" dirty="0"/>
              <a:t>タスク開始トリガー</a:t>
            </a:r>
            <a:endParaRPr kumimoji="1" lang="ja-JP" altLang="en-US" sz="1100" dirty="0"/>
          </a:p>
        </p:txBody>
      </p:sp>
      <p:sp>
        <p:nvSpPr>
          <p:cNvPr id="8" name="矢印: 五方向 7">
            <a:extLst>
              <a:ext uri="{FF2B5EF4-FFF2-40B4-BE49-F238E27FC236}">
                <a16:creationId xmlns:a16="http://schemas.microsoft.com/office/drawing/2014/main" id="{7B59DEE7-5D71-EF2F-E1B9-43784EA96BF9}"/>
              </a:ext>
            </a:extLst>
          </p:cNvPr>
          <p:cNvSpPr/>
          <p:nvPr/>
        </p:nvSpPr>
        <p:spPr>
          <a:xfrm>
            <a:off x="5182052" y="888086"/>
            <a:ext cx="1136532" cy="585479"/>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読込内容確認タスク生成</a:t>
            </a:r>
          </a:p>
        </p:txBody>
      </p:sp>
      <p:sp>
        <p:nvSpPr>
          <p:cNvPr id="11" name="矢印: 五方向 10">
            <a:extLst>
              <a:ext uri="{FF2B5EF4-FFF2-40B4-BE49-F238E27FC236}">
                <a16:creationId xmlns:a16="http://schemas.microsoft.com/office/drawing/2014/main" id="{54851C31-5FB3-9E5D-1FD3-A314B304F401}"/>
              </a:ext>
            </a:extLst>
          </p:cNvPr>
          <p:cNvSpPr/>
          <p:nvPr/>
        </p:nvSpPr>
        <p:spPr>
          <a:xfrm>
            <a:off x="10137341" y="888087"/>
            <a:ext cx="1136532" cy="585479"/>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次タスクの開始</a:t>
            </a:r>
          </a:p>
        </p:txBody>
      </p:sp>
      <p:sp>
        <p:nvSpPr>
          <p:cNvPr id="12" name="矢印: 五方向 11">
            <a:extLst>
              <a:ext uri="{FF2B5EF4-FFF2-40B4-BE49-F238E27FC236}">
                <a16:creationId xmlns:a16="http://schemas.microsoft.com/office/drawing/2014/main" id="{FFF74542-AAB1-D89A-F431-827FB9FFC52B}"/>
              </a:ext>
            </a:extLst>
          </p:cNvPr>
          <p:cNvSpPr/>
          <p:nvPr/>
        </p:nvSpPr>
        <p:spPr>
          <a:xfrm>
            <a:off x="10137341" y="1618291"/>
            <a:ext cx="1136532" cy="585479"/>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追加請求</a:t>
            </a:r>
          </a:p>
        </p:txBody>
      </p:sp>
      <p:sp>
        <p:nvSpPr>
          <p:cNvPr id="14" name="正方形/長方形 13">
            <a:extLst>
              <a:ext uri="{FF2B5EF4-FFF2-40B4-BE49-F238E27FC236}">
                <a16:creationId xmlns:a16="http://schemas.microsoft.com/office/drawing/2014/main" id="{A35D8472-7ECD-FD9F-DC55-1B3AF3D8A0D7}"/>
              </a:ext>
            </a:extLst>
          </p:cNvPr>
          <p:cNvSpPr/>
          <p:nvPr/>
        </p:nvSpPr>
        <p:spPr>
          <a:xfrm>
            <a:off x="6659553" y="144725"/>
            <a:ext cx="3563308" cy="37497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タスク</a:t>
            </a:r>
          </a:p>
        </p:txBody>
      </p:sp>
      <p:sp>
        <p:nvSpPr>
          <p:cNvPr id="18" name="矢印: 五方向 17">
            <a:extLst>
              <a:ext uri="{FF2B5EF4-FFF2-40B4-BE49-F238E27FC236}">
                <a16:creationId xmlns:a16="http://schemas.microsoft.com/office/drawing/2014/main" id="{2BE85C32-D25D-9E23-DB84-306143640352}"/>
              </a:ext>
            </a:extLst>
          </p:cNvPr>
          <p:cNvSpPr/>
          <p:nvPr/>
        </p:nvSpPr>
        <p:spPr>
          <a:xfrm>
            <a:off x="9000810" y="888086"/>
            <a:ext cx="1136532" cy="585479"/>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読込内容確認</a:t>
            </a:r>
          </a:p>
        </p:txBody>
      </p:sp>
      <p:sp>
        <p:nvSpPr>
          <p:cNvPr id="20" name="矢印: 五方向 19">
            <a:extLst>
              <a:ext uri="{FF2B5EF4-FFF2-40B4-BE49-F238E27FC236}">
                <a16:creationId xmlns:a16="http://schemas.microsoft.com/office/drawing/2014/main" id="{8CA4F77F-1B24-D7A9-C49A-F5A898909FCB}"/>
              </a:ext>
            </a:extLst>
          </p:cNvPr>
          <p:cNvSpPr/>
          <p:nvPr/>
        </p:nvSpPr>
        <p:spPr>
          <a:xfrm>
            <a:off x="7830181" y="888086"/>
            <a:ext cx="1136532" cy="585479"/>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t>タスク実行者割り振り</a:t>
            </a:r>
            <a:r>
              <a:rPr kumimoji="1" lang="en-US" altLang="ja-JP" sz="1200" dirty="0"/>
              <a:t>or</a:t>
            </a:r>
            <a:r>
              <a:rPr kumimoji="1" lang="ja-JP" altLang="en-US" sz="1200" dirty="0"/>
              <a:t>挙手</a:t>
            </a:r>
          </a:p>
        </p:txBody>
      </p:sp>
      <p:sp>
        <p:nvSpPr>
          <p:cNvPr id="22" name="テキスト ボックス 21">
            <a:extLst>
              <a:ext uri="{FF2B5EF4-FFF2-40B4-BE49-F238E27FC236}">
                <a16:creationId xmlns:a16="http://schemas.microsoft.com/office/drawing/2014/main" id="{699F966C-1127-1E7E-5817-FD32BD1133D6}"/>
              </a:ext>
            </a:extLst>
          </p:cNvPr>
          <p:cNvSpPr txBox="1"/>
          <p:nvPr/>
        </p:nvSpPr>
        <p:spPr>
          <a:xfrm>
            <a:off x="695089" y="3977827"/>
            <a:ext cx="11246990" cy="1477328"/>
          </a:xfrm>
          <a:prstGeom prst="rect">
            <a:avLst/>
          </a:prstGeom>
          <a:noFill/>
        </p:spPr>
        <p:txBody>
          <a:bodyPr wrap="none" rtlCol="0">
            <a:spAutoFit/>
          </a:bodyPr>
          <a:lstStyle/>
          <a:p>
            <a:r>
              <a:rPr kumimoji="1" lang="ja-JP" altLang="en-US" dirty="0"/>
              <a:t>★基本挙手だが、戸籍しかできない人</a:t>
            </a:r>
            <a:endParaRPr kumimoji="1" lang="en-US" altLang="ja-JP" dirty="0"/>
          </a:p>
          <a:p>
            <a:r>
              <a:rPr lang="ja-JP" altLang="en-US" dirty="0"/>
              <a:t>割り振る、重複しないように</a:t>
            </a:r>
            <a:endParaRPr lang="en-US" altLang="ja-JP" dirty="0"/>
          </a:p>
          <a:p>
            <a:endParaRPr lang="en-US" altLang="ja-JP" dirty="0"/>
          </a:p>
          <a:p>
            <a:r>
              <a:rPr lang="ja-JP" altLang="en-US" dirty="0"/>
              <a:t>戸籍読込→追加</a:t>
            </a:r>
            <a:r>
              <a:rPr lang="en-US" altLang="ja-JP" dirty="0"/>
              <a:t>or</a:t>
            </a:r>
            <a:r>
              <a:rPr lang="ja-JP" altLang="en-US" dirty="0"/>
              <a:t>相関図作成等の次タスクのアクションボタンを押下したら、タスクリストに追加される。</a:t>
            </a:r>
            <a:endParaRPr lang="en-US" altLang="ja-JP" dirty="0"/>
          </a:p>
          <a:p>
            <a:endParaRPr lang="en-US" altLang="ja-JP" dirty="0"/>
          </a:p>
        </p:txBody>
      </p:sp>
    </p:spTree>
    <p:extLst>
      <p:ext uri="{BB962C8B-B14F-4D97-AF65-F5344CB8AC3E}">
        <p14:creationId xmlns:p14="http://schemas.microsoft.com/office/powerpoint/2010/main" val="4259824045"/>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CFBCCEDC-9886-4476-A654-668C72BEFACF}"/>
              </a:ext>
            </a:extLst>
          </p:cNvPr>
          <p:cNvSpPr/>
          <p:nvPr/>
        </p:nvSpPr>
        <p:spPr>
          <a:xfrm>
            <a:off x="557724" y="1086535"/>
            <a:ext cx="1363173"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solidFill>
                <a:latin typeface="Meiryo UI" panose="020B0604030504040204" pitchFamily="50" charset="-128"/>
                <a:ea typeface="Meiryo UI" panose="020B0604030504040204" pitchFamily="50" charset="-128"/>
              </a:rPr>
              <a:t>到着した書類の</a:t>
            </a:r>
            <a:endParaRPr kumimoji="1" lang="en-US" altLang="ja-JP" sz="1200" b="1" dirty="0">
              <a:solidFill>
                <a:schemeClr val="tx1"/>
              </a:solidFill>
              <a:latin typeface="Meiryo UI" panose="020B0604030504040204" pitchFamily="50" charset="-128"/>
              <a:ea typeface="Meiryo UI" panose="020B0604030504040204" pitchFamily="50" charset="-128"/>
            </a:endParaRPr>
          </a:p>
          <a:p>
            <a:pPr algn="ctr"/>
            <a:r>
              <a:rPr lang="ja-JP" altLang="en-US" sz="1200" b="1" dirty="0">
                <a:solidFill>
                  <a:schemeClr val="tx1"/>
                </a:solidFill>
                <a:latin typeface="Meiryo UI" panose="020B0604030504040204" pitchFamily="50" charset="-128"/>
                <a:ea typeface="Meiryo UI" panose="020B0604030504040204" pitchFamily="50" charset="-128"/>
              </a:rPr>
              <a:t>新規</a:t>
            </a:r>
            <a:r>
              <a:rPr kumimoji="1" lang="ja-JP" altLang="en-US" sz="1200" b="1" dirty="0">
                <a:solidFill>
                  <a:schemeClr val="tx1"/>
                </a:solidFill>
                <a:latin typeface="Meiryo UI" panose="020B0604030504040204" pitchFamily="50" charset="-128"/>
                <a:ea typeface="Meiryo UI" panose="020B0604030504040204" pitchFamily="50" charset="-128"/>
              </a:rPr>
              <a:t>登録</a:t>
            </a:r>
          </a:p>
        </p:txBody>
      </p:sp>
      <p:sp>
        <p:nvSpPr>
          <p:cNvPr id="6" name="正方形/長方形 5">
            <a:extLst>
              <a:ext uri="{FF2B5EF4-FFF2-40B4-BE49-F238E27FC236}">
                <a16:creationId xmlns:a16="http://schemas.microsoft.com/office/drawing/2014/main" id="{7184879F-E9A0-4277-A6EF-A277772275F9}"/>
              </a:ext>
            </a:extLst>
          </p:cNvPr>
          <p:cNvSpPr/>
          <p:nvPr/>
        </p:nvSpPr>
        <p:spPr>
          <a:xfrm>
            <a:off x="3399457" y="2577155"/>
            <a:ext cx="1228336"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到着物</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16" name="加算記号 15">
            <a:extLst>
              <a:ext uri="{FF2B5EF4-FFF2-40B4-BE49-F238E27FC236}">
                <a16:creationId xmlns:a16="http://schemas.microsoft.com/office/drawing/2014/main" id="{6FA29A6B-18F4-9F3C-5C7C-F3D43786A94F}"/>
              </a:ext>
            </a:extLst>
          </p:cNvPr>
          <p:cNvSpPr/>
          <p:nvPr/>
        </p:nvSpPr>
        <p:spPr>
          <a:xfrm>
            <a:off x="1703810" y="1184114"/>
            <a:ext cx="217087" cy="210509"/>
          </a:xfrm>
          <a:prstGeom prst="mathPlus">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20" name="正方形/長方形 19">
            <a:extLst>
              <a:ext uri="{FF2B5EF4-FFF2-40B4-BE49-F238E27FC236}">
                <a16:creationId xmlns:a16="http://schemas.microsoft.com/office/drawing/2014/main" id="{04982EBC-2DFC-22B8-E66B-0DC2309CA8DF}"/>
              </a:ext>
            </a:extLst>
          </p:cNvPr>
          <p:cNvSpPr/>
          <p:nvPr/>
        </p:nvSpPr>
        <p:spPr>
          <a:xfrm>
            <a:off x="1773292" y="2577155"/>
            <a:ext cx="1363173"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案件管理番号</a:t>
            </a:r>
          </a:p>
        </p:txBody>
      </p:sp>
      <p:sp>
        <p:nvSpPr>
          <p:cNvPr id="22" name="テキスト ボックス 21">
            <a:extLst>
              <a:ext uri="{FF2B5EF4-FFF2-40B4-BE49-F238E27FC236}">
                <a16:creationId xmlns:a16="http://schemas.microsoft.com/office/drawing/2014/main" id="{DEA531B3-8DF3-3CDA-20BB-8349898E26D7}"/>
              </a:ext>
            </a:extLst>
          </p:cNvPr>
          <p:cNvSpPr txBox="1"/>
          <p:nvPr/>
        </p:nvSpPr>
        <p:spPr>
          <a:xfrm>
            <a:off x="4661185" y="537783"/>
            <a:ext cx="8032968" cy="646331"/>
          </a:xfrm>
          <a:prstGeom prst="rect">
            <a:avLst/>
          </a:prstGeom>
          <a:noFill/>
        </p:spPr>
        <p:txBody>
          <a:bodyPr wrap="none" rtlCol="0">
            <a:spAutoFit/>
          </a:bodyPr>
          <a:lstStyle/>
          <a:p>
            <a:r>
              <a:rPr kumimoji="1" lang="ja-JP" altLang="en-US" dirty="0"/>
              <a:t>★戸籍到着確認・読込タスクが起票されている案件の戸籍が到着したら、</a:t>
            </a:r>
            <a:endParaRPr kumimoji="1" lang="en-US" altLang="ja-JP" dirty="0"/>
          </a:p>
          <a:p>
            <a:r>
              <a:rPr kumimoji="1" lang="ja-JP" altLang="en-US" dirty="0"/>
              <a:t>着手してくださいという、管理簿起票をタスク開始のトリガーにする。</a:t>
            </a:r>
          </a:p>
        </p:txBody>
      </p:sp>
      <p:sp>
        <p:nvSpPr>
          <p:cNvPr id="23" name="テキスト ボックス 22">
            <a:extLst>
              <a:ext uri="{FF2B5EF4-FFF2-40B4-BE49-F238E27FC236}">
                <a16:creationId xmlns:a16="http://schemas.microsoft.com/office/drawing/2014/main" id="{28543CB6-91AC-9566-CE98-D14762EAAB08}"/>
              </a:ext>
            </a:extLst>
          </p:cNvPr>
          <p:cNvSpPr txBox="1"/>
          <p:nvPr/>
        </p:nvSpPr>
        <p:spPr>
          <a:xfrm>
            <a:off x="546009" y="447332"/>
            <a:ext cx="3467616" cy="584775"/>
          </a:xfrm>
          <a:prstGeom prst="rect">
            <a:avLst/>
          </a:prstGeom>
          <a:noFill/>
        </p:spPr>
        <p:txBody>
          <a:bodyPr wrap="none" rtlCol="0">
            <a:spAutoFit/>
          </a:bodyPr>
          <a:lstStyle/>
          <a:p>
            <a:r>
              <a:rPr kumimoji="1" lang="ja-JP" altLang="en-US" sz="3200" b="1" dirty="0"/>
              <a:t>届いた書類の登録</a:t>
            </a:r>
          </a:p>
        </p:txBody>
      </p:sp>
      <p:sp>
        <p:nvSpPr>
          <p:cNvPr id="24" name="正方形/長方形 23">
            <a:extLst>
              <a:ext uri="{FF2B5EF4-FFF2-40B4-BE49-F238E27FC236}">
                <a16:creationId xmlns:a16="http://schemas.microsoft.com/office/drawing/2014/main" id="{F006345C-9A0B-18B8-2567-1135A8DA9FEC}"/>
              </a:ext>
            </a:extLst>
          </p:cNvPr>
          <p:cNvSpPr/>
          <p:nvPr/>
        </p:nvSpPr>
        <p:spPr>
          <a:xfrm>
            <a:off x="703547" y="2577155"/>
            <a:ext cx="945099"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番号</a:t>
            </a:r>
            <a:endParaRPr lang="en-US" altLang="ja-JP" sz="1200" dirty="0">
              <a:solidFill>
                <a:schemeClr val="tx1"/>
              </a:solidFill>
              <a:latin typeface="Meiryo UI" panose="020B0604030504040204" pitchFamily="50" charset="-128"/>
              <a:ea typeface="Meiryo UI" panose="020B0604030504040204" pitchFamily="50" charset="-128"/>
            </a:endParaRPr>
          </a:p>
          <a:p>
            <a:pPr algn="ctr"/>
            <a:r>
              <a:rPr kumimoji="1" lang="en-US" altLang="ja-JP" sz="1200" dirty="0">
                <a:solidFill>
                  <a:schemeClr val="tx1"/>
                </a:solidFill>
                <a:latin typeface="Meiryo UI" panose="020B0604030504040204" pitchFamily="50" charset="-128"/>
                <a:ea typeface="Meiryo UI" panose="020B0604030504040204" pitchFamily="50" charset="-128"/>
              </a:rPr>
              <a:t>Today</a:t>
            </a:r>
            <a:r>
              <a:rPr kumimoji="1" lang="ja-JP" altLang="en-US" sz="1200" dirty="0">
                <a:solidFill>
                  <a:schemeClr val="tx1"/>
                </a:solidFill>
                <a:latin typeface="Meiryo UI" panose="020B0604030504040204" pitchFamily="50" charset="-128"/>
                <a:ea typeface="Meiryo UI" panose="020B0604030504040204" pitchFamily="50" charset="-128"/>
              </a:rPr>
              <a:t>の中の何番目</a:t>
            </a:r>
          </a:p>
        </p:txBody>
      </p:sp>
      <p:sp>
        <p:nvSpPr>
          <p:cNvPr id="43" name="テキスト ボックス 42">
            <a:extLst>
              <a:ext uri="{FF2B5EF4-FFF2-40B4-BE49-F238E27FC236}">
                <a16:creationId xmlns:a16="http://schemas.microsoft.com/office/drawing/2014/main" id="{CDEDB1FF-E22E-535C-7453-BCA352ACEA4D}"/>
              </a:ext>
            </a:extLst>
          </p:cNvPr>
          <p:cNvSpPr txBox="1"/>
          <p:nvPr/>
        </p:nvSpPr>
        <p:spPr>
          <a:xfrm>
            <a:off x="4624284" y="1203046"/>
            <a:ext cx="10110460" cy="923330"/>
          </a:xfrm>
          <a:prstGeom prst="rect">
            <a:avLst/>
          </a:prstGeom>
          <a:noFill/>
        </p:spPr>
        <p:txBody>
          <a:bodyPr wrap="none" rtlCol="0">
            <a:spAutoFit/>
          </a:bodyPr>
          <a:lstStyle/>
          <a:p>
            <a:r>
              <a:rPr kumimoji="1" lang="ja-JP" altLang="en-US" dirty="0"/>
              <a:t>★スキャン、原本保管</a:t>
            </a:r>
            <a:endParaRPr kumimoji="1" lang="en-US" altLang="ja-JP" dirty="0"/>
          </a:p>
          <a:p>
            <a:r>
              <a:rPr lang="ja-JP" altLang="en-US" dirty="0"/>
              <a:t>★届くはずのものが、きちんと届いているのか。請求書があれば、届くものを事前に把握できる</a:t>
            </a:r>
            <a:endParaRPr lang="en-US" altLang="ja-JP" dirty="0"/>
          </a:p>
          <a:p>
            <a:r>
              <a:rPr kumimoji="1" lang="ja-JP" altLang="en-US" dirty="0"/>
              <a:t>お客さん取得の場合は取得依頼をしているが</a:t>
            </a:r>
          </a:p>
        </p:txBody>
      </p:sp>
      <p:sp>
        <p:nvSpPr>
          <p:cNvPr id="18" name="正方形/長方形 17">
            <a:extLst>
              <a:ext uri="{FF2B5EF4-FFF2-40B4-BE49-F238E27FC236}">
                <a16:creationId xmlns:a16="http://schemas.microsoft.com/office/drawing/2014/main" id="{763E1F25-5743-6F19-D53A-91B1D9DCFA4D}"/>
              </a:ext>
            </a:extLst>
          </p:cNvPr>
          <p:cNvSpPr/>
          <p:nvPr/>
        </p:nvSpPr>
        <p:spPr>
          <a:xfrm>
            <a:off x="5746535" y="3217558"/>
            <a:ext cx="1363173" cy="32757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名古屋市区役所</a:t>
            </a:r>
          </a:p>
        </p:txBody>
      </p:sp>
      <p:sp>
        <p:nvSpPr>
          <p:cNvPr id="19" name="正方形/長方形 18">
            <a:extLst>
              <a:ext uri="{FF2B5EF4-FFF2-40B4-BE49-F238E27FC236}">
                <a16:creationId xmlns:a16="http://schemas.microsoft.com/office/drawing/2014/main" id="{D42C9A07-4498-D4F9-C556-D72A02053C40}"/>
              </a:ext>
            </a:extLst>
          </p:cNvPr>
          <p:cNvSpPr/>
          <p:nvPr/>
        </p:nvSpPr>
        <p:spPr>
          <a:xfrm>
            <a:off x="5746535" y="3615109"/>
            <a:ext cx="1363173" cy="32757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Meiryo UI" panose="020B0604030504040204" pitchFamily="50" charset="-128"/>
                <a:ea typeface="Meiryo UI" panose="020B0604030504040204" pitchFamily="50" charset="-128"/>
              </a:rPr>
              <a:t>名古屋市区役所</a:t>
            </a:r>
          </a:p>
        </p:txBody>
      </p:sp>
      <p:sp>
        <p:nvSpPr>
          <p:cNvPr id="21" name="正方形/長方形 20">
            <a:extLst>
              <a:ext uri="{FF2B5EF4-FFF2-40B4-BE49-F238E27FC236}">
                <a16:creationId xmlns:a16="http://schemas.microsoft.com/office/drawing/2014/main" id="{4B890D9B-BE82-8D25-8CA4-A8375A43D989}"/>
              </a:ext>
            </a:extLst>
          </p:cNvPr>
          <p:cNvSpPr/>
          <p:nvPr/>
        </p:nvSpPr>
        <p:spPr>
          <a:xfrm>
            <a:off x="1773292" y="3190044"/>
            <a:ext cx="1363173" cy="10836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latin typeface="Meiryo UI" panose="020B0604030504040204" pitchFamily="50" charset="-128"/>
                <a:ea typeface="Meiryo UI" panose="020B0604030504040204" pitchFamily="50" charset="-128"/>
              </a:rPr>
              <a:t>y1684184</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25" name="正方形/長方形 24">
            <a:extLst>
              <a:ext uri="{FF2B5EF4-FFF2-40B4-BE49-F238E27FC236}">
                <a16:creationId xmlns:a16="http://schemas.microsoft.com/office/drawing/2014/main" id="{D4699EE0-6C6E-A0FE-EFB8-0E3160CAD75B}"/>
              </a:ext>
            </a:extLst>
          </p:cNvPr>
          <p:cNvSpPr/>
          <p:nvPr/>
        </p:nvSpPr>
        <p:spPr>
          <a:xfrm>
            <a:off x="711222" y="3190044"/>
            <a:ext cx="945099" cy="108364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latin typeface="Meiryo UI" panose="020B0604030504040204" pitchFamily="50" charset="-128"/>
                <a:ea typeface="Meiryo UI" panose="020B0604030504040204" pitchFamily="50" charset="-128"/>
              </a:rPr>
              <a:t>0513/001</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26" name="正方形/長方形 25">
            <a:extLst>
              <a:ext uri="{FF2B5EF4-FFF2-40B4-BE49-F238E27FC236}">
                <a16:creationId xmlns:a16="http://schemas.microsoft.com/office/drawing/2014/main" id="{DCAF8AEB-FEBF-AE94-0291-996E2388766A}"/>
              </a:ext>
            </a:extLst>
          </p:cNvPr>
          <p:cNvSpPr/>
          <p:nvPr/>
        </p:nvSpPr>
        <p:spPr>
          <a:xfrm>
            <a:off x="3373416" y="3217558"/>
            <a:ext cx="1363173" cy="32757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戸籍</a:t>
            </a:r>
          </a:p>
        </p:txBody>
      </p:sp>
      <p:sp>
        <p:nvSpPr>
          <p:cNvPr id="27" name="正方形/長方形 26">
            <a:extLst>
              <a:ext uri="{FF2B5EF4-FFF2-40B4-BE49-F238E27FC236}">
                <a16:creationId xmlns:a16="http://schemas.microsoft.com/office/drawing/2014/main" id="{0F966D87-5830-3A7A-123C-CF1696170CD4}"/>
              </a:ext>
            </a:extLst>
          </p:cNvPr>
          <p:cNvSpPr/>
          <p:nvPr/>
        </p:nvSpPr>
        <p:spPr>
          <a:xfrm>
            <a:off x="3373416" y="3600185"/>
            <a:ext cx="1363173" cy="32757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名古屋戸籍</a:t>
            </a:r>
          </a:p>
        </p:txBody>
      </p:sp>
      <p:sp>
        <p:nvSpPr>
          <p:cNvPr id="30" name="正方形/長方形 29">
            <a:extLst>
              <a:ext uri="{FF2B5EF4-FFF2-40B4-BE49-F238E27FC236}">
                <a16:creationId xmlns:a16="http://schemas.microsoft.com/office/drawing/2014/main" id="{9B8EDB4C-824D-1B6B-17B7-16A8BD17BAE5}"/>
              </a:ext>
            </a:extLst>
          </p:cNvPr>
          <p:cNvSpPr/>
          <p:nvPr/>
        </p:nvSpPr>
        <p:spPr>
          <a:xfrm>
            <a:off x="7191969" y="3211525"/>
            <a:ext cx="1363173" cy="32757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31" name="正方形/長方形 30">
            <a:extLst>
              <a:ext uri="{FF2B5EF4-FFF2-40B4-BE49-F238E27FC236}">
                <a16:creationId xmlns:a16="http://schemas.microsoft.com/office/drawing/2014/main" id="{445BEFD4-8A2F-FC0E-20F0-314D729A7881}"/>
              </a:ext>
            </a:extLst>
          </p:cNvPr>
          <p:cNvSpPr/>
          <p:nvPr/>
        </p:nvSpPr>
        <p:spPr>
          <a:xfrm>
            <a:off x="7191969" y="3594152"/>
            <a:ext cx="1363173" cy="32757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a:t>
            </a:r>
          </a:p>
        </p:txBody>
      </p:sp>
      <p:sp>
        <p:nvSpPr>
          <p:cNvPr id="34" name="正方形/長方形 33">
            <a:extLst>
              <a:ext uri="{FF2B5EF4-FFF2-40B4-BE49-F238E27FC236}">
                <a16:creationId xmlns:a16="http://schemas.microsoft.com/office/drawing/2014/main" id="{E6F9F3AB-A941-407B-8E09-C96428B4C572}"/>
              </a:ext>
            </a:extLst>
          </p:cNvPr>
          <p:cNvSpPr/>
          <p:nvPr/>
        </p:nvSpPr>
        <p:spPr>
          <a:xfrm>
            <a:off x="4775945" y="3217558"/>
            <a:ext cx="826049" cy="32757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何通</a:t>
            </a:r>
          </a:p>
        </p:txBody>
      </p:sp>
      <p:sp>
        <p:nvSpPr>
          <p:cNvPr id="35" name="正方形/長方形 34">
            <a:extLst>
              <a:ext uri="{FF2B5EF4-FFF2-40B4-BE49-F238E27FC236}">
                <a16:creationId xmlns:a16="http://schemas.microsoft.com/office/drawing/2014/main" id="{8A38EFDA-02E2-984B-705C-0DFA2FF2561D}"/>
              </a:ext>
            </a:extLst>
          </p:cNvPr>
          <p:cNvSpPr/>
          <p:nvPr/>
        </p:nvSpPr>
        <p:spPr>
          <a:xfrm>
            <a:off x="4775945" y="3600185"/>
            <a:ext cx="826049" cy="32757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何通</a:t>
            </a:r>
          </a:p>
        </p:txBody>
      </p:sp>
      <p:sp>
        <p:nvSpPr>
          <p:cNvPr id="44" name="正方形/長方形 43">
            <a:extLst>
              <a:ext uri="{FF2B5EF4-FFF2-40B4-BE49-F238E27FC236}">
                <a16:creationId xmlns:a16="http://schemas.microsoft.com/office/drawing/2014/main" id="{058D5607-C719-723E-CC92-F15F7D4F8474}"/>
              </a:ext>
            </a:extLst>
          </p:cNvPr>
          <p:cNvSpPr/>
          <p:nvPr/>
        </p:nvSpPr>
        <p:spPr>
          <a:xfrm>
            <a:off x="8637404" y="2563802"/>
            <a:ext cx="1363173" cy="4779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着手</a:t>
            </a:r>
          </a:p>
        </p:txBody>
      </p:sp>
      <p:sp>
        <p:nvSpPr>
          <p:cNvPr id="45" name="正方形/長方形 44">
            <a:extLst>
              <a:ext uri="{FF2B5EF4-FFF2-40B4-BE49-F238E27FC236}">
                <a16:creationId xmlns:a16="http://schemas.microsoft.com/office/drawing/2014/main" id="{251B1BDD-FB25-B903-C3E6-250A6B094D76}"/>
              </a:ext>
            </a:extLst>
          </p:cNvPr>
          <p:cNvSpPr/>
          <p:nvPr/>
        </p:nvSpPr>
        <p:spPr>
          <a:xfrm>
            <a:off x="8637403" y="3211525"/>
            <a:ext cx="1363173" cy="1107756"/>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黒田</a:t>
            </a:r>
          </a:p>
        </p:txBody>
      </p:sp>
      <p:sp>
        <p:nvSpPr>
          <p:cNvPr id="49" name="正方形/長方形 48">
            <a:extLst>
              <a:ext uri="{FF2B5EF4-FFF2-40B4-BE49-F238E27FC236}">
                <a16:creationId xmlns:a16="http://schemas.microsoft.com/office/drawing/2014/main" id="{01989C87-6664-FF76-CEEB-5DA35A22EA6D}"/>
              </a:ext>
            </a:extLst>
          </p:cNvPr>
          <p:cNvSpPr/>
          <p:nvPr/>
        </p:nvSpPr>
        <p:spPr>
          <a:xfrm>
            <a:off x="5733754" y="4012660"/>
            <a:ext cx="1363173" cy="32757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000" dirty="0">
                <a:solidFill>
                  <a:schemeClr val="tx1"/>
                </a:solidFill>
                <a:latin typeface="Meiryo UI" panose="020B0604030504040204" pitchFamily="50" charset="-128"/>
                <a:ea typeface="Meiryo UI" panose="020B0604030504040204" pitchFamily="50" charset="-128"/>
              </a:rPr>
              <a:t>名古屋市区役所</a:t>
            </a:r>
          </a:p>
        </p:txBody>
      </p:sp>
      <p:sp>
        <p:nvSpPr>
          <p:cNvPr id="50" name="正方形/長方形 49">
            <a:extLst>
              <a:ext uri="{FF2B5EF4-FFF2-40B4-BE49-F238E27FC236}">
                <a16:creationId xmlns:a16="http://schemas.microsoft.com/office/drawing/2014/main" id="{2399DB45-9A02-98FA-7B6D-3F30A0335159}"/>
              </a:ext>
            </a:extLst>
          </p:cNvPr>
          <p:cNvSpPr/>
          <p:nvPr/>
        </p:nvSpPr>
        <p:spPr>
          <a:xfrm>
            <a:off x="3360635" y="3997736"/>
            <a:ext cx="1363173" cy="32757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住民票</a:t>
            </a:r>
          </a:p>
        </p:txBody>
      </p:sp>
      <p:sp>
        <p:nvSpPr>
          <p:cNvPr id="51" name="正方形/長方形 50">
            <a:extLst>
              <a:ext uri="{FF2B5EF4-FFF2-40B4-BE49-F238E27FC236}">
                <a16:creationId xmlns:a16="http://schemas.microsoft.com/office/drawing/2014/main" id="{D02D991C-CE76-448F-43F8-1C2DA32B1636}"/>
              </a:ext>
            </a:extLst>
          </p:cNvPr>
          <p:cNvSpPr/>
          <p:nvPr/>
        </p:nvSpPr>
        <p:spPr>
          <a:xfrm>
            <a:off x="7179188" y="3991703"/>
            <a:ext cx="1363173" cy="32757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a:t>
            </a:r>
          </a:p>
        </p:txBody>
      </p:sp>
      <p:sp>
        <p:nvSpPr>
          <p:cNvPr id="52" name="正方形/長方形 51">
            <a:extLst>
              <a:ext uri="{FF2B5EF4-FFF2-40B4-BE49-F238E27FC236}">
                <a16:creationId xmlns:a16="http://schemas.microsoft.com/office/drawing/2014/main" id="{87F3FD30-8D71-188D-5FF0-59F8FE9D33A8}"/>
              </a:ext>
            </a:extLst>
          </p:cNvPr>
          <p:cNvSpPr/>
          <p:nvPr/>
        </p:nvSpPr>
        <p:spPr>
          <a:xfrm>
            <a:off x="4763164" y="3997736"/>
            <a:ext cx="826049" cy="32757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何通</a:t>
            </a:r>
          </a:p>
        </p:txBody>
      </p:sp>
      <p:sp>
        <p:nvSpPr>
          <p:cNvPr id="2" name="正方形/長方形 1">
            <a:extLst>
              <a:ext uri="{FF2B5EF4-FFF2-40B4-BE49-F238E27FC236}">
                <a16:creationId xmlns:a16="http://schemas.microsoft.com/office/drawing/2014/main" id="{F4C68C8A-C41A-4093-7BBA-7880CC96B273}"/>
              </a:ext>
            </a:extLst>
          </p:cNvPr>
          <p:cNvSpPr/>
          <p:nvPr/>
        </p:nvSpPr>
        <p:spPr>
          <a:xfrm>
            <a:off x="4775945" y="2563803"/>
            <a:ext cx="826050"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通数</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3" name="正方形/長方形 2">
            <a:extLst>
              <a:ext uri="{FF2B5EF4-FFF2-40B4-BE49-F238E27FC236}">
                <a16:creationId xmlns:a16="http://schemas.microsoft.com/office/drawing/2014/main" id="{D1229EDD-D71F-6849-5BEA-B7A32BD3B952}"/>
              </a:ext>
            </a:extLst>
          </p:cNvPr>
          <p:cNvSpPr/>
          <p:nvPr/>
        </p:nvSpPr>
        <p:spPr>
          <a:xfrm>
            <a:off x="5746534" y="2555977"/>
            <a:ext cx="1363173"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受領先</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9" name="正方形/長方形 8">
            <a:extLst>
              <a:ext uri="{FF2B5EF4-FFF2-40B4-BE49-F238E27FC236}">
                <a16:creationId xmlns:a16="http://schemas.microsoft.com/office/drawing/2014/main" id="{6ADCDDC3-18CB-ECB1-B365-C22C625E080E}"/>
              </a:ext>
            </a:extLst>
          </p:cNvPr>
          <p:cNvSpPr/>
          <p:nvPr/>
        </p:nvSpPr>
        <p:spPr>
          <a:xfrm>
            <a:off x="7191969" y="2554218"/>
            <a:ext cx="1363173" cy="477912"/>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書類確認ダブルチェック</a:t>
            </a:r>
          </a:p>
        </p:txBody>
      </p:sp>
      <p:sp>
        <p:nvSpPr>
          <p:cNvPr id="11" name="正方形/長方形 10">
            <a:extLst>
              <a:ext uri="{FF2B5EF4-FFF2-40B4-BE49-F238E27FC236}">
                <a16:creationId xmlns:a16="http://schemas.microsoft.com/office/drawing/2014/main" id="{902A127D-8C32-90EA-E3BD-B84451BD5F38}"/>
              </a:ext>
            </a:extLst>
          </p:cNvPr>
          <p:cNvSpPr/>
          <p:nvPr/>
        </p:nvSpPr>
        <p:spPr>
          <a:xfrm>
            <a:off x="10095619" y="2554194"/>
            <a:ext cx="1363173" cy="477911"/>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タスク作成</a:t>
            </a:r>
          </a:p>
        </p:txBody>
      </p:sp>
      <p:sp>
        <p:nvSpPr>
          <p:cNvPr id="13" name="正方形/長方形 12">
            <a:extLst>
              <a:ext uri="{FF2B5EF4-FFF2-40B4-BE49-F238E27FC236}">
                <a16:creationId xmlns:a16="http://schemas.microsoft.com/office/drawing/2014/main" id="{4F684BB4-19BC-C7D1-A7BC-C6D42998416B}"/>
              </a:ext>
            </a:extLst>
          </p:cNvPr>
          <p:cNvSpPr/>
          <p:nvPr/>
        </p:nvSpPr>
        <p:spPr>
          <a:xfrm>
            <a:off x="10108399" y="3190043"/>
            <a:ext cx="1363173" cy="1129237"/>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a:t>
            </a:r>
          </a:p>
        </p:txBody>
      </p:sp>
      <p:sp>
        <p:nvSpPr>
          <p:cNvPr id="15" name="正方形/長方形 14">
            <a:extLst>
              <a:ext uri="{FF2B5EF4-FFF2-40B4-BE49-F238E27FC236}">
                <a16:creationId xmlns:a16="http://schemas.microsoft.com/office/drawing/2014/main" id="{8AA65F11-8C5D-CD5B-115C-1A14FF08E874}"/>
              </a:ext>
            </a:extLst>
          </p:cNvPr>
          <p:cNvSpPr/>
          <p:nvPr/>
        </p:nvSpPr>
        <p:spPr>
          <a:xfrm>
            <a:off x="10095618" y="3970222"/>
            <a:ext cx="1363173" cy="327578"/>
          </a:xfrm>
          <a:prstGeom prst="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a:t>
            </a:r>
          </a:p>
        </p:txBody>
      </p:sp>
      <p:sp>
        <p:nvSpPr>
          <p:cNvPr id="41" name="正方形/長方形 40">
            <a:extLst>
              <a:ext uri="{FF2B5EF4-FFF2-40B4-BE49-F238E27FC236}">
                <a16:creationId xmlns:a16="http://schemas.microsoft.com/office/drawing/2014/main" id="{1D2D94DF-0EF0-AFB4-F647-ECF137334619}"/>
              </a:ext>
            </a:extLst>
          </p:cNvPr>
          <p:cNvSpPr/>
          <p:nvPr/>
        </p:nvSpPr>
        <p:spPr>
          <a:xfrm>
            <a:off x="546009" y="4750892"/>
            <a:ext cx="2830533" cy="145422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日付と</a:t>
            </a:r>
            <a:r>
              <a:rPr kumimoji="1" lang="en-US" altLang="ja-JP" sz="1200" dirty="0">
                <a:solidFill>
                  <a:schemeClr val="tx1"/>
                </a:solidFill>
                <a:latin typeface="Meiryo UI" panose="020B0604030504040204" pitchFamily="50" charset="-128"/>
                <a:ea typeface="Meiryo UI" panose="020B0604030504040204" pitchFamily="50" charset="-128"/>
              </a:rPr>
              <a:t>3</a:t>
            </a:r>
            <a:r>
              <a:rPr kumimoji="1" lang="ja-JP" altLang="en-US" sz="1200" dirty="0">
                <a:solidFill>
                  <a:schemeClr val="tx1"/>
                </a:solidFill>
                <a:latin typeface="Meiryo UI" panose="020B0604030504040204" pitchFamily="50" charset="-128"/>
                <a:ea typeface="Meiryo UI" panose="020B0604030504040204" pitchFamily="50" charset="-128"/>
              </a:rPr>
              <a:t>桁の連番が表示。連番はその日における番号</a:t>
            </a:r>
            <a:endParaRPr kumimoji="1" lang="en-US" altLang="ja-JP" sz="1200" dirty="0">
              <a:solidFill>
                <a:schemeClr val="tx1"/>
              </a:solidFill>
              <a:latin typeface="Meiryo UI" panose="020B0604030504040204" pitchFamily="50" charset="-128"/>
              <a:ea typeface="Meiryo UI" panose="020B0604030504040204" pitchFamily="50" charset="-128"/>
            </a:endParaRPr>
          </a:p>
        </p:txBody>
      </p:sp>
      <p:cxnSp>
        <p:nvCxnSpPr>
          <p:cNvPr id="42" name="直線コネクタ 41">
            <a:extLst>
              <a:ext uri="{FF2B5EF4-FFF2-40B4-BE49-F238E27FC236}">
                <a16:creationId xmlns:a16="http://schemas.microsoft.com/office/drawing/2014/main" id="{3BA5CD80-90E8-822D-34B9-8833EE0F4FDC}"/>
              </a:ext>
            </a:extLst>
          </p:cNvPr>
          <p:cNvCxnSpPr>
            <a:cxnSpLocks/>
            <a:stCxn id="41" idx="0"/>
          </p:cNvCxnSpPr>
          <p:nvPr/>
        </p:nvCxnSpPr>
        <p:spPr>
          <a:xfrm flipH="1" flipV="1">
            <a:off x="1163162" y="4146249"/>
            <a:ext cx="798114" cy="604643"/>
          </a:xfrm>
          <a:prstGeom prst="line">
            <a:avLst/>
          </a:prstGeom>
          <a:ln>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7" name="正方形/長方形 46">
            <a:extLst>
              <a:ext uri="{FF2B5EF4-FFF2-40B4-BE49-F238E27FC236}">
                <a16:creationId xmlns:a16="http://schemas.microsoft.com/office/drawing/2014/main" id="{7ADBF628-B452-14FE-A0F7-A70E82F59CA6}"/>
              </a:ext>
            </a:extLst>
          </p:cNvPr>
          <p:cNvSpPr/>
          <p:nvPr/>
        </p:nvSpPr>
        <p:spPr>
          <a:xfrm>
            <a:off x="1958150" y="1201369"/>
            <a:ext cx="2549000" cy="114624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新規登録ボタンを押すと、届いた書類を登録できる案件を検索できる検索バーが表示される。</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案件番号を選択後、到着物や通数、受領先を入力して、レコードを作成する。</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ポップアップで入力させる。</a:t>
            </a:r>
            <a:endParaRPr kumimoji="1" lang="en-US" altLang="ja-JP" sz="1200" dirty="0">
              <a:solidFill>
                <a:schemeClr val="tx1"/>
              </a:solidFill>
              <a:latin typeface="Meiryo UI" panose="020B0604030504040204" pitchFamily="50" charset="-128"/>
              <a:ea typeface="Meiryo UI" panose="020B0604030504040204" pitchFamily="50" charset="-128"/>
            </a:endParaRPr>
          </a:p>
        </p:txBody>
      </p:sp>
      <p:sp>
        <p:nvSpPr>
          <p:cNvPr id="48" name="正方形/長方形 47">
            <a:extLst>
              <a:ext uri="{FF2B5EF4-FFF2-40B4-BE49-F238E27FC236}">
                <a16:creationId xmlns:a16="http://schemas.microsoft.com/office/drawing/2014/main" id="{DCA74571-9BC2-3F4C-0038-8E009985DD32}"/>
              </a:ext>
            </a:extLst>
          </p:cNvPr>
          <p:cNvSpPr/>
          <p:nvPr/>
        </p:nvSpPr>
        <p:spPr>
          <a:xfrm>
            <a:off x="5410767" y="4964192"/>
            <a:ext cx="2549000" cy="114624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書類確認ダブルチェックとか、着手者とかタスク作成は、ポップアップで到着物の概要を入力し、レコードを作成し、ポップアップを閉じてから入力する。</a:t>
            </a:r>
          </a:p>
        </p:txBody>
      </p:sp>
      <p:sp>
        <p:nvSpPr>
          <p:cNvPr id="53" name="正方形/長方形 52">
            <a:extLst>
              <a:ext uri="{FF2B5EF4-FFF2-40B4-BE49-F238E27FC236}">
                <a16:creationId xmlns:a16="http://schemas.microsoft.com/office/drawing/2014/main" id="{A07A902A-9CAF-93A5-2955-24D51D4C246F}"/>
              </a:ext>
            </a:extLst>
          </p:cNvPr>
          <p:cNvSpPr/>
          <p:nvPr/>
        </p:nvSpPr>
        <p:spPr>
          <a:xfrm>
            <a:off x="8044489" y="5278854"/>
            <a:ext cx="1540498" cy="114624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着手ってボタンを押すと、到着した書類物を元にタスクを開始する人の名前が表示される。</a:t>
            </a:r>
          </a:p>
        </p:txBody>
      </p:sp>
      <p:sp>
        <p:nvSpPr>
          <p:cNvPr id="54" name="右中かっこ 53">
            <a:extLst>
              <a:ext uri="{FF2B5EF4-FFF2-40B4-BE49-F238E27FC236}">
                <a16:creationId xmlns:a16="http://schemas.microsoft.com/office/drawing/2014/main" id="{DF65F642-1449-17A4-B410-1967E2538407}"/>
              </a:ext>
            </a:extLst>
          </p:cNvPr>
          <p:cNvSpPr/>
          <p:nvPr/>
        </p:nvSpPr>
        <p:spPr>
          <a:xfrm rot="5400000">
            <a:off x="9095682" y="2354258"/>
            <a:ext cx="607889" cy="4611979"/>
          </a:xfrm>
          <a:prstGeom prst="rightBrace">
            <a:avLst>
              <a:gd name="adj1" fmla="val 8333"/>
              <a:gd name="adj2" fmla="val 88247"/>
            </a:avLst>
          </a:prstGeom>
        </p:spPr>
        <p:style>
          <a:lnRef idx="2">
            <a:schemeClr val="accent1"/>
          </a:lnRef>
          <a:fillRef idx="0">
            <a:schemeClr val="accent1"/>
          </a:fillRef>
          <a:effectRef idx="1">
            <a:schemeClr val="accent1"/>
          </a:effectRef>
          <a:fontRef idx="minor">
            <a:schemeClr val="tx1"/>
          </a:fontRef>
        </p:style>
        <p:txBody>
          <a:bodyPr rtlCol="0" anchor="ctr"/>
          <a:lstStyle/>
          <a:p>
            <a:pPr algn="ctr"/>
            <a:endParaRPr kumimoji="1" lang="ja-JP" altLang="en-US"/>
          </a:p>
        </p:txBody>
      </p:sp>
      <p:cxnSp>
        <p:nvCxnSpPr>
          <p:cNvPr id="55" name="直線コネクタ 54">
            <a:extLst>
              <a:ext uri="{FF2B5EF4-FFF2-40B4-BE49-F238E27FC236}">
                <a16:creationId xmlns:a16="http://schemas.microsoft.com/office/drawing/2014/main" id="{6CDA782E-BDC1-447F-93BA-A9996DB68FC0}"/>
              </a:ext>
            </a:extLst>
          </p:cNvPr>
          <p:cNvCxnSpPr>
            <a:cxnSpLocks/>
            <a:endCxn id="45" idx="2"/>
          </p:cNvCxnSpPr>
          <p:nvPr/>
        </p:nvCxnSpPr>
        <p:spPr>
          <a:xfrm flipV="1">
            <a:off x="9254247" y="4319281"/>
            <a:ext cx="64743" cy="1158723"/>
          </a:xfrm>
          <a:prstGeom prst="line">
            <a:avLst/>
          </a:prstGeom>
          <a:ln>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59" name="正方形/長方形 58">
            <a:extLst>
              <a:ext uri="{FF2B5EF4-FFF2-40B4-BE49-F238E27FC236}">
                <a16:creationId xmlns:a16="http://schemas.microsoft.com/office/drawing/2014/main" id="{8DFF46B7-DDCD-D624-0D9B-0C643B7114F7}"/>
              </a:ext>
            </a:extLst>
          </p:cNvPr>
          <p:cNvSpPr/>
          <p:nvPr/>
        </p:nvSpPr>
        <p:spPr>
          <a:xfrm>
            <a:off x="10000576" y="3955298"/>
            <a:ext cx="3114437" cy="114624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タスクは案件作成時に、一括生成したりするが、到着物に応じて随時作成することがある。</a:t>
            </a:r>
            <a:endParaRPr lang="en-US" altLang="ja-JP" sz="1200" dirty="0">
              <a:solidFill>
                <a:schemeClr val="tx1"/>
              </a:solidFill>
              <a:latin typeface="Meiryo UI" panose="020B0604030504040204" pitchFamily="50" charset="-128"/>
              <a:ea typeface="Meiryo UI" panose="020B0604030504040204" pitchFamily="50" charset="-128"/>
            </a:endParaRPr>
          </a:p>
          <a:p>
            <a:pPr algn="ctr"/>
            <a:r>
              <a:rPr lang="ja-JP" altLang="en-US" sz="1200" dirty="0">
                <a:solidFill>
                  <a:schemeClr val="tx1"/>
                </a:solidFill>
                <a:latin typeface="Meiryo UI" panose="020B0604030504040204" pitchFamily="50" charset="-128"/>
                <a:ea typeface="Meiryo UI" panose="020B0604030504040204" pitchFamily="50" charset="-128"/>
              </a:rPr>
              <a:t>到着物単位でタスクを生成できるボタンを追加する。タスク作成のポップを表示して、到着物単位でタスク作成できるようにする。</a:t>
            </a:r>
          </a:p>
        </p:txBody>
      </p:sp>
      <p:cxnSp>
        <p:nvCxnSpPr>
          <p:cNvPr id="60" name="直線コネクタ 59">
            <a:extLst>
              <a:ext uri="{FF2B5EF4-FFF2-40B4-BE49-F238E27FC236}">
                <a16:creationId xmlns:a16="http://schemas.microsoft.com/office/drawing/2014/main" id="{17BDE72C-B59B-A228-879A-07287E1B771D}"/>
              </a:ext>
            </a:extLst>
          </p:cNvPr>
          <p:cNvCxnSpPr>
            <a:cxnSpLocks/>
            <a:stCxn id="64" idx="0"/>
          </p:cNvCxnSpPr>
          <p:nvPr/>
        </p:nvCxnSpPr>
        <p:spPr>
          <a:xfrm flipH="1" flipV="1">
            <a:off x="11258145" y="4964192"/>
            <a:ext cx="387846" cy="58503"/>
          </a:xfrm>
          <a:prstGeom prst="line">
            <a:avLst/>
          </a:prstGeom>
          <a:ln>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pic>
        <p:nvPicPr>
          <p:cNvPr id="64" name="図 63">
            <a:extLst>
              <a:ext uri="{FF2B5EF4-FFF2-40B4-BE49-F238E27FC236}">
                <a16:creationId xmlns:a16="http://schemas.microsoft.com/office/drawing/2014/main" id="{D34ADF5A-EB91-B5CD-0A09-9C486D5270C5}"/>
              </a:ext>
            </a:extLst>
          </p:cNvPr>
          <p:cNvPicPr>
            <a:picLocks noChangeAspect="1"/>
          </p:cNvPicPr>
          <p:nvPr/>
        </p:nvPicPr>
        <p:blipFill>
          <a:blip r:embed="rId2"/>
          <a:stretch>
            <a:fillRect/>
          </a:stretch>
        </p:blipFill>
        <p:spPr>
          <a:xfrm>
            <a:off x="10449905" y="5022695"/>
            <a:ext cx="2392171" cy="2039870"/>
          </a:xfrm>
          <a:prstGeom prst="rect">
            <a:avLst/>
          </a:prstGeom>
        </p:spPr>
      </p:pic>
      <p:sp>
        <p:nvSpPr>
          <p:cNvPr id="68" name="正方形/長方形 67">
            <a:extLst>
              <a:ext uri="{FF2B5EF4-FFF2-40B4-BE49-F238E27FC236}">
                <a16:creationId xmlns:a16="http://schemas.microsoft.com/office/drawing/2014/main" id="{ED862185-41B5-F4FE-DFFB-8815F96DB916}"/>
              </a:ext>
            </a:extLst>
          </p:cNvPr>
          <p:cNvSpPr/>
          <p:nvPr/>
        </p:nvSpPr>
        <p:spPr>
          <a:xfrm>
            <a:off x="10389082" y="1626782"/>
            <a:ext cx="3114437" cy="1146240"/>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タスク発生せずに一次完了という</a:t>
            </a:r>
          </a:p>
        </p:txBody>
      </p:sp>
    </p:spTree>
    <p:extLst>
      <p:ext uri="{BB962C8B-B14F-4D97-AF65-F5344CB8AC3E}">
        <p14:creationId xmlns:p14="http://schemas.microsoft.com/office/powerpoint/2010/main" val="340435451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59FED417-3652-ED7C-BBF6-FAECC3A7A955}"/>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8D574F74-4612-B00E-121D-621771C94C09}"/>
              </a:ext>
            </a:extLst>
          </p:cNvPr>
          <p:cNvSpPr/>
          <p:nvPr/>
        </p:nvSpPr>
        <p:spPr>
          <a:xfrm>
            <a:off x="0" y="0"/>
            <a:ext cx="12192000" cy="6858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F126FE17-1882-E793-ABBE-358F8615718D}"/>
              </a:ext>
            </a:extLst>
          </p:cNvPr>
          <p:cNvSpPr txBox="1"/>
          <p:nvPr/>
        </p:nvSpPr>
        <p:spPr>
          <a:xfrm>
            <a:off x="552450" y="2025650"/>
            <a:ext cx="9424375" cy="1107996"/>
          </a:xfrm>
          <a:prstGeom prst="rect">
            <a:avLst/>
          </a:prstGeom>
          <a:noFill/>
        </p:spPr>
        <p:txBody>
          <a:bodyPr wrap="none" rtlCol="0">
            <a:spAutoFit/>
          </a:bodyPr>
          <a:lstStyle/>
          <a:p>
            <a:r>
              <a:rPr lang="ja-JP" altLang="en-US" sz="6600" b="1" dirty="0">
                <a:solidFill>
                  <a:schemeClr val="bg1"/>
                </a:solidFill>
                <a:latin typeface="Meiryo UI" panose="020B0604030504040204" pitchFamily="50" charset="-128"/>
                <a:ea typeface="Meiryo UI" panose="020B0604030504040204" pitchFamily="50" charset="-128"/>
              </a:rPr>
              <a:t>案件画面上部の表示内容</a:t>
            </a:r>
            <a:endParaRPr kumimoji="1" lang="ja-JP" altLang="en-US" sz="6600" b="1" dirty="0">
              <a:solidFill>
                <a:schemeClr val="bg1"/>
              </a:solidFill>
              <a:latin typeface="Meiryo UI" panose="020B0604030504040204" pitchFamily="50" charset="-128"/>
              <a:ea typeface="Meiryo UI" panose="020B0604030504040204" pitchFamily="50" charset="-128"/>
            </a:endParaRPr>
          </a:p>
        </p:txBody>
      </p:sp>
      <p:sp>
        <p:nvSpPr>
          <p:cNvPr id="7" name="テキスト ボックス 6">
            <a:extLst>
              <a:ext uri="{FF2B5EF4-FFF2-40B4-BE49-F238E27FC236}">
                <a16:creationId xmlns:a16="http://schemas.microsoft.com/office/drawing/2014/main" id="{BF0E1761-FF00-6450-546F-221A4390420B}"/>
              </a:ext>
            </a:extLst>
          </p:cNvPr>
          <p:cNvSpPr txBox="1"/>
          <p:nvPr/>
        </p:nvSpPr>
        <p:spPr>
          <a:xfrm>
            <a:off x="635000" y="926066"/>
            <a:ext cx="1569660" cy="369332"/>
          </a:xfrm>
          <a:prstGeom prst="rect">
            <a:avLst/>
          </a:prstGeom>
          <a:noFill/>
        </p:spPr>
        <p:txBody>
          <a:bodyPr wrap="none" rtlCol="0">
            <a:spAutoFit/>
          </a:bodyPr>
          <a:lstStyle/>
          <a:p>
            <a:r>
              <a:rPr kumimoji="1" lang="ja-JP" altLang="en-US" b="1" dirty="0">
                <a:solidFill>
                  <a:schemeClr val="bg1"/>
                </a:solidFill>
                <a:latin typeface="Meiryo UI" panose="020B0604030504040204" pitchFamily="50" charset="-128"/>
                <a:ea typeface="Meiryo UI" panose="020B0604030504040204" pitchFamily="50" charset="-128"/>
              </a:rPr>
              <a:t>案件詳細画面</a:t>
            </a:r>
          </a:p>
        </p:txBody>
      </p:sp>
      <p:cxnSp>
        <p:nvCxnSpPr>
          <p:cNvPr id="9" name="直線コネクタ 8">
            <a:extLst>
              <a:ext uri="{FF2B5EF4-FFF2-40B4-BE49-F238E27FC236}">
                <a16:creationId xmlns:a16="http://schemas.microsoft.com/office/drawing/2014/main" id="{17155840-496B-921C-61DA-878822ECDFB2}"/>
              </a:ext>
            </a:extLst>
          </p:cNvPr>
          <p:cNvCxnSpPr/>
          <p:nvPr/>
        </p:nvCxnSpPr>
        <p:spPr>
          <a:xfrm>
            <a:off x="736600" y="1568450"/>
            <a:ext cx="7664450"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正方形/長方形 9">
            <a:extLst>
              <a:ext uri="{FF2B5EF4-FFF2-40B4-BE49-F238E27FC236}">
                <a16:creationId xmlns:a16="http://schemas.microsoft.com/office/drawing/2014/main" id="{5EAA366D-587E-9FC9-D34F-BF8074D400B8}"/>
              </a:ext>
            </a:extLst>
          </p:cNvPr>
          <p:cNvSpPr/>
          <p:nvPr/>
        </p:nvSpPr>
        <p:spPr>
          <a:xfrm>
            <a:off x="850900" y="1460500"/>
            <a:ext cx="36000" cy="23494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A884BD77-0628-9984-410C-298B0A03AB58}"/>
              </a:ext>
            </a:extLst>
          </p:cNvPr>
          <p:cNvSpPr/>
          <p:nvPr/>
        </p:nvSpPr>
        <p:spPr>
          <a:xfrm>
            <a:off x="717550" y="1473200"/>
            <a:ext cx="36000" cy="180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EA0680EF-DC85-EE5B-ED16-EE178DAA8B99}"/>
              </a:ext>
            </a:extLst>
          </p:cNvPr>
          <p:cNvSpPr/>
          <p:nvPr/>
        </p:nvSpPr>
        <p:spPr>
          <a:xfrm>
            <a:off x="8153400" y="1460500"/>
            <a:ext cx="36000" cy="180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234028693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5027A4F2-C701-343F-3834-0954C79C2B31}"/>
              </a:ext>
            </a:extLst>
          </p:cNvPr>
          <p:cNvPicPr>
            <a:picLocks noChangeAspect="1"/>
          </p:cNvPicPr>
          <p:nvPr/>
        </p:nvPicPr>
        <p:blipFill>
          <a:blip r:embed="rId2"/>
          <a:stretch>
            <a:fillRect/>
          </a:stretch>
        </p:blipFill>
        <p:spPr>
          <a:xfrm>
            <a:off x="787672" y="522908"/>
            <a:ext cx="10497089" cy="1454225"/>
          </a:xfrm>
          <a:prstGeom prst="rect">
            <a:avLst/>
          </a:prstGeom>
        </p:spPr>
      </p:pic>
      <p:sp>
        <p:nvSpPr>
          <p:cNvPr id="6" name="正方形/長方形 5">
            <a:extLst>
              <a:ext uri="{FF2B5EF4-FFF2-40B4-BE49-F238E27FC236}">
                <a16:creationId xmlns:a16="http://schemas.microsoft.com/office/drawing/2014/main" id="{49FF5347-6669-A206-A904-2037A0197495}"/>
              </a:ext>
            </a:extLst>
          </p:cNvPr>
          <p:cNvSpPr/>
          <p:nvPr/>
        </p:nvSpPr>
        <p:spPr>
          <a:xfrm>
            <a:off x="3095308" y="3222179"/>
            <a:ext cx="2830533" cy="145422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ここはステータスの進捗バーでなく、タスクの</a:t>
            </a:r>
            <a:r>
              <a:rPr kumimoji="1" lang="en-US" altLang="ja-JP" sz="1200" dirty="0">
                <a:solidFill>
                  <a:schemeClr val="tx1"/>
                </a:solidFill>
                <a:latin typeface="Meiryo UI" panose="020B0604030504040204" pitchFamily="50" charset="-128"/>
                <a:ea typeface="Meiryo UI" panose="020B0604030504040204" pitchFamily="50" charset="-128"/>
              </a:rPr>
              <a:t>Phase</a:t>
            </a:r>
            <a:r>
              <a:rPr kumimoji="1" lang="ja-JP" altLang="en-US" sz="1200" dirty="0">
                <a:solidFill>
                  <a:schemeClr val="tx1"/>
                </a:solidFill>
                <a:latin typeface="Meiryo UI" panose="020B0604030504040204" pitchFamily="50" charset="-128"/>
                <a:ea typeface="Meiryo UI" panose="020B0604030504040204" pitchFamily="50" charset="-128"/>
              </a:rPr>
              <a:t>でどこまできているのか表示する。そして、赤色タスク（期限超過）の場合、赤色で点滅させる。</a:t>
            </a:r>
            <a:r>
              <a:rPr kumimoji="1" lang="en-US" altLang="ja-JP" sz="1200" dirty="0">
                <a:solidFill>
                  <a:schemeClr val="tx1"/>
                </a:solidFill>
                <a:latin typeface="Meiryo UI" panose="020B0604030504040204" pitchFamily="50" charset="-128"/>
                <a:ea typeface="Meiryo UI" panose="020B0604030504040204" pitchFamily="50" charset="-128"/>
              </a:rPr>
              <a:t>Phase</a:t>
            </a:r>
            <a:r>
              <a:rPr kumimoji="1" lang="ja-JP" altLang="en-US" sz="1200" dirty="0">
                <a:solidFill>
                  <a:schemeClr val="tx1"/>
                </a:solidFill>
                <a:latin typeface="Meiryo UI" panose="020B0604030504040204" pitchFamily="50" charset="-128"/>
                <a:ea typeface="Meiryo UI" panose="020B0604030504040204" pitchFamily="50" charset="-128"/>
              </a:rPr>
              <a:t>のどこまで進捗しているのか、順調に進んでいるのか、停滞しているのかがすぐにわかるようにする。</a:t>
            </a:r>
            <a:endParaRPr kumimoji="1" lang="en-US" altLang="ja-JP" sz="1200" dirty="0">
              <a:solidFill>
                <a:schemeClr val="tx1"/>
              </a:solidFill>
              <a:latin typeface="Meiryo UI" panose="020B0604030504040204" pitchFamily="50" charset="-128"/>
              <a:ea typeface="Meiryo UI" panose="020B0604030504040204" pitchFamily="50" charset="-128"/>
            </a:endParaRPr>
          </a:p>
        </p:txBody>
      </p:sp>
      <p:cxnSp>
        <p:nvCxnSpPr>
          <p:cNvPr id="7" name="直線コネクタ 6">
            <a:extLst>
              <a:ext uri="{FF2B5EF4-FFF2-40B4-BE49-F238E27FC236}">
                <a16:creationId xmlns:a16="http://schemas.microsoft.com/office/drawing/2014/main" id="{63D21E23-3E40-3D5C-DA9A-1B85C743BA44}"/>
              </a:ext>
            </a:extLst>
          </p:cNvPr>
          <p:cNvCxnSpPr>
            <a:cxnSpLocks/>
            <a:stCxn id="6" idx="0"/>
          </p:cNvCxnSpPr>
          <p:nvPr/>
        </p:nvCxnSpPr>
        <p:spPr>
          <a:xfrm flipV="1">
            <a:off x="4510575" y="1977133"/>
            <a:ext cx="893275" cy="1245046"/>
          </a:xfrm>
          <a:prstGeom prst="line">
            <a:avLst/>
          </a:prstGeom>
          <a:ln>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11" name="楕円 10">
            <a:extLst>
              <a:ext uri="{FF2B5EF4-FFF2-40B4-BE49-F238E27FC236}">
                <a16:creationId xmlns:a16="http://schemas.microsoft.com/office/drawing/2014/main" id="{A5B91E02-30F0-902D-16BE-017E031188A0}"/>
              </a:ext>
            </a:extLst>
          </p:cNvPr>
          <p:cNvSpPr/>
          <p:nvPr/>
        </p:nvSpPr>
        <p:spPr>
          <a:xfrm>
            <a:off x="1803400" y="1054100"/>
            <a:ext cx="254000" cy="247650"/>
          </a:xfrm>
          <a:prstGeom prst="ellipse">
            <a:avLst/>
          </a:prstGeom>
          <a:solidFill>
            <a:schemeClr val="accent5">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7FCE117C-1189-4FCA-847D-CBD183BDB129}"/>
              </a:ext>
            </a:extLst>
          </p:cNvPr>
          <p:cNvSpPr/>
          <p:nvPr/>
        </p:nvSpPr>
        <p:spPr>
          <a:xfrm>
            <a:off x="-104816" y="2752056"/>
            <a:ext cx="2830533" cy="145422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200" dirty="0">
                <a:solidFill>
                  <a:schemeClr val="tx1"/>
                </a:solidFill>
                <a:latin typeface="Meiryo UI" panose="020B0604030504040204" pitchFamily="50" charset="-128"/>
                <a:ea typeface="Meiryo UI" panose="020B0604030504040204" pitchFamily="50" charset="-128"/>
              </a:rPr>
              <a:t>赤、黄、青、紫等の案件の状態を表す色を案件名の右に表示する。</a:t>
            </a:r>
            <a:endParaRPr kumimoji="1" lang="en-US" altLang="ja-JP" sz="1200" dirty="0">
              <a:solidFill>
                <a:schemeClr val="tx1"/>
              </a:solidFill>
              <a:latin typeface="Meiryo UI" panose="020B0604030504040204" pitchFamily="50" charset="-128"/>
              <a:ea typeface="Meiryo UI" panose="020B0604030504040204" pitchFamily="50" charset="-128"/>
            </a:endParaRPr>
          </a:p>
        </p:txBody>
      </p:sp>
      <p:cxnSp>
        <p:nvCxnSpPr>
          <p:cNvPr id="13" name="直線コネクタ 12">
            <a:extLst>
              <a:ext uri="{FF2B5EF4-FFF2-40B4-BE49-F238E27FC236}">
                <a16:creationId xmlns:a16="http://schemas.microsoft.com/office/drawing/2014/main" id="{19F89335-9824-1EA3-5558-7A4D26D459E6}"/>
              </a:ext>
            </a:extLst>
          </p:cNvPr>
          <p:cNvCxnSpPr>
            <a:cxnSpLocks/>
            <a:stCxn id="12" idx="0"/>
            <a:endCxn id="11" idx="4"/>
          </p:cNvCxnSpPr>
          <p:nvPr/>
        </p:nvCxnSpPr>
        <p:spPr>
          <a:xfrm flipV="1">
            <a:off x="1310451" y="1301750"/>
            <a:ext cx="619949" cy="1450306"/>
          </a:xfrm>
          <a:prstGeom prst="line">
            <a:avLst/>
          </a:prstGeom>
          <a:ln>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15" name="四角形: 角を丸くする 14">
            <a:extLst>
              <a:ext uri="{FF2B5EF4-FFF2-40B4-BE49-F238E27FC236}">
                <a16:creationId xmlns:a16="http://schemas.microsoft.com/office/drawing/2014/main" id="{690ED1A7-DD7C-96ED-7C57-5CA395167077}"/>
              </a:ext>
            </a:extLst>
          </p:cNvPr>
          <p:cNvSpPr/>
          <p:nvPr/>
        </p:nvSpPr>
        <p:spPr>
          <a:xfrm>
            <a:off x="8832850" y="895350"/>
            <a:ext cx="736600" cy="247650"/>
          </a:xfrm>
          <a:prstGeom prst="round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800" dirty="0"/>
              <a:t>要進捗連絡</a:t>
            </a:r>
          </a:p>
        </p:txBody>
      </p:sp>
      <p:sp>
        <p:nvSpPr>
          <p:cNvPr id="16" name="正方形/長方形 15">
            <a:extLst>
              <a:ext uri="{FF2B5EF4-FFF2-40B4-BE49-F238E27FC236}">
                <a16:creationId xmlns:a16="http://schemas.microsoft.com/office/drawing/2014/main" id="{50B852E9-C983-661D-A5A2-09756FAB234B}"/>
              </a:ext>
            </a:extLst>
          </p:cNvPr>
          <p:cNvSpPr/>
          <p:nvPr/>
        </p:nvSpPr>
        <p:spPr>
          <a:xfrm>
            <a:off x="6929039" y="2381696"/>
            <a:ext cx="2830533" cy="145422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200" dirty="0">
                <a:solidFill>
                  <a:schemeClr val="tx1"/>
                </a:solidFill>
                <a:latin typeface="Meiryo UI" panose="020B0604030504040204" pitchFamily="50" charset="-128"/>
                <a:ea typeface="Meiryo UI" panose="020B0604030504040204" pitchFamily="50" charset="-128"/>
              </a:rPr>
              <a:t>案件が受注・対応中のステータスの場合、お客様への最終の進捗連絡日から</a:t>
            </a:r>
            <a:r>
              <a:rPr lang="en-US" altLang="ja-JP" sz="1200" dirty="0">
                <a:solidFill>
                  <a:schemeClr val="tx1"/>
                </a:solidFill>
                <a:latin typeface="Meiryo UI" panose="020B0604030504040204" pitchFamily="50" charset="-128"/>
                <a:ea typeface="Meiryo UI" panose="020B0604030504040204" pitchFamily="50" charset="-128"/>
              </a:rPr>
              <a:t>2</a:t>
            </a:r>
            <a:r>
              <a:rPr lang="ja-JP" altLang="en-US" sz="1200" dirty="0">
                <a:solidFill>
                  <a:schemeClr val="tx1"/>
                </a:solidFill>
                <a:latin typeface="Meiryo UI" panose="020B0604030504040204" pitchFamily="50" charset="-128"/>
                <a:ea typeface="Meiryo UI" panose="020B0604030504040204" pitchFamily="50" charset="-128"/>
              </a:rPr>
              <a:t>週間以上たっている場合は、要進捗連絡みたいなマークをこの辺に点滅させたい。</a:t>
            </a:r>
            <a:endParaRPr lang="en-US" altLang="ja-JP" sz="1200" dirty="0">
              <a:solidFill>
                <a:schemeClr val="tx1"/>
              </a:solidFill>
              <a:latin typeface="Meiryo UI" panose="020B0604030504040204" pitchFamily="50" charset="-128"/>
              <a:ea typeface="Meiryo UI" panose="020B0604030504040204" pitchFamily="50" charset="-128"/>
            </a:endParaRPr>
          </a:p>
        </p:txBody>
      </p:sp>
      <p:cxnSp>
        <p:nvCxnSpPr>
          <p:cNvPr id="17" name="直線コネクタ 16">
            <a:extLst>
              <a:ext uri="{FF2B5EF4-FFF2-40B4-BE49-F238E27FC236}">
                <a16:creationId xmlns:a16="http://schemas.microsoft.com/office/drawing/2014/main" id="{C0A770F0-9B97-B996-1DD4-92EC40621670}"/>
              </a:ext>
            </a:extLst>
          </p:cNvPr>
          <p:cNvCxnSpPr>
            <a:cxnSpLocks/>
            <a:stCxn id="16" idx="0"/>
          </p:cNvCxnSpPr>
          <p:nvPr/>
        </p:nvCxnSpPr>
        <p:spPr>
          <a:xfrm flipV="1">
            <a:off x="8344306" y="1136650"/>
            <a:ext cx="893275" cy="1245046"/>
          </a:xfrm>
          <a:prstGeom prst="line">
            <a:avLst/>
          </a:prstGeom>
          <a:ln>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147564547"/>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C085BB12-91CA-A730-AD96-9FD988D4298A}"/>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B1E4AD2-42A2-340A-A5F5-64607162B63B}"/>
              </a:ext>
            </a:extLst>
          </p:cNvPr>
          <p:cNvSpPr/>
          <p:nvPr/>
        </p:nvSpPr>
        <p:spPr>
          <a:xfrm>
            <a:off x="0" y="0"/>
            <a:ext cx="12192000" cy="6858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88C1AF19-0F69-C498-FFF6-1AE749D177A8}"/>
              </a:ext>
            </a:extLst>
          </p:cNvPr>
          <p:cNvSpPr txBox="1"/>
          <p:nvPr/>
        </p:nvSpPr>
        <p:spPr>
          <a:xfrm>
            <a:off x="552450" y="2025650"/>
            <a:ext cx="3930884" cy="1107996"/>
          </a:xfrm>
          <a:prstGeom prst="rect">
            <a:avLst/>
          </a:prstGeom>
          <a:noFill/>
        </p:spPr>
        <p:txBody>
          <a:bodyPr wrap="none" rtlCol="0">
            <a:spAutoFit/>
          </a:bodyPr>
          <a:lstStyle/>
          <a:p>
            <a:r>
              <a:rPr kumimoji="1" lang="ja-JP" altLang="en-US" sz="6600" b="1" dirty="0">
                <a:solidFill>
                  <a:schemeClr val="bg1"/>
                </a:solidFill>
                <a:latin typeface="Meiryo UI" panose="020B0604030504040204" pitchFamily="50" charset="-128"/>
                <a:ea typeface="Meiryo UI" panose="020B0604030504040204" pitchFamily="50" charset="-128"/>
              </a:rPr>
              <a:t>タスク画面</a:t>
            </a:r>
          </a:p>
        </p:txBody>
      </p:sp>
      <p:sp>
        <p:nvSpPr>
          <p:cNvPr id="7" name="テキスト ボックス 6">
            <a:extLst>
              <a:ext uri="{FF2B5EF4-FFF2-40B4-BE49-F238E27FC236}">
                <a16:creationId xmlns:a16="http://schemas.microsoft.com/office/drawing/2014/main" id="{1A597149-8FB3-A190-A63F-D09E27F2675D}"/>
              </a:ext>
            </a:extLst>
          </p:cNvPr>
          <p:cNvSpPr txBox="1"/>
          <p:nvPr/>
        </p:nvSpPr>
        <p:spPr>
          <a:xfrm>
            <a:off x="635000" y="926066"/>
            <a:ext cx="1667444" cy="369332"/>
          </a:xfrm>
          <a:prstGeom prst="rect">
            <a:avLst/>
          </a:prstGeom>
          <a:noFill/>
        </p:spPr>
        <p:txBody>
          <a:bodyPr wrap="none" rtlCol="0">
            <a:spAutoFit/>
          </a:bodyPr>
          <a:lstStyle/>
          <a:p>
            <a:r>
              <a:rPr kumimoji="1" lang="ja-JP" altLang="en-US" b="1" dirty="0">
                <a:solidFill>
                  <a:schemeClr val="bg1"/>
                </a:solidFill>
                <a:latin typeface="Meiryo UI" panose="020B0604030504040204" pitchFamily="50" charset="-128"/>
                <a:ea typeface="Meiryo UI" panose="020B0604030504040204" pitchFamily="50" charset="-128"/>
              </a:rPr>
              <a:t>タスク関連機能</a:t>
            </a:r>
          </a:p>
        </p:txBody>
      </p:sp>
      <p:cxnSp>
        <p:nvCxnSpPr>
          <p:cNvPr id="9" name="直線コネクタ 8">
            <a:extLst>
              <a:ext uri="{FF2B5EF4-FFF2-40B4-BE49-F238E27FC236}">
                <a16:creationId xmlns:a16="http://schemas.microsoft.com/office/drawing/2014/main" id="{2D4FCD40-D754-D816-9B19-9562F4DDC35A}"/>
              </a:ext>
            </a:extLst>
          </p:cNvPr>
          <p:cNvCxnSpPr/>
          <p:nvPr/>
        </p:nvCxnSpPr>
        <p:spPr>
          <a:xfrm>
            <a:off x="736600" y="1568450"/>
            <a:ext cx="7664450"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正方形/長方形 9">
            <a:extLst>
              <a:ext uri="{FF2B5EF4-FFF2-40B4-BE49-F238E27FC236}">
                <a16:creationId xmlns:a16="http://schemas.microsoft.com/office/drawing/2014/main" id="{DD2AB739-6758-5AD6-A015-6A3C524615E2}"/>
              </a:ext>
            </a:extLst>
          </p:cNvPr>
          <p:cNvSpPr/>
          <p:nvPr/>
        </p:nvSpPr>
        <p:spPr>
          <a:xfrm>
            <a:off x="850900" y="1460500"/>
            <a:ext cx="36000" cy="23494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5B5F7BF9-C3B7-9AC5-3C41-40BC197BDAEF}"/>
              </a:ext>
            </a:extLst>
          </p:cNvPr>
          <p:cNvSpPr/>
          <p:nvPr/>
        </p:nvSpPr>
        <p:spPr>
          <a:xfrm>
            <a:off x="717550" y="1473200"/>
            <a:ext cx="36000" cy="180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658A851F-E9AD-83B7-B9A4-74D4C345482A}"/>
              </a:ext>
            </a:extLst>
          </p:cNvPr>
          <p:cNvSpPr/>
          <p:nvPr/>
        </p:nvSpPr>
        <p:spPr>
          <a:xfrm>
            <a:off x="8153400" y="1460500"/>
            <a:ext cx="36000" cy="180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1485681644"/>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正方形/長方形 3">
            <a:extLst>
              <a:ext uri="{FF2B5EF4-FFF2-40B4-BE49-F238E27FC236}">
                <a16:creationId xmlns:a16="http://schemas.microsoft.com/office/drawing/2014/main" id="{06EE622C-B12F-3EC9-F5D1-B05CE9433B2F}"/>
              </a:ext>
            </a:extLst>
          </p:cNvPr>
          <p:cNvSpPr/>
          <p:nvPr/>
        </p:nvSpPr>
        <p:spPr>
          <a:xfrm>
            <a:off x="361950" y="508000"/>
            <a:ext cx="590550" cy="15557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今</a:t>
            </a:r>
          </a:p>
        </p:txBody>
      </p:sp>
      <p:sp>
        <p:nvSpPr>
          <p:cNvPr id="5" name="矢印: 五方向 4">
            <a:extLst>
              <a:ext uri="{FF2B5EF4-FFF2-40B4-BE49-F238E27FC236}">
                <a16:creationId xmlns:a16="http://schemas.microsoft.com/office/drawing/2014/main" id="{FEEF44B8-B0BD-CAA2-1CC1-763546D05895}"/>
              </a:ext>
            </a:extLst>
          </p:cNvPr>
          <p:cNvSpPr/>
          <p:nvPr/>
        </p:nvSpPr>
        <p:spPr>
          <a:xfrm>
            <a:off x="1574800" y="869950"/>
            <a:ext cx="1268041" cy="863600"/>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t>面談</a:t>
            </a:r>
          </a:p>
        </p:txBody>
      </p:sp>
      <p:sp>
        <p:nvSpPr>
          <p:cNvPr id="6" name="矢印: 五方向 5">
            <a:extLst>
              <a:ext uri="{FF2B5EF4-FFF2-40B4-BE49-F238E27FC236}">
                <a16:creationId xmlns:a16="http://schemas.microsoft.com/office/drawing/2014/main" id="{9C35A3A6-0064-143E-D0E0-49E9EFC76356}"/>
              </a:ext>
            </a:extLst>
          </p:cNvPr>
          <p:cNvSpPr/>
          <p:nvPr/>
        </p:nvSpPr>
        <p:spPr>
          <a:xfrm>
            <a:off x="2864395" y="854075"/>
            <a:ext cx="1268041" cy="863600"/>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t>案件詳細入力</a:t>
            </a:r>
          </a:p>
        </p:txBody>
      </p:sp>
      <p:sp>
        <p:nvSpPr>
          <p:cNvPr id="7" name="矢印: 五方向 6">
            <a:extLst>
              <a:ext uri="{FF2B5EF4-FFF2-40B4-BE49-F238E27FC236}">
                <a16:creationId xmlns:a16="http://schemas.microsoft.com/office/drawing/2014/main" id="{DD22CCD1-66FE-C465-F4A1-E6DE0C924A21}"/>
              </a:ext>
            </a:extLst>
          </p:cNvPr>
          <p:cNvSpPr/>
          <p:nvPr/>
        </p:nvSpPr>
        <p:spPr>
          <a:xfrm>
            <a:off x="4182727" y="815975"/>
            <a:ext cx="1268041" cy="863600"/>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t>受注担当と管理担当で認識合わせ</a:t>
            </a:r>
          </a:p>
        </p:txBody>
      </p:sp>
      <p:sp>
        <p:nvSpPr>
          <p:cNvPr id="8" name="矢印: 五方向 7">
            <a:extLst>
              <a:ext uri="{FF2B5EF4-FFF2-40B4-BE49-F238E27FC236}">
                <a16:creationId xmlns:a16="http://schemas.microsoft.com/office/drawing/2014/main" id="{72687E99-DC49-D8CE-79EF-8213EF221817}"/>
              </a:ext>
            </a:extLst>
          </p:cNvPr>
          <p:cNvSpPr/>
          <p:nvPr/>
        </p:nvSpPr>
        <p:spPr>
          <a:xfrm>
            <a:off x="5501059" y="777875"/>
            <a:ext cx="1268041" cy="863600"/>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t>タスク生成</a:t>
            </a:r>
          </a:p>
        </p:txBody>
      </p:sp>
      <p:sp>
        <p:nvSpPr>
          <p:cNvPr id="10" name="矢印: 五方向 9">
            <a:extLst>
              <a:ext uri="{FF2B5EF4-FFF2-40B4-BE49-F238E27FC236}">
                <a16:creationId xmlns:a16="http://schemas.microsoft.com/office/drawing/2014/main" id="{D5FCB571-0C4E-DB10-A5C5-DAFB90CCD268}"/>
              </a:ext>
            </a:extLst>
          </p:cNvPr>
          <p:cNvSpPr/>
          <p:nvPr/>
        </p:nvSpPr>
        <p:spPr>
          <a:xfrm>
            <a:off x="6819391" y="777875"/>
            <a:ext cx="1268041" cy="863600"/>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t>タスク開始</a:t>
            </a:r>
            <a:r>
              <a:rPr lang="ja-JP" altLang="en-US" sz="1100" dirty="0"/>
              <a:t>・</a:t>
            </a:r>
            <a:endParaRPr lang="en-US" altLang="ja-JP" sz="1100" dirty="0"/>
          </a:p>
          <a:p>
            <a:pPr algn="ctr"/>
            <a:r>
              <a:rPr kumimoji="1" lang="ja-JP" altLang="en-US" sz="1100" dirty="0"/>
              <a:t>随時タスク追加</a:t>
            </a:r>
            <a:endParaRPr kumimoji="1" lang="en-US" altLang="ja-JP" sz="1100" dirty="0"/>
          </a:p>
        </p:txBody>
      </p:sp>
      <p:sp>
        <p:nvSpPr>
          <p:cNvPr id="11" name="正方形/長方形 10">
            <a:extLst>
              <a:ext uri="{FF2B5EF4-FFF2-40B4-BE49-F238E27FC236}">
                <a16:creationId xmlns:a16="http://schemas.microsoft.com/office/drawing/2014/main" id="{E263DD0F-3F8A-1E0B-B3AB-76F8F2374F25}"/>
              </a:ext>
            </a:extLst>
          </p:cNvPr>
          <p:cNvSpPr/>
          <p:nvPr/>
        </p:nvSpPr>
        <p:spPr>
          <a:xfrm>
            <a:off x="396875" y="2381250"/>
            <a:ext cx="590550" cy="1555750"/>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修正後</a:t>
            </a:r>
          </a:p>
        </p:txBody>
      </p:sp>
      <p:sp>
        <p:nvSpPr>
          <p:cNvPr id="12" name="矢印: 五方向 11">
            <a:extLst>
              <a:ext uri="{FF2B5EF4-FFF2-40B4-BE49-F238E27FC236}">
                <a16:creationId xmlns:a16="http://schemas.microsoft.com/office/drawing/2014/main" id="{959359CF-4A30-06DB-D278-4EF21369BE45}"/>
              </a:ext>
            </a:extLst>
          </p:cNvPr>
          <p:cNvSpPr/>
          <p:nvPr/>
        </p:nvSpPr>
        <p:spPr>
          <a:xfrm>
            <a:off x="1609725" y="2743200"/>
            <a:ext cx="1268041" cy="863600"/>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t>面談</a:t>
            </a:r>
          </a:p>
        </p:txBody>
      </p:sp>
      <p:sp>
        <p:nvSpPr>
          <p:cNvPr id="13" name="矢印: 五方向 12">
            <a:extLst>
              <a:ext uri="{FF2B5EF4-FFF2-40B4-BE49-F238E27FC236}">
                <a16:creationId xmlns:a16="http://schemas.microsoft.com/office/drawing/2014/main" id="{ECFFD2C5-762A-FE23-711E-55F9B53F3A21}"/>
              </a:ext>
            </a:extLst>
          </p:cNvPr>
          <p:cNvSpPr/>
          <p:nvPr/>
        </p:nvSpPr>
        <p:spPr>
          <a:xfrm>
            <a:off x="2899320" y="2727325"/>
            <a:ext cx="1268041" cy="863600"/>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t>案件詳細入力</a:t>
            </a:r>
          </a:p>
        </p:txBody>
      </p:sp>
      <p:sp>
        <p:nvSpPr>
          <p:cNvPr id="14" name="矢印: 五方向 13">
            <a:extLst>
              <a:ext uri="{FF2B5EF4-FFF2-40B4-BE49-F238E27FC236}">
                <a16:creationId xmlns:a16="http://schemas.microsoft.com/office/drawing/2014/main" id="{993E63DF-ED76-ACF4-40B1-A332B9B409AA}"/>
              </a:ext>
            </a:extLst>
          </p:cNvPr>
          <p:cNvSpPr/>
          <p:nvPr/>
        </p:nvSpPr>
        <p:spPr>
          <a:xfrm>
            <a:off x="4217652" y="2689225"/>
            <a:ext cx="1268041" cy="863600"/>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t>受注担当と管理担当で認識合わせ</a:t>
            </a:r>
          </a:p>
        </p:txBody>
      </p:sp>
      <p:sp>
        <p:nvSpPr>
          <p:cNvPr id="16" name="矢印: 五方向 15">
            <a:extLst>
              <a:ext uri="{FF2B5EF4-FFF2-40B4-BE49-F238E27FC236}">
                <a16:creationId xmlns:a16="http://schemas.microsoft.com/office/drawing/2014/main" id="{B93EFF58-DCCC-E803-EEE0-D394760BD994}"/>
              </a:ext>
            </a:extLst>
          </p:cNvPr>
          <p:cNvSpPr/>
          <p:nvPr/>
        </p:nvSpPr>
        <p:spPr>
          <a:xfrm>
            <a:off x="5535984" y="2689225"/>
            <a:ext cx="1268041" cy="863600"/>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t>タスク開始</a:t>
            </a:r>
            <a:r>
              <a:rPr lang="ja-JP" altLang="en-US" sz="1100" dirty="0"/>
              <a:t>・</a:t>
            </a:r>
            <a:endParaRPr lang="en-US" altLang="ja-JP" sz="1100" dirty="0"/>
          </a:p>
          <a:p>
            <a:pPr algn="ctr"/>
            <a:r>
              <a:rPr kumimoji="1" lang="ja-JP" altLang="en-US" sz="1100" dirty="0"/>
              <a:t>随時タスク追加</a:t>
            </a:r>
            <a:endParaRPr kumimoji="1" lang="en-US" altLang="ja-JP" sz="1100" dirty="0"/>
          </a:p>
        </p:txBody>
      </p:sp>
      <p:sp>
        <p:nvSpPr>
          <p:cNvPr id="17" name="矢印: 五方向 16">
            <a:extLst>
              <a:ext uri="{FF2B5EF4-FFF2-40B4-BE49-F238E27FC236}">
                <a16:creationId xmlns:a16="http://schemas.microsoft.com/office/drawing/2014/main" id="{E88DFEF9-700A-E114-06A9-15508AC06724}"/>
              </a:ext>
            </a:extLst>
          </p:cNvPr>
          <p:cNvSpPr/>
          <p:nvPr/>
        </p:nvSpPr>
        <p:spPr>
          <a:xfrm>
            <a:off x="6854316" y="2689225"/>
            <a:ext cx="1268041" cy="863600"/>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100" dirty="0"/>
              <a:t>1</a:t>
            </a:r>
            <a:r>
              <a:rPr kumimoji="1" lang="ja-JP" altLang="en-US" sz="1100" dirty="0"/>
              <a:t>タスクが完了のたびに管理担当が</a:t>
            </a:r>
            <a:r>
              <a:rPr kumimoji="1" lang="en-US" altLang="ja-JP" sz="1100" dirty="0"/>
              <a:t>W</a:t>
            </a:r>
            <a:r>
              <a:rPr kumimoji="1" lang="ja-JP" altLang="en-US" sz="1100" dirty="0"/>
              <a:t>チェック</a:t>
            </a:r>
            <a:endParaRPr kumimoji="1" lang="en-US" altLang="ja-JP" sz="1100" dirty="0"/>
          </a:p>
        </p:txBody>
      </p:sp>
      <p:sp>
        <p:nvSpPr>
          <p:cNvPr id="18" name="矢印: 五方向 17">
            <a:extLst>
              <a:ext uri="{FF2B5EF4-FFF2-40B4-BE49-F238E27FC236}">
                <a16:creationId xmlns:a16="http://schemas.microsoft.com/office/drawing/2014/main" id="{FA75C30C-06AD-04BB-A880-0C64D7B0D263}"/>
              </a:ext>
            </a:extLst>
          </p:cNvPr>
          <p:cNvSpPr/>
          <p:nvPr/>
        </p:nvSpPr>
        <p:spPr>
          <a:xfrm>
            <a:off x="8172648" y="2632075"/>
            <a:ext cx="1268041" cy="863600"/>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t>タスクのステータスが次のタスク開始待ちになる。</a:t>
            </a:r>
            <a:endParaRPr kumimoji="1" lang="en-US" altLang="ja-JP" sz="1100" dirty="0"/>
          </a:p>
        </p:txBody>
      </p:sp>
      <p:sp>
        <p:nvSpPr>
          <p:cNvPr id="19" name="矢印: 五方向 18">
            <a:extLst>
              <a:ext uri="{FF2B5EF4-FFF2-40B4-BE49-F238E27FC236}">
                <a16:creationId xmlns:a16="http://schemas.microsoft.com/office/drawing/2014/main" id="{AC8C6D52-AD02-8A2F-9B0A-B46E1CB7BDCD}"/>
              </a:ext>
            </a:extLst>
          </p:cNvPr>
          <p:cNvSpPr/>
          <p:nvPr/>
        </p:nvSpPr>
        <p:spPr>
          <a:xfrm>
            <a:off x="9514619" y="2635250"/>
            <a:ext cx="1268041" cy="863600"/>
          </a:xfrm>
          <a:prstGeom prst="homePlate">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100" dirty="0"/>
              <a:t>新しいタスクを作成して開始する</a:t>
            </a:r>
            <a:endParaRPr kumimoji="1" lang="en-US" altLang="ja-JP" sz="1100" dirty="0"/>
          </a:p>
        </p:txBody>
      </p:sp>
      <p:cxnSp>
        <p:nvCxnSpPr>
          <p:cNvPr id="21" name="直線コネクタ 20">
            <a:extLst>
              <a:ext uri="{FF2B5EF4-FFF2-40B4-BE49-F238E27FC236}">
                <a16:creationId xmlns:a16="http://schemas.microsoft.com/office/drawing/2014/main" id="{D8A57B6F-B2D2-908E-A2AB-9D9F97EC195F}"/>
              </a:ext>
            </a:extLst>
          </p:cNvPr>
          <p:cNvCxnSpPr/>
          <p:nvPr/>
        </p:nvCxnSpPr>
        <p:spPr>
          <a:xfrm flipV="1">
            <a:off x="396875" y="4025900"/>
            <a:ext cx="10817225" cy="82550"/>
          </a:xfrm>
          <a:prstGeom prst="line">
            <a:avLst/>
          </a:prstGeom>
        </p:spPr>
        <p:style>
          <a:lnRef idx="2">
            <a:schemeClr val="accent1"/>
          </a:lnRef>
          <a:fillRef idx="0">
            <a:schemeClr val="accent1"/>
          </a:fillRef>
          <a:effectRef idx="1">
            <a:schemeClr val="accent1"/>
          </a:effectRef>
          <a:fontRef idx="minor">
            <a:schemeClr val="tx1"/>
          </a:fontRef>
        </p:style>
      </p:cxnSp>
      <p:sp>
        <p:nvSpPr>
          <p:cNvPr id="22" name="テキスト ボックス 21">
            <a:extLst>
              <a:ext uri="{FF2B5EF4-FFF2-40B4-BE49-F238E27FC236}">
                <a16:creationId xmlns:a16="http://schemas.microsoft.com/office/drawing/2014/main" id="{C9DC71F6-1816-967D-FE40-B0120C883DBE}"/>
              </a:ext>
            </a:extLst>
          </p:cNvPr>
          <p:cNvSpPr txBox="1"/>
          <p:nvPr/>
        </p:nvSpPr>
        <p:spPr>
          <a:xfrm>
            <a:off x="1085850" y="4743450"/>
            <a:ext cx="10572125" cy="646331"/>
          </a:xfrm>
          <a:prstGeom prst="rect">
            <a:avLst/>
          </a:prstGeom>
          <a:noFill/>
        </p:spPr>
        <p:txBody>
          <a:bodyPr wrap="none" rtlCol="0">
            <a:spAutoFit/>
          </a:bodyPr>
          <a:lstStyle/>
          <a:p>
            <a:r>
              <a:rPr kumimoji="1" lang="ja-JP" altLang="en-US" dirty="0"/>
              <a:t>タスクは前のタスクが終わったら次のタスクに進むという制御関係だけでなく、</a:t>
            </a:r>
            <a:endParaRPr kumimoji="1" lang="en-US" altLang="ja-JP" dirty="0"/>
          </a:p>
          <a:p>
            <a:r>
              <a:rPr kumimoji="1" lang="ja-JP" altLang="en-US" dirty="0"/>
              <a:t>タスクの途中でもある程度情報が揃えば、並行してタスクを新規作成して進められるケースがある。</a:t>
            </a:r>
            <a:endParaRPr kumimoji="1" lang="en-US" altLang="ja-JP" dirty="0"/>
          </a:p>
        </p:txBody>
      </p:sp>
    </p:spTree>
    <p:extLst>
      <p:ext uri="{BB962C8B-B14F-4D97-AF65-F5344CB8AC3E}">
        <p14:creationId xmlns:p14="http://schemas.microsoft.com/office/powerpoint/2010/main" val="2085061575"/>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933B57AC-5B43-8DEC-0E3F-D0F4D149CB7A}"/>
            </a:ext>
          </a:extLst>
        </p:cNvPr>
        <p:cNvGrpSpPr/>
        <p:nvPr/>
      </p:nvGrpSpPr>
      <p:grpSpPr>
        <a:xfrm>
          <a:off x="0" y="0"/>
          <a:ext cx="0" cy="0"/>
          <a:chOff x="0" y="0"/>
          <a:chExt cx="0" cy="0"/>
        </a:xfrm>
      </p:grpSpPr>
      <p:sp>
        <p:nvSpPr>
          <p:cNvPr id="2" name="テキスト ボックス 1">
            <a:extLst>
              <a:ext uri="{FF2B5EF4-FFF2-40B4-BE49-F238E27FC236}">
                <a16:creationId xmlns:a16="http://schemas.microsoft.com/office/drawing/2014/main" id="{5EBFF118-0A5A-23D2-1185-460A7DD57FE0}"/>
              </a:ext>
            </a:extLst>
          </p:cNvPr>
          <p:cNvSpPr txBox="1"/>
          <p:nvPr/>
        </p:nvSpPr>
        <p:spPr>
          <a:xfrm>
            <a:off x="266700" y="132477"/>
            <a:ext cx="5676554" cy="2569934"/>
          </a:xfrm>
          <a:prstGeom prst="rect">
            <a:avLst/>
          </a:prstGeom>
          <a:noFill/>
        </p:spPr>
        <p:txBody>
          <a:bodyPr wrap="none" rtlCol="0">
            <a:spAutoFit/>
          </a:bodyPr>
          <a:lstStyle/>
          <a:p>
            <a:endParaRPr kumimoji="1" lang="en-US" altLang="ja-JP" sz="700" b="1" dirty="0"/>
          </a:p>
          <a:p>
            <a:r>
              <a:rPr kumimoji="1" lang="ja-JP" altLang="en-US" sz="1100" b="1" dirty="0"/>
              <a:t>・事務管理さんが実施したタスクの結果を管理担当が確認する</a:t>
            </a:r>
            <a:endParaRPr kumimoji="1" lang="en-US" altLang="ja-JP" sz="1100" b="1" dirty="0"/>
          </a:p>
          <a:p>
            <a:r>
              <a:rPr lang="ja-JP" altLang="en-US" sz="1100" b="1" dirty="0"/>
              <a:t>・事務管理さんの苦手なタスク領域を明確化する</a:t>
            </a:r>
            <a:endParaRPr kumimoji="1" lang="en-US" altLang="ja-JP" sz="1100" b="1" dirty="0"/>
          </a:p>
          <a:p>
            <a:endParaRPr kumimoji="1" lang="en-US" altLang="ja-JP" sz="1100" dirty="0"/>
          </a:p>
          <a:p>
            <a:r>
              <a:rPr kumimoji="1" lang="ja-JP" altLang="en-US" sz="1100" dirty="0"/>
              <a:t>案件に紐づくタスクの実施結果を〇、△、</a:t>
            </a:r>
            <a:r>
              <a:rPr kumimoji="1" lang="en-US" altLang="ja-JP" sz="1100" dirty="0"/>
              <a:t>×</a:t>
            </a:r>
            <a:r>
              <a:rPr kumimoji="1" lang="ja-JP" altLang="en-US" sz="1100" dirty="0"/>
              <a:t>で確認する。</a:t>
            </a:r>
            <a:endParaRPr kumimoji="1" lang="en-US" altLang="ja-JP" sz="1100" dirty="0"/>
          </a:p>
          <a:p>
            <a:r>
              <a:rPr lang="ja-JP" altLang="en-US" sz="1100" dirty="0"/>
              <a:t>〇なら、次のタスクに移行か</a:t>
            </a:r>
            <a:endParaRPr lang="en-US" altLang="ja-JP" sz="1100" dirty="0"/>
          </a:p>
          <a:p>
            <a:r>
              <a:rPr kumimoji="1" lang="ja-JP" altLang="en-US" sz="1100" dirty="0"/>
              <a:t>△は一部要確認事項あり</a:t>
            </a:r>
            <a:endParaRPr kumimoji="1" lang="en-US" altLang="ja-JP" sz="1100" dirty="0"/>
          </a:p>
          <a:p>
            <a:r>
              <a:rPr lang="en-US" altLang="ja-JP" sz="1100" dirty="0"/>
              <a:t>×</a:t>
            </a:r>
            <a:r>
              <a:rPr lang="ja-JP" altLang="en-US" sz="1100" dirty="0"/>
              <a:t>は不備ありの差し戻し</a:t>
            </a:r>
            <a:endParaRPr kumimoji="1" lang="en-US" altLang="ja-JP" sz="1100" dirty="0"/>
          </a:p>
          <a:p>
            <a:endParaRPr kumimoji="1" lang="en-US" altLang="ja-JP" sz="1100" dirty="0"/>
          </a:p>
          <a:p>
            <a:r>
              <a:rPr lang="ja-JP" altLang="en-US" sz="1100" dirty="0"/>
              <a:t>タスク詳細画面のステータスにチェック待ちと差し戻しと次のタスク開始待ちを追加</a:t>
            </a:r>
            <a:endParaRPr lang="en-US" altLang="ja-JP" sz="1100" dirty="0"/>
          </a:p>
          <a:p>
            <a:r>
              <a:rPr lang="en-US" altLang="ja-JP" sz="1100" dirty="0"/>
              <a:t>W</a:t>
            </a:r>
            <a:r>
              <a:rPr lang="ja-JP" altLang="en-US" sz="1100" dirty="0"/>
              <a:t>チェックの結果として、〇、△、</a:t>
            </a:r>
            <a:r>
              <a:rPr lang="en-US" altLang="ja-JP" sz="1100" dirty="0"/>
              <a:t>×</a:t>
            </a:r>
            <a:r>
              <a:rPr lang="ja-JP" altLang="en-US" sz="1100" dirty="0"/>
              <a:t>を選択</a:t>
            </a:r>
            <a:endParaRPr lang="en-US" altLang="ja-JP" sz="1100" dirty="0"/>
          </a:p>
          <a:p>
            <a:r>
              <a:rPr kumimoji="1" lang="ja-JP" altLang="en-US" sz="1100" dirty="0"/>
              <a:t>△、</a:t>
            </a:r>
            <a:r>
              <a:rPr kumimoji="1" lang="en-US" altLang="ja-JP" sz="1100" dirty="0"/>
              <a:t>×</a:t>
            </a:r>
            <a:r>
              <a:rPr kumimoji="1" lang="ja-JP" altLang="en-US" sz="1100" dirty="0"/>
              <a:t>を選択時は詳細内容をテキストで記載</a:t>
            </a:r>
            <a:endParaRPr kumimoji="1" lang="en-US" altLang="ja-JP" sz="1100" dirty="0"/>
          </a:p>
          <a:p>
            <a:r>
              <a:rPr lang="ja-JP" altLang="en-US" sz="1100" dirty="0"/>
              <a:t>〇をつけられたらようやく次のタスクを作成して、開始できるように制御する。</a:t>
            </a:r>
            <a:endParaRPr lang="en-US" altLang="ja-JP" sz="1100" dirty="0"/>
          </a:p>
          <a:p>
            <a:r>
              <a:rPr kumimoji="1" lang="ja-JP" altLang="en-US" sz="1100" dirty="0"/>
              <a:t>〇を付けられたら、次のタスク開始待ちというステータスになる。</a:t>
            </a:r>
            <a:endParaRPr kumimoji="1" lang="en-US" altLang="ja-JP" sz="1100" dirty="0"/>
          </a:p>
          <a:p>
            <a:r>
              <a:rPr lang="ja-JP" altLang="en-US" sz="1100" dirty="0"/>
              <a:t>次タスク開始待ちのタスクの次のタスクを作成して着手したら、対応中になる。</a:t>
            </a:r>
            <a:endParaRPr kumimoji="1" lang="ja-JP" altLang="en-US" sz="1100" dirty="0"/>
          </a:p>
        </p:txBody>
      </p:sp>
      <p:pic>
        <p:nvPicPr>
          <p:cNvPr id="4" name="図 3">
            <a:extLst>
              <a:ext uri="{FF2B5EF4-FFF2-40B4-BE49-F238E27FC236}">
                <a16:creationId xmlns:a16="http://schemas.microsoft.com/office/drawing/2014/main" id="{3DAFCB9C-3EB5-8CFF-AADD-B52F7756C6FD}"/>
              </a:ext>
            </a:extLst>
          </p:cNvPr>
          <p:cNvPicPr>
            <a:picLocks noChangeAspect="1"/>
          </p:cNvPicPr>
          <p:nvPr/>
        </p:nvPicPr>
        <p:blipFill>
          <a:blip r:embed="rId2"/>
          <a:stretch>
            <a:fillRect/>
          </a:stretch>
        </p:blipFill>
        <p:spPr>
          <a:xfrm>
            <a:off x="342900" y="2603500"/>
            <a:ext cx="7484282" cy="3834103"/>
          </a:xfrm>
          <a:prstGeom prst="rect">
            <a:avLst/>
          </a:prstGeom>
        </p:spPr>
      </p:pic>
    </p:spTree>
    <p:extLst>
      <p:ext uri="{BB962C8B-B14F-4D97-AF65-F5344CB8AC3E}">
        <p14:creationId xmlns:p14="http://schemas.microsoft.com/office/powerpoint/2010/main" val="15406512"/>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図 4">
            <a:extLst>
              <a:ext uri="{FF2B5EF4-FFF2-40B4-BE49-F238E27FC236}">
                <a16:creationId xmlns:a16="http://schemas.microsoft.com/office/drawing/2014/main" id="{8405F467-5F14-CF4D-9B64-35D116E6C2CA}"/>
              </a:ext>
            </a:extLst>
          </p:cNvPr>
          <p:cNvPicPr>
            <a:picLocks noChangeAspect="1"/>
          </p:cNvPicPr>
          <p:nvPr/>
        </p:nvPicPr>
        <p:blipFill>
          <a:blip r:embed="rId2"/>
          <a:stretch>
            <a:fillRect/>
          </a:stretch>
        </p:blipFill>
        <p:spPr>
          <a:xfrm>
            <a:off x="1771650" y="856721"/>
            <a:ext cx="7937794" cy="1067329"/>
          </a:xfrm>
          <a:prstGeom prst="rect">
            <a:avLst/>
          </a:prstGeom>
        </p:spPr>
      </p:pic>
    </p:spTree>
    <p:extLst>
      <p:ext uri="{BB962C8B-B14F-4D97-AF65-F5344CB8AC3E}">
        <p14:creationId xmlns:p14="http://schemas.microsoft.com/office/powerpoint/2010/main" val="1037750791"/>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a:extLst>
            <a:ext uri="{FF2B5EF4-FFF2-40B4-BE49-F238E27FC236}">
              <a16:creationId xmlns:a16="http://schemas.microsoft.com/office/drawing/2014/main" id="{FFC4F3FA-B7C6-A979-C872-745F822C7474}"/>
            </a:ext>
          </a:extLst>
        </p:cNvPr>
        <p:cNvGrpSpPr/>
        <p:nvPr/>
      </p:nvGrpSpPr>
      <p:grpSpPr>
        <a:xfrm>
          <a:off x="0" y="0"/>
          <a:ext cx="0" cy="0"/>
          <a:chOff x="0" y="0"/>
          <a:chExt cx="0" cy="0"/>
        </a:xfrm>
      </p:grpSpPr>
      <p:sp>
        <p:nvSpPr>
          <p:cNvPr id="4" name="正方形/長方形 3">
            <a:extLst>
              <a:ext uri="{FF2B5EF4-FFF2-40B4-BE49-F238E27FC236}">
                <a16:creationId xmlns:a16="http://schemas.microsoft.com/office/drawing/2014/main" id="{19FCE917-8288-011A-D08A-BA459CF0D049}"/>
              </a:ext>
            </a:extLst>
          </p:cNvPr>
          <p:cNvSpPr/>
          <p:nvPr/>
        </p:nvSpPr>
        <p:spPr>
          <a:xfrm>
            <a:off x="0" y="0"/>
            <a:ext cx="12192000" cy="6858000"/>
          </a:xfrm>
          <a:prstGeom prst="rect">
            <a:avLst/>
          </a:prstGeom>
          <a:solidFill>
            <a:schemeClr val="tx1"/>
          </a:solidFill>
          <a:ln>
            <a:solidFill>
              <a:schemeClr val="tx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5" name="テキスト ボックス 4">
            <a:extLst>
              <a:ext uri="{FF2B5EF4-FFF2-40B4-BE49-F238E27FC236}">
                <a16:creationId xmlns:a16="http://schemas.microsoft.com/office/drawing/2014/main" id="{4F8BF5F7-E52F-7354-A5EB-8BAFC5DF88D2}"/>
              </a:ext>
            </a:extLst>
          </p:cNvPr>
          <p:cNvSpPr txBox="1"/>
          <p:nvPr/>
        </p:nvSpPr>
        <p:spPr>
          <a:xfrm>
            <a:off x="552450" y="2025650"/>
            <a:ext cx="5969904" cy="1107996"/>
          </a:xfrm>
          <a:prstGeom prst="rect">
            <a:avLst/>
          </a:prstGeom>
          <a:noFill/>
        </p:spPr>
        <p:txBody>
          <a:bodyPr wrap="none" rtlCol="0">
            <a:spAutoFit/>
          </a:bodyPr>
          <a:lstStyle/>
          <a:p>
            <a:r>
              <a:rPr kumimoji="1" lang="ja-JP" altLang="en-US" sz="6600" b="1" dirty="0">
                <a:solidFill>
                  <a:schemeClr val="bg1"/>
                </a:solidFill>
                <a:latin typeface="Meiryo UI" panose="020B0604030504040204" pitchFamily="50" charset="-128"/>
                <a:ea typeface="Meiryo UI" panose="020B0604030504040204" pitchFamily="50" charset="-128"/>
              </a:rPr>
              <a:t>依頼者情報タブ</a:t>
            </a:r>
          </a:p>
        </p:txBody>
      </p:sp>
      <p:sp>
        <p:nvSpPr>
          <p:cNvPr id="7" name="テキスト ボックス 6">
            <a:extLst>
              <a:ext uri="{FF2B5EF4-FFF2-40B4-BE49-F238E27FC236}">
                <a16:creationId xmlns:a16="http://schemas.microsoft.com/office/drawing/2014/main" id="{6E798394-EC51-0C97-3044-599EF47CE4A6}"/>
              </a:ext>
            </a:extLst>
          </p:cNvPr>
          <p:cNvSpPr txBox="1"/>
          <p:nvPr/>
        </p:nvSpPr>
        <p:spPr>
          <a:xfrm>
            <a:off x="635000" y="926066"/>
            <a:ext cx="2863284" cy="369332"/>
          </a:xfrm>
          <a:prstGeom prst="rect">
            <a:avLst/>
          </a:prstGeom>
          <a:noFill/>
        </p:spPr>
        <p:txBody>
          <a:bodyPr wrap="none" rtlCol="0">
            <a:spAutoFit/>
          </a:bodyPr>
          <a:lstStyle/>
          <a:p>
            <a:r>
              <a:rPr kumimoji="1" lang="ja-JP" altLang="en-US" b="1" dirty="0">
                <a:solidFill>
                  <a:schemeClr val="bg1"/>
                </a:solidFill>
                <a:latin typeface="Meiryo UI" panose="020B0604030504040204" pitchFamily="50" charset="-128"/>
                <a:ea typeface="Meiryo UI" panose="020B0604030504040204" pitchFamily="50" charset="-128"/>
              </a:rPr>
              <a:t>依頼者情報タブの新規追加</a:t>
            </a:r>
          </a:p>
        </p:txBody>
      </p:sp>
      <p:cxnSp>
        <p:nvCxnSpPr>
          <p:cNvPr id="9" name="直線コネクタ 8">
            <a:extLst>
              <a:ext uri="{FF2B5EF4-FFF2-40B4-BE49-F238E27FC236}">
                <a16:creationId xmlns:a16="http://schemas.microsoft.com/office/drawing/2014/main" id="{79C51D6C-99E7-2CE9-CDA8-A7104E39420B}"/>
              </a:ext>
            </a:extLst>
          </p:cNvPr>
          <p:cNvCxnSpPr/>
          <p:nvPr/>
        </p:nvCxnSpPr>
        <p:spPr>
          <a:xfrm>
            <a:off x="736600" y="1568450"/>
            <a:ext cx="7664450" cy="0"/>
          </a:xfrm>
          <a:prstGeom prst="line">
            <a:avLst/>
          </a:prstGeom>
          <a:ln w="38100">
            <a:solidFill>
              <a:schemeClr val="bg1"/>
            </a:solidFill>
          </a:ln>
        </p:spPr>
        <p:style>
          <a:lnRef idx="2">
            <a:schemeClr val="accent1"/>
          </a:lnRef>
          <a:fillRef idx="0">
            <a:schemeClr val="accent1"/>
          </a:fillRef>
          <a:effectRef idx="1">
            <a:schemeClr val="accent1"/>
          </a:effectRef>
          <a:fontRef idx="minor">
            <a:schemeClr val="tx1"/>
          </a:fontRef>
        </p:style>
      </p:cxnSp>
      <p:sp>
        <p:nvSpPr>
          <p:cNvPr id="10" name="正方形/長方形 9">
            <a:extLst>
              <a:ext uri="{FF2B5EF4-FFF2-40B4-BE49-F238E27FC236}">
                <a16:creationId xmlns:a16="http://schemas.microsoft.com/office/drawing/2014/main" id="{AE0DE8C4-C59B-E304-605C-8DDF47036793}"/>
              </a:ext>
            </a:extLst>
          </p:cNvPr>
          <p:cNvSpPr/>
          <p:nvPr/>
        </p:nvSpPr>
        <p:spPr>
          <a:xfrm>
            <a:off x="850900" y="1460500"/>
            <a:ext cx="36000" cy="234945"/>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1" name="正方形/長方形 10">
            <a:extLst>
              <a:ext uri="{FF2B5EF4-FFF2-40B4-BE49-F238E27FC236}">
                <a16:creationId xmlns:a16="http://schemas.microsoft.com/office/drawing/2014/main" id="{CA90A182-70B1-5530-0096-6CE9782C2688}"/>
              </a:ext>
            </a:extLst>
          </p:cNvPr>
          <p:cNvSpPr/>
          <p:nvPr/>
        </p:nvSpPr>
        <p:spPr>
          <a:xfrm>
            <a:off x="717550" y="1473200"/>
            <a:ext cx="36000" cy="180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12" name="正方形/長方形 11">
            <a:extLst>
              <a:ext uri="{FF2B5EF4-FFF2-40B4-BE49-F238E27FC236}">
                <a16:creationId xmlns:a16="http://schemas.microsoft.com/office/drawing/2014/main" id="{690E152C-B153-1607-5A1D-CA2E9BE372E3}"/>
              </a:ext>
            </a:extLst>
          </p:cNvPr>
          <p:cNvSpPr/>
          <p:nvPr/>
        </p:nvSpPr>
        <p:spPr>
          <a:xfrm>
            <a:off x="8153400" y="1460500"/>
            <a:ext cx="36000" cy="180000"/>
          </a:xfrm>
          <a:prstGeom prst="rect">
            <a:avLst/>
          </a:prstGeom>
          <a:solidFill>
            <a:schemeClr val="bg1"/>
          </a:solidFill>
          <a:ln>
            <a:solidFill>
              <a:schemeClr val="bg1"/>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Tree>
    <p:extLst>
      <p:ext uri="{BB962C8B-B14F-4D97-AF65-F5344CB8AC3E}">
        <p14:creationId xmlns:p14="http://schemas.microsoft.com/office/powerpoint/2010/main" val="3983523394"/>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6" name="正方形/長方形 5">
            <a:extLst>
              <a:ext uri="{FF2B5EF4-FFF2-40B4-BE49-F238E27FC236}">
                <a16:creationId xmlns:a16="http://schemas.microsoft.com/office/drawing/2014/main" id="{DB39735C-364C-6ECE-8AC7-46CF7DB7B4C6}"/>
              </a:ext>
            </a:extLst>
          </p:cNvPr>
          <p:cNvSpPr/>
          <p:nvPr/>
        </p:nvSpPr>
        <p:spPr>
          <a:xfrm>
            <a:off x="8273305" y="822855"/>
            <a:ext cx="2830533" cy="98054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案件詳細の基本情報タブの依頼者情報をタブとして切り出したい。</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ようにする。</a:t>
            </a:r>
            <a:endParaRPr kumimoji="1" lang="en-US" altLang="ja-JP" sz="1200" dirty="0">
              <a:solidFill>
                <a:schemeClr val="tx1"/>
              </a:solidFill>
              <a:latin typeface="Meiryo UI" panose="020B0604030504040204" pitchFamily="50" charset="-128"/>
              <a:ea typeface="Meiryo UI" panose="020B0604030504040204" pitchFamily="50" charset="-128"/>
            </a:endParaRPr>
          </a:p>
        </p:txBody>
      </p:sp>
      <p:cxnSp>
        <p:nvCxnSpPr>
          <p:cNvPr id="7" name="直線コネクタ 6">
            <a:extLst>
              <a:ext uri="{FF2B5EF4-FFF2-40B4-BE49-F238E27FC236}">
                <a16:creationId xmlns:a16="http://schemas.microsoft.com/office/drawing/2014/main" id="{67556B4E-C769-BBAA-192E-49FCD4FA5973}"/>
              </a:ext>
            </a:extLst>
          </p:cNvPr>
          <p:cNvCxnSpPr>
            <a:cxnSpLocks/>
            <a:stCxn id="6" idx="1"/>
          </p:cNvCxnSpPr>
          <p:nvPr/>
        </p:nvCxnSpPr>
        <p:spPr>
          <a:xfrm flipH="1">
            <a:off x="7523000" y="1313128"/>
            <a:ext cx="750305" cy="379838"/>
          </a:xfrm>
          <a:prstGeom prst="line">
            <a:avLst/>
          </a:prstGeom>
          <a:ln>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pic>
        <p:nvPicPr>
          <p:cNvPr id="10" name="図 9">
            <a:extLst>
              <a:ext uri="{FF2B5EF4-FFF2-40B4-BE49-F238E27FC236}">
                <a16:creationId xmlns:a16="http://schemas.microsoft.com/office/drawing/2014/main" id="{607713D1-0AD9-EA0B-B20B-CFFB292CB3B1}"/>
              </a:ext>
            </a:extLst>
          </p:cNvPr>
          <p:cNvPicPr>
            <a:picLocks noChangeAspect="1"/>
          </p:cNvPicPr>
          <p:nvPr/>
        </p:nvPicPr>
        <p:blipFill>
          <a:blip r:embed="rId2"/>
          <a:stretch>
            <a:fillRect/>
          </a:stretch>
        </p:blipFill>
        <p:spPr>
          <a:xfrm>
            <a:off x="363287" y="642561"/>
            <a:ext cx="7398130" cy="1315365"/>
          </a:xfrm>
          <a:prstGeom prst="rect">
            <a:avLst/>
          </a:prstGeom>
        </p:spPr>
      </p:pic>
      <p:sp>
        <p:nvSpPr>
          <p:cNvPr id="11" name="テキスト ボックス 10">
            <a:extLst>
              <a:ext uri="{FF2B5EF4-FFF2-40B4-BE49-F238E27FC236}">
                <a16:creationId xmlns:a16="http://schemas.microsoft.com/office/drawing/2014/main" id="{AA8F8720-8E45-59D9-A4D2-E394F89508F6}"/>
              </a:ext>
            </a:extLst>
          </p:cNvPr>
          <p:cNvSpPr txBox="1"/>
          <p:nvPr/>
        </p:nvSpPr>
        <p:spPr>
          <a:xfrm>
            <a:off x="268357" y="248478"/>
            <a:ext cx="2401619" cy="369332"/>
          </a:xfrm>
          <a:prstGeom prst="rect">
            <a:avLst/>
          </a:prstGeom>
          <a:noFill/>
        </p:spPr>
        <p:txBody>
          <a:bodyPr wrap="none" rtlCol="0">
            <a:spAutoFit/>
          </a:bodyPr>
          <a:lstStyle/>
          <a:p>
            <a:r>
              <a:rPr lang="ja-JP" altLang="en-US" b="1" dirty="0">
                <a:latin typeface="Meiryo UI" panose="020B0604030504040204" pitchFamily="50" charset="-128"/>
                <a:ea typeface="Meiryo UI" panose="020B0604030504040204" pitchFamily="50" charset="-128"/>
              </a:rPr>
              <a:t>依頼者情報タブの追加</a:t>
            </a:r>
            <a:endParaRPr kumimoji="1" lang="ja-JP" altLang="en-US" b="1" dirty="0">
              <a:latin typeface="Meiryo UI" panose="020B0604030504040204" pitchFamily="50" charset="-128"/>
              <a:ea typeface="Meiryo UI" panose="020B0604030504040204" pitchFamily="50" charset="-128"/>
            </a:endParaRPr>
          </a:p>
        </p:txBody>
      </p:sp>
      <p:sp>
        <p:nvSpPr>
          <p:cNvPr id="12" name="テキスト ボックス 11">
            <a:extLst>
              <a:ext uri="{FF2B5EF4-FFF2-40B4-BE49-F238E27FC236}">
                <a16:creationId xmlns:a16="http://schemas.microsoft.com/office/drawing/2014/main" id="{ED6B44E7-3E30-8A09-D971-F089E5EAC605}"/>
              </a:ext>
            </a:extLst>
          </p:cNvPr>
          <p:cNvSpPr txBox="1"/>
          <p:nvPr/>
        </p:nvSpPr>
        <p:spPr>
          <a:xfrm>
            <a:off x="333185" y="3436737"/>
            <a:ext cx="954107" cy="276999"/>
          </a:xfrm>
          <a:prstGeom prst="rect">
            <a:avLst/>
          </a:prstGeom>
          <a:noFill/>
        </p:spPr>
        <p:txBody>
          <a:bodyPr wrap="none" rtlCol="0">
            <a:spAutoFit/>
          </a:bodyPr>
          <a:lstStyle/>
          <a:p>
            <a:r>
              <a:rPr kumimoji="1" lang="ja-JP" altLang="en-US" sz="1200" b="1" dirty="0">
                <a:latin typeface="Meiryo UI" panose="020B0604030504040204" pitchFamily="50" charset="-128"/>
                <a:ea typeface="Meiryo UI" panose="020B0604030504040204" pitchFamily="50" charset="-128"/>
              </a:rPr>
              <a:t>依頼者特徴</a:t>
            </a:r>
          </a:p>
        </p:txBody>
      </p:sp>
      <p:pic>
        <p:nvPicPr>
          <p:cNvPr id="13" name="図 12" descr="😑&quot; 意味：無表情の顔 絵文字 (expressionless face emoji) | Let's EMOJI">
            <a:extLst>
              <a:ext uri="{FF2B5EF4-FFF2-40B4-BE49-F238E27FC236}">
                <a16:creationId xmlns:a16="http://schemas.microsoft.com/office/drawing/2014/main" id="{B59EAD2F-7348-A955-5EFB-845157D7A55E}"/>
              </a:ext>
            </a:extLst>
          </p:cNvPr>
          <p:cNvPicPr>
            <a:picLocks noChangeAspect="1"/>
          </p:cNvPicPr>
          <p:nvPr/>
        </p:nvPicPr>
        <p:blipFill>
          <a:blip r:embed="rId3"/>
          <a:stretch>
            <a:fillRect/>
          </a:stretch>
        </p:blipFill>
        <p:spPr>
          <a:xfrm>
            <a:off x="480823" y="3806070"/>
            <a:ext cx="430768" cy="430768"/>
          </a:xfrm>
          <a:prstGeom prst="rect">
            <a:avLst/>
          </a:prstGeom>
        </p:spPr>
      </p:pic>
      <p:pic>
        <p:nvPicPr>
          <p:cNvPr id="14" name="図 13" descr="😊&quot; 意味：微笑む目の笑顔 絵文字 (smiling face with smiling eyes emoji) | Let's EMOJI">
            <a:extLst>
              <a:ext uri="{FF2B5EF4-FFF2-40B4-BE49-F238E27FC236}">
                <a16:creationId xmlns:a16="http://schemas.microsoft.com/office/drawing/2014/main" id="{500F1823-032A-A5B5-BFE4-085DA0B849CF}"/>
              </a:ext>
            </a:extLst>
          </p:cNvPr>
          <p:cNvPicPr>
            <a:picLocks noChangeAspect="1"/>
          </p:cNvPicPr>
          <p:nvPr/>
        </p:nvPicPr>
        <p:blipFill>
          <a:blip r:embed="rId4"/>
          <a:stretch>
            <a:fillRect/>
          </a:stretch>
        </p:blipFill>
        <p:spPr>
          <a:xfrm>
            <a:off x="1002599" y="3806069"/>
            <a:ext cx="430768" cy="430768"/>
          </a:xfrm>
          <a:prstGeom prst="rect">
            <a:avLst/>
          </a:prstGeom>
        </p:spPr>
      </p:pic>
      <p:pic>
        <p:nvPicPr>
          <p:cNvPr id="15" name="図 14" descr="😡&quot; 意味：ふくれっ面 絵文字 (pouting face emoji) | Let's EMOJI">
            <a:extLst>
              <a:ext uri="{FF2B5EF4-FFF2-40B4-BE49-F238E27FC236}">
                <a16:creationId xmlns:a16="http://schemas.microsoft.com/office/drawing/2014/main" id="{D7AE4976-D6E5-2576-4880-E3E23EAEAA07}"/>
              </a:ext>
            </a:extLst>
          </p:cNvPr>
          <p:cNvPicPr>
            <a:picLocks noChangeAspect="1"/>
          </p:cNvPicPr>
          <p:nvPr/>
        </p:nvPicPr>
        <p:blipFill>
          <a:blip r:embed="rId5"/>
          <a:stretch>
            <a:fillRect/>
          </a:stretch>
        </p:blipFill>
        <p:spPr>
          <a:xfrm>
            <a:off x="1547637" y="3806069"/>
            <a:ext cx="430768" cy="430768"/>
          </a:xfrm>
          <a:prstGeom prst="rect">
            <a:avLst/>
          </a:prstGeom>
        </p:spPr>
      </p:pic>
      <p:sp>
        <p:nvSpPr>
          <p:cNvPr id="16" name="テキスト ボックス 15">
            <a:extLst>
              <a:ext uri="{FF2B5EF4-FFF2-40B4-BE49-F238E27FC236}">
                <a16:creationId xmlns:a16="http://schemas.microsoft.com/office/drawing/2014/main" id="{40D0A96A-132C-65B4-4F7C-F15A5121F3DA}"/>
              </a:ext>
            </a:extLst>
          </p:cNvPr>
          <p:cNvSpPr txBox="1"/>
          <p:nvPr/>
        </p:nvSpPr>
        <p:spPr>
          <a:xfrm>
            <a:off x="2396935" y="3465066"/>
            <a:ext cx="1261884" cy="276999"/>
          </a:xfrm>
          <a:prstGeom prst="rect">
            <a:avLst/>
          </a:prstGeom>
          <a:noFill/>
        </p:spPr>
        <p:txBody>
          <a:bodyPr wrap="none" rtlCol="0">
            <a:spAutoFit/>
          </a:bodyPr>
          <a:lstStyle/>
          <a:p>
            <a:r>
              <a:rPr kumimoji="1" lang="ja-JP" altLang="en-US" sz="1200" b="1" dirty="0">
                <a:latin typeface="Meiryo UI" panose="020B0604030504040204" pitchFamily="50" charset="-128"/>
                <a:ea typeface="Meiryo UI" panose="020B0604030504040204" pitchFamily="50" charset="-128"/>
              </a:rPr>
              <a:t>依頼者特徴詳細</a:t>
            </a:r>
          </a:p>
        </p:txBody>
      </p:sp>
      <p:sp>
        <p:nvSpPr>
          <p:cNvPr id="17" name="四角形: 角を丸くする 16">
            <a:extLst>
              <a:ext uri="{FF2B5EF4-FFF2-40B4-BE49-F238E27FC236}">
                <a16:creationId xmlns:a16="http://schemas.microsoft.com/office/drawing/2014/main" id="{E873F32C-26C8-DE6F-194D-05B6E142A69F}"/>
              </a:ext>
            </a:extLst>
          </p:cNvPr>
          <p:cNvSpPr/>
          <p:nvPr/>
        </p:nvSpPr>
        <p:spPr>
          <a:xfrm>
            <a:off x="2463800" y="3806069"/>
            <a:ext cx="4432300" cy="43076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solidFill>
                <a:latin typeface="Meiryo UI" panose="020B0604030504040204" pitchFamily="50" charset="-128"/>
                <a:ea typeface="Meiryo UI" panose="020B0604030504040204" pitchFamily="50" charset="-128"/>
              </a:rPr>
              <a:t>この人はこういう性格だから、連絡はまめに取った方がいい。</a:t>
            </a:r>
            <a:endParaRPr kumimoji="1" lang="en-US" altLang="ja-JP" sz="1200" dirty="0">
              <a:solidFill>
                <a:schemeClr val="tx1"/>
              </a:solidFill>
              <a:latin typeface="Meiryo UI" panose="020B0604030504040204" pitchFamily="50" charset="-128"/>
              <a:ea typeface="Meiryo UI" panose="020B0604030504040204" pitchFamily="50" charset="-128"/>
            </a:endParaRPr>
          </a:p>
          <a:p>
            <a:r>
              <a:rPr lang="ja-JP" altLang="en-US" sz="1200" dirty="0">
                <a:solidFill>
                  <a:schemeClr val="tx1"/>
                </a:solidFill>
                <a:latin typeface="Meiryo UI" panose="020B0604030504040204" pitchFamily="50" charset="-128"/>
                <a:ea typeface="Meiryo UI" panose="020B0604030504040204" pitchFamily="50" charset="-128"/>
              </a:rPr>
              <a:t>こういう事をされると怒るから注意した方がいい。</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pic>
        <p:nvPicPr>
          <p:cNvPr id="21" name="図 20">
            <a:extLst>
              <a:ext uri="{FF2B5EF4-FFF2-40B4-BE49-F238E27FC236}">
                <a16:creationId xmlns:a16="http://schemas.microsoft.com/office/drawing/2014/main" id="{0EB7BFDB-A938-46BF-0ACE-5326AFB6DE63}"/>
              </a:ext>
            </a:extLst>
          </p:cNvPr>
          <p:cNvPicPr>
            <a:picLocks noChangeAspect="1"/>
          </p:cNvPicPr>
          <p:nvPr/>
        </p:nvPicPr>
        <p:blipFill>
          <a:blip r:embed="rId6"/>
          <a:stretch>
            <a:fillRect/>
          </a:stretch>
        </p:blipFill>
        <p:spPr>
          <a:xfrm>
            <a:off x="306137" y="2299152"/>
            <a:ext cx="2838596" cy="1187511"/>
          </a:xfrm>
          <a:prstGeom prst="rect">
            <a:avLst/>
          </a:prstGeom>
        </p:spPr>
      </p:pic>
      <p:sp>
        <p:nvSpPr>
          <p:cNvPr id="22" name="正方形/長方形 21">
            <a:extLst>
              <a:ext uri="{FF2B5EF4-FFF2-40B4-BE49-F238E27FC236}">
                <a16:creationId xmlns:a16="http://schemas.microsoft.com/office/drawing/2014/main" id="{E4393790-D454-937D-7C84-1EB33C74516C}"/>
              </a:ext>
            </a:extLst>
          </p:cNvPr>
          <p:cNvSpPr/>
          <p:nvPr/>
        </p:nvSpPr>
        <p:spPr>
          <a:xfrm>
            <a:off x="2803208" y="2390329"/>
            <a:ext cx="2830533" cy="81933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200" dirty="0">
                <a:solidFill>
                  <a:schemeClr val="tx1"/>
                </a:solidFill>
                <a:latin typeface="Meiryo UI" panose="020B0604030504040204" pitchFamily="50" charset="-128"/>
                <a:ea typeface="Meiryo UI" panose="020B0604030504040204" pitchFamily="50" charset="-128"/>
              </a:rPr>
              <a:t>郵送・書類設定という項目はこの依頼者情報タブに移行する。</a:t>
            </a:r>
            <a:endParaRPr kumimoji="1" lang="en-US" altLang="ja-JP" sz="1200" dirty="0">
              <a:solidFill>
                <a:schemeClr val="tx1"/>
              </a:solidFill>
              <a:latin typeface="Meiryo UI" panose="020B0604030504040204" pitchFamily="50" charset="-128"/>
              <a:ea typeface="Meiryo UI" panose="020B0604030504040204" pitchFamily="50" charset="-128"/>
            </a:endParaRPr>
          </a:p>
        </p:txBody>
      </p:sp>
      <p:cxnSp>
        <p:nvCxnSpPr>
          <p:cNvPr id="23" name="直線コネクタ 22">
            <a:extLst>
              <a:ext uri="{FF2B5EF4-FFF2-40B4-BE49-F238E27FC236}">
                <a16:creationId xmlns:a16="http://schemas.microsoft.com/office/drawing/2014/main" id="{DCF935AC-191D-38EE-0672-B6CD67A4DD33}"/>
              </a:ext>
            </a:extLst>
          </p:cNvPr>
          <p:cNvCxnSpPr>
            <a:cxnSpLocks/>
          </p:cNvCxnSpPr>
          <p:nvPr/>
        </p:nvCxnSpPr>
        <p:spPr>
          <a:xfrm flipH="1" flipV="1">
            <a:off x="2233292" y="2799996"/>
            <a:ext cx="569916" cy="92911"/>
          </a:xfrm>
          <a:prstGeom prst="line">
            <a:avLst/>
          </a:prstGeom>
          <a:ln>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6" name="正方形/長方形 25">
            <a:extLst>
              <a:ext uri="{FF2B5EF4-FFF2-40B4-BE49-F238E27FC236}">
                <a16:creationId xmlns:a16="http://schemas.microsoft.com/office/drawing/2014/main" id="{7E3D607D-BD5E-69DF-EA65-2D0F6DE6BCEF}"/>
              </a:ext>
            </a:extLst>
          </p:cNvPr>
          <p:cNvSpPr/>
          <p:nvPr/>
        </p:nvSpPr>
        <p:spPr>
          <a:xfrm>
            <a:off x="8728043" y="2299152"/>
            <a:ext cx="2830533" cy="196817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既存の依頼者情報の項目に下記の項目を追加したい。</a:t>
            </a:r>
            <a:endParaRPr kumimoji="1"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200" dirty="0">
                <a:solidFill>
                  <a:schemeClr val="tx1"/>
                </a:solidFill>
                <a:latin typeface="Meiryo UI" panose="020B0604030504040204" pitchFamily="50" charset="-128"/>
                <a:ea typeface="Meiryo UI" panose="020B0604030504040204" pitchFamily="50" charset="-128"/>
              </a:rPr>
              <a:t>依頼者特徴：笑顔、怖い顔、真顔の</a:t>
            </a:r>
            <a:r>
              <a:rPr lang="en-US" altLang="ja-JP" sz="1200" dirty="0">
                <a:solidFill>
                  <a:schemeClr val="tx1"/>
                </a:solidFill>
                <a:latin typeface="Meiryo UI" panose="020B0604030504040204" pitchFamily="50" charset="-128"/>
                <a:ea typeface="Meiryo UI" panose="020B0604030504040204" pitchFamily="50" charset="-128"/>
              </a:rPr>
              <a:t>3</a:t>
            </a:r>
            <a:r>
              <a:rPr lang="ja-JP" altLang="en-US" sz="1200" dirty="0">
                <a:solidFill>
                  <a:schemeClr val="tx1"/>
                </a:solidFill>
                <a:latin typeface="Meiryo UI" panose="020B0604030504040204" pitchFamily="50" charset="-128"/>
                <a:ea typeface="Meiryo UI" panose="020B0604030504040204" pitchFamily="50" charset="-128"/>
              </a:rPr>
              <a:t>つの顔文字から選択できるようにする</a:t>
            </a:r>
            <a:endParaRPr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lang="ja-JP" altLang="en-US" sz="1200" dirty="0">
                <a:solidFill>
                  <a:schemeClr val="tx1"/>
                </a:solidFill>
                <a:latin typeface="Meiryo UI" panose="020B0604030504040204" pitchFamily="50" charset="-128"/>
                <a:ea typeface="Meiryo UI" panose="020B0604030504040204" pitchFamily="50" charset="-128"/>
              </a:rPr>
              <a:t>依頼者特徴の詳細（性格等をテキストで記載できるようにする。</a:t>
            </a:r>
            <a:endParaRPr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これまでのやり取りの記録、いつ、どうやって、何を連絡したのか、依頼者とのコミュニケーションの履歴が分かるようにする。</a:t>
            </a:r>
            <a:endParaRPr kumimoji="1" lang="en-US" altLang="ja-JP" sz="1200" dirty="0">
              <a:solidFill>
                <a:schemeClr val="tx1"/>
              </a:solidFill>
              <a:latin typeface="Meiryo UI" panose="020B0604030504040204" pitchFamily="50" charset="-128"/>
              <a:ea typeface="Meiryo UI" panose="020B0604030504040204" pitchFamily="50" charset="-128"/>
            </a:endParaRPr>
          </a:p>
        </p:txBody>
      </p:sp>
      <p:cxnSp>
        <p:nvCxnSpPr>
          <p:cNvPr id="28" name="直線コネクタ 27">
            <a:extLst>
              <a:ext uri="{FF2B5EF4-FFF2-40B4-BE49-F238E27FC236}">
                <a16:creationId xmlns:a16="http://schemas.microsoft.com/office/drawing/2014/main" id="{8EF128B6-AE99-1265-CF06-3064B8D16724}"/>
              </a:ext>
            </a:extLst>
          </p:cNvPr>
          <p:cNvCxnSpPr>
            <a:cxnSpLocks/>
          </p:cNvCxnSpPr>
          <p:nvPr/>
        </p:nvCxnSpPr>
        <p:spPr>
          <a:xfrm flipH="1">
            <a:off x="6845300" y="3019611"/>
            <a:ext cx="1784350" cy="864795"/>
          </a:xfrm>
          <a:prstGeom prst="line">
            <a:avLst/>
          </a:prstGeom>
          <a:ln>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57" name="テキスト ボックス 56">
            <a:extLst>
              <a:ext uri="{FF2B5EF4-FFF2-40B4-BE49-F238E27FC236}">
                <a16:creationId xmlns:a16="http://schemas.microsoft.com/office/drawing/2014/main" id="{CCC310EF-3B35-C3C0-2718-F82400E402BC}"/>
              </a:ext>
            </a:extLst>
          </p:cNvPr>
          <p:cNvSpPr txBox="1"/>
          <p:nvPr/>
        </p:nvSpPr>
        <p:spPr>
          <a:xfrm>
            <a:off x="211207" y="4344464"/>
            <a:ext cx="982961" cy="276999"/>
          </a:xfrm>
          <a:prstGeom prst="rect">
            <a:avLst/>
          </a:prstGeom>
          <a:noFill/>
        </p:spPr>
        <p:txBody>
          <a:bodyPr wrap="none" rtlCol="0">
            <a:spAutoFit/>
          </a:bodyPr>
          <a:lstStyle/>
          <a:p>
            <a:r>
              <a:rPr kumimoji="1" lang="ja-JP" altLang="en-US" sz="1200" b="1" dirty="0">
                <a:latin typeface="Meiryo UI" panose="020B0604030504040204" pitchFamily="50" charset="-128"/>
                <a:ea typeface="Meiryo UI" panose="020B0604030504040204" pitchFamily="50" charset="-128"/>
              </a:rPr>
              <a:t>やり取り履歴</a:t>
            </a:r>
          </a:p>
        </p:txBody>
      </p:sp>
      <p:sp>
        <p:nvSpPr>
          <p:cNvPr id="59" name="四角形: 角を丸くする 58">
            <a:extLst>
              <a:ext uri="{FF2B5EF4-FFF2-40B4-BE49-F238E27FC236}">
                <a16:creationId xmlns:a16="http://schemas.microsoft.com/office/drawing/2014/main" id="{047B83FC-6E3D-A55D-35CF-924C69FA7C7E}"/>
              </a:ext>
            </a:extLst>
          </p:cNvPr>
          <p:cNvSpPr/>
          <p:nvPr/>
        </p:nvSpPr>
        <p:spPr>
          <a:xfrm>
            <a:off x="303736" y="4737733"/>
            <a:ext cx="1151127" cy="195135"/>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Meiryo UI" panose="020B0604030504040204" pitchFamily="50" charset="-128"/>
                <a:ea typeface="Meiryo UI" panose="020B0604030504040204" pitchFamily="50" charset="-128"/>
              </a:rPr>
              <a:t>日付</a:t>
            </a:r>
          </a:p>
        </p:txBody>
      </p:sp>
      <p:sp>
        <p:nvSpPr>
          <p:cNvPr id="60" name="四角形: 角を丸くする 59">
            <a:extLst>
              <a:ext uri="{FF2B5EF4-FFF2-40B4-BE49-F238E27FC236}">
                <a16:creationId xmlns:a16="http://schemas.microsoft.com/office/drawing/2014/main" id="{51F0FACB-1F7B-CE2D-C597-73E4F85C3CEA}"/>
              </a:ext>
            </a:extLst>
          </p:cNvPr>
          <p:cNvSpPr/>
          <p:nvPr/>
        </p:nvSpPr>
        <p:spPr>
          <a:xfrm>
            <a:off x="1585934" y="4737733"/>
            <a:ext cx="1931596" cy="195135"/>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Meiryo UI" panose="020B0604030504040204" pitchFamily="50" charset="-128"/>
                <a:ea typeface="Meiryo UI" panose="020B0604030504040204" pitchFamily="50" charset="-128"/>
              </a:rPr>
              <a:t>連絡内容</a:t>
            </a:r>
          </a:p>
        </p:txBody>
      </p:sp>
      <p:sp>
        <p:nvSpPr>
          <p:cNvPr id="61" name="四角形: 角を丸くする 60">
            <a:extLst>
              <a:ext uri="{FF2B5EF4-FFF2-40B4-BE49-F238E27FC236}">
                <a16:creationId xmlns:a16="http://schemas.microsoft.com/office/drawing/2014/main" id="{26A91B83-A3E9-7037-267E-019BF2E74ED5}"/>
              </a:ext>
            </a:extLst>
          </p:cNvPr>
          <p:cNvSpPr/>
          <p:nvPr/>
        </p:nvSpPr>
        <p:spPr>
          <a:xfrm>
            <a:off x="3648600" y="4737733"/>
            <a:ext cx="3940053" cy="195135"/>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Meiryo UI" panose="020B0604030504040204" pitchFamily="50" charset="-128"/>
                <a:ea typeface="Meiryo UI" panose="020B0604030504040204" pitchFamily="50" charset="-128"/>
              </a:rPr>
              <a:t>やり取り詳細</a:t>
            </a:r>
          </a:p>
        </p:txBody>
      </p:sp>
      <p:sp>
        <p:nvSpPr>
          <p:cNvPr id="62" name="四角形: 角を丸くする 61">
            <a:extLst>
              <a:ext uri="{FF2B5EF4-FFF2-40B4-BE49-F238E27FC236}">
                <a16:creationId xmlns:a16="http://schemas.microsoft.com/office/drawing/2014/main" id="{B77EA04F-C9E6-A1B6-AF38-3E84DDDFC4EB}"/>
              </a:ext>
            </a:extLst>
          </p:cNvPr>
          <p:cNvSpPr/>
          <p:nvPr/>
        </p:nvSpPr>
        <p:spPr>
          <a:xfrm>
            <a:off x="7704267" y="4737733"/>
            <a:ext cx="1151127" cy="195135"/>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Meiryo UI" panose="020B0604030504040204" pitchFamily="50" charset="-128"/>
                <a:ea typeface="Meiryo UI" panose="020B0604030504040204" pitchFamily="50" charset="-128"/>
              </a:rPr>
              <a:t>ステータス</a:t>
            </a:r>
          </a:p>
        </p:txBody>
      </p:sp>
      <p:sp>
        <p:nvSpPr>
          <p:cNvPr id="64" name="四角形: 角を丸くする 63">
            <a:extLst>
              <a:ext uri="{FF2B5EF4-FFF2-40B4-BE49-F238E27FC236}">
                <a16:creationId xmlns:a16="http://schemas.microsoft.com/office/drawing/2014/main" id="{25082561-288E-25BD-0AF3-D99E427146E7}"/>
              </a:ext>
            </a:extLst>
          </p:cNvPr>
          <p:cNvSpPr/>
          <p:nvPr/>
        </p:nvSpPr>
        <p:spPr>
          <a:xfrm>
            <a:off x="303736" y="4996872"/>
            <a:ext cx="1151127" cy="19513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latin typeface="Meiryo UI" panose="020B0604030504040204" pitchFamily="50" charset="-128"/>
                <a:ea typeface="Meiryo UI" panose="020B0604030504040204" pitchFamily="50" charset="-128"/>
              </a:rPr>
              <a:t>2026/5/2</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65" name="四角形: 角を丸くする 64">
            <a:extLst>
              <a:ext uri="{FF2B5EF4-FFF2-40B4-BE49-F238E27FC236}">
                <a16:creationId xmlns:a16="http://schemas.microsoft.com/office/drawing/2014/main" id="{CCF3EAE6-4936-2500-631B-F8BEF5CAC73E}"/>
              </a:ext>
            </a:extLst>
          </p:cNvPr>
          <p:cNvSpPr/>
          <p:nvPr/>
        </p:nvSpPr>
        <p:spPr>
          <a:xfrm>
            <a:off x="1585934" y="4996872"/>
            <a:ext cx="1931596" cy="19513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委任上の捺印依頼</a:t>
            </a:r>
          </a:p>
        </p:txBody>
      </p:sp>
      <p:sp>
        <p:nvSpPr>
          <p:cNvPr id="66" name="四角形: 角を丸くする 65">
            <a:extLst>
              <a:ext uri="{FF2B5EF4-FFF2-40B4-BE49-F238E27FC236}">
                <a16:creationId xmlns:a16="http://schemas.microsoft.com/office/drawing/2014/main" id="{6E0A7457-6954-8970-A15B-1A67B44BDDEA}"/>
              </a:ext>
            </a:extLst>
          </p:cNvPr>
          <p:cNvSpPr/>
          <p:nvPr/>
        </p:nvSpPr>
        <p:spPr>
          <a:xfrm>
            <a:off x="3648600" y="4996872"/>
            <a:ext cx="3940053" cy="19513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委任状に捺印依頼した。</a:t>
            </a:r>
          </a:p>
        </p:txBody>
      </p:sp>
      <p:sp>
        <p:nvSpPr>
          <p:cNvPr id="67" name="四角形: 角を丸くする 66">
            <a:extLst>
              <a:ext uri="{FF2B5EF4-FFF2-40B4-BE49-F238E27FC236}">
                <a16:creationId xmlns:a16="http://schemas.microsoft.com/office/drawing/2014/main" id="{1B699495-9460-CD37-804B-4F3F97D42EA1}"/>
              </a:ext>
            </a:extLst>
          </p:cNvPr>
          <p:cNvSpPr/>
          <p:nvPr/>
        </p:nvSpPr>
        <p:spPr>
          <a:xfrm>
            <a:off x="7704267" y="4996872"/>
            <a:ext cx="1151127" cy="19513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完了</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69" name="四角形: 角を丸くする 68">
            <a:extLst>
              <a:ext uri="{FF2B5EF4-FFF2-40B4-BE49-F238E27FC236}">
                <a16:creationId xmlns:a16="http://schemas.microsoft.com/office/drawing/2014/main" id="{9634E593-8559-8110-1679-E44ABE4D52B8}"/>
              </a:ext>
            </a:extLst>
          </p:cNvPr>
          <p:cNvSpPr/>
          <p:nvPr/>
        </p:nvSpPr>
        <p:spPr>
          <a:xfrm>
            <a:off x="303736" y="5256011"/>
            <a:ext cx="1151127" cy="19513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2026/5/2</a:t>
            </a:r>
            <a:endParaRPr lang="ja-JP" altLang="en-US" sz="1200" dirty="0">
              <a:solidFill>
                <a:schemeClr val="tx1"/>
              </a:solidFill>
              <a:latin typeface="Meiryo UI" panose="020B0604030504040204" pitchFamily="50" charset="-128"/>
              <a:ea typeface="Meiryo UI" panose="020B0604030504040204" pitchFamily="50" charset="-128"/>
            </a:endParaRPr>
          </a:p>
        </p:txBody>
      </p:sp>
      <p:sp>
        <p:nvSpPr>
          <p:cNvPr id="70" name="四角形: 角を丸くする 69">
            <a:extLst>
              <a:ext uri="{FF2B5EF4-FFF2-40B4-BE49-F238E27FC236}">
                <a16:creationId xmlns:a16="http://schemas.microsoft.com/office/drawing/2014/main" id="{A6A32223-2F54-96A6-7ABF-241E6DBAD3DB}"/>
              </a:ext>
            </a:extLst>
          </p:cNvPr>
          <p:cNvSpPr/>
          <p:nvPr/>
        </p:nvSpPr>
        <p:spPr>
          <a:xfrm>
            <a:off x="1585934" y="5256011"/>
            <a:ext cx="1931596" cy="19513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進捗連絡</a:t>
            </a:r>
          </a:p>
        </p:txBody>
      </p:sp>
      <p:sp>
        <p:nvSpPr>
          <p:cNvPr id="71" name="四角形: 角を丸くする 70">
            <a:extLst>
              <a:ext uri="{FF2B5EF4-FFF2-40B4-BE49-F238E27FC236}">
                <a16:creationId xmlns:a16="http://schemas.microsoft.com/office/drawing/2014/main" id="{76453486-F27A-C847-A721-1134BBF3D1E6}"/>
              </a:ext>
            </a:extLst>
          </p:cNvPr>
          <p:cNvSpPr/>
          <p:nvPr/>
        </p:nvSpPr>
        <p:spPr>
          <a:xfrm>
            <a:off x="3648600" y="5256011"/>
            <a:ext cx="3940053" cy="19513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進捗伝えた。もう少し早く対応してほしいと言われた。</a:t>
            </a:r>
          </a:p>
        </p:txBody>
      </p:sp>
      <p:sp>
        <p:nvSpPr>
          <p:cNvPr id="72" name="四角形: 角を丸くする 71">
            <a:extLst>
              <a:ext uri="{FF2B5EF4-FFF2-40B4-BE49-F238E27FC236}">
                <a16:creationId xmlns:a16="http://schemas.microsoft.com/office/drawing/2014/main" id="{1B5A72F8-FE2B-9F87-8A04-16FCB7E2AF08}"/>
              </a:ext>
            </a:extLst>
          </p:cNvPr>
          <p:cNvSpPr/>
          <p:nvPr/>
        </p:nvSpPr>
        <p:spPr>
          <a:xfrm>
            <a:off x="7704267" y="5256011"/>
            <a:ext cx="1151127" cy="19513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完了</a:t>
            </a:r>
          </a:p>
        </p:txBody>
      </p:sp>
      <p:sp>
        <p:nvSpPr>
          <p:cNvPr id="74" name="四角形: 角を丸くする 73">
            <a:extLst>
              <a:ext uri="{FF2B5EF4-FFF2-40B4-BE49-F238E27FC236}">
                <a16:creationId xmlns:a16="http://schemas.microsoft.com/office/drawing/2014/main" id="{BE1F0CC7-5E66-760E-3A8B-775EF6964A95}"/>
              </a:ext>
            </a:extLst>
          </p:cNvPr>
          <p:cNvSpPr/>
          <p:nvPr/>
        </p:nvSpPr>
        <p:spPr>
          <a:xfrm>
            <a:off x="303736" y="5515150"/>
            <a:ext cx="1151127" cy="19513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2026/5/2</a:t>
            </a:r>
            <a:endParaRPr lang="ja-JP" altLang="en-US" sz="1200" dirty="0">
              <a:solidFill>
                <a:schemeClr val="tx1"/>
              </a:solidFill>
              <a:latin typeface="Meiryo UI" panose="020B0604030504040204" pitchFamily="50" charset="-128"/>
              <a:ea typeface="Meiryo UI" panose="020B0604030504040204" pitchFamily="50" charset="-128"/>
            </a:endParaRPr>
          </a:p>
        </p:txBody>
      </p:sp>
      <p:sp>
        <p:nvSpPr>
          <p:cNvPr id="75" name="四角形: 角を丸くする 74">
            <a:extLst>
              <a:ext uri="{FF2B5EF4-FFF2-40B4-BE49-F238E27FC236}">
                <a16:creationId xmlns:a16="http://schemas.microsoft.com/office/drawing/2014/main" id="{0B6F2F50-3BE8-1A3E-E873-2B1691B5271C}"/>
              </a:ext>
            </a:extLst>
          </p:cNvPr>
          <p:cNvSpPr/>
          <p:nvPr/>
        </p:nvSpPr>
        <p:spPr>
          <a:xfrm>
            <a:off x="1585934" y="5515150"/>
            <a:ext cx="1931596" cy="19513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進捗連絡</a:t>
            </a:r>
          </a:p>
        </p:txBody>
      </p:sp>
      <p:sp>
        <p:nvSpPr>
          <p:cNvPr id="76" name="四角形: 角を丸くする 75">
            <a:extLst>
              <a:ext uri="{FF2B5EF4-FFF2-40B4-BE49-F238E27FC236}">
                <a16:creationId xmlns:a16="http://schemas.microsoft.com/office/drawing/2014/main" id="{4F3021A7-BEA1-FB1C-2343-17D2327F7E46}"/>
              </a:ext>
            </a:extLst>
          </p:cNvPr>
          <p:cNvSpPr/>
          <p:nvPr/>
        </p:nvSpPr>
        <p:spPr>
          <a:xfrm>
            <a:off x="3648600" y="5515150"/>
            <a:ext cx="3940053" cy="19513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不動産査定自分でやりたいそうだ。</a:t>
            </a:r>
          </a:p>
        </p:txBody>
      </p:sp>
      <p:sp>
        <p:nvSpPr>
          <p:cNvPr id="77" name="四角形: 角を丸くする 76">
            <a:extLst>
              <a:ext uri="{FF2B5EF4-FFF2-40B4-BE49-F238E27FC236}">
                <a16:creationId xmlns:a16="http://schemas.microsoft.com/office/drawing/2014/main" id="{6105FBA2-E8F8-3DFA-08A8-D76B49839083}"/>
              </a:ext>
            </a:extLst>
          </p:cNvPr>
          <p:cNvSpPr/>
          <p:nvPr/>
        </p:nvSpPr>
        <p:spPr>
          <a:xfrm>
            <a:off x="7704267" y="5515150"/>
            <a:ext cx="1151127" cy="19513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完了</a:t>
            </a:r>
          </a:p>
        </p:txBody>
      </p:sp>
      <p:cxnSp>
        <p:nvCxnSpPr>
          <p:cNvPr id="78" name="直線コネクタ 77">
            <a:extLst>
              <a:ext uri="{FF2B5EF4-FFF2-40B4-BE49-F238E27FC236}">
                <a16:creationId xmlns:a16="http://schemas.microsoft.com/office/drawing/2014/main" id="{C4684081-DB53-2E29-4319-87C2DC382C0A}"/>
              </a:ext>
            </a:extLst>
          </p:cNvPr>
          <p:cNvCxnSpPr>
            <a:cxnSpLocks/>
          </p:cNvCxnSpPr>
          <p:nvPr/>
        </p:nvCxnSpPr>
        <p:spPr>
          <a:xfrm flipH="1">
            <a:off x="7505724" y="3399945"/>
            <a:ext cx="1276326" cy="1327181"/>
          </a:xfrm>
          <a:prstGeom prst="line">
            <a:avLst/>
          </a:prstGeom>
          <a:ln>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81" name="テキスト ボックス 80">
            <a:extLst>
              <a:ext uri="{FF2B5EF4-FFF2-40B4-BE49-F238E27FC236}">
                <a16:creationId xmlns:a16="http://schemas.microsoft.com/office/drawing/2014/main" id="{B3171A12-B5D8-749C-CB1B-9B3DFEDD4599}"/>
              </a:ext>
            </a:extLst>
          </p:cNvPr>
          <p:cNvSpPr txBox="1"/>
          <p:nvPr/>
        </p:nvSpPr>
        <p:spPr>
          <a:xfrm>
            <a:off x="194149" y="5889684"/>
            <a:ext cx="997389" cy="276999"/>
          </a:xfrm>
          <a:prstGeom prst="rect">
            <a:avLst/>
          </a:prstGeom>
          <a:noFill/>
        </p:spPr>
        <p:txBody>
          <a:bodyPr wrap="none" rtlCol="0">
            <a:spAutoFit/>
          </a:bodyPr>
          <a:lstStyle/>
          <a:p>
            <a:r>
              <a:rPr kumimoji="1" lang="ja-JP" altLang="en-US" sz="1200" b="1" dirty="0">
                <a:latin typeface="Meiryo UI" panose="020B0604030504040204" pitchFamily="50" charset="-128"/>
                <a:ea typeface="Meiryo UI" panose="020B0604030504040204" pitchFamily="50" charset="-128"/>
              </a:rPr>
              <a:t>クレーム有無</a:t>
            </a:r>
          </a:p>
        </p:txBody>
      </p:sp>
      <p:sp>
        <p:nvSpPr>
          <p:cNvPr id="82" name="四角形: 角を丸くする 81">
            <a:extLst>
              <a:ext uri="{FF2B5EF4-FFF2-40B4-BE49-F238E27FC236}">
                <a16:creationId xmlns:a16="http://schemas.microsoft.com/office/drawing/2014/main" id="{5BF35ED8-CB5D-0D30-BF16-52A2832802F0}"/>
              </a:ext>
            </a:extLst>
          </p:cNvPr>
          <p:cNvSpPr/>
          <p:nvPr/>
        </p:nvSpPr>
        <p:spPr>
          <a:xfrm>
            <a:off x="1547637" y="6230687"/>
            <a:ext cx="4432300" cy="430768"/>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r>
              <a:rPr kumimoji="1" lang="ja-JP" altLang="en-US" sz="1200" dirty="0">
                <a:solidFill>
                  <a:schemeClr val="tx1"/>
                </a:solidFill>
                <a:latin typeface="Meiryo UI" panose="020B0604030504040204" pitchFamily="50" charset="-128"/>
                <a:ea typeface="Meiryo UI" panose="020B0604030504040204" pitchFamily="50" charset="-128"/>
              </a:rPr>
              <a:t>Ｘｘｘｘｘｘｘｘｘｘｘｘｘｘｘｘｘ</a:t>
            </a:r>
          </a:p>
        </p:txBody>
      </p:sp>
      <p:sp>
        <p:nvSpPr>
          <p:cNvPr id="83" name="正方形/長方形 82">
            <a:extLst>
              <a:ext uri="{FF2B5EF4-FFF2-40B4-BE49-F238E27FC236}">
                <a16:creationId xmlns:a16="http://schemas.microsoft.com/office/drawing/2014/main" id="{73EA37B0-46AB-F0AB-A40B-C9E8257E06F4}"/>
              </a:ext>
            </a:extLst>
          </p:cNvPr>
          <p:cNvSpPr/>
          <p:nvPr/>
        </p:nvSpPr>
        <p:spPr>
          <a:xfrm>
            <a:off x="509651" y="6339835"/>
            <a:ext cx="279400" cy="276999"/>
          </a:xfrm>
          <a:prstGeom prst="rect">
            <a:avLst/>
          </a:prstGeom>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dirty="0"/>
              <a:t>✓</a:t>
            </a:r>
          </a:p>
        </p:txBody>
      </p:sp>
      <p:sp>
        <p:nvSpPr>
          <p:cNvPr id="84" name="テキスト ボックス 83">
            <a:extLst>
              <a:ext uri="{FF2B5EF4-FFF2-40B4-BE49-F238E27FC236}">
                <a16:creationId xmlns:a16="http://schemas.microsoft.com/office/drawing/2014/main" id="{33237E8C-65C0-0D59-8209-92FA451ED78B}"/>
              </a:ext>
            </a:extLst>
          </p:cNvPr>
          <p:cNvSpPr txBox="1"/>
          <p:nvPr/>
        </p:nvSpPr>
        <p:spPr>
          <a:xfrm>
            <a:off x="1380767" y="5872533"/>
            <a:ext cx="997389" cy="276999"/>
          </a:xfrm>
          <a:prstGeom prst="rect">
            <a:avLst/>
          </a:prstGeom>
          <a:noFill/>
        </p:spPr>
        <p:txBody>
          <a:bodyPr wrap="none" rtlCol="0">
            <a:spAutoFit/>
          </a:bodyPr>
          <a:lstStyle/>
          <a:p>
            <a:r>
              <a:rPr kumimoji="1" lang="ja-JP" altLang="en-US" sz="1200" b="1" dirty="0">
                <a:latin typeface="Meiryo UI" panose="020B0604030504040204" pitchFamily="50" charset="-128"/>
                <a:ea typeface="Meiryo UI" panose="020B0604030504040204" pitchFamily="50" charset="-128"/>
              </a:rPr>
              <a:t>クレーム内容</a:t>
            </a:r>
          </a:p>
        </p:txBody>
      </p:sp>
      <p:sp>
        <p:nvSpPr>
          <p:cNvPr id="85" name="正方形/長方形 84">
            <a:extLst>
              <a:ext uri="{FF2B5EF4-FFF2-40B4-BE49-F238E27FC236}">
                <a16:creationId xmlns:a16="http://schemas.microsoft.com/office/drawing/2014/main" id="{31DFB8D9-24C2-93BD-D0DF-CA5AB0C081E9}"/>
              </a:ext>
            </a:extLst>
          </p:cNvPr>
          <p:cNvSpPr/>
          <p:nvPr/>
        </p:nvSpPr>
        <p:spPr>
          <a:xfrm>
            <a:off x="9167318" y="5740414"/>
            <a:ext cx="2830533" cy="980545"/>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クレームがあった場合、クレーム有無にチェックを入れて、クレーム内容詳細を記載。</a:t>
            </a:r>
            <a:endParaRPr kumimoji="1" lang="en-US" altLang="ja-JP" sz="1200" dirty="0">
              <a:solidFill>
                <a:schemeClr val="tx1"/>
              </a:solidFill>
              <a:latin typeface="Meiryo UI" panose="020B0604030504040204" pitchFamily="50" charset="-128"/>
              <a:ea typeface="Meiryo UI" panose="020B0604030504040204" pitchFamily="50" charset="-128"/>
            </a:endParaRPr>
          </a:p>
        </p:txBody>
      </p:sp>
      <p:cxnSp>
        <p:nvCxnSpPr>
          <p:cNvPr id="86" name="直線コネクタ 85">
            <a:extLst>
              <a:ext uri="{FF2B5EF4-FFF2-40B4-BE49-F238E27FC236}">
                <a16:creationId xmlns:a16="http://schemas.microsoft.com/office/drawing/2014/main" id="{8011B311-8792-3412-68BA-6279DA78BB35}"/>
              </a:ext>
            </a:extLst>
          </p:cNvPr>
          <p:cNvCxnSpPr>
            <a:cxnSpLocks/>
            <a:stCxn id="85" idx="1"/>
          </p:cNvCxnSpPr>
          <p:nvPr/>
        </p:nvCxnSpPr>
        <p:spPr>
          <a:xfrm flipH="1">
            <a:off x="5633741" y="6230687"/>
            <a:ext cx="3533577" cy="227263"/>
          </a:xfrm>
          <a:prstGeom prst="line">
            <a:avLst/>
          </a:prstGeom>
          <a:ln>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spTree>
    <p:extLst>
      <p:ext uri="{BB962C8B-B14F-4D97-AF65-F5344CB8AC3E}">
        <p14:creationId xmlns:p14="http://schemas.microsoft.com/office/powerpoint/2010/main" val="3851430794"/>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18" name="テキスト ボックス 17">
            <a:extLst>
              <a:ext uri="{FF2B5EF4-FFF2-40B4-BE49-F238E27FC236}">
                <a16:creationId xmlns:a16="http://schemas.microsoft.com/office/drawing/2014/main" id="{B08537E5-BD7B-649A-FFE8-9D8F60564DEC}"/>
              </a:ext>
            </a:extLst>
          </p:cNvPr>
          <p:cNvSpPr txBox="1"/>
          <p:nvPr/>
        </p:nvSpPr>
        <p:spPr>
          <a:xfrm>
            <a:off x="646713" y="2851203"/>
            <a:ext cx="982961" cy="276999"/>
          </a:xfrm>
          <a:prstGeom prst="rect">
            <a:avLst/>
          </a:prstGeom>
          <a:noFill/>
        </p:spPr>
        <p:txBody>
          <a:bodyPr wrap="none" rtlCol="0">
            <a:spAutoFit/>
          </a:bodyPr>
          <a:lstStyle/>
          <a:p>
            <a:r>
              <a:rPr kumimoji="1" lang="ja-JP" altLang="en-US" sz="1200" b="1" dirty="0">
                <a:latin typeface="Meiryo UI" panose="020B0604030504040204" pitchFamily="50" charset="-128"/>
                <a:ea typeface="Meiryo UI" panose="020B0604030504040204" pitchFamily="50" charset="-128"/>
              </a:rPr>
              <a:t>やり取り履歴</a:t>
            </a:r>
          </a:p>
        </p:txBody>
      </p:sp>
      <p:sp>
        <p:nvSpPr>
          <p:cNvPr id="32" name="四角形: 角を丸くする 31">
            <a:extLst>
              <a:ext uri="{FF2B5EF4-FFF2-40B4-BE49-F238E27FC236}">
                <a16:creationId xmlns:a16="http://schemas.microsoft.com/office/drawing/2014/main" id="{156E9EF6-4919-4F4B-276F-5C869A0407CC}"/>
              </a:ext>
            </a:extLst>
          </p:cNvPr>
          <p:cNvSpPr/>
          <p:nvPr/>
        </p:nvSpPr>
        <p:spPr>
          <a:xfrm>
            <a:off x="2076550" y="3233865"/>
            <a:ext cx="1151127" cy="195135"/>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Meiryo UI" panose="020B0604030504040204" pitchFamily="50" charset="-128"/>
                <a:ea typeface="Meiryo UI" panose="020B0604030504040204" pitchFamily="50" charset="-128"/>
              </a:rPr>
              <a:t>日付</a:t>
            </a:r>
          </a:p>
        </p:txBody>
      </p:sp>
      <p:sp>
        <p:nvSpPr>
          <p:cNvPr id="33" name="四角形: 角を丸くする 32">
            <a:extLst>
              <a:ext uri="{FF2B5EF4-FFF2-40B4-BE49-F238E27FC236}">
                <a16:creationId xmlns:a16="http://schemas.microsoft.com/office/drawing/2014/main" id="{B56535C9-550F-CA36-BC0B-7CE03581EF2F}"/>
              </a:ext>
            </a:extLst>
          </p:cNvPr>
          <p:cNvSpPr/>
          <p:nvPr/>
        </p:nvSpPr>
        <p:spPr>
          <a:xfrm>
            <a:off x="3358748" y="3233865"/>
            <a:ext cx="1931596" cy="195135"/>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Meiryo UI" panose="020B0604030504040204" pitchFamily="50" charset="-128"/>
                <a:ea typeface="Meiryo UI" panose="020B0604030504040204" pitchFamily="50" charset="-128"/>
              </a:rPr>
              <a:t>連絡内容</a:t>
            </a:r>
          </a:p>
        </p:txBody>
      </p:sp>
      <p:sp>
        <p:nvSpPr>
          <p:cNvPr id="34" name="四角形: 角を丸くする 33">
            <a:extLst>
              <a:ext uri="{FF2B5EF4-FFF2-40B4-BE49-F238E27FC236}">
                <a16:creationId xmlns:a16="http://schemas.microsoft.com/office/drawing/2014/main" id="{6D80E8D5-0A65-9F1B-6706-CA0DC0ADEA3E}"/>
              </a:ext>
            </a:extLst>
          </p:cNvPr>
          <p:cNvSpPr/>
          <p:nvPr/>
        </p:nvSpPr>
        <p:spPr>
          <a:xfrm>
            <a:off x="5421414" y="3233865"/>
            <a:ext cx="3940053" cy="195135"/>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Meiryo UI" panose="020B0604030504040204" pitchFamily="50" charset="-128"/>
                <a:ea typeface="Meiryo UI" panose="020B0604030504040204" pitchFamily="50" charset="-128"/>
              </a:rPr>
              <a:t>やり取り詳細</a:t>
            </a:r>
          </a:p>
        </p:txBody>
      </p:sp>
      <p:sp>
        <p:nvSpPr>
          <p:cNvPr id="36" name="四角形: 角を丸くする 35">
            <a:extLst>
              <a:ext uri="{FF2B5EF4-FFF2-40B4-BE49-F238E27FC236}">
                <a16:creationId xmlns:a16="http://schemas.microsoft.com/office/drawing/2014/main" id="{D06462E9-AD7A-1A54-9716-646CE8DFC8F7}"/>
              </a:ext>
            </a:extLst>
          </p:cNvPr>
          <p:cNvSpPr/>
          <p:nvPr/>
        </p:nvSpPr>
        <p:spPr>
          <a:xfrm>
            <a:off x="9477081" y="3233865"/>
            <a:ext cx="1151127" cy="195135"/>
          </a:xfrm>
          <a:prstGeom prst="roundRect">
            <a:avLst/>
          </a:prstGeom>
          <a:solidFill>
            <a:schemeClr val="accent1">
              <a:lumMod val="75000"/>
            </a:schemeClr>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Meiryo UI" panose="020B0604030504040204" pitchFamily="50" charset="-128"/>
                <a:ea typeface="Meiryo UI" panose="020B0604030504040204" pitchFamily="50" charset="-128"/>
              </a:rPr>
              <a:t>ステータス</a:t>
            </a:r>
          </a:p>
        </p:txBody>
      </p:sp>
      <p:sp>
        <p:nvSpPr>
          <p:cNvPr id="38" name="四角形: 角を丸くする 37">
            <a:extLst>
              <a:ext uri="{FF2B5EF4-FFF2-40B4-BE49-F238E27FC236}">
                <a16:creationId xmlns:a16="http://schemas.microsoft.com/office/drawing/2014/main" id="{0FD5DDAA-1EC5-9AB1-0837-2A863D831A12}"/>
              </a:ext>
            </a:extLst>
          </p:cNvPr>
          <p:cNvSpPr/>
          <p:nvPr/>
        </p:nvSpPr>
        <p:spPr>
          <a:xfrm>
            <a:off x="2076550" y="3493004"/>
            <a:ext cx="1151127" cy="19513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tx1"/>
                </a:solidFill>
                <a:latin typeface="Meiryo UI" panose="020B0604030504040204" pitchFamily="50" charset="-128"/>
                <a:ea typeface="Meiryo UI" panose="020B0604030504040204" pitchFamily="50" charset="-128"/>
              </a:rPr>
              <a:t>2026/5/2</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39" name="四角形: 角を丸くする 38">
            <a:extLst>
              <a:ext uri="{FF2B5EF4-FFF2-40B4-BE49-F238E27FC236}">
                <a16:creationId xmlns:a16="http://schemas.microsoft.com/office/drawing/2014/main" id="{A47F4E4A-6B39-9E26-F771-46126C03E335}"/>
              </a:ext>
            </a:extLst>
          </p:cNvPr>
          <p:cNvSpPr/>
          <p:nvPr/>
        </p:nvSpPr>
        <p:spPr>
          <a:xfrm>
            <a:off x="3358748" y="3493004"/>
            <a:ext cx="1931596" cy="19513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委任上の捺印依頼</a:t>
            </a:r>
          </a:p>
        </p:txBody>
      </p:sp>
      <p:sp>
        <p:nvSpPr>
          <p:cNvPr id="40" name="四角形: 角を丸くする 39">
            <a:extLst>
              <a:ext uri="{FF2B5EF4-FFF2-40B4-BE49-F238E27FC236}">
                <a16:creationId xmlns:a16="http://schemas.microsoft.com/office/drawing/2014/main" id="{E3C5C977-3B8A-8FD6-46C4-FD46ECE25364}"/>
              </a:ext>
            </a:extLst>
          </p:cNvPr>
          <p:cNvSpPr/>
          <p:nvPr/>
        </p:nvSpPr>
        <p:spPr>
          <a:xfrm>
            <a:off x="5421414" y="3493004"/>
            <a:ext cx="3940053" cy="19513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委任状に捺印依頼した。</a:t>
            </a:r>
          </a:p>
        </p:txBody>
      </p:sp>
      <p:sp>
        <p:nvSpPr>
          <p:cNvPr id="41" name="四角形: 角を丸くする 40">
            <a:extLst>
              <a:ext uri="{FF2B5EF4-FFF2-40B4-BE49-F238E27FC236}">
                <a16:creationId xmlns:a16="http://schemas.microsoft.com/office/drawing/2014/main" id="{F0483A82-F1C4-FA34-9C27-999EF3E45D76}"/>
              </a:ext>
            </a:extLst>
          </p:cNvPr>
          <p:cNvSpPr/>
          <p:nvPr/>
        </p:nvSpPr>
        <p:spPr>
          <a:xfrm>
            <a:off x="9477081" y="3493004"/>
            <a:ext cx="1151127" cy="19513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完了</a:t>
            </a:r>
            <a:endParaRPr kumimoji="1" lang="ja-JP" altLang="en-US" sz="1200" dirty="0">
              <a:solidFill>
                <a:schemeClr val="tx1"/>
              </a:solidFill>
              <a:latin typeface="Meiryo UI" panose="020B0604030504040204" pitchFamily="50" charset="-128"/>
              <a:ea typeface="Meiryo UI" panose="020B0604030504040204" pitchFamily="50" charset="-128"/>
            </a:endParaRPr>
          </a:p>
        </p:txBody>
      </p:sp>
      <p:sp>
        <p:nvSpPr>
          <p:cNvPr id="43" name="四角形: 角を丸くする 42">
            <a:extLst>
              <a:ext uri="{FF2B5EF4-FFF2-40B4-BE49-F238E27FC236}">
                <a16:creationId xmlns:a16="http://schemas.microsoft.com/office/drawing/2014/main" id="{23A19003-A8B5-8727-DD3D-611E64F306CE}"/>
              </a:ext>
            </a:extLst>
          </p:cNvPr>
          <p:cNvSpPr/>
          <p:nvPr/>
        </p:nvSpPr>
        <p:spPr>
          <a:xfrm>
            <a:off x="2076550" y="3752143"/>
            <a:ext cx="1151127" cy="19513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2026/5/2</a:t>
            </a:r>
            <a:endParaRPr lang="ja-JP" altLang="en-US" sz="1200" dirty="0">
              <a:solidFill>
                <a:schemeClr val="tx1"/>
              </a:solidFill>
              <a:latin typeface="Meiryo UI" panose="020B0604030504040204" pitchFamily="50" charset="-128"/>
              <a:ea typeface="Meiryo UI" panose="020B0604030504040204" pitchFamily="50" charset="-128"/>
            </a:endParaRPr>
          </a:p>
        </p:txBody>
      </p:sp>
      <p:sp>
        <p:nvSpPr>
          <p:cNvPr id="44" name="四角形: 角を丸くする 43">
            <a:extLst>
              <a:ext uri="{FF2B5EF4-FFF2-40B4-BE49-F238E27FC236}">
                <a16:creationId xmlns:a16="http://schemas.microsoft.com/office/drawing/2014/main" id="{353B4BAF-EA3A-264F-BB89-863271B10589}"/>
              </a:ext>
            </a:extLst>
          </p:cNvPr>
          <p:cNvSpPr/>
          <p:nvPr/>
        </p:nvSpPr>
        <p:spPr>
          <a:xfrm>
            <a:off x="3358748" y="3752143"/>
            <a:ext cx="1931596" cy="19513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進捗連絡</a:t>
            </a:r>
          </a:p>
        </p:txBody>
      </p:sp>
      <p:sp>
        <p:nvSpPr>
          <p:cNvPr id="45" name="四角形: 角を丸くする 44">
            <a:extLst>
              <a:ext uri="{FF2B5EF4-FFF2-40B4-BE49-F238E27FC236}">
                <a16:creationId xmlns:a16="http://schemas.microsoft.com/office/drawing/2014/main" id="{53ABF4AE-D232-B4AF-5345-9DCABED8897F}"/>
              </a:ext>
            </a:extLst>
          </p:cNvPr>
          <p:cNvSpPr/>
          <p:nvPr/>
        </p:nvSpPr>
        <p:spPr>
          <a:xfrm>
            <a:off x="5421414" y="3752143"/>
            <a:ext cx="3940053" cy="19513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進捗伝えた。もう少し早く対応してほしいと言われた。</a:t>
            </a:r>
          </a:p>
        </p:txBody>
      </p:sp>
      <p:sp>
        <p:nvSpPr>
          <p:cNvPr id="46" name="四角形: 角を丸くする 45">
            <a:extLst>
              <a:ext uri="{FF2B5EF4-FFF2-40B4-BE49-F238E27FC236}">
                <a16:creationId xmlns:a16="http://schemas.microsoft.com/office/drawing/2014/main" id="{79AFB8B0-385B-5901-3550-FF4D5B8F2E02}"/>
              </a:ext>
            </a:extLst>
          </p:cNvPr>
          <p:cNvSpPr/>
          <p:nvPr/>
        </p:nvSpPr>
        <p:spPr>
          <a:xfrm>
            <a:off x="9477081" y="3752143"/>
            <a:ext cx="1151127" cy="19513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完了</a:t>
            </a:r>
          </a:p>
        </p:txBody>
      </p:sp>
      <p:sp>
        <p:nvSpPr>
          <p:cNvPr id="48" name="四角形: 角を丸くする 47">
            <a:extLst>
              <a:ext uri="{FF2B5EF4-FFF2-40B4-BE49-F238E27FC236}">
                <a16:creationId xmlns:a16="http://schemas.microsoft.com/office/drawing/2014/main" id="{6F82251B-AAA3-79DE-913E-C8134C2F8510}"/>
              </a:ext>
            </a:extLst>
          </p:cNvPr>
          <p:cNvSpPr/>
          <p:nvPr/>
        </p:nvSpPr>
        <p:spPr>
          <a:xfrm>
            <a:off x="2076550" y="4011282"/>
            <a:ext cx="1151127" cy="19513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en-US" altLang="ja-JP" sz="1200" dirty="0">
                <a:solidFill>
                  <a:schemeClr val="tx1"/>
                </a:solidFill>
                <a:latin typeface="Meiryo UI" panose="020B0604030504040204" pitchFamily="50" charset="-128"/>
                <a:ea typeface="Meiryo UI" panose="020B0604030504040204" pitchFamily="50" charset="-128"/>
              </a:rPr>
              <a:t>2026/5/2</a:t>
            </a:r>
            <a:endParaRPr lang="ja-JP" altLang="en-US" sz="1200" dirty="0">
              <a:solidFill>
                <a:schemeClr val="tx1"/>
              </a:solidFill>
              <a:latin typeface="Meiryo UI" panose="020B0604030504040204" pitchFamily="50" charset="-128"/>
              <a:ea typeface="Meiryo UI" panose="020B0604030504040204" pitchFamily="50" charset="-128"/>
            </a:endParaRPr>
          </a:p>
        </p:txBody>
      </p:sp>
      <p:sp>
        <p:nvSpPr>
          <p:cNvPr id="49" name="四角形: 角を丸くする 48">
            <a:extLst>
              <a:ext uri="{FF2B5EF4-FFF2-40B4-BE49-F238E27FC236}">
                <a16:creationId xmlns:a16="http://schemas.microsoft.com/office/drawing/2014/main" id="{318F5AE9-4FD8-FD47-D2DA-92CC16FA79E4}"/>
              </a:ext>
            </a:extLst>
          </p:cNvPr>
          <p:cNvSpPr/>
          <p:nvPr/>
        </p:nvSpPr>
        <p:spPr>
          <a:xfrm>
            <a:off x="3358748" y="4011282"/>
            <a:ext cx="1931596" cy="19513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進捗連絡</a:t>
            </a:r>
          </a:p>
        </p:txBody>
      </p:sp>
      <p:sp>
        <p:nvSpPr>
          <p:cNvPr id="50" name="四角形: 角を丸くする 49">
            <a:extLst>
              <a:ext uri="{FF2B5EF4-FFF2-40B4-BE49-F238E27FC236}">
                <a16:creationId xmlns:a16="http://schemas.microsoft.com/office/drawing/2014/main" id="{CCE04931-5216-C941-2836-F96D1FD29F35}"/>
              </a:ext>
            </a:extLst>
          </p:cNvPr>
          <p:cNvSpPr/>
          <p:nvPr/>
        </p:nvSpPr>
        <p:spPr>
          <a:xfrm>
            <a:off x="5421414" y="4011282"/>
            <a:ext cx="3940053" cy="19513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tx1"/>
                </a:solidFill>
                <a:latin typeface="Meiryo UI" panose="020B0604030504040204" pitchFamily="50" charset="-128"/>
                <a:ea typeface="Meiryo UI" panose="020B0604030504040204" pitchFamily="50" charset="-128"/>
              </a:rPr>
              <a:t>不動産査定自分でやりたいそうだ。</a:t>
            </a:r>
          </a:p>
        </p:txBody>
      </p:sp>
      <p:sp>
        <p:nvSpPr>
          <p:cNvPr id="51" name="四角形: 角を丸くする 50">
            <a:extLst>
              <a:ext uri="{FF2B5EF4-FFF2-40B4-BE49-F238E27FC236}">
                <a16:creationId xmlns:a16="http://schemas.microsoft.com/office/drawing/2014/main" id="{81C36822-C804-8862-5005-DD400105D755}"/>
              </a:ext>
            </a:extLst>
          </p:cNvPr>
          <p:cNvSpPr/>
          <p:nvPr/>
        </p:nvSpPr>
        <p:spPr>
          <a:xfrm>
            <a:off x="9477081" y="4011282"/>
            <a:ext cx="1151127" cy="195135"/>
          </a:xfrm>
          <a:prstGeom prst="roundRect">
            <a:avLst/>
          </a:prstGeom>
          <a:solidFill>
            <a:schemeClr val="bg1"/>
          </a:solidFill>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dirty="0">
                <a:solidFill>
                  <a:schemeClr val="tx1"/>
                </a:solidFill>
                <a:latin typeface="Meiryo UI" panose="020B0604030504040204" pitchFamily="50" charset="-128"/>
                <a:ea typeface="Meiryo UI" panose="020B0604030504040204" pitchFamily="50" charset="-128"/>
              </a:rPr>
              <a:t>完了</a:t>
            </a:r>
          </a:p>
        </p:txBody>
      </p:sp>
      <p:sp>
        <p:nvSpPr>
          <p:cNvPr id="52" name="正方形/長方形 51">
            <a:extLst>
              <a:ext uri="{FF2B5EF4-FFF2-40B4-BE49-F238E27FC236}">
                <a16:creationId xmlns:a16="http://schemas.microsoft.com/office/drawing/2014/main" id="{7ADFD800-244F-CC68-4F4D-B16FE58FB079}"/>
              </a:ext>
            </a:extLst>
          </p:cNvPr>
          <p:cNvSpPr/>
          <p:nvPr/>
        </p:nvSpPr>
        <p:spPr>
          <a:xfrm>
            <a:off x="9212941" y="2290582"/>
            <a:ext cx="2830533" cy="705537"/>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これまでのやり取りの記録、いつ、どうやって、何を連絡したのか、依頼者とのコミュニケーションの履歴が分かるようにする。</a:t>
            </a:r>
            <a:endParaRPr kumimoji="1" lang="en-US" altLang="ja-JP" sz="1200" dirty="0">
              <a:solidFill>
                <a:schemeClr val="tx1"/>
              </a:solidFill>
              <a:latin typeface="Meiryo UI" panose="020B0604030504040204" pitchFamily="50" charset="-128"/>
              <a:ea typeface="Meiryo UI" panose="020B0604030504040204" pitchFamily="50" charset="-128"/>
            </a:endParaRPr>
          </a:p>
        </p:txBody>
      </p:sp>
      <p:cxnSp>
        <p:nvCxnSpPr>
          <p:cNvPr id="53" name="直線コネクタ 52">
            <a:extLst>
              <a:ext uri="{FF2B5EF4-FFF2-40B4-BE49-F238E27FC236}">
                <a16:creationId xmlns:a16="http://schemas.microsoft.com/office/drawing/2014/main" id="{84CD6DE1-95A9-C312-D943-B755D19A37EB}"/>
              </a:ext>
            </a:extLst>
          </p:cNvPr>
          <p:cNvCxnSpPr>
            <a:cxnSpLocks/>
            <a:stCxn id="52" idx="1"/>
          </p:cNvCxnSpPr>
          <p:nvPr/>
        </p:nvCxnSpPr>
        <p:spPr>
          <a:xfrm flipH="1">
            <a:off x="7941230" y="2643351"/>
            <a:ext cx="1271711" cy="590514"/>
          </a:xfrm>
          <a:prstGeom prst="line">
            <a:avLst/>
          </a:prstGeom>
          <a:ln>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4" name="テキスト ボックス 3">
            <a:extLst>
              <a:ext uri="{FF2B5EF4-FFF2-40B4-BE49-F238E27FC236}">
                <a16:creationId xmlns:a16="http://schemas.microsoft.com/office/drawing/2014/main" id="{C0FD9DC2-A4D7-7C8C-EEF3-C20A4AF37FCE}"/>
              </a:ext>
            </a:extLst>
          </p:cNvPr>
          <p:cNvSpPr txBox="1"/>
          <p:nvPr/>
        </p:nvSpPr>
        <p:spPr>
          <a:xfrm>
            <a:off x="268357" y="248478"/>
            <a:ext cx="2962671" cy="369332"/>
          </a:xfrm>
          <a:prstGeom prst="rect">
            <a:avLst/>
          </a:prstGeom>
          <a:noFill/>
        </p:spPr>
        <p:txBody>
          <a:bodyPr wrap="none" rtlCol="0">
            <a:spAutoFit/>
          </a:bodyPr>
          <a:lstStyle/>
          <a:p>
            <a:r>
              <a:rPr lang="ja-JP" altLang="en-US" b="1" dirty="0">
                <a:latin typeface="Meiryo UI" panose="020B0604030504040204" pitchFamily="50" charset="-128"/>
                <a:ea typeface="Meiryo UI" panose="020B0604030504040204" pitchFamily="50" charset="-128"/>
              </a:rPr>
              <a:t>依頼者情報タブの追加　続き</a:t>
            </a:r>
            <a:endParaRPr kumimoji="1" lang="ja-JP" altLang="en-US" b="1" dirty="0">
              <a:latin typeface="Meiryo UI" panose="020B0604030504040204" pitchFamily="50" charset="-128"/>
              <a:ea typeface="Meiryo UI" panose="020B0604030504040204" pitchFamily="50" charset="-128"/>
            </a:endParaRPr>
          </a:p>
        </p:txBody>
      </p:sp>
      <p:pic>
        <p:nvPicPr>
          <p:cNvPr id="6" name="図 5">
            <a:extLst>
              <a:ext uri="{FF2B5EF4-FFF2-40B4-BE49-F238E27FC236}">
                <a16:creationId xmlns:a16="http://schemas.microsoft.com/office/drawing/2014/main" id="{E9F63F43-0594-7F26-7B13-ED656A7F5361}"/>
              </a:ext>
            </a:extLst>
          </p:cNvPr>
          <p:cNvPicPr>
            <a:picLocks noChangeAspect="1"/>
          </p:cNvPicPr>
          <p:nvPr/>
        </p:nvPicPr>
        <p:blipFill>
          <a:blip r:embed="rId2"/>
          <a:stretch>
            <a:fillRect/>
          </a:stretch>
        </p:blipFill>
        <p:spPr>
          <a:xfrm>
            <a:off x="482854" y="814204"/>
            <a:ext cx="10293879" cy="1149409"/>
          </a:xfrm>
          <a:prstGeom prst="rect">
            <a:avLst/>
          </a:prstGeom>
        </p:spPr>
      </p:pic>
      <p:sp>
        <p:nvSpPr>
          <p:cNvPr id="7" name="正方形/長方形 6">
            <a:extLst>
              <a:ext uri="{FF2B5EF4-FFF2-40B4-BE49-F238E27FC236}">
                <a16:creationId xmlns:a16="http://schemas.microsoft.com/office/drawing/2014/main" id="{8C756AF0-7BE0-B3C6-B374-076287CE8ED5}"/>
              </a:ext>
            </a:extLst>
          </p:cNvPr>
          <p:cNvSpPr/>
          <p:nvPr/>
        </p:nvSpPr>
        <p:spPr>
          <a:xfrm>
            <a:off x="8346332" y="693906"/>
            <a:ext cx="2717259" cy="635541"/>
          </a:xfrm>
          <a:prstGeom prst="rect">
            <a:avLst/>
          </a:prstGeom>
          <a:noFill/>
          <a:ln>
            <a:solidFill>
              <a:schemeClr val="accent5">
                <a:lumMod val="60000"/>
                <a:lumOff val="40000"/>
              </a:schemeClr>
            </a:solid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sp>
        <p:nvSpPr>
          <p:cNvPr id="9" name="正方形/長方形 8">
            <a:extLst>
              <a:ext uri="{FF2B5EF4-FFF2-40B4-BE49-F238E27FC236}">
                <a16:creationId xmlns:a16="http://schemas.microsoft.com/office/drawing/2014/main" id="{9F083503-DBBB-78E0-6189-FCC2BC061042}"/>
              </a:ext>
            </a:extLst>
          </p:cNvPr>
          <p:cNvSpPr/>
          <p:nvPr/>
        </p:nvSpPr>
        <p:spPr>
          <a:xfrm>
            <a:off x="5110697" y="203200"/>
            <a:ext cx="2830533" cy="892498"/>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lang="ja-JP" altLang="en-US" sz="1200" dirty="0">
                <a:solidFill>
                  <a:schemeClr val="tx1"/>
                </a:solidFill>
                <a:latin typeface="Meiryo UI" panose="020B0604030504040204" pitchFamily="50" charset="-128"/>
                <a:ea typeface="Meiryo UI" panose="020B0604030504040204" pitchFamily="50" charset="-128"/>
              </a:rPr>
              <a:t>案件が受注・対応中のステータスの場合、お客様への最終の進捗連絡日から</a:t>
            </a:r>
            <a:r>
              <a:rPr lang="en-US" altLang="ja-JP" sz="1200" dirty="0">
                <a:solidFill>
                  <a:schemeClr val="tx1"/>
                </a:solidFill>
                <a:latin typeface="Meiryo UI" panose="020B0604030504040204" pitchFamily="50" charset="-128"/>
                <a:ea typeface="Meiryo UI" panose="020B0604030504040204" pitchFamily="50" charset="-128"/>
              </a:rPr>
              <a:t>2</a:t>
            </a:r>
            <a:r>
              <a:rPr lang="ja-JP" altLang="en-US" sz="1200" dirty="0">
                <a:solidFill>
                  <a:schemeClr val="tx1"/>
                </a:solidFill>
                <a:latin typeface="Meiryo UI" panose="020B0604030504040204" pitchFamily="50" charset="-128"/>
                <a:ea typeface="Meiryo UI" panose="020B0604030504040204" pitchFamily="50" charset="-128"/>
              </a:rPr>
              <a:t>週間以上たっている場合は、要進捗連絡みたいなマークをこの辺に点滅させたい。</a:t>
            </a:r>
            <a:endParaRPr kumimoji="1" lang="en-US" altLang="ja-JP" sz="1200" dirty="0">
              <a:solidFill>
                <a:schemeClr val="tx1"/>
              </a:solidFill>
              <a:latin typeface="Meiryo UI" panose="020B0604030504040204" pitchFamily="50" charset="-128"/>
              <a:ea typeface="Meiryo UI" panose="020B0604030504040204" pitchFamily="50" charset="-128"/>
            </a:endParaRPr>
          </a:p>
        </p:txBody>
      </p:sp>
      <p:cxnSp>
        <p:nvCxnSpPr>
          <p:cNvPr id="10" name="直線コネクタ 9">
            <a:extLst>
              <a:ext uri="{FF2B5EF4-FFF2-40B4-BE49-F238E27FC236}">
                <a16:creationId xmlns:a16="http://schemas.microsoft.com/office/drawing/2014/main" id="{C20A7F5A-98B9-B95F-D691-B55D43835FC6}"/>
              </a:ext>
            </a:extLst>
          </p:cNvPr>
          <p:cNvCxnSpPr>
            <a:cxnSpLocks/>
            <a:stCxn id="7" idx="1"/>
            <a:endCxn id="9" idx="3"/>
          </p:cNvCxnSpPr>
          <p:nvPr/>
        </p:nvCxnSpPr>
        <p:spPr>
          <a:xfrm flipH="1" flipV="1">
            <a:off x="7941230" y="649449"/>
            <a:ext cx="405102" cy="362228"/>
          </a:xfrm>
          <a:prstGeom prst="line">
            <a:avLst/>
          </a:prstGeom>
          <a:ln>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14" name="正方形/長方形 13">
            <a:extLst>
              <a:ext uri="{FF2B5EF4-FFF2-40B4-BE49-F238E27FC236}">
                <a16:creationId xmlns:a16="http://schemas.microsoft.com/office/drawing/2014/main" id="{70919E26-8018-8A67-E686-64DBC99446D2}"/>
              </a:ext>
            </a:extLst>
          </p:cNvPr>
          <p:cNvSpPr/>
          <p:nvPr/>
        </p:nvSpPr>
        <p:spPr>
          <a:xfrm>
            <a:off x="8814106" y="4718302"/>
            <a:ext cx="2830533" cy="705537"/>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お客様待ち、完了の</a:t>
            </a:r>
            <a:r>
              <a:rPr kumimoji="1" lang="en-US" altLang="ja-JP" sz="1200" dirty="0">
                <a:solidFill>
                  <a:schemeClr val="tx1"/>
                </a:solidFill>
                <a:latin typeface="Meiryo UI" panose="020B0604030504040204" pitchFamily="50" charset="-128"/>
                <a:ea typeface="Meiryo UI" panose="020B0604030504040204" pitchFamily="50" charset="-128"/>
              </a:rPr>
              <a:t>2</a:t>
            </a:r>
            <a:r>
              <a:rPr kumimoji="1" lang="ja-JP" altLang="en-US" sz="1200" dirty="0">
                <a:solidFill>
                  <a:schemeClr val="tx1"/>
                </a:solidFill>
                <a:latin typeface="Meiryo UI" panose="020B0604030504040204" pitchFamily="50" charset="-128"/>
                <a:ea typeface="Meiryo UI" panose="020B0604030504040204" pitchFamily="50" charset="-128"/>
              </a:rPr>
              <a:t>つから選択できるようにする</a:t>
            </a:r>
            <a:endParaRPr kumimoji="1" lang="en-US" altLang="ja-JP" sz="1200" dirty="0">
              <a:solidFill>
                <a:schemeClr val="tx1"/>
              </a:solidFill>
              <a:latin typeface="Meiryo UI" panose="020B0604030504040204" pitchFamily="50" charset="-128"/>
              <a:ea typeface="Meiryo UI" panose="020B0604030504040204" pitchFamily="50" charset="-128"/>
            </a:endParaRPr>
          </a:p>
        </p:txBody>
      </p:sp>
      <p:cxnSp>
        <p:nvCxnSpPr>
          <p:cNvPr id="15" name="直線コネクタ 14">
            <a:extLst>
              <a:ext uri="{FF2B5EF4-FFF2-40B4-BE49-F238E27FC236}">
                <a16:creationId xmlns:a16="http://schemas.microsoft.com/office/drawing/2014/main" id="{DB70D025-566B-F6F5-732E-94232017D9F5}"/>
              </a:ext>
            </a:extLst>
          </p:cNvPr>
          <p:cNvCxnSpPr>
            <a:cxnSpLocks/>
            <a:stCxn id="51" idx="2"/>
            <a:endCxn id="14" idx="0"/>
          </p:cNvCxnSpPr>
          <p:nvPr/>
        </p:nvCxnSpPr>
        <p:spPr>
          <a:xfrm>
            <a:off x="10052645" y="4206417"/>
            <a:ext cx="176728" cy="511885"/>
          </a:xfrm>
          <a:prstGeom prst="line">
            <a:avLst/>
          </a:prstGeom>
          <a:ln>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19" name="正方形/長方形 18">
            <a:extLst>
              <a:ext uri="{FF2B5EF4-FFF2-40B4-BE49-F238E27FC236}">
                <a16:creationId xmlns:a16="http://schemas.microsoft.com/office/drawing/2014/main" id="{9D434763-28BE-3AC5-DF7C-32DAB6416F12}"/>
              </a:ext>
            </a:extLst>
          </p:cNvPr>
          <p:cNvSpPr/>
          <p:nvPr/>
        </p:nvSpPr>
        <p:spPr>
          <a:xfrm>
            <a:off x="5746552" y="4718302"/>
            <a:ext cx="2830533" cy="705537"/>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フリーテキスト入力</a:t>
            </a:r>
            <a:endParaRPr kumimoji="1" lang="en-US" altLang="ja-JP" sz="1200" dirty="0">
              <a:solidFill>
                <a:schemeClr val="tx1"/>
              </a:solidFill>
              <a:latin typeface="Meiryo UI" panose="020B0604030504040204" pitchFamily="50" charset="-128"/>
              <a:ea typeface="Meiryo UI" panose="020B0604030504040204" pitchFamily="50" charset="-128"/>
            </a:endParaRPr>
          </a:p>
        </p:txBody>
      </p:sp>
      <p:cxnSp>
        <p:nvCxnSpPr>
          <p:cNvPr id="20" name="直線コネクタ 19">
            <a:extLst>
              <a:ext uri="{FF2B5EF4-FFF2-40B4-BE49-F238E27FC236}">
                <a16:creationId xmlns:a16="http://schemas.microsoft.com/office/drawing/2014/main" id="{996AD6E7-0037-E243-AAB9-D440425C2FB0}"/>
              </a:ext>
            </a:extLst>
          </p:cNvPr>
          <p:cNvCxnSpPr>
            <a:cxnSpLocks/>
            <a:stCxn id="50" idx="2"/>
          </p:cNvCxnSpPr>
          <p:nvPr/>
        </p:nvCxnSpPr>
        <p:spPr>
          <a:xfrm flipH="1">
            <a:off x="7049311" y="4206417"/>
            <a:ext cx="342130" cy="511885"/>
          </a:xfrm>
          <a:prstGeom prst="line">
            <a:avLst/>
          </a:prstGeom>
          <a:ln>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23" name="正方形/長方形 22">
            <a:extLst>
              <a:ext uri="{FF2B5EF4-FFF2-40B4-BE49-F238E27FC236}">
                <a16:creationId xmlns:a16="http://schemas.microsoft.com/office/drawing/2014/main" id="{78DFCD93-6AE4-AA5E-3460-C9946411906D}"/>
              </a:ext>
            </a:extLst>
          </p:cNvPr>
          <p:cNvSpPr/>
          <p:nvPr/>
        </p:nvSpPr>
        <p:spPr>
          <a:xfrm>
            <a:off x="2734220" y="4560669"/>
            <a:ext cx="2830533" cy="705537"/>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進捗連絡だけ選択リストから選択できるようにする。あとは任意フリーで入力できる。</a:t>
            </a:r>
            <a:endParaRPr kumimoji="1" lang="en-US" altLang="ja-JP" sz="1200" dirty="0">
              <a:solidFill>
                <a:schemeClr val="tx1"/>
              </a:solidFill>
              <a:latin typeface="Meiryo UI" panose="020B0604030504040204" pitchFamily="50" charset="-128"/>
              <a:ea typeface="Meiryo UI" panose="020B0604030504040204" pitchFamily="50" charset="-128"/>
            </a:endParaRPr>
          </a:p>
        </p:txBody>
      </p:sp>
      <p:cxnSp>
        <p:nvCxnSpPr>
          <p:cNvPr id="24" name="直線コネクタ 23">
            <a:extLst>
              <a:ext uri="{FF2B5EF4-FFF2-40B4-BE49-F238E27FC236}">
                <a16:creationId xmlns:a16="http://schemas.microsoft.com/office/drawing/2014/main" id="{E29F5A87-0536-68D2-7AA5-760D36EA9C2D}"/>
              </a:ext>
            </a:extLst>
          </p:cNvPr>
          <p:cNvCxnSpPr>
            <a:cxnSpLocks/>
            <a:stCxn id="49" idx="2"/>
            <a:endCxn id="23" idx="0"/>
          </p:cNvCxnSpPr>
          <p:nvPr/>
        </p:nvCxnSpPr>
        <p:spPr>
          <a:xfrm flipH="1">
            <a:off x="4149487" y="4206417"/>
            <a:ext cx="175059" cy="354252"/>
          </a:xfrm>
          <a:prstGeom prst="line">
            <a:avLst/>
          </a:prstGeom>
          <a:ln>
            <a:solidFill>
              <a:schemeClr val="accent5">
                <a:lumMod val="60000"/>
                <a:lumOff val="40000"/>
              </a:schemeClr>
            </a:solidFill>
          </a:ln>
        </p:spPr>
        <p:style>
          <a:lnRef idx="2">
            <a:schemeClr val="accent1"/>
          </a:lnRef>
          <a:fillRef idx="0">
            <a:schemeClr val="accent1"/>
          </a:fillRef>
          <a:effectRef idx="1">
            <a:schemeClr val="accent1"/>
          </a:effectRef>
          <a:fontRef idx="minor">
            <a:schemeClr val="tx1"/>
          </a:fontRef>
        </p:style>
      </p:cxnSp>
      <p:sp>
        <p:nvSpPr>
          <p:cNvPr id="59" name="楕円 58">
            <a:extLst>
              <a:ext uri="{FF2B5EF4-FFF2-40B4-BE49-F238E27FC236}">
                <a16:creationId xmlns:a16="http://schemas.microsoft.com/office/drawing/2014/main" id="{84809D18-A603-129E-D5A0-E524B7F24503}"/>
              </a:ext>
            </a:extLst>
          </p:cNvPr>
          <p:cNvSpPr/>
          <p:nvPr/>
        </p:nvSpPr>
        <p:spPr>
          <a:xfrm>
            <a:off x="1409700" y="1095698"/>
            <a:ext cx="219974" cy="233749"/>
          </a:xfrm>
          <a:prstGeom prst="ellipse">
            <a:avLst/>
          </a:prstGeom>
          <a:solidFill>
            <a:schemeClr val="accent5">
              <a:lumMod val="7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61" name="直線コネクタ 60">
            <a:extLst>
              <a:ext uri="{FF2B5EF4-FFF2-40B4-BE49-F238E27FC236}">
                <a16:creationId xmlns:a16="http://schemas.microsoft.com/office/drawing/2014/main" id="{62DCC08C-E534-2C86-5A57-3FFA0C4710A8}"/>
              </a:ext>
            </a:extLst>
          </p:cNvPr>
          <p:cNvCxnSpPr>
            <a:endCxn id="59" idx="3"/>
          </p:cNvCxnSpPr>
          <p:nvPr/>
        </p:nvCxnSpPr>
        <p:spPr>
          <a:xfrm flipV="1">
            <a:off x="387350" y="1295215"/>
            <a:ext cx="1054564" cy="1295585"/>
          </a:xfrm>
          <a:prstGeom prst="line">
            <a:avLst/>
          </a:prstGeom>
          <a:ln>
            <a:solidFill>
              <a:schemeClr val="accent2">
                <a:lumMod val="40000"/>
                <a:lumOff val="60000"/>
              </a:schemeClr>
            </a:solidFill>
          </a:ln>
        </p:spPr>
        <p:style>
          <a:lnRef idx="2">
            <a:schemeClr val="accent1"/>
          </a:lnRef>
          <a:fillRef idx="0">
            <a:schemeClr val="accent1"/>
          </a:fillRef>
          <a:effectRef idx="1">
            <a:schemeClr val="accent1"/>
          </a:effectRef>
          <a:fontRef idx="minor">
            <a:schemeClr val="tx1"/>
          </a:fontRef>
        </p:style>
      </p:cxnSp>
      <p:sp>
        <p:nvSpPr>
          <p:cNvPr id="62" name="正方形/長方形 61">
            <a:extLst>
              <a:ext uri="{FF2B5EF4-FFF2-40B4-BE49-F238E27FC236}">
                <a16:creationId xmlns:a16="http://schemas.microsoft.com/office/drawing/2014/main" id="{29597B58-CAC8-67DA-1F9B-28E3BAE3C3E6}"/>
              </a:ext>
            </a:extLst>
          </p:cNvPr>
          <p:cNvSpPr/>
          <p:nvPr/>
        </p:nvSpPr>
        <p:spPr>
          <a:xfrm>
            <a:off x="-5567" y="2022771"/>
            <a:ext cx="2830533" cy="705537"/>
          </a:xfrm>
          <a:prstGeom prst="rect">
            <a:avLst/>
          </a:prstGeom>
          <a:solidFill>
            <a:schemeClr val="accent5">
              <a:lumMod val="20000"/>
              <a:lumOff val="80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marL="171450" indent="-171450">
              <a:buFont typeface="Arial" panose="020B0604020202020204" pitchFamily="34" charset="0"/>
              <a:buChar char="•"/>
            </a:pPr>
            <a:r>
              <a:rPr kumimoji="1" lang="ja-JP" altLang="en-US" sz="1200" dirty="0">
                <a:solidFill>
                  <a:schemeClr val="tx1"/>
                </a:solidFill>
                <a:latin typeface="Meiryo UI" panose="020B0604030504040204" pitchFamily="50" charset="-128"/>
                <a:ea typeface="Meiryo UI" panose="020B0604030504040204" pitchFamily="50" charset="-128"/>
              </a:rPr>
              <a:t>クレームありに✓が入ったら、案件名の右に紫いろのマークを入れる。</a:t>
            </a:r>
            <a:endParaRPr kumimoji="1" lang="en-US" altLang="ja-JP" sz="1200" dirty="0">
              <a:solidFill>
                <a:schemeClr val="tx1"/>
              </a:solidFill>
              <a:latin typeface="Meiryo UI" panose="020B0604030504040204" pitchFamily="50" charset="-128"/>
              <a:ea typeface="Meiryo UI" panose="020B0604030504040204" pitchFamily="50" charset="-128"/>
            </a:endParaRPr>
          </a:p>
        </p:txBody>
      </p:sp>
    </p:spTree>
    <p:extLst>
      <p:ext uri="{BB962C8B-B14F-4D97-AF65-F5344CB8AC3E}">
        <p14:creationId xmlns:p14="http://schemas.microsoft.com/office/powerpoint/2010/main" val="2643600691"/>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テキスト ボックス 3">
            <a:extLst>
              <a:ext uri="{FF2B5EF4-FFF2-40B4-BE49-F238E27FC236}">
                <a16:creationId xmlns:a16="http://schemas.microsoft.com/office/drawing/2014/main" id="{2F145809-0802-5D26-CC6B-04920897CEC2}"/>
              </a:ext>
            </a:extLst>
          </p:cNvPr>
          <p:cNvSpPr txBox="1"/>
          <p:nvPr/>
        </p:nvSpPr>
        <p:spPr>
          <a:xfrm>
            <a:off x="314325" y="190500"/>
            <a:ext cx="2831224" cy="369332"/>
          </a:xfrm>
          <a:prstGeom prst="rect">
            <a:avLst/>
          </a:prstGeom>
          <a:noFill/>
        </p:spPr>
        <p:txBody>
          <a:bodyPr wrap="none" rtlCol="0">
            <a:spAutoFit/>
          </a:bodyPr>
          <a:lstStyle/>
          <a:p>
            <a:r>
              <a:rPr kumimoji="1" lang="en-US" altLang="ja-JP" b="1" dirty="0">
                <a:latin typeface="Meiryo UI" panose="020B0604030504040204" pitchFamily="50" charset="-128"/>
                <a:ea typeface="Meiryo UI" panose="020B0604030504040204" pitchFamily="50" charset="-128"/>
              </a:rPr>
              <a:t>FB</a:t>
            </a:r>
            <a:r>
              <a:rPr lang="ja-JP" altLang="en-US" b="1" dirty="0">
                <a:latin typeface="Meiryo UI" panose="020B0604030504040204" pitchFamily="50" charset="-128"/>
                <a:ea typeface="Meiryo UI" panose="020B0604030504040204" pitchFamily="50" charset="-128"/>
              </a:rPr>
              <a:t> </a:t>
            </a:r>
            <a:r>
              <a:rPr lang="en-US" altLang="ja-JP" b="1" dirty="0">
                <a:latin typeface="Meiryo UI" panose="020B0604030504040204" pitchFamily="50" charset="-128"/>
                <a:ea typeface="Meiryo UI" panose="020B0604030504040204" pitchFamily="50" charset="-128"/>
              </a:rPr>
              <a:t>Memo</a:t>
            </a:r>
            <a:r>
              <a:rPr lang="ja-JP" altLang="en-US" b="1" dirty="0">
                <a:latin typeface="Meiryo UI" panose="020B0604030504040204" pitchFamily="50" charset="-128"/>
                <a:ea typeface="Meiryo UI" panose="020B0604030504040204" pitchFamily="50" charset="-128"/>
              </a:rPr>
              <a:t>　</a:t>
            </a:r>
            <a:r>
              <a:rPr lang="en-US" altLang="ja-JP" b="1" dirty="0">
                <a:latin typeface="Meiryo UI" panose="020B0604030504040204" pitchFamily="50" charset="-128"/>
                <a:ea typeface="Meiryo UI" panose="020B0604030504040204" pitchFamily="50" charset="-128"/>
              </a:rPr>
              <a:t>2026/5/13</a:t>
            </a:r>
            <a:endParaRPr kumimoji="1" lang="ja-JP" altLang="en-US" b="1" dirty="0">
              <a:latin typeface="Meiryo UI" panose="020B0604030504040204" pitchFamily="50" charset="-128"/>
              <a:ea typeface="Meiryo UI" panose="020B0604030504040204" pitchFamily="50" charset="-128"/>
            </a:endParaRPr>
          </a:p>
        </p:txBody>
      </p:sp>
      <p:sp>
        <p:nvSpPr>
          <p:cNvPr id="5" name="正方形/長方形 4">
            <a:extLst>
              <a:ext uri="{FF2B5EF4-FFF2-40B4-BE49-F238E27FC236}">
                <a16:creationId xmlns:a16="http://schemas.microsoft.com/office/drawing/2014/main" id="{72BA61D0-17E0-4D53-46CE-86A14BCA6ECA}"/>
              </a:ext>
            </a:extLst>
          </p:cNvPr>
          <p:cNvSpPr/>
          <p:nvPr/>
        </p:nvSpPr>
        <p:spPr>
          <a:xfrm>
            <a:off x="314325" y="559832"/>
            <a:ext cx="2419350" cy="45719"/>
          </a:xfrm>
          <a:prstGeom prst="rect">
            <a:avLst/>
          </a:prstGeom>
          <a:gradFill flip="none" rotWithShape="1">
            <a:gsLst>
              <a:gs pos="0">
                <a:schemeClr val="tx1"/>
              </a:gs>
              <a:gs pos="33000">
                <a:schemeClr val="tx1">
                  <a:lumMod val="75000"/>
                  <a:lumOff val="25000"/>
                </a:schemeClr>
              </a:gs>
              <a:gs pos="52000">
                <a:srgbClr val="808080"/>
              </a:gs>
              <a:gs pos="76000">
                <a:schemeClr val="bg1">
                  <a:lumMod val="95000"/>
                </a:schemeClr>
              </a:gs>
            </a:gsLst>
            <a:lin ang="0" scaled="1"/>
            <a:tileRect/>
          </a:gra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endParaRPr kumimoji="1" lang="ja-JP" altLang="en-US"/>
          </a:p>
        </p:txBody>
      </p:sp>
      <p:cxnSp>
        <p:nvCxnSpPr>
          <p:cNvPr id="10" name="直線コネクタ 9">
            <a:extLst>
              <a:ext uri="{FF2B5EF4-FFF2-40B4-BE49-F238E27FC236}">
                <a16:creationId xmlns:a16="http://schemas.microsoft.com/office/drawing/2014/main" id="{68B09EF8-E509-546C-5DC0-D439C3CC0B4F}"/>
              </a:ext>
            </a:extLst>
          </p:cNvPr>
          <p:cNvCxnSpPr>
            <a:cxnSpLocks/>
          </p:cNvCxnSpPr>
          <p:nvPr/>
        </p:nvCxnSpPr>
        <p:spPr>
          <a:xfrm>
            <a:off x="408372" y="1095593"/>
            <a:ext cx="392392"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1" name="正方形/長方形 10">
            <a:extLst>
              <a:ext uri="{FF2B5EF4-FFF2-40B4-BE49-F238E27FC236}">
                <a16:creationId xmlns:a16="http://schemas.microsoft.com/office/drawing/2014/main" id="{4E56B736-A2DE-A7A4-19CB-68CA06440521}"/>
              </a:ext>
            </a:extLst>
          </p:cNvPr>
          <p:cNvSpPr/>
          <p:nvPr/>
        </p:nvSpPr>
        <p:spPr>
          <a:xfrm>
            <a:off x="408372" y="803207"/>
            <a:ext cx="392392" cy="2778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b="1" dirty="0">
                <a:solidFill>
                  <a:schemeClr val="tx1"/>
                </a:solidFill>
                <a:latin typeface="Meiryo UI" panose="020B0604030504040204" pitchFamily="50" charset="-128"/>
                <a:ea typeface="Meiryo UI" panose="020B0604030504040204" pitchFamily="50" charset="-128"/>
              </a:rPr>
              <a:t>#</a:t>
            </a:r>
            <a:endParaRPr kumimoji="1" lang="ja-JP" altLang="en-US" sz="1200" b="1" dirty="0">
              <a:solidFill>
                <a:schemeClr val="tx1"/>
              </a:solidFill>
              <a:latin typeface="Meiryo UI" panose="020B0604030504040204" pitchFamily="50" charset="-128"/>
              <a:ea typeface="Meiryo UI" panose="020B0604030504040204" pitchFamily="50" charset="-128"/>
            </a:endParaRPr>
          </a:p>
        </p:txBody>
      </p:sp>
      <p:grpSp>
        <p:nvGrpSpPr>
          <p:cNvPr id="48" name="グループ化 47">
            <a:extLst>
              <a:ext uri="{FF2B5EF4-FFF2-40B4-BE49-F238E27FC236}">
                <a16:creationId xmlns:a16="http://schemas.microsoft.com/office/drawing/2014/main" id="{0A1F7583-1CDD-6FCB-5044-96F6691FF88C}"/>
              </a:ext>
            </a:extLst>
          </p:cNvPr>
          <p:cNvGrpSpPr/>
          <p:nvPr/>
        </p:nvGrpSpPr>
        <p:grpSpPr>
          <a:xfrm>
            <a:off x="903657" y="803207"/>
            <a:ext cx="1563097" cy="292386"/>
            <a:chOff x="903657" y="803207"/>
            <a:chExt cx="1954506" cy="292386"/>
          </a:xfrm>
        </p:grpSpPr>
        <p:cxnSp>
          <p:nvCxnSpPr>
            <p:cNvPr id="14" name="直線コネクタ 13">
              <a:extLst>
                <a:ext uri="{FF2B5EF4-FFF2-40B4-BE49-F238E27FC236}">
                  <a16:creationId xmlns:a16="http://schemas.microsoft.com/office/drawing/2014/main" id="{F2AD8E5D-4C3C-9961-8FB2-48F1051EF478}"/>
                </a:ext>
              </a:extLst>
            </p:cNvPr>
            <p:cNvCxnSpPr>
              <a:cxnSpLocks/>
            </p:cNvCxnSpPr>
            <p:nvPr/>
          </p:nvCxnSpPr>
          <p:spPr>
            <a:xfrm>
              <a:off x="903658" y="1095593"/>
              <a:ext cx="195450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5" name="正方形/長方形 14">
              <a:extLst>
                <a:ext uri="{FF2B5EF4-FFF2-40B4-BE49-F238E27FC236}">
                  <a16:creationId xmlns:a16="http://schemas.microsoft.com/office/drawing/2014/main" id="{25C368F9-3497-6E58-161F-53ED69E37152}"/>
                </a:ext>
              </a:extLst>
            </p:cNvPr>
            <p:cNvSpPr/>
            <p:nvPr/>
          </p:nvSpPr>
          <p:spPr>
            <a:xfrm>
              <a:off x="903657" y="803207"/>
              <a:ext cx="1954505" cy="2778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solidFill>
                  <a:latin typeface="Meiryo UI" panose="020B0604030504040204" pitchFamily="50" charset="-128"/>
                  <a:ea typeface="Meiryo UI" panose="020B0604030504040204" pitchFamily="50" charset="-128"/>
                </a:rPr>
                <a:t>タイトル</a:t>
              </a:r>
            </a:p>
          </p:txBody>
        </p:sp>
      </p:grpSp>
      <p:grpSp>
        <p:nvGrpSpPr>
          <p:cNvPr id="49" name="グループ化 48">
            <a:extLst>
              <a:ext uri="{FF2B5EF4-FFF2-40B4-BE49-F238E27FC236}">
                <a16:creationId xmlns:a16="http://schemas.microsoft.com/office/drawing/2014/main" id="{16750800-0194-7433-6A70-FB9FADB97753}"/>
              </a:ext>
            </a:extLst>
          </p:cNvPr>
          <p:cNvGrpSpPr/>
          <p:nvPr/>
        </p:nvGrpSpPr>
        <p:grpSpPr>
          <a:xfrm>
            <a:off x="2569647" y="803207"/>
            <a:ext cx="7155600" cy="292386"/>
            <a:chOff x="2951529" y="803207"/>
            <a:chExt cx="6773717" cy="292386"/>
          </a:xfrm>
        </p:grpSpPr>
        <p:cxnSp>
          <p:nvCxnSpPr>
            <p:cNvPr id="18" name="直線コネクタ 17">
              <a:extLst>
                <a:ext uri="{FF2B5EF4-FFF2-40B4-BE49-F238E27FC236}">
                  <a16:creationId xmlns:a16="http://schemas.microsoft.com/office/drawing/2014/main" id="{B2EBCDAA-A86A-CA93-25D9-B56DEF31353C}"/>
                </a:ext>
              </a:extLst>
            </p:cNvPr>
            <p:cNvCxnSpPr>
              <a:cxnSpLocks/>
            </p:cNvCxnSpPr>
            <p:nvPr/>
          </p:nvCxnSpPr>
          <p:spPr>
            <a:xfrm>
              <a:off x="2951531" y="1095593"/>
              <a:ext cx="677371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19" name="正方形/長方形 18">
              <a:extLst>
                <a:ext uri="{FF2B5EF4-FFF2-40B4-BE49-F238E27FC236}">
                  <a16:creationId xmlns:a16="http://schemas.microsoft.com/office/drawing/2014/main" id="{A30E88DB-1686-CDEB-7E4D-89C51E81567C}"/>
                </a:ext>
              </a:extLst>
            </p:cNvPr>
            <p:cNvSpPr/>
            <p:nvPr/>
          </p:nvSpPr>
          <p:spPr>
            <a:xfrm>
              <a:off x="2951529" y="803207"/>
              <a:ext cx="6773715" cy="2778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solidFill>
                  <a:latin typeface="Meiryo UI" panose="020B0604030504040204" pitchFamily="50" charset="-128"/>
                  <a:ea typeface="Meiryo UI" panose="020B0604030504040204" pitchFamily="50" charset="-128"/>
                </a:rPr>
                <a:t>詳細</a:t>
              </a:r>
            </a:p>
          </p:txBody>
        </p:sp>
      </p:grpSp>
      <p:cxnSp>
        <p:nvCxnSpPr>
          <p:cNvPr id="23" name="直線コネクタ 22">
            <a:extLst>
              <a:ext uri="{FF2B5EF4-FFF2-40B4-BE49-F238E27FC236}">
                <a16:creationId xmlns:a16="http://schemas.microsoft.com/office/drawing/2014/main" id="{35EFE897-D6B7-83BB-25FD-89A385356AC2}"/>
              </a:ext>
            </a:extLst>
          </p:cNvPr>
          <p:cNvCxnSpPr>
            <a:cxnSpLocks/>
          </p:cNvCxnSpPr>
          <p:nvPr/>
        </p:nvCxnSpPr>
        <p:spPr>
          <a:xfrm>
            <a:off x="9818611" y="1095593"/>
            <a:ext cx="1954505" cy="0"/>
          </a:xfrm>
          <a:prstGeom prst="line">
            <a:avLst/>
          </a:prstGeom>
          <a:ln>
            <a:solidFill>
              <a:schemeClr val="tx1"/>
            </a:solidFill>
          </a:ln>
        </p:spPr>
        <p:style>
          <a:lnRef idx="2">
            <a:schemeClr val="accent1"/>
          </a:lnRef>
          <a:fillRef idx="0">
            <a:schemeClr val="accent1"/>
          </a:fillRef>
          <a:effectRef idx="1">
            <a:schemeClr val="accent1"/>
          </a:effectRef>
          <a:fontRef idx="minor">
            <a:schemeClr val="tx1"/>
          </a:fontRef>
        </p:style>
      </p:cxnSp>
      <p:sp>
        <p:nvSpPr>
          <p:cNvPr id="24" name="正方形/長方形 23">
            <a:extLst>
              <a:ext uri="{FF2B5EF4-FFF2-40B4-BE49-F238E27FC236}">
                <a16:creationId xmlns:a16="http://schemas.microsoft.com/office/drawing/2014/main" id="{7D89D7E7-CEA5-85DD-10F3-1E7669E13CD0}"/>
              </a:ext>
            </a:extLst>
          </p:cNvPr>
          <p:cNvSpPr/>
          <p:nvPr/>
        </p:nvSpPr>
        <p:spPr>
          <a:xfrm>
            <a:off x="9818610" y="794123"/>
            <a:ext cx="1954505" cy="277895"/>
          </a:xfrm>
          <a:prstGeom prst="rect">
            <a:avLst/>
          </a:prstGeom>
          <a:solidFill>
            <a:schemeClr val="bg1"/>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solidFill>
                <a:latin typeface="Meiryo UI" panose="020B0604030504040204" pitchFamily="50" charset="-128"/>
                <a:ea typeface="Meiryo UI" panose="020B0604030504040204" pitchFamily="50" charset="-128"/>
              </a:rPr>
              <a:t>対応状況</a:t>
            </a:r>
          </a:p>
        </p:txBody>
      </p:sp>
      <p:sp>
        <p:nvSpPr>
          <p:cNvPr id="25" name="フローチャート: 端子 24">
            <a:extLst>
              <a:ext uri="{FF2B5EF4-FFF2-40B4-BE49-F238E27FC236}">
                <a16:creationId xmlns:a16="http://schemas.microsoft.com/office/drawing/2014/main" id="{D56A3F80-6263-FF15-29FC-CE8788FA4F5C}"/>
              </a:ext>
            </a:extLst>
          </p:cNvPr>
          <p:cNvSpPr/>
          <p:nvPr/>
        </p:nvSpPr>
        <p:spPr>
          <a:xfrm>
            <a:off x="10014765" y="1581760"/>
            <a:ext cx="1562194" cy="396937"/>
          </a:xfrm>
          <a:prstGeom prst="flowChartTerminator">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Meiryo UI" panose="020B0604030504040204" pitchFamily="50" charset="-128"/>
                <a:ea typeface="Meiryo UI" panose="020B0604030504040204" pitchFamily="50" charset="-128"/>
              </a:rPr>
              <a:t>対応済</a:t>
            </a:r>
          </a:p>
        </p:txBody>
      </p:sp>
      <p:cxnSp>
        <p:nvCxnSpPr>
          <p:cNvPr id="27" name="直線コネクタ 26">
            <a:extLst>
              <a:ext uri="{FF2B5EF4-FFF2-40B4-BE49-F238E27FC236}">
                <a16:creationId xmlns:a16="http://schemas.microsoft.com/office/drawing/2014/main" id="{E9F753C5-E6CA-DEF2-D577-36609B2DCAF6}"/>
              </a:ext>
            </a:extLst>
          </p:cNvPr>
          <p:cNvCxnSpPr>
            <a:cxnSpLocks/>
          </p:cNvCxnSpPr>
          <p:nvPr/>
        </p:nvCxnSpPr>
        <p:spPr>
          <a:xfrm flipV="1">
            <a:off x="408372" y="2885377"/>
            <a:ext cx="11364743" cy="0"/>
          </a:xfrm>
          <a:prstGeom prst="line">
            <a:avLst/>
          </a:prstGeom>
          <a:ln w="12700">
            <a:solidFill>
              <a:schemeClr val="tx1"/>
            </a:solidFill>
            <a:prstDash val="dash"/>
          </a:ln>
        </p:spPr>
        <p:style>
          <a:lnRef idx="2">
            <a:schemeClr val="accent1"/>
          </a:lnRef>
          <a:fillRef idx="0">
            <a:schemeClr val="accent1"/>
          </a:fillRef>
          <a:effectRef idx="1">
            <a:schemeClr val="accent1"/>
          </a:effectRef>
          <a:fontRef idx="minor">
            <a:schemeClr val="tx1"/>
          </a:fontRef>
        </p:style>
      </p:cxnSp>
      <p:sp>
        <p:nvSpPr>
          <p:cNvPr id="31" name="フローチャート: 端子 30">
            <a:extLst>
              <a:ext uri="{FF2B5EF4-FFF2-40B4-BE49-F238E27FC236}">
                <a16:creationId xmlns:a16="http://schemas.microsoft.com/office/drawing/2014/main" id="{B0DC2FA6-6BD2-6890-DB7F-6560010BC9F6}"/>
              </a:ext>
            </a:extLst>
          </p:cNvPr>
          <p:cNvSpPr/>
          <p:nvPr/>
        </p:nvSpPr>
        <p:spPr>
          <a:xfrm>
            <a:off x="10014765" y="3294041"/>
            <a:ext cx="1562194" cy="396937"/>
          </a:xfrm>
          <a:prstGeom prst="flowChartTerminator">
            <a:avLst/>
          </a:prstGeom>
          <a:solidFill>
            <a:schemeClr val="bg2">
              <a:lumMod val="25000"/>
            </a:schemeClr>
          </a:solidFill>
          <a:ln>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dirty="0">
                <a:solidFill>
                  <a:schemeClr val="bg1"/>
                </a:solidFill>
                <a:latin typeface="Meiryo UI" panose="020B0604030504040204" pitchFamily="50" charset="-128"/>
                <a:ea typeface="Meiryo UI" panose="020B0604030504040204" pitchFamily="50" charset="-128"/>
              </a:rPr>
              <a:t>対応済</a:t>
            </a:r>
          </a:p>
        </p:txBody>
      </p:sp>
      <p:sp>
        <p:nvSpPr>
          <p:cNvPr id="8" name="正方形/長方形 7">
            <a:extLst>
              <a:ext uri="{FF2B5EF4-FFF2-40B4-BE49-F238E27FC236}">
                <a16:creationId xmlns:a16="http://schemas.microsoft.com/office/drawing/2014/main" id="{16C0D255-C1FE-A0A9-182C-0BFBB8F304FA}"/>
              </a:ext>
            </a:extLst>
          </p:cNvPr>
          <p:cNvSpPr/>
          <p:nvPr/>
        </p:nvSpPr>
        <p:spPr>
          <a:xfrm>
            <a:off x="408373" y="1196676"/>
            <a:ext cx="392392" cy="1527125"/>
          </a:xfrm>
          <a:prstGeom prst="rect">
            <a:avLst/>
          </a:prstGeom>
          <a:solidFill>
            <a:schemeClr val="bg2">
              <a:lumMod val="2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bg1"/>
                </a:solidFill>
                <a:latin typeface="Meiryo UI" panose="020B0604030504040204" pitchFamily="50" charset="-128"/>
                <a:ea typeface="Meiryo UI" panose="020B0604030504040204" pitchFamily="50" charset="-128"/>
              </a:rPr>
              <a:t>1</a:t>
            </a:r>
            <a:endParaRPr kumimoji="1" lang="ja-JP" altLang="en-US" sz="1200" dirty="0">
              <a:solidFill>
                <a:schemeClr val="bg1"/>
              </a:solidFill>
              <a:latin typeface="Meiryo UI" panose="020B0604030504040204" pitchFamily="50" charset="-128"/>
              <a:ea typeface="Meiryo UI" panose="020B0604030504040204" pitchFamily="50" charset="-128"/>
            </a:endParaRPr>
          </a:p>
        </p:txBody>
      </p:sp>
      <p:sp>
        <p:nvSpPr>
          <p:cNvPr id="13" name="正方形/長方形 12">
            <a:extLst>
              <a:ext uri="{FF2B5EF4-FFF2-40B4-BE49-F238E27FC236}">
                <a16:creationId xmlns:a16="http://schemas.microsoft.com/office/drawing/2014/main" id="{45B2892A-5654-7323-F9BF-102AB9272EE7}"/>
              </a:ext>
            </a:extLst>
          </p:cNvPr>
          <p:cNvSpPr/>
          <p:nvPr/>
        </p:nvSpPr>
        <p:spPr>
          <a:xfrm>
            <a:off x="903658" y="1196676"/>
            <a:ext cx="1563097" cy="1527125"/>
          </a:xfrm>
          <a:prstGeom prst="rect">
            <a:avLst/>
          </a:prstGeom>
          <a:solidFill>
            <a:schemeClr val="bg1"/>
          </a:solidFill>
          <a:ln w="41275" cmpd="thickThi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lang="ja-JP" altLang="en-US" sz="1200" b="1" dirty="0">
                <a:solidFill>
                  <a:schemeClr val="tx1"/>
                </a:solidFill>
                <a:latin typeface="Meiryo UI" panose="020B0604030504040204" pitchFamily="50" charset="-128"/>
                <a:ea typeface="Meiryo UI" panose="020B0604030504040204" pitchFamily="50" charset="-128"/>
              </a:rPr>
              <a:t>受注担当ダッシュボードの表示項目</a:t>
            </a:r>
            <a:endParaRPr kumimoji="1" lang="ja-JP" altLang="en-US" sz="1200" b="1" dirty="0">
              <a:solidFill>
                <a:schemeClr val="tx1"/>
              </a:solidFill>
              <a:latin typeface="Meiryo UI" panose="020B0604030504040204" pitchFamily="50" charset="-128"/>
              <a:ea typeface="Meiryo UI" panose="020B0604030504040204" pitchFamily="50" charset="-128"/>
            </a:endParaRPr>
          </a:p>
        </p:txBody>
      </p:sp>
      <p:sp>
        <p:nvSpPr>
          <p:cNvPr id="17" name="正方形/長方形 16">
            <a:extLst>
              <a:ext uri="{FF2B5EF4-FFF2-40B4-BE49-F238E27FC236}">
                <a16:creationId xmlns:a16="http://schemas.microsoft.com/office/drawing/2014/main" id="{A0597E53-FD73-281C-2A15-734E16AC6507}"/>
              </a:ext>
            </a:extLst>
          </p:cNvPr>
          <p:cNvSpPr/>
          <p:nvPr/>
        </p:nvSpPr>
        <p:spPr>
          <a:xfrm>
            <a:off x="2569647" y="1196676"/>
            <a:ext cx="7155598" cy="182167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Wingdings" panose="05000000000000000000" pitchFamily="2" charset="2"/>
              <a:buChar char="ü"/>
            </a:pPr>
            <a:r>
              <a:rPr kumimoji="1" lang="ja-JP" altLang="en-US" sz="1200" dirty="0">
                <a:solidFill>
                  <a:schemeClr val="tx1"/>
                </a:solidFill>
                <a:latin typeface="Meiryo UI" panose="020B0604030504040204" pitchFamily="50" charset="-128"/>
                <a:ea typeface="Meiryo UI" panose="020B0604030504040204" pitchFamily="50" charset="-128"/>
              </a:rPr>
              <a:t>受注担当のダッシュボードのサマリ項目から、</a:t>
            </a:r>
            <a:r>
              <a:rPr kumimoji="1" lang="zh-TW" altLang="en-US" sz="1200" dirty="0">
                <a:solidFill>
                  <a:schemeClr val="tx1"/>
                </a:solidFill>
                <a:latin typeface="Meiryo UI" panose="020B0604030504040204" pitchFamily="50" charset="-128"/>
                <a:ea typeface="Meiryo UI" panose="020B0604030504040204" pitchFamily="50" charset="-128"/>
              </a:rPr>
              <a:t>業務完了予定件数</a:t>
            </a:r>
            <a:r>
              <a:rPr lang="ja-JP" altLang="en-US" sz="1200" dirty="0">
                <a:solidFill>
                  <a:schemeClr val="tx1"/>
                </a:solidFill>
                <a:latin typeface="Meiryo UI" panose="020B0604030504040204" pitchFamily="50" charset="-128"/>
                <a:ea typeface="Meiryo UI" panose="020B0604030504040204" pitchFamily="50" charset="-128"/>
              </a:rPr>
              <a:t>、業務完了件数、業務完了金額、平均サイクルを削除する。</a:t>
            </a:r>
            <a:endParaRPr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ü"/>
            </a:pPr>
            <a:r>
              <a:rPr lang="ja-JP" altLang="en-US" sz="1200" dirty="0">
                <a:solidFill>
                  <a:schemeClr val="tx1"/>
                </a:solidFill>
                <a:latin typeface="Meiryo UI" panose="020B0604030504040204" pitchFamily="50" charset="-128"/>
                <a:ea typeface="Meiryo UI" panose="020B0604030504040204" pitchFamily="50" charset="-128"/>
              </a:rPr>
              <a:t>サマリーボード下部の担当者一覧から、管理担当者を削除する。</a:t>
            </a:r>
            <a:endParaRPr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ü"/>
            </a:pPr>
            <a:r>
              <a:rPr lang="ja-JP" altLang="en-US" sz="1200" dirty="0">
                <a:solidFill>
                  <a:schemeClr val="tx1"/>
                </a:solidFill>
                <a:latin typeface="Meiryo UI" panose="020B0604030504040204" pitchFamily="50" charset="-128"/>
                <a:ea typeface="Meiryo UI" panose="020B0604030504040204" pitchFamily="50" charset="-128"/>
              </a:rPr>
              <a:t>平均受注単価について、受注内容の内訳別に表示できるようにする。内訳とは、案件詳細項目の手続き区分および、付帯サービス別の金額である。</a:t>
            </a:r>
            <a:endParaRPr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ü"/>
            </a:pPr>
            <a:r>
              <a:rPr lang="ja-JP" altLang="en-US" sz="1200" dirty="0">
                <a:solidFill>
                  <a:schemeClr val="tx1"/>
                </a:solidFill>
                <a:latin typeface="Meiryo UI" panose="020B0604030504040204" pitchFamily="50" charset="-128"/>
                <a:ea typeface="Meiryo UI" panose="020B0604030504040204" pitchFamily="50" charset="-128"/>
              </a:rPr>
              <a:t>サマリボードの表示項目に月次目標を追加できるようにし、目標と実績の対比、つまり目標達成率をサマリボードで確認できるようにする。</a:t>
            </a:r>
          </a:p>
        </p:txBody>
      </p:sp>
      <p:sp>
        <p:nvSpPr>
          <p:cNvPr id="28" name="正方形/長方形 27">
            <a:extLst>
              <a:ext uri="{FF2B5EF4-FFF2-40B4-BE49-F238E27FC236}">
                <a16:creationId xmlns:a16="http://schemas.microsoft.com/office/drawing/2014/main" id="{4EBA506A-154F-552A-B7A5-3FAE94E5F358}"/>
              </a:ext>
            </a:extLst>
          </p:cNvPr>
          <p:cNvSpPr/>
          <p:nvPr/>
        </p:nvSpPr>
        <p:spPr>
          <a:xfrm>
            <a:off x="418845" y="3018352"/>
            <a:ext cx="392392" cy="1527125"/>
          </a:xfrm>
          <a:prstGeom prst="rect">
            <a:avLst/>
          </a:prstGeom>
          <a:solidFill>
            <a:schemeClr val="bg2">
              <a:lumMod val="25000"/>
            </a:schemeClr>
          </a:solidFill>
          <a:ln w="12700">
            <a:noFill/>
          </a:l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en-US" altLang="ja-JP" sz="1200" dirty="0">
                <a:solidFill>
                  <a:schemeClr val="bg1"/>
                </a:solidFill>
                <a:latin typeface="Meiryo UI" panose="020B0604030504040204" pitchFamily="50" charset="-128"/>
                <a:ea typeface="Meiryo UI" panose="020B0604030504040204" pitchFamily="50" charset="-128"/>
              </a:rPr>
              <a:t>1</a:t>
            </a:r>
            <a:endParaRPr kumimoji="1" lang="ja-JP" altLang="en-US" sz="1200" dirty="0">
              <a:solidFill>
                <a:schemeClr val="bg1"/>
              </a:solidFill>
              <a:latin typeface="Meiryo UI" panose="020B0604030504040204" pitchFamily="50" charset="-128"/>
              <a:ea typeface="Meiryo UI" panose="020B0604030504040204" pitchFamily="50" charset="-128"/>
            </a:endParaRPr>
          </a:p>
        </p:txBody>
      </p:sp>
      <p:sp>
        <p:nvSpPr>
          <p:cNvPr id="30" name="正方形/長方形 29">
            <a:extLst>
              <a:ext uri="{FF2B5EF4-FFF2-40B4-BE49-F238E27FC236}">
                <a16:creationId xmlns:a16="http://schemas.microsoft.com/office/drawing/2014/main" id="{92AD735E-5197-7389-C510-A4AA10A71B71}"/>
              </a:ext>
            </a:extLst>
          </p:cNvPr>
          <p:cNvSpPr/>
          <p:nvPr/>
        </p:nvSpPr>
        <p:spPr>
          <a:xfrm>
            <a:off x="2569647" y="3018352"/>
            <a:ext cx="7155598" cy="1659826"/>
          </a:xfrm>
          <a:prstGeom prst="rect">
            <a:avLst/>
          </a:prstGeom>
          <a:noFill/>
          <a:ln>
            <a:noFill/>
          </a:ln>
        </p:spPr>
        <p:style>
          <a:lnRef idx="2">
            <a:schemeClr val="accent1">
              <a:shade val="15000"/>
            </a:schemeClr>
          </a:lnRef>
          <a:fillRef idx="1">
            <a:schemeClr val="accent1"/>
          </a:fillRef>
          <a:effectRef idx="0">
            <a:schemeClr val="accent1"/>
          </a:effectRef>
          <a:fontRef idx="minor">
            <a:schemeClr val="lt1"/>
          </a:fontRef>
        </p:style>
        <p:txBody>
          <a:bodyPr rtlCol="0" anchor="t"/>
          <a:lstStyle/>
          <a:p>
            <a:pPr marL="171450" indent="-171450">
              <a:buFont typeface="Wingdings" panose="05000000000000000000" pitchFamily="2" charset="2"/>
              <a:buChar char="ü"/>
            </a:pPr>
            <a:r>
              <a:rPr lang="ja-JP" altLang="en-US" sz="1200" dirty="0">
                <a:solidFill>
                  <a:schemeClr val="tx1"/>
                </a:solidFill>
                <a:latin typeface="Meiryo UI" panose="020B0604030504040204" pitchFamily="50" charset="-128"/>
                <a:ea typeface="Meiryo UI" panose="020B0604030504040204" pitchFamily="50" charset="-128"/>
              </a:rPr>
              <a:t>サマリーボード下部の担当者一覧から、管理担当者を削除する。売上数値を確認するためのボードであるため。管理担当者を表示するのは進捗管理ダッシュボードのみ。進捗管理ダッシュボードで案件の進み具合を視覚的に確認できるようにする。</a:t>
            </a:r>
            <a:endParaRPr lang="en-US" altLang="ja-JP" sz="1200" dirty="0">
              <a:solidFill>
                <a:schemeClr val="tx1"/>
              </a:solidFill>
              <a:latin typeface="Meiryo UI" panose="020B0604030504040204" pitchFamily="50" charset="-128"/>
              <a:ea typeface="Meiryo UI" panose="020B0604030504040204" pitchFamily="50" charset="-128"/>
            </a:endParaRPr>
          </a:p>
          <a:p>
            <a:pPr marL="171450" indent="-171450">
              <a:buFont typeface="Wingdings" panose="05000000000000000000" pitchFamily="2" charset="2"/>
              <a:buChar char="ü"/>
            </a:pPr>
            <a:r>
              <a:rPr lang="ja-JP" altLang="en-US" sz="1200" dirty="0">
                <a:solidFill>
                  <a:schemeClr val="tx1"/>
                </a:solidFill>
                <a:latin typeface="Meiryo UI" panose="020B0604030504040204" pitchFamily="50" charset="-128"/>
                <a:ea typeface="Meiryo UI" panose="020B0604030504040204" pitchFamily="50" charset="-128"/>
              </a:rPr>
              <a:t>受注金額について、受注内容の内訳別に表示できるようにする。内訳とは、案件詳細項目の手続き区分および、付帯サービス別の金額である</a:t>
            </a:r>
          </a:p>
        </p:txBody>
      </p:sp>
      <p:sp>
        <p:nvSpPr>
          <p:cNvPr id="50" name="正方形/長方形 49">
            <a:extLst>
              <a:ext uri="{FF2B5EF4-FFF2-40B4-BE49-F238E27FC236}">
                <a16:creationId xmlns:a16="http://schemas.microsoft.com/office/drawing/2014/main" id="{102E3245-E493-6EA6-2FB8-B9B4DE801C91}"/>
              </a:ext>
            </a:extLst>
          </p:cNvPr>
          <p:cNvSpPr/>
          <p:nvPr/>
        </p:nvSpPr>
        <p:spPr>
          <a:xfrm>
            <a:off x="903656" y="3031270"/>
            <a:ext cx="1563097" cy="1527125"/>
          </a:xfrm>
          <a:prstGeom prst="rect">
            <a:avLst/>
          </a:prstGeom>
          <a:solidFill>
            <a:schemeClr val="bg1"/>
          </a:solidFill>
          <a:ln w="41275" cmpd="thickThin"/>
        </p:spPr>
        <p:style>
          <a:lnRef idx="2">
            <a:schemeClr val="accent1">
              <a:shade val="15000"/>
            </a:schemeClr>
          </a:lnRef>
          <a:fillRef idx="1">
            <a:schemeClr val="accent1"/>
          </a:fillRef>
          <a:effectRef idx="0">
            <a:schemeClr val="accent1"/>
          </a:effectRef>
          <a:fontRef idx="minor">
            <a:schemeClr val="lt1"/>
          </a:fontRef>
        </p:style>
        <p:txBody>
          <a:bodyPr rtlCol="0" anchor="ctr"/>
          <a:lstStyle/>
          <a:p>
            <a:pPr algn="ctr"/>
            <a:r>
              <a:rPr kumimoji="1" lang="ja-JP" altLang="en-US" sz="1200" b="1" dirty="0">
                <a:solidFill>
                  <a:schemeClr val="tx1"/>
                </a:solidFill>
                <a:latin typeface="Meiryo UI" panose="020B0604030504040204" pitchFamily="50" charset="-128"/>
                <a:ea typeface="Meiryo UI" panose="020B0604030504040204" pitchFamily="50" charset="-128"/>
              </a:rPr>
              <a:t>相続事業部全体ダッシュボードの表示項目</a:t>
            </a:r>
          </a:p>
        </p:txBody>
      </p:sp>
    </p:spTree>
    <p:extLst>
      <p:ext uri="{BB962C8B-B14F-4D97-AF65-F5344CB8AC3E}">
        <p14:creationId xmlns:p14="http://schemas.microsoft.com/office/powerpoint/2010/main" val="2862580414"/>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0E2841"/>
      </a:dk2>
      <a:lt2>
        <a:srgbClr val="E8E8E8"/>
      </a:lt2>
      <a:accent1>
        <a:srgbClr val="156082"/>
      </a:accent1>
      <a:accent2>
        <a:srgbClr val="E97132"/>
      </a:accent2>
      <a:accent3>
        <a:srgbClr val="196B24"/>
      </a:accent3>
      <a:accent4>
        <a:srgbClr val="0F9ED5"/>
      </a:accent4>
      <a:accent5>
        <a:srgbClr val="A02B93"/>
      </a:accent5>
      <a:accent6>
        <a:srgbClr val="4EA72E"/>
      </a:accent6>
      <a:hlink>
        <a:srgbClr val="467886"/>
      </a:hlink>
      <a:folHlink>
        <a:srgbClr val="96607D"/>
      </a:folHlink>
    </a:clrScheme>
    <a:fontScheme name="Office">
      <a:majorFont>
        <a:latin typeface="游ゴシック Light" panose="0211000402020202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游ゴシック" panose="0211000402020202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12700" cap="flat" cmpd="sng" algn="ctr">
          <a:solidFill>
            <a:schemeClr val="phClr"/>
          </a:solidFill>
          <a:prstDash val="solid"/>
          <a:miter lim="800000"/>
        </a:ln>
        <a:ln w="19050" cap="flat" cmpd="sng" algn="ctr">
          <a:solidFill>
            <a:schemeClr val="phClr"/>
          </a:solidFill>
          <a:prstDash val="solid"/>
          <a:miter lim="800000"/>
        </a:ln>
        <a:ln w="2540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lnDef>
      <a:spPr/>
      <a:bodyPr/>
      <a:lstStyle/>
      <a:style>
        <a:lnRef idx="2">
          <a:schemeClr val="accent1"/>
        </a:lnRef>
        <a:fillRef idx="0">
          <a:schemeClr val="accent1"/>
        </a:fillRef>
        <a:effectRef idx="1">
          <a:schemeClr val="accent1"/>
        </a:effectRef>
        <a:fontRef idx="minor">
          <a:schemeClr val="tx1"/>
        </a:fontRef>
      </a:style>
    </a:lnDef>
  </a:objectDefaults>
  <a:extraClrSchemeLst/>
  <a:extLst>
    <a:ext uri="{05A4C25C-085E-4340-85A3-A5531E510DB2}">
      <thm15:themeFamily xmlns:thm15="http://schemas.microsoft.com/office/thememl/2012/main" name="Office Theme" id="{2E142A2C-CD16-42D6-873A-C26D2A0506FA}" vid="{1BDDFF52-6CD6-40A5-AB3C-68EB2F1E4D0A}"/>
    </a:ext>
  </a:extLst>
</a:theme>
</file>

<file path=docProps/app.xml><?xml version="1.0" encoding="utf-8"?>
<Properties xmlns="http://schemas.openxmlformats.org/officeDocument/2006/extended-properties" xmlns:vt="http://schemas.openxmlformats.org/officeDocument/2006/docPropsVTypes">
  <TotalTime>15212</TotalTime>
  <Words>3620</Words>
  <Application>Microsoft Office PowerPoint</Application>
  <PresentationFormat>ワイド画面</PresentationFormat>
  <Paragraphs>873</Paragraphs>
  <Slides>27</Slides>
  <Notes>1</Notes>
  <HiddenSlides>0</HiddenSlides>
  <MMClips>0</MMClips>
  <ScaleCrop>false</ScaleCrop>
  <HeadingPairs>
    <vt:vector size="6" baseType="variant">
      <vt:variant>
        <vt:lpstr>使用されているフォント</vt:lpstr>
      </vt:variant>
      <vt:variant>
        <vt:i4>5</vt:i4>
      </vt:variant>
      <vt:variant>
        <vt:lpstr>テーマ</vt:lpstr>
      </vt:variant>
      <vt:variant>
        <vt:i4>1</vt:i4>
      </vt:variant>
      <vt:variant>
        <vt:lpstr>スライド タイトル</vt:lpstr>
      </vt:variant>
      <vt:variant>
        <vt:i4>27</vt:i4>
      </vt:variant>
    </vt:vector>
  </HeadingPairs>
  <TitlesOfParts>
    <vt:vector size="33" baseType="lpstr">
      <vt:lpstr>Meiryo UI</vt:lpstr>
      <vt:lpstr>游ゴシック</vt:lpstr>
      <vt:lpstr>游ゴシック Light</vt:lpstr>
      <vt:lpstr>Arial</vt:lpstr>
      <vt:lpstr>Wingdings</vt:lpstr>
      <vt:lpstr>Office テーマ</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lpstr>PowerPoint プレゼンテーション</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優 福島</dc:creator>
  <cp:lastModifiedBy>優 福島</cp:lastModifiedBy>
  <cp:revision>10</cp:revision>
  <dcterms:created xsi:type="dcterms:W3CDTF">2026-05-08T14:56:09Z</dcterms:created>
  <dcterms:modified xsi:type="dcterms:W3CDTF">2026-05-26T00:51:00Z</dcterms:modified>
</cp:coreProperties>
</file>