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3" r:id="rId13"/>
    <p:sldId id="264" r:id="rId14"/>
    <p:sldId id="265" r:id="rId15"/>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0" d="100"/>
          <a:sy n="100" d="100"/>
        </p:scale>
        <p:origin x="42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9.xml"/><Relationship Id="rId8" Type="http://schemas.openxmlformats.org/officeDocument/2006/relationships/slide" Target="slides/slide10.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822960" y="4224528"/>
            <a:ext cx="1371600"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331720"/>
            <a:ext cx="10515600" cy="457200"/>
          </a:xfrm>
          <a:prstGeom prst="rect">
            <a:avLst/>
          </a:prstGeom>
          <a:noFill/>
        </p:spPr>
        <p:txBody>
          <a:bodyPr wrap="square" lIns="0" tIns="0" rIns="0" bIns="0" anchor="t">
            <a:spAutoFit/>
          </a:bodyPr>
          <a:lstStyle/>
          <a:p>
            <a:pPr algn="l">
              <a:lnSpc>
                <a:spcPct val="130000"/>
              </a:lnSpc>
              <a:spcAft>
                <a:spcPts val="400"/>
              </a:spcAft>
            </a:pPr>
            <a:r>
              <a:rPr sz="1500" b="0">
                <a:solidFill>
                  <a:srgbClr val="C7CDD8"/>
                </a:solidFill>
                <a:latin typeface="Meiryo"/>
              </a:rPr>
              <a:t>相続プラットフォーム</a:t>
            </a:r>
          </a:p>
        </p:txBody>
      </p:sp>
      <p:sp>
        <p:nvSpPr>
          <p:cNvPr id="5" name="TextBox 4"/>
          <p:cNvSpPr txBox="1"/>
          <p:nvPr/>
        </p:nvSpPr>
        <p:spPr>
          <a:xfrm>
            <a:off x="822960" y="2880360"/>
            <a:ext cx="10515600" cy="1188720"/>
          </a:xfrm>
          <a:prstGeom prst="rect">
            <a:avLst/>
          </a:prstGeom>
          <a:noFill/>
        </p:spPr>
        <p:txBody>
          <a:bodyPr wrap="square" lIns="0" tIns="0" rIns="0" bIns="0" anchor="t">
            <a:spAutoFit/>
          </a:bodyPr>
          <a:lstStyle/>
          <a:p>
            <a:pPr algn="l">
              <a:lnSpc>
                <a:spcPct val="130000"/>
              </a:lnSpc>
              <a:spcAft>
                <a:spcPts val="400"/>
              </a:spcAft>
            </a:pPr>
            <a:r>
              <a:rPr sz="4000" b="1">
                <a:solidFill>
                  <a:srgbClr val="FFFFFF"/>
                </a:solidFill>
                <a:latin typeface="Meiryo"/>
              </a:rPr>
              <a:t>サーバー構成のご提案</a:t>
            </a:r>
          </a:p>
        </p:txBody>
      </p:sp>
      <p:sp>
        <p:nvSpPr>
          <p:cNvPr id="6" name="TextBox 5"/>
          <p:cNvSpPr txBox="1"/>
          <p:nvPr/>
        </p:nvSpPr>
        <p:spPr>
          <a:xfrm>
            <a:off x="822960" y="4526280"/>
            <a:ext cx="10515600" cy="822960"/>
          </a:xfrm>
          <a:prstGeom prst="rect">
            <a:avLst/>
          </a:prstGeom>
          <a:noFill/>
        </p:spPr>
        <p:txBody>
          <a:bodyPr wrap="square" lIns="0" tIns="0" rIns="0" bIns="0" anchor="t">
            <a:spAutoFit/>
          </a:bodyPr>
          <a:lstStyle/>
          <a:p>
            <a:pPr algn="l">
              <a:lnSpc>
                <a:spcPct val="150000"/>
              </a:lnSpc>
              <a:spcAft>
                <a:spcPts val="400"/>
              </a:spcAft>
            </a:pPr>
            <a:r>
              <a:rPr sz="1400" b="0">
                <a:solidFill>
                  <a:srgbClr val="C7CDD8"/>
                </a:solidFill>
                <a:latin typeface="Meiryo"/>
              </a:rPr>
              <a:t>新規サーバー契約のご提案／システム構成／安全性／費用試算</a:t>
            </a:r>
          </a:p>
        </p:txBody>
      </p:sp>
      <p:sp>
        <p:nvSpPr>
          <p:cNvPr id="7" name="TextBox 6"/>
          <p:cNvSpPr txBox="1"/>
          <p:nvPr/>
        </p:nvSpPr>
        <p:spPr>
          <a:xfrm>
            <a:off x="822960" y="5943600"/>
            <a:ext cx="10515600" cy="365760"/>
          </a:xfrm>
          <a:prstGeom prst="rect">
            <a:avLst/>
          </a:prstGeom>
          <a:noFill/>
        </p:spPr>
        <p:txBody>
          <a:bodyPr wrap="square" lIns="0" tIns="0" rIns="0" bIns="0" anchor="t">
            <a:spAutoFit/>
          </a:bodyPr>
          <a:lstStyle/>
          <a:p>
            <a:pPr algn="l">
              <a:lnSpc>
                <a:spcPct val="130000"/>
              </a:lnSpc>
              <a:spcAft>
                <a:spcPts val="400"/>
              </a:spcAft>
            </a:pPr>
            <a:r>
              <a:rPr sz="1150" b="0">
                <a:solidFill>
                  <a:srgbClr val="6B7280"/>
                </a:solidFill>
                <a:latin typeface="Meiryo"/>
              </a:rPr>
              <a:t>2026年8月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66928" y="237744"/>
            <a:ext cx="8686800" cy="411480"/>
          </a:xfrm>
          <a:prstGeom prst="rect">
            <a:avLst/>
          </a:prstGeom>
          <a:noFill/>
        </p:spPr>
        <p:txBody>
          <a:bodyPr wrap="square" lIns="0" tIns="0" rIns="0" bIns="0" anchor="t">
            <a:spAutoFit/>
          </a:bodyPr>
          <a:lstStyle/>
          <a:p>
            <a:pPr algn="l">
              <a:lnSpc>
                <a:spcPct val="130000"/>
              </a:lnSpc>
              <a:spcAft>
                <a:spcPts val="400"/>
              </a:spcAft>
            </a:pPr>
            <a:r>
              <a:rPr sz="2200" b="1">
                <a:solidFill>
                  <a:srgbClr val="FFFFFF"/>
                </a:solidFill>
                <a:latin typeface="Meiryo"/>
              </a:rPr>
              <a:t>ご提案（結論）</a:t>
            </a:r>
          </a:p>
        </p:txBody>
      </p:sp>
      <p:sp>
        <p:nvSpPr>
          <p:cNvPr id="4" name="TextBox 3"/>
          <p:cNvSpPr txBox="1"/>
          <p:nvPr/>
        </p:nvSpPr>
        <p:spPr>
          <a:xfrm>
            <a:off x="566928" y="1024128"/>
            <a:ext cx="11064240" cy="365760"/>
          </a:xfrm>
          <a:prstGeom prst="rect">
            <a:avLst/>
          </a:prstGeom>
          <a:noFill/>
        </p:spPr>
        <p:txBody>
          <a:bodyPr wrap="square" lIns="0" tIns="0" rIns="0" bIns="0" anchor="t">
            <a:spAutoFit/>
          </a:bodyPr>
          <a:lstStyle/>
          <a:p>
            <a:pPr algn="l">
              <a:lnSpc>
                <a:spcPct val="130000"/>
              </a:lnSpc>
              <a:spcAft>
                <a:spcPts val="400"/>
              </a:spcAft>
            </a:pPr>
            <a:r>
              <a:rPr sz="1250" b="0">
                <a:solidFill>
                  <a:srgbClr val="6B7280"/>
                </a:solidFill>
                <a:latin typeface="Meiryo"/>
              </a:rPr>
              <a:t>既存サーバーではなく、新規にサーバーを契約して構築することをご提案します。</a:t>
            </a:r>
          </a:p>
        </p:txBody>
      </p:sp>
      <p:sp>
        <p:nvSpPr>
          <p:cNvPr id="5" name="Rounded Rectangle 4"/>
          <p:cNvSpPr/>
          <p:nvPr/>
        </p:nvSpPr>
        <p:spPr>
          <a:xfrm>
            <a:off x="566928" y="1600200"/>
            <a:ext cx="3529584" cy="3703320"/>
          </a:xfrm>
          <a:prstGeom prst="roundRect">
            <a:avLst>
              <a:gd name="adj" fmla="val 6000"/>
            </a:avLst>
          </a:prstGeom>
          <a:solidFill>
            <a:srgbClr val="FFFFFF"/>
          </a:solidFill>
          <a:ln w="12700">
            <a:solidFill>
              <a:srgbClr val="C7CD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566928" y="1600200"/>
            <a:ext cx="3529584" cy="82296"/>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59536" y="1938528"/>
            <a:ext cx="3017520" cy="365760"/>
          </a:xfrm>
          <a:prstGeom prst="rect">
            <a:avLst/>
          </a:prstGeom>
          <a:noFill/>
        </p:spPr>
        <p:txBody>
          <a:bodyPr wrap="square" lIns="0" tIns="0" rIns="0" bIns="0" anchor="t">
            <a:spAutoFit/>
          </a:bodyPr>
          <a:lstStyle/>
          <a:p>
            <a:pPr algn="l">
              <a:lnSpc>
                <a:spcPct val="130000"/>
              </a:lnSpc>
              <a:spcAft>
                <a:spcPts val="400"/>
              </a:spcAft>
            </a:pPr>
            <a:r>
              <a:rPr sz="1200" b="1">
                <a:solidFill>
                  <a:srgbClr val="4F46E5"/>
                </a:solidFill>
                <a:latin typeface="Meiryo"/>
              </a:rPr>
              <a:t>01</a:t>
            </a:r>
          </a:p>
        </p:txBody>
      </p:sp>
      <p:sp>
        <p:nvSpPr>
          <p:cNvPr id="8" name="TextBox 7"/>
          <p:cNvSpPr txBox="1"/>
          <p:nvPr/>
        </p:nvSpPr>
        <p:spPr>
          <a:xfrm>
            <a:off x="859536" y="2304288"/>
            <a:ext cx="3017520" cy="411480"/>
          </a:xfrm>
          <a:prstGeom prst="rect">
            <a:avLst/>
          </a:prstGeom>
          <a:noFill/>
        </p:spPr>
        <p:txBody>
          <a:bodyPr wrap="square" lIns="0" tIns="0" rIns="0" bIns="0" anchor="t">
            <a:spAutoFit/>
          </a:bodyPr>
          <a:lstStyle/>
          <a:p>
            <a:pPr algn="l">
              <a:lnSpc>
                <a:spcPct val="130000"/>
              </a:lnSpc>
              <a:spcAft>
                <a:spcPts val="400"/>
              </a:spcAft>
            </a:pPr>
            <a:r>
              <a:rPr sz="1700" b="1">
                <a:solidFill>
                  <a:srgbClr val="141A33"/>
                </a:solidFill>
                <a:latin typeface="Meiryo"/>
              </a:rPr>
              <a:t>手間が少ない</a:t>
            </a:r>
          </a:p>
        </p:txBody>
      </p:sp>
      <p:sp>
        <p:nvSpPr>
          <p:cNvPr id="9" name="TextBox 8"/>
          <p:cNvSpPr txBox="1"/>
          <p:nvPr/>
        </p:nvSpPr>
        <p:spPr>
          <a:xfrm>
            <a:off x="859536" y="2889504"/>
            <a:ext cx="3017520" cy="2286000"/>
          </a:xfrm>
          <a:prstGeom prst="rect">
            <a:avLst/>
          </a:prstGeom>
          <a:noFill/>
        </p:spPr>
        <p:txBody>
          <a:bodyPr wrap="square" lIns="0" tIns="0" rIns="0" bIns="0" anchor="t">
            <a:spAutoFit/>
          </a:bodyPr>
          <a:lstStyle/>
          <a:p>
            <a:pPr algn="l">
              <a:lnSpc>
                <a:spcPct val="150000"/>
              </a:lnSpc>
              <a:spcAft>
                <a:spcPts val="400"/>
              </a:spcAft>
            </a:pPr>
            <a:r>
              <a:rPr sz="1150" b="0">
                <a:solidFill>
                  <a:srgbClr val="6B7280"/>
                </a:solidFill>
                <a:latin typeface="Meiryo"/>
              </a:rPr>
              <a:t>既存サーバーは別のシステム会社様の</a:t>
            </a:r>
          </a:p>
          <a:p>
            <a:pPr algn="l">
              <a:lnSpc>
                <a:spcPct val="150000"/>
              </a:lnSpc>
              <a:spcAft>
                <a:spcPts val="400"/>
              </a:spcAft>
            </a:pPr>
            <a:r>
              <a:rPr sz="1150" b="0">
                <a:solidFill>
                  <a:srgbClr val="6B7280"/>
                </a:solidFill>
                <a:latin typeface="Meiryo"/>
              </a:rPr>
              <a:t>管理下にあり、設定変更や障害対応の</a:t>
            </a:r>
          </a:p>
          <a:p>
            <a:pPr algn="l">
              <a:lnSpc>
                <a:spcPct val="150000"/>
              </a:lnSpc>
              <a:spcAft>
                <a:spcPts val="400"/>
              </a:spcAft>
            </a:pPr>
            <a:r>
              <a:rPr sz="1150" b="0">
                <a:solidFill>
                  <a:srgbClr val="6B7280"/>
                </a:solidFill>
                <a:latin typeface="Meiryo"/>
              </a:rPr>
              <a:t>都度、依頼と調整が発生します。</a:t>
            </a:r>
          </a:p>
          <a:p>
            <a:pPr algn="l">
              <a:lnSpc>
                <a:spcPct val="150000"/>
              </a:lnSpc>
              <a:spcAft>
                <a:spcPts val="400"/>
              </a:spcAft>
            </a:pPr>
            <a:r>
              <a:rPr sz="1150" b="0">
                <a:solidFill>
                  <a:srgbClr val="6B7280"/>
                </a:solidFill>
                <a:latin typeface="Meiryo"/>
              </a:rPr>
              <a:t>新規契約なら当方で即時に対応でき、</a:t>
            </a:r>
          </a:p>
          <a:p>
            <a:pPr algn="l">
              <a:lnSpc>
                <a:spcPct val="150000"/>
              </a:lnSpc>
              <a:spcAft>
                <a:spcPts val="400"/>
              </a:spcAft>
            </a:pPr>
            <a:r>
              <a:rPr sz="1150" b="0">
                <a:solidFill>
                  <a:srgbClr val="6B7280"/>
                </a:solidFill>
                <a:latin typeface="Meiryo"/>
              </a:rPr>
              <a:t>開発スピードが落ちません。</a:t>
            </a:r>
          </a:p>
        </p:txBody>
      </p:sp>
      <p:sp>
        <p:nvSpPr>
          <p:cNvPr id="10" name="Rounded Rectangle 9"/>
          <p:cNvSpPr/>
          <p:nvPr/>
        </p:nvSpPr>
        <p:spPr>
          <a:xfrm>
            <a:off x="4334256" y="1600200"/>
            <a:ext cx="3529584" cy="3703320"/>
          </a:xfrm>
          <a:prstGeom prst="roundRect">
            <a:avLst>
              <a:gd name="adj" fmla="val 6000"/>
            </a:avLst>
          </a:prstGeom>
          <a:solidFill>
            <a:srgbClr val="FFFFFF"/>
          </a:solidFill>
          <a:ln w="12700">
            <a:solidFill>
              <a:srgbClr val="C7CD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4334256" y="1600200"/>
            <a:ext cx="3529584" cy="82296"/>
          </a:xfrm>
          <a:prstGeom prst="rect">
            <a:avLst/>
          </a:prstGeom>
          <a:solidFill>
            <a:srgbClr val="1F5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626864" y="1938528"/>
            <a:ext cx="3017520" cy="365760"/>
          </a:xfrm>
          <a:prstGeom prst="rect">
            <a:avLst/>
          </a:prstGeom>
          <a:noFill/>
        </p:spPr>
        <p:txBody>
          <a:bodyPr wrap="square" lIns="0" tIns="0" rIns="0" bIns="0" anchor="t">
            <a:spAutoFit/>
          </a:bodyPr>
          <a:lstStyle/>
          <a:p>
            <a:pPr algn="l">
              <a:lnSpc>
                <a:spcPct val="130000"/>
              </a:lnSpc>
              <a:spcAft>
                <a:spcPts val="400"/>
              </a:spcAft>
            </a:pPr>
            <a:r>
              <a:rPr sz="1200" b="1">
                <a:solidFill>
                  <a:srgbClr val="1F5E4B"/>
                </a:solidFill>
                <a:latin typeface="Meiryo"/>
              </a:rPr>
              <a:t>02</a:t>
            </a:r>
          </a:p>
        </p:txBody>
      </p:sp>
      <p:sp>
        <p:nvSpPr>
          <p:cNvPr id="13" name="TextBox 12"/>
          <p:cNvSpPr txBox="1"/>
          <p:nvPr/>
        </p:nvSpPr>
        <p:spPr>
          <a:xfrm>
            <a:off x="4626864" y="2304288"/>
            <a:ext cx="3017520" cy="411480"/>
          </a:xfrm>
          <a:prstGeom prst="rect">
            <a:avLst/>
          </a:prstGeom>
          <a:noFill/>
        </p:spPr>
        <p:txBody>
          <a:bodyPr wrap="square" lIns="0" tIns="0" rIns="0" bIns="0" anchor="t">
            <a:spAutoFit/>
          </a:bodyPr>
          <a:lstStyle/>
          <a:p>
            <a:pPr algn="l">
              <a:lnSpc>
                <a:spcPct val="130000"/>
              </a:lnSpc>
              <a:spcAft>
                <a:spcPts val="400"/>
              </a:spcAft>
            </a:pPr>
            <a:r>
              <a:rPr sz="1700" b="1">
                <a:solidFill>
                  <a:srgbClr val="141A33"/>
                </a:solidFill>
                <a:latin typeface="Meiryo"/>
              </a:rPr>
              <a:t>料金は変わらない</a:t>
            </a:r>
          </a:p>
        </p:txBody>
      </p:sp>
      <p:sp>
        <p:nvSpPr>
          <p:cNvPr id="14" name="TextBox 13"/>
          <p:cNvSpPr txBox="1"/>
          <p:nvPr/>
        </p:nvSpPr>
        <p:spPr>
          <a:xfrm>
            <a:off x="4626864" y="2889504"/>
            <a:ext cx="3017520" cy="2286000"/>
          </a:xfrm>
          <a:prstGeom prst="rect">
            <a:avLst/>
          </a:prstGeom>
          <a:noFill/>
        </p:spPr>
        <p:txBody>
          <a:bodyPr wrap="square" lIns="0" tIns="0" rIns="0" bIns="0" anchor="t">
            <a:spAutoFit/>
          </a:bodyPr>
          <a:lstStyle/>
          <a:p>
            <a:pPr algn="l">
              <a:lnSpc>
                <a:spcPct val="150000"/>
              </a:lnSpc>
              <a:spcAft>
                <a:spcPts val="400"/>
              </a:spcAft>
            </a:pPr>
            <a:r>
              <a:rPr sz="1150" b="0">
                <a:solidFill>
                  <a:srgbClr val="6B7280"/>
                </a:solidFill>
                <a:latin typeface="Meiryo"/>
              </a:rPr>
              <a:t>クラウドは基本料金がなく「使った分</a:t>
            </a:r>
          </a:p>
          <a:p>
            <a:pPr algn="l">
              <a:lnSpc>
                <a:spcPct val="150000"/>
              </a:lnSpc>
              <a:spcAft>
                <a:spcPts val="400"/>
              </a:spcAft>
            </a:pPr>
            <a:r>
              <a:rPr sz="1150" b="0">
                <a:solidFill>
                  <a:srgbClr val="6B7280"/>
                </a:solidFill>
                <a:latin typeface="Meiryo"/>
              </a:rPr>
              <a:t>だけ」の従量課金です。</a:t>
            </a:r>
          </a:p>
          <a:p>
            <a:pPr algn="l">
              <a:lnSpc>
                <a:spcPct val="150000"/>
              </a:lnSpc>
              <a:spcAft>
                <a:spcPts val="400"/>
              </a:spcAft>
            </a:pPr>
            <a:r>
              <a:rPr sz="1150" b="0">
                <a:solidFill>
                  <a:srgbClr val="6B7280"/>
                </a:solidFill>
                <a:latin typeface="Meiryo"/>
              </a:rPr>
              <a:t>そのため既存サーバーを使っても</a:t>
            </a:r>
          </a:p>
          <a:p>
            <a:pPr algn="l">
              <a:lnSpc>
                <a:spcPct val="150000"/>
              </a:lnSpc>
              <a:spcAft>
                <a:spcPts val="400"/>
              </a:spcAft>
            </a:pPr>
            <a:r>
              <a:rPr sz="1150" b="0">
                <a:solidFill>
                  <a:srgbClr val="6B7280"/>
                </a:solidFill>
                <a:latin typeface="Meiryo"/>
              </a:rPr>
              <a:t>新規で契約しても、同じ使い方なら</a:t>
            </a:r>
          </a:p>
          <a:p>
            <a:pPr algn="l">
              <a:lnSpc>
                <a:spcPct val="150000"/>
              </a:lnSpc>
              <a:spcAft>
                <a:spcPts val="400"/>
              </a:spcAft>
            </a:pPr>
            <a:r>
              <a:rPr sz="1150" b="0">
                <a:solidFill>
                  <a:srgbClr val="6B7280"/>
                </a:solidFill>
                <a:latin typeface="Meiryo"/>
              </a:rPr>
              <a:t>料金はほぼ変わりません。</a:t>
            </a:r>
          </a:p>
        </p:txBody>
      </p:sp>
      <p:sp>
        <p:nvSpPr>
          <p:cNvPr id="15" name="Rounded Rectangle 14"/>
          <p:cNvSpPr/>
          <p:nvPr/>
        </p:nvSpPr>
        <p:spPr>
          <a:xfrm>
            <a:off x="8101583" y="1600200"/>
            <a:ext cx="3529584" cy="3703320"/>
          </a:xfrm>
          <a:prstGeom prst="roundRect">
            <a:avLst>
              <a:gd name="adj" fmla="val 6000"/>
            </a:avLst>
          </a:prstGeom>
          <a:solidFill>
            <a:srgbClr val="FFFFFF"/>
          </a:solidFill>
          <a:ln w="12700">
            <a:solidFill>
              <a:srgbClr val="C7CD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101583" y="1600200"/>
            <a:ext cx="3529584"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394192" y="1938528"/>
            <a:ext cx="3017520" cy="365760"/>
          </a:xfrm>
          <a:prstGeom prst="rect">
            <a:avLst/>
          </a:prstGeom>
          <a:noFill/>
        </p:spPr>
        <p:txBody>
          <a:bodyPr wrap="square" lIns="0" tIns="0" rIns="0" bIns="0" anchor="t">
            <a:spAutoFit/>
          </a:bodyPr>
          <a:lstStyle/>
          <a:p>
            <a:pPr algn="l">
              <a:lnSpc>
                <a:spcPct val="130000"/>
              </a:lnSpc>
              <a:spcAft>
                <a:spcPts val="400"/>
              </a:spcAft>
            </a:pPr>
            <a:r>
              <a:rPr sz="1200" b="1">
                <a:solidFill>
                  <a:srgbClr val="1E2761"/>
                </a:solidFill>
                <a:latin typeface="Meiryo"/>
              </a:rPr>
              <a:t>03</a:t>
            </a:r>
          </a:p>
        </p:txBody>
      </p:sp>
      <p:sp>
        <p:nvSpPr>
          <p:cNvPr id="18" name="TextBox 17"/>
          <p:cNvSpPr txBox="1"/>
          <p:nvPr/>
        </p:nvSpPr>
        <p:spPr>
          <a:xfrm>
            <a:off x="8394192" y="2304288"/>
            <a:ext cx="3017520" cy="411480"/>
          </a:xfrm>
          <a:prstGeom prst="rect">
            <a:avLst/>
          </a:prstGeom>
          <a:noFill/>
        </p:spPr>
        <p:txBody>
          <a:bodyPr wrap="square" lIns="0" tIns="0" rIns="0" bIns="0" anchor="t">
            <a:spAutoFit/>
          </a:bodyPr>
          <a:lstStyle/>
          <a:p>
            <a:pPr algn="l">
              <a:lnSpc>
                <a:spcPct val="130000"/>
              </a:lnSpc>
              <a:spcAft>
                <a:spcPts val="400"/>
              </a:spcAft>
            </a:pPr>
            <a:r>
              <a:rPr sz="1700" b="1">
                <a:solidFill>
                  <a:srgbClr val="141A33"/>
                </a:solidFill>
                <a:latin typeface="Meiryo"/>
              </a:rPr>
              <a:t>安全性も担保</a:t>
            </a:r>
          </a:p>
        </p:txBody>
      </p:sp>
      <p:sp>
        <p:nvSpPr>
          <p:cNvPr id="19" name="TextBox 18"/>
          <p:cNvSpPr txBox="1"/>
          <p:nvPr/>
        </p:nvSpPr>
        <p:spPr>
          <a:xfrm>
            <a:off x="8394192" y="2889504"/>
            <a:ext cx="3017520" cy="2286000"/>
          </a:xfrm>
          <a:prstGeom prst="rect">
            <a:avLst/>
          </a:prstGeom>
          <a:noFill/>
        </p:spPr>
        <p:txBody>
          <a:bodyPr wrap="square" lIns="0" tIns="0" rIns="0" bIns="0" anchor="t">
            <a:spAutoFit/>
          </a:bodyPr>
          <a:lstStyle/>
          <a:p>
            <a:pPr algn="l">
              <a:lnSpc>
                <a:spcPct val="150000"/>
              </a:lnSpc>
              <a:spcAft>
                <a:spcPts val="400"/>
              </a:spcAft>
            </a:pPr>
            <a:r>
              <a:rPr sz="1150" b="0">
                <a:solidFill>
                  <a:srgbClr val="6B7280"/>
                </a:solidFill>
                <a:latin typeface="Meiryo"/>
              </a:rPr>
              <a:t>国内（東京）でのデータ保管、通信の</a:t>
            </a:r>
          </a:p>
          <a:p>
            <a:pPr algn="l">
              <a:lnSpc>
                <a:spcPct val="150000"/>
              </a:lnSpc>
              <a:spcAft>
                <a:spcPts val="400"/>
              </a:spcAft>
            </a:pPr>
            <a:r>
              <a:rPr sz="1150" b="0">
                <a:solidFill>
                  <a:srgbClr val="6B7280"/>
                </a:solidFill>
                <a:latin typeface="Meiryo"/>
              </a:rPr>
              <a:t>暗号化、権限による閲覧制御に対応。</a:t>
            </a:r>
          </a:p>
          <a:p>
            <a:pPr algn="l">
              <a:lnSpc>
                <a:spcPct val="150000"/>
              </a:lnSpc>
              <a:spcAft>
                <a:spcPts val="400"/>
              </a:spcAft>
            </a:pPr>
            <a:r>
              <a:rPr sz="1150" b="0">
                <a:solidFill>
                  <a:srgbClr val="6B7280"/>
                </a:solidFill>
                <a:latin typeface="Meiryo"/>
              </a:rPr>
              <a:t>AIに送るデータが学習に使われること</a:t>
            </a:r>
          </a:p>
          <a:p>
            <a:pPr algn="l">
              <a:lnSpc>
                <a:spcPct val="150000"/>
              </a:lnSpc>
              <a:spcAft>
                <a:spcPts val="400"/>
              </a:spcAft>
            </a:pPr>
            <a:r>
              <a:rPr sz="1150" b="0">
                <a:solidFill>
                  <a:srgbClr val="6B7280"/>
                </a:solidFill>
                <a:latin typeface="Meiryo"/>
              </a:rPr>
              <a:t>はありません。</a:t>
            </a:r>
          </a:p>
          <a:p>
            <a:pPr algn="l">
              <a:lnSpc>
                <a:spcPct val="150000"/>
              </a:lnSpc>
              <a:spcAft>
                <a:spcPts val="400"/>
              </a:spcAft>
            </a:pPr>
            <a:r>
              <a:rPr sz="1150" b="0">
                <a:solidFill>
                  <a:srgbClr val="6B7280"/>
                </a:solidFill>
                <a:latin typeface="Meiryo"/>
              </a:rPr>
              <a:t>安全性は既存と同等以上です。</a:t>
            </a:r>
          </a:p>
        </p:txBody>
      </p:sp>
      <p:sp>
        <p:nvSpPr>
          <p:cNvPr id="20" name="Rounded Rectangle 19"/>
          <p:cNvSpPr/>
          <p:nvPr/>
        </p:nvSpPr>
        <p:spPr>
          <a:xfrm>
            <a:off x="566928" y="5596128"/>
            <a:ext cx="11073384" cy="658368"/>
          </a:xfrm>
          <a:prstGeom prst="roundRect">
            <a:avLst>
              <a:gd name="adj" fmla="val 6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68680" y="5779008"/>
            <a:ext cx="10515600" cy="365760"/>
          </a:xfrm>
          <a:prstGeom prst="rect">
            <a:avLst/>
          </a:prstGeom>
          <a:noFill/>
        </p:spPr>
        <p:txBody>
          <a:bodyPr wrap="square" lIns="0" tIns="0" rIns="0" bIns="0" anchor="t">
            <a:spAutoFit/>
          </a:bodyPr>
          <a:lstStyle/>
          <a:p>
            <a:pPr algn="l">
              <a:lnSpc>
                <a:spcPct val="130000"/>
              </a:lnSpc>
              <a:spcAft>
                <a:spcPts val="400"/>
              </a:spcAft>
            </a:pPr>
            <a:r>
              <a:rPr sz="1250" b="1">
                <a:solidFill>
                  <a:srgbClr val="141A33"/>
                </a:solidFill>
                <a:latin typeface="Meiryo"/>
              </a:rPr>
              <a:t>お支払いは、当初は当方のカードで開始し、後日 御社のクレジットカードへ切り替え可能です。</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66928" y="237744"/>
            <a:ext cx="8686800" cy="411480"/>
          </a:xfrm>
          <a:prstGeom prst="rect">
            <a:avLst/>
          </a:prstGeom>
          <a:noFill/>
        </p:spPr>
        <p:txBody>
          <a:bodyPr wrap="square" lIns="0" tIns="0" rIns="0" bIns="0" anchor="t">
            <a:spAutoFit/>
          </a:bodyPr>
          <a:lstStyle/>
          <a:p>
            <a:pPr algn="l">
              <a:lnSpc>
                <a:spcPct val="130000"/>
              </a:lnSpc>
              <a:spcAft>
                <a:spcPts val="400"/>
              </a:spcAft>
            </a:pPr>
            <a:r>
              <a:rPr sz="2200" b="1">
                <a:solidFill>
                  <a:srgbClr val="FFFFFF"/>
                </a:solidFill>
                <a:latin typeface="Meiryo"/>
              </a:rPr>
              <a:t>システム構成</a:t>
            </a:r>
          </a:p>
        </p:txBody>
      </p:sp>
      <p:sp>
        <p:nvSpPr>
          <p:cNvPr id="4" name="TextBox 3"/>
          <p:cNvSpPr txBox="1"/>
          <p:nvPr/>
        </p:nvSpPr>
        <p:spPr>
          <a:xfrm>
            <a:off x="566928" y="1024128"/>
            <a:ext cx="11064240" cy="365760"/>
          </a:xfrm>
          <a:prstGeom prst="rect">
            <a:avLst/>
          </a:prstGeom>
          <a:noFill/>
        </p:spPr>
        <p:txBody>
          <a:bodyPr wrap="square" lIns="0" tIns="0" rIns="0" bIns="0" anchor="t">
            <a:spAutoFit/>
          </a:bodyPr>
          <a:lstStyle/>
          <a:p>
            <a:pPr algn="l">
              <a:lnSpc>
                <a:spcPct val="130000"/>
              </a:lnSpc>
              <a:spcAft>
                <a:spcPts val="400"/>
              </a:spcAft>
            </a:pPr>
            <a:r>
              <a:rPr sz="1250" b="0">
                <a:solidFill>
                  <a:srgbClr val="6B7280"/>
                </a:solidFill>
                <a:latin typeface="Meiryo"/>
              </a:rPr>
              <a:t>システムは「アプリ本体」「データベース」「AI・OCR」の3つの部品で構成されます。</a:t>
            </a:r>
          </a:p>
        </p:txBody>
      </p:sp>
      <p:sp>
        <p:nvSpPr>
          <p:cNvPr id="5" name="Rounded Rectangle 4"/>
          <p:cNvSpPr/>
          <p:nvPr/>
        </p:nvSpPr>
        <p:spPr>
          <a:xfrm>
            <a:off x="566928" y="1572768"/>
            <a:ext cx="6583680" cy="3246120"/>
          </a:xfrm>
          <a:prstGeom prst="roundRect">
            <a:avLst>
              <a:gd name="adj" fmla="val 6000"/>
            </a:avLst>
          </a:prstGeom>
          <a:solidFill>
            <a:srgbClr val="F2F4FB"/>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68680" y="1783080"/>
            <a:ext cx="5943600" cy="320040"/>
          </a:xfrm>
          <a:prstGeom prst="rect">
            <a:avLst/>
          </a:prstGeom>
          <a:noFill/>
        </p:spPr>
        <p:txBody>
          <a:bodyPr wrap="square" lIns="0" tIns="0" rIns="0" bIns="0" anchor="t">
            <a:spAutoFit/>
          </a:bodyPr>
          <a:lstStyle/>
          <a:p>
            <a:pPr algn="l">
              <a:lnSpc>
                <a:spcPct val="130000"/>
              </a:lnSpc>
              <a:spcAft>
                <a:spcPts val="400"/>
              </a:spcAft>
            </a:pPr>
            <a:r>
              <a:rPr sz="1300" b="1">
                <a:solidFill>
                  <a:srgbClr val="4F46E5"/>
                </a:solidFill>
                <a:latin typeface="Meiryo"/>
              </a:rPr>
              <a:t>Azure（Microsoft）　※今回 新規契約</a:t>
            </a:r>
          </a:p>
        </p:txBody>
      </p:sp>
      <p:sp>
        <p:nvSpPr>
          <p:cNvPr id="7" name="Rounded Rectangle 6"/>
          <p:cNvSpPr/>
          <p:nvPr/>
        </p:nvSpPr>
        <p:spPr>
          <a:xfrm>
            <a:off x="868680" y="2267712"/>
            <a:ext cx="2971800" cy="2240280"/>
          </a:xfrm>
          <a:prstGeom prst="roundRect">
            <a:avLst>
              <a:gd name="adj" fmla="val 6000"/>
            </a:avLst>
          </a:prstGeom>
          <a:solidFill>
            <a:srgbClr val="FFFFFF"/>
          </a:solidFill>
          <a:ln w="12700">
            <a:solidFill>
              <a:srgbClr val="C7CD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115568" y="2514600"/>
            <a:ext cx="2514600" cy="320040"/>
          </a:xfrm>
          <a:prstGeom prst="rect">
            <a:avLst/>
          </a:prstGeom>
          <a:noFill/>
        </p:spPr>
        <p:txBody>
          <a:bodyPr wrap="square" lIns="0" tIns="0" rIns="0" bIns="0" anchor="t">
            <a:spAutoFit/>
          </a:bodyPr>
          <a:lstStyle/>
          <a:p>
            <a:pPr algn="l">
              <a:lnSpc>
                <a:spcPct val="130000"/>
              </a:lnSpc>
              <a:spcAft>
                <a:spcPts val="400"/>
              </a:spcAft>
            </a:pPr>
            <a:r>
              <a:rPr sz="1500" b="1">
                <a:solidFill>
                  <a:srgbClr val="141A33"/>
                </a:solidFill>
                <a:latin typeface="Meiryo"/>
              </a:rPr>
              <a:t>アプリ本体</a:t>
            </a:r>
          </a:p>
        </p:txBody>
      </p:sp>
      <p:sp>
        <p:nvSpPr>
          <p:cNvPr id="9" name="TextBox 8"/>
          <p:cNvSpPr txBox="1"/>
          <p:nvPr/>
        </p:nvSpPr>
        <p:spPr>
          <a:xfrm>
            <a:off x="1115568" y="2926080"/>
            <a:ext cx="2514600" cy="1371600"/>
          </a:xfrm>
          <a:prstGeom prst="rect">
            <a:avLst/>
          </a:prstGeom>
          <a:noFill/>
        </p:spPr>
        <p:txBody>
          <a:bodyPr wrap="square" lIns="0" tIns="0" rIns="0" bIns="0" anchor="t">
            <a:spAutoFit/>
          </a:bodyPr>
          <a:lstStyle/>
          <a:p>
            <a:pPr algn="l">
              <a:lnSpc>
                <a:spcPct val="145000"/>
              </a:lnSpc>
              <a:spcAft>
                <a:spcPts val="400"/>
              </a:spcAft>
            </a:pPr>
            <a:r>
              <a:rPr sz="1150" b="0">
                <a:solidFill>
                  <a:srgbClr val="6B7280"/>
                </a:solidFill>
                <a:latin typeface="Meiryo"/>
              </a:rPr>
              <a:t>画面を表示して動かす</a:t>
            </a:r>
          </a:p>
          <a:p>
            <a:pPr algn="l">
              <a:lnSpc>
                <a:spcPct val="145000"/>
              </a:lnSpc>
              <a:spcAft>
                <a:spcPts val="400"/>
              </a:spcAft>
            </a:pPr>
            <a:r>
              <a:rPr sz="1150" b="0">
                <a:solidFill>
                  <a:srgbClr val="6B7280"/>
                </a:solidFill>
                <a:latin typeface="Meiryo"/>
              </a:rPr>
              <a:t>本体。社員が実際に</a:t>
            </a:r>
          </a:p>
          <a:p>
            <a:pPr algn="l">
              <a:lnSpc>
                <a:spcPct val="145000"/>
              </a:lnSpc>
              <a:spcAft>
                <a:spcPts val="400"/>
              </a:spcAft>
            </a:pPr>
            <a:r>
              <a:rPr sz="1150" b="0">
                <a:solidFill>
                  <a:srgbClr val="6B7280"/>
                </a:solidFill>
                <a:latin typeface="Meiryo"/>
              </a:rPr>
              <a:t>触る部分。</a:t>
            </a:r>
          </a:p>
          <a:p>
            <a:pPr algn="l">
              <a:lnSpc>
                <a:spcPct val="145000"/>
              </a:lnSpc>
              <a:spcAft>
                <a:spcPts val="400"/>
              </a:spcAft>
            </a:pPr>
            <a:endParaRPr sz="1150" b="0">
              <a:solidFill>
                <a:srgbClr val="6B7280"/>
              </a:solidFill>
              <a:latin typeface="Meiryo"/>
            </a:endParaRPr>
          </a:p>
          <a:p>
            <a:pPr algn="l">
              <a:lnSpc>
                <a:spcPct val="145000"/>
              </a:lnSpc>
              <a:spcAft>
                <a:spcPts val="400"/>
              </a:spcAft>
            </a:pPr>
            <a:r>
              <a:rPr sz="1150" b="0">
                <a:solidFill>
                  <a:srgbClr val="6B7280"/>
                </a:solidFill>
                <a:latin typeface="Meiryo"/>
              </a:rPr>
              <a:t>現在：Render</a:t>
            </a:r>
          </a:p>
        </p:txBody>
      </p:sp>
      <p:sp>
        <p:nvSpPr>
          <p:cNvPr id="10" name="Rounded Rectangle 9"/>
          <p:cNvSpPr/>
          <p:nvPr/>
        </p:nvSpPr>
        <p:spPr>
          <a:xfrm>
            <a:off x="4069080" y="2267712"/>
            <a:ext cx="2880360" cy="2240280"/>
          </a:xfrm>
          <a:prstGeom prst="roundRect">
            <a:avLst>
              <a:gd name="adj" fmla="val 6000"/>
            </a:avLst>
          </a:prstGeom>
          <a:solidFill>
            <a:srgbClr val="FFFFFF"/>
          </a:solidFill>
          <a:ln w="12700">
            <a:solidFill>
              <a:srgbClr val="C7CD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315968" y="2514600"/>
            <a:ext cx="2423160" cy="320040"/>
          </a:xfrm>
          <a:prstGeom prst="rect">
            <a:avLst/>
          </a:prstGeom>
          <a:noFill/>
        </p:spPr>
        <p:txBody>
          <a:bodyPr wrap="square" lIns="0" tIns="0" rIns="0" bIns="0" anchor="t">
            <a:spAutoFit/>
          </a:bodyPr>
          <a:lstStyle/>
          <a:p>
            <a:pPr algn="l">
              <a:lnSpc>
                <a:spcPct val="130000"/>
              </a:lnSpc>
              <a:spcAft>
                <a:spcPts val="400"/>
              </a:spcAft>
            </a:pPr>
            <a:r>
              <a:rPr sz="1500" b="1">
                <a:solidFill>
                  <a:srgbClr val="141A33"/>
                </a:solidFill>
                <a:latin typeface="Meiryo"/>
              </a:rPr>
              <a:t>AI・OCR</a:t>
            </a:r>
          </a:p>
        </p:txBody>
      </p:sp>
      <p:sp>
        <p:nvSpPr>
          <p:cNvPr id="12" name="TextBox 11"/>
          <p:cNvSpPr txBox="1"/>
          <p:nvPr/>
        </p:nvSpPr>
        <p:spPr>
          <a:xfrm>
            <a:off x="4315968" y="2926080"/>
            <a:ext cx="2423160" cy="1371600"/>
          </a:xfrm>
          <a:prstGeom prst="rect">
            <a:avLst/>
          </a:prstGeom>
          <a:noFill/>
        </p:spPr>
        <p:txBody>
          <a:bodyPr wrap="square" lIns="0" tIns="0" rIns="0" bIns="0" anchor="t">
            <a:spAutoFit/>
          </a:bodyPr>
          <a:lstStyle/>
          <a:p>
            <a:pPr algn="l">
              <a:lnSpc>
                <a:spcPct val="145000"/>
              </a:lnSpc>
              <a:spcAft>
                <a:spcPts val="400"/>
              </a:spcAft>
            </a:pPr>
            <a:r>
              <a:rPr sz="1150" b="0">
                <a:solidFill>
                  <a:srgbClr val="6B7280"/>
                </a:solidFill>
                <a:latin typeface="Meiryo"/>
              </a:rPr>
              <a:t>戸籍の読み取りと</a:t>
            </a:r>
          </a:p>
          <a:p>
            <a:pPr algn="l">
              <a:lnSpc>
                <a:spcPct val="145000"/>
              </a:lnSpc>
              <a:spcAft>
                <a:spcPts val="400"/>
              </a:spcAft>
            </a:pPr>
            <a:r>
              <a:rPr sz="1150" b="0">
                <a:solidFill>
                  <a:srgbClr val="6B7280"/>
                </a:solidFill>
                <a:latin typeface="Meiryo"/>
              </a:rPr>
              <a:t>書類の自動作成。</a:t>
            </a:r>
          </a:p>
          <a:p>
            <a:pPr algn="l">
              <a:lnSpc>
                <a:spcPct val="145000"/>
              </a:lnSpc>
              <a:spcAft>
                <a:spcPts val="400"/>
              </a:spcAft>
            </a:pPr>
            <a:r>
              <a:rPr sz="1150" b="0">
                <a:solidFill>
                  <a:srgbClr val="6B7280"/>
                </a:solidFill>
                <a:latin typeface="Meiryo"/>
              </a:rPr>
              <a:t>Claude を使用。</a:t>
            </a:r>
          </a:p>
          <a:p>
            <a:pPr algn="l">
              <a:lnSpc>
                <a:spcPct val="145000"/>
              </a:lnSpc>
              <a:spcAft>
                <a:spcPts val="400"/>
              </a:spcAft>
            </a:pPr>
            <a:endParaRPr sz="1150" b="0">
              <a:solidFill>
                <a:srgbClr val="6B7280"/>
              </a:solidFill>
              <a:latin typeface="Meiryo"/>
            </a:endParaRPr>
          </a:p>
          <a:p>
            <a:pPr algn="l">
              <a:lnSpc>
                <a:spcPct val="145000"/>
              </a:lnSpc>
              <a:spcAft>
                <a:spcPts val="400"/>
              </a:spcAft>
            </a:pPr>
            <a:r>
              <a:rPr sz="1150" b="0">
                <a:solidFill>
                  <a:srgbClr val="6B7280"/>
                </a:solidFill>
                <a:latin typeface="Meiryo"/>
              </a:rPr>
              <a:t>現在：米国／今後：Azure内</a:t>
            </a:r>
          </a:p>
        </p:txBody>
      </p:sp>
      <p:sp>
        <p:nvSpPr>
          <p:cNvPr id="13" name="Rectangle 12"/>
          <p:cNvSpPr/>
          <p:nvPr/>
        </p:nvSpPr>
        <p:spPr>
          <a:xfrm>
            <a:off x="7269480" y="3246120"/>
            <a:ext cx="566928" cy="45720"/>
          </a:xfrm>
          <a:prstGeom prst="rect">
            <a:avLst/>
          </a:prstGeom>
          <a:solidFill>
            <a:srgbClr val="C7C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7936992" y="1572768"/>
            <a:ext cx="3703320" cy="3246120"/>
          </a:xfrm>
          <a:prstGeom prst="roundRect">
            <a:avLst>
              <a:gd name="adj" fmla="val 6000"/>
            </a:avLst>
          </a:prstGeom>
          <a:solidFill>
            <a:srgbClr val="F2F8F6"/>
          </a:solidFill>
          <a:ln w="12700">
            <a:solidFill>
              <a:srgbClr val="1F5E4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229600" y="1783080"/>
            <a:ext cx="3200400" cy="320040"/>
          </a:xfrm>
          <a:prstGeom prst="rect">
            <a:avLst/>
          </a:prstGeom>
          <a:noFill/>
        </p:spPr>
        <p:txBody>
          <a:bodyPr wrap="square" lIns="0" tIns="0" rIns="0" bIns="0" anchor="t">
            <a:spAutoFit/>
          </a:bodyPr>
          <a:lstStyle/>
          <a:p>
            <a:pPr algn="l">
              <a:lnSpc>
                <a:spcPct val="130000"/>
              </a:lnSpc>
              <a:spcAft>
                <a:spcPts val="400"/>
              </a:spcAft>
            </a:pPr>
            <a:r>
              <a:rPr sz="1300" b="1">
                <a:solidFill>
                  <a:srgbClr val="1F5E4B"/>
                </a:solidFill>
                <a:latin typeface="Meiryo"/>
                <a:ea typeface="Meiryo"/>
              </a:rPr>
              <a:t>Supabase（東京リージョン）</a:t>
            </a:r>
          </a:p>
        </p:txBody>
      </p:sp>
      <p:sp>
        <p:nvSpPr>
          <p:cNvPr id="16" name="Rounded Rectangle 15"/>
          <p:cNvSpPr/>
          <p:nvPr/>
        </p:nvSpPr>
        <p:spPr>
          <a:xfrm>
            <a:off x="8229600" y="2267712"/>
            <a:ext cx="3108960" cy="2240280"/>
          </a:xfrm>
          <a:prstGeom prst="roundRect">
            <a:avLst>
              <a:gd name="adj" fmla="val 6000"/>
            </a:avLst>
          </a:prstGeom>
          <a:solidFill>
            <a:srgbClr val="FFFFFF"/>
          </a:solidFill>
          <a:ln w="12700">
            <a:solidFill>
              <a:srgbClr val="C7CD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476488" y="2514600"/>
            <a:ext cx="2651760" cy="320040"/>
          </a:xfrm>
          <a:prstGeom prst="rect">
            <a:avLst/>
          </a:prstGeom>
          <a:noFill/>
        </p:spPr>
        <p:txBody>
          <a:bodyPr wrap="square" lIns="0" tIns="0" rIns="0" bIns="0" anchor="t">
            <a:spAutoFit/>
          </a:bodyPr>
          <a:lstStyle/>
          <a:p>
            <a:pPr algn="l">
              <a:lnSpc>
                <a:spcPct val="130000"/>
              </a:lnSpc>
              <a:spcAft>
                <a:spcPts val="400"/>
              </a:spcAft>
            </a:pPr>
            <a:r>
              <a:rPr sz="1500" b="1">
                <a:solidFill>
                  <a:srgbClr val="141A33"/>
                </a:solidFill>
                <a:latin typeface="Meiryo"/>
              </a:rPr>
              <a:t>データベース</a:t>
            </a:r>
          </a:p>
        </p:txBody>
      </p:sp>
      <p:sp>
        <p:nvSpPr>
          <p:cNvPr id="18" name="TextBox 17"/>
          <p:cNvSpPr txBox="1"/>
          <p:nvPr/>
        </p:nvSpPr>
        <p:spPr>
          <a:xfrm>
            <a:off x="8476488" y="2926080"/>
            <a:ext cx="2651760" cy="1463040"/>
          </a:xfrm>
          <a:prstGeom prst="rect">
            <a:avLst/>
          </a:prstGeom>
          <a:noFill/>
        </p:spPr>
        <p:txBody>
          <a:bodyPr wrap="square" lIns="0" tIns="0" rIns="0" bIns="0" anchor="t">
            <a:spAutoFit/>
          </a:bodyPr>
          <a:lstStyle/>
          <a:p>
            <a:pPr algn="l">
              <a:lnSpc>
                <a:spcPct val="145000"/>
              </a:lnSpc>
              <a:spcAft>
                <a:spcPts val="400"/>
              </a:spcAft>
            </a:pPr>
            <a:r>
              <a:rPr sz="1150" b="0">
                <a:solidFill>
                  <a:srgbClr val="6B7280"/>
                </a:solidFill>
                <a:latin typeface="Meiryo"/>
                <a:ea typeface="Meiryo"/>
              </a:rPr>
              <a:t>案件・依頼者情報を</a:t>
            </a:r>
          </a:p>
          <a:p>
            <a:r>
              <a:rPr sz="1150" b="0">
                <a:solidFill>
                  <a:srgbClr val="6B7280"/>
                </a:solidFill>
                <a:latin typeface="Meiryo"/>
                <a:ea typeface="Meiryo"/>
              </a:rPr>
              <a:t>保管する倉庫。</a:t>
            </a:r>
          </a:p>
          <a:p>
            <a:r>
              <a:rPr sz="1150" b="0">
                <a:solidFill>
                  <a:srgbClr val="6B7280"/>
                </a:solidFill>
                <a:latin typeface="Meiryo"/>
                <a:ea typeface="Meiryo"/>
              </a:rPr>
              <a:t>ログイン管理や</a:t>
            </a:r>
          </a:p>
          <a:p>
            <a:r>
              <a:rPr sz="1150" b="0">
                <a:solidFill>
                  <a:srgbClr val="6B7280"/>
                </a:solidFill>
                <a:latin typeface="Meiryo"/>
                <a:ea typeface="Meiryo"/>
              </a:rPr>
              <a:t>ファイル保管も担当。</a:t>
            </a:r>
          </a:p>
          <a:p>
            <a:r>
              <a:rPr sz="1150" b="0">
                <a:solidFill>
                  <a:srgbClr val="6B7280"/>
                </a:solidFill>
                <a:latin typeface="Meiryo"/>
                <a:ea typeface="Meiryo"/>
              </a:rPr>
              <a:t/>
            </a:r>
          </a:p>
          <a:p>
            <a:r>
              <a:rPr sz="1150" b="0">
                <a:solidFill>
                  <a:srgbClr val="6B7280"/>
                </a:solidFill>
                <a:latin typeface="Meiryo"/>
                <a:ea typeface="Meiryo"/>
              </a:rPr>
              <a:t>東京リージョン</a:t>
            </a:r>
          </a:p>
          <a:p>
            <a:r>
              <a:rPr sz="1150" b="0">
                <a:solidFill>
                  <a:srgbClr val="6B7280"/>
                </a:solidFill>
                <a:latin typeface="Meiryo"/>
                <a:ea typeface="Meiryo"/>
              </a:rPr>
              <a:t>（2026年8月 移行完了）</a:t>
            </a:r>
          </a:p>
        </p:txBody>
      </p:sp>
      <p:sp>
        <p:nvSpPr>
          <p:cNvPr id="19" name="Rounded Rectangle 18"/>
          <p:cNvSpPr/>
          <p:nvPr/>
        </p:nvSpPr>
        <p:spPr>
          <a:xfrm>
            <a:off x="566928" y="5074920"/>
            <a:ext cx="11073384" cy="1207008"/>
          </a:xfrm>
          <a:prstGeom prst="roundRect">
            <a:avLst>
              <a:gd name="adj" fmla="val 6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68680" y="5285232"/>
            <a:ext cx="10515600" cy="822960"/>
          </a:xfrm>
          <a:prstGeom prst="rect">
            <a:avLst/>
          </a:prstGeom>
          <a:noFill/>
        </p:spPr>
        <p:txBody>
          <a:bodyPr wrap="square" lIns="0" tIns="0" rIns="0" bIns="0" anchor="t">
            <a:spAutoFit/>
          </a:bodyPr>
          <a:lstStyle/>
          <a:p>
            <a:pPr algn="l">
              <a:lnSpc>
                <a:spcPct val="150000"/>
              </a:lnSpc>
              <a:spcAft>
                <a:spcPts val="400"/>
              </a:spcAft>
            </a:pPr>
            <a:r>
              <a:rPr sz="1250" b="0">
                <a:solidFill>
                  <a:srgbClr val="141A33"/>
                </a:solidFill>
                <a:latin typeface="Meiryo"/>
                <a:ea typeface="Meiryo"/>
              </a:rPr>
              <a:t>今回 Azure に新しく置くのは「アプリ本体」と「AI・OCR」の2つです。</a:t>
            </a:r>
          </a:p>
          <a:p>
            <a:r>
              <a:rPr sz="1250" b="0">
                <a:solidFill>
                  <a:srgbClr val="141A33"/>
                </a:solidFill>
                <a:latin typeface="Meiryo"/>
                <a:ea typeface="Meiryo"/>
              </a:rPr>
              <a:t>データベースは Supabase を継続利用し、保管先は東京リージョン（国内保管）へ移行済みです。</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66928" y="237744"/>
            <a:ext cx="8686800" cy="411480"/>
          </a:xfrm>
          <a:prstGeom prst="rect">
            <a:avLst/>
          </a:prstGeom>
          <a:noFill/>
        </p:spPr>
        <p:txBody>
          <a:bodyPr wrap="square" lIns="0" tIns="0" rIns="0" bIns="0" anchor="t">
            <a:spAutoFit/>
          </a:bodyPr>
          <a:lstStyle/>
          <a:p>
            <a:pPr algn="l">
              <a:lnSpc>
                <a:spcPct val="130000"/>
              </a:lnSpc>
              <a:spcAft>
                <a:spcPts val="400"/>
              </a:spcAft>
            </a:pPr>
            <a:r>
              <a:rPr sz="2200" b="1">
                <a:solidFill>
                  <a:srgbClr val="FFFFFF"/>
                </a:solidFill>
                <a:latin typeface="Meiryo"/>
              </a:rPr>
              <a:t>なぜ「新規契約」なのか</a:t>
            </a:r>
          </a:p>
        </p:txBody>
      </p:sp>
      <p:sp>
        <p:nvSpPr>
          <p:cNvPr id="4" name="TextBox 3"/>
          <p:cNvSpPr txBox="1"/>
          <p:nvPr/>
        </p:nvSpPr>
        <p:spPr>
          <a:xfrm>
            <a:off x="566928" y="1024128"/>
            <a:ext cx="11064240" cy="365760"/>
          </a:xfrm>
          <a:prstGeom prst="rect">
            <a:avLst/>
          </a:prstGeom>
          <a:noFill/>
        </p:spPr>
        <p:txBody>
          <a:bodyPr wrap="square" lIns="0" tIns="0" rIns="0" bIns="0" anchor="t">
            <a:spAutoFit/>
          </a:bodyPr>
          <a:lstStyle/>
          <a:p>
            <a:pPr algn="l">
              <a:lnSpc>
                <a:spcPct val="130000"/>
              </a:lnSpc>
              <a:spcAft>
                <a:spcPts val="400"/>
              </a:spcAft>
            </a:pPr>
            <a:r>
              <a:rPr sz="1250" b="0">
                <a:solidFill>
                  <a:srgbClr val="6B7280"/>
                </a:solidFill>
                <a:latin typeface="Meiryo"/>
              </a:rPr>
              <a:t>料金は同じため、判断のポイントは「管理のしやすさ」と「対応スピード」です。</a:t>
            </a:r>
          </a:p>
        </p:txBody>
      </p:sp>
      <p:sp>
        <p:nvSpPr>
          <p:cNvPr id="5" name="TextBox 4"/>
          <p:cNvSpPr txBox="1"/>
          <p:nvPr/>
        </p:nvSpPr>
        <p:spPr>
          <a:xfrm>
            <a:off x="566928" y="1627632"/>
            <a:ext cx="2926080" cy="320040"/>
          </a:xfrm>
          <a:prstGeom prst="rect">
            <a:avLst/>
          </a:prstGeom>
          <a:noFill/>
        </p:spPr>
        <p:txBody>
          <a:bodyPr wrap="square" lIns="0" tIns="0" rIns="0" bIns="0" anchor="t">
            <a:spAutoFit/>
          </a:bodyPr>
          <a:lstStyle/>
          <a:p>
            <a:pPr algn="l">
              <a:lnSpc>
                <a:spcPct val="130000"/>
              </a:lnSpc>
              <a:spcAft>
                <a:spcPts val="400"/>
              </a:spcAft>
            </a:pPr>
            <a:r>
              <a:rPr sz="1200" b="1">
                <a:solidFill>
                  <a:srgbClr val="6B7280"/>
                </a:solidFill>
                <a:latin typeface="Meiryo"/>
              </a:rPr>
              <a:t>比較の観点</a:t>
            </a:r>
          </a:p>
        </p:txBody>
      </p:sp>
      <p:sp>
        <p:nvSpPr>
          <p:cNvPr id="6" name="Rounded Rectangle 5"/>
          <p:cNvSpPr/>
          <p:nvPr/>
        </p:nvSpPr>
        <p:spPr>
          <a:xfrm>
            <a:off x="3703320" y="1536192"/>
            <a:ext cx="3931920" cy="502920"/>
          </a:xfrm>
          <a:prstGeom prst="roundRect">
            <a:avLst>
              <a:gd name="adj" fmla="val 6000"/>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3931920" y="1645920"/>
            <a:ext cx="3566160" cy="320040"/>
          </a:xfrm>
          <a:prstGeom prst="rect">
            <a:avLst/>
          </a:prstGeom>
          <a:noFill/>
        </p:spPr>
        <p:txBody>
          <a:bodyPr wrap="square" lIns="0" tIns="0" rIns="0" bIns="0" anchor="t">
            <a:spAutoFit/>
          </a:bodyPr>
          <a:lstStyle/>
          <a:p>
            <a:pPr algn="l">
              <a:lnSpc>
                <a:spcPct val="130000"/>
              </a:lnSpc>
              <a:spcAft>
                <a:spcPts val="400"/>
              </a:spcAft>
            </a:pPr>
            <a:r>
              <a:rPr sz="1350" b="1">
                <a:solidFill>
                  <a:srgbClr val="6B7280"/>
                </a:solidFill>
                <a:latin typeface="Meiryo"/>
              </a:rPr>
              <a:t>既存サーバーを利用</a:t>
            </a:r>
          </a:p>
        </p:txBody>
      </p:sp>
      <p:sp>
        <p:nvSpPr>
          <p:cNvPr id="8" name="Rounded Rectangle 7"/>
          <p:cNvSpPr/>
          <p:nvPr/>
        </p:nvSpPr>
        <p:spPr>
          <a:xfrm>
            <a:off x="7818120" y="1536192"/>
            <a:ext cx="3931920" cy="502920"/>
          </a:xfrm>
          <a:prstGeom prst="roundRect">
            <a:avLst>
              <a:gd name="adj" fmla="val 6000"/>
            </a:avLst>
          </a:prstGeom>
          <a:solidFill>
            <a:srgbClr val="F2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046720" y="1645920"/>
            <a:ext cx="3566160" cy="320040"/>
          </a:xfrm>
          <a:prstGeom prst="rect">
            <a:avLst/>
          </a:prstGeom>
          <a:noFill/>
        </p:spPr>
        <p:txBody>
          <a:bodyPr wrap="square" lIns="0" tIns="0" rIns="0" bIns="0" anchor="t">
            <a:spAutoFit/>
          </a:bodyPr>
          <a:lstStyle/>
          <a:p>
            <a:pPr algn="l">
              <a:lnSpc>
                <a:spcPct val="130000"/>
              </a:lnSpc>
              <a:spcAft>
                <a:spcPts val="400"/>
              </a:spcAft>
            </a:pPr>
            <a:r>
              <a:rPr sz="1350" b="1">
                <a:solidFill>
                  <a:srgbClr val="4F46E5"/>
                </a:solidFill>
                <a:latin typeface="Meiryo"/>
              </a:rPr>
              <a:t>新規で契約（ご提案）</a:t>
            </a:r>
          </a:p>
        </p:txBody>
      </p:sp>
      <p:sp>
        <p:nvSpPr>
          <p:cNvPr id="10" name="TextBox 9"/>
          <p:cNvSpPr txBox="1"/>
          <p:nvPr/>
        </p:nvSpPr>
        <p:spPr>
          <a:xfrm>
            <a:off x="566928" y="2212848"/>
            <a:ext cx="2926080" cy="365760"/>
          </a:xfrm>
          <a:prstGeom prst="rect">
            <a:avLst/>
          </a:prstGeom>
          <a:noFill/>
        </p:spPr>
        <p:txBody>
          <a:bodyPr wrap="square" lIns="0" tIns="0" rIns="0" bIns="0" anchor="t">
            <a:spAutoFit/>
          </a:bodyPr>
          <a:lstStyle/>
          <a:p>
            <a:pPr algn="l">
              <a:lnSpc>
                <a:spcPct val="130000"/>
              </a:lnSpc>
              <a:spcAft>
                <a:spcPts val="400"/>
              </a:spcAft>
            </a:pPr>
            <a:r>
              <a:rPr sz="1250" b="1">
                <a:solidFill>
                  <a:srgbClr val="141A33"/>
                </a:solidFill>
                <a:latin typeface="Meiryo"/>
              </a:rPr>
              <a:t>料金</a:t>
            </a:r>
          </a:p>
        </p:txBody>
      </p:sp>
      <p:sp>
        <p:nvSpPr>
          <p:cNvPr id="11" name="TextBox 10"/>
          <p:cNvSpPr txBox="1"/>
          <p:nvPr/>
        </p:nvSpPr>
        <p:spPr>
          <a:xfrm>
            <a:off x="3931920" y="2212848"/>
            <a:ext cx="3657600" cy="457200"/>
          </a:xfrm>
          <a:prstGeom prst="rect">
            <a:avLst/>
          </a:prstGeom>
          <a:noFill/>
        </p:spPr>
        <p:txBody>
          <a:bodyPr wrap="square" lIns="0" tIns="0" rIns="0" bIns="0" anchor="t">
            <a:spAutoFit/>
          </a:bodyPr>
          <a:lstStyle/>
          <a:p>
            <a:pPr algn="l">
              <a:lnSpc>
                <a:spcPct val="130000"/>
              </a:lnSpc>
              <a:spcAft>
                <a:spcPts val="400"/>
              </a:spcAft>
            </a:pPr>
            <a:r>
              <a:rPr sz="1200" b="0">
                <a:solidFill>
                  <a:srgbClr val="6B7280"/>
                </a:solidFill>
                <a:latin typeface="Meiryo"/>
              </a:rPr>
              <a:t>従量課金</a:t>
            </a:r>
          </a:p>
        </p:txBody>
      </p:sp>
      <p:sp>
        <p:nvSpPr>
          <p:cNvPr id="12" name="TextBox 11"/>
          <p:cNvSpPr txBox="1"/>
          <p:nvPr/>
        </p:nvSpPr>
        <p:spPr>
          <a:xfrm>
            <a:off x="8046720" y="2212848"/>
            <a:ext cx="3657600" cy="457200"/>
          </a:xfrm>
          <a:prstGeom prst="rect">
            <a:avLst/>
          </a:prstGeom>
          <a:noFill/>
        </p:spPr>
        <p:txBody>
          <a:bodyPr wrap="square" lIns="0" tIns="0" rIns="0" bIns="0" anchor="t">
            <a:spAutoFit/>
          </a:bodyPr>
          <a:lstStyle/>
          <a:p>
            <a:pPr algn="l">
              <a:lnSpc>
                <a:spcPct val="130000"/>
              </a:lnSpc>
              <a:spcAft>
                <a:spcPts val="400"/>
              </a:spcAft>
            </a:pPr>
            <a:r>
              <a:rPr sz="1200" b="0">
                <a:solidFill>
                  <a:srgbClr val="141A33"/>
                </a:solidFill>
                <a:latin typeface="Meiryo"/>
              </a:rPr>
              <a:t>同じ（従量課金）</a:t>
            </a:r>
          </a:p>
        </p:txBody>
      </p:sp>
      <p:sp>
        <p:nvSpPr>
          <p:cNvPr id="13" name="Rectangle 12"/>
          <p:cNvSpPr/>
          <p:nvPr/>
        </p:nvSpPr>
        <p:spPr>
          <a:xfrm>
            <a:off x="566928" y="2862072"/>
            <a:ext cx="11183112" cy="658368"/>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66928" y="2962656"/>
            <a:ext cx="2926080" cy="365760"/>
          </a:xfrm>
          <a:prstGeom prst="rect">
            <a:avLst/>
          </a:prstGeom>
          <a:noFill/>
        </p:spPr>
        <p:txBody>
          <a:bodyPr wrap="square" lIns="0" tIns="0" rIns="0" bIns="0" anchor="t">
            <a:spAutoFit/>
          </a:bodyPr>
          <a:lstStyle/>
          <a:p>
            <a:pPr algn="l">
              <a:lnSpc>
                <a:spcPct val="130000"/>
              </a:lnSpc>
              <a:spcAft>
                <a:spcPts val="400"/>
              </a:spcAft>
            </a:pPr>
            <a:r>
              <a:rPr sz="1250" b="1">
                <a:solidFill>
                  <a:srgbClr val="141A33"/>
                </a:solidFill>
                <a:latin typeface="Meiryo"/>
              </a:rPr>
              <a:t>設定変更</a:t>
            </a:r>
          </a:p>
        </p:txBody>
      </p:sp>
      <p:sp>
        <p:nvSpPr>
          <p:cNvPr id="15" name="TextBox 14"/>
          <p:cNvSpPr txBox="1"/>
          <p:nvPr/>
        </p:nvSpPr>
        <p:spPr>
          <a:xfrm>
            <a:off x="3931920" y="2962656"/>
            <a:ext cx="3657600" cy="457200"/>
          </a:xfrm>
          <a:prstGeom prst="rect">
            <a:avLst/>
          </a:prstGeom>
          <a:noFill/>
        </p:spPr>
        <p:txBody>
          <a:bodyPr wrap="square" lIns="0" tIns="0" rIns="0" bIns="0" anchor="t">
            <a:spAutoFit/>
          </a:bodyPr>
          <a:lstStyle/>
          <a:p>
            <a:pPr algn="l">
              <a:lnSpc>
                <a:spcPct val="130000"/>
              </a:lnSpc>
              <a:spcAft>
                <a:spcPts val="400"/>
              </a:spcAft>
            </a:pPr>
            <a:r>
              <a:rPr sz="1200" b="0">
                <a:solidFill>
                  <a:srgbClr val="6B7280"/>
                </a:solidFill>
                <a:latin typeface="Meiryo"/>
              </a:rPr>
              <a:t>他社様へ都度依頼・調整が必要</a:t>
            </a:r>
          </a:p>
        </p:txBody>
      </p:sp>
      <p:sp>
        <p:nvSpPr>
          <p:cNvPr id="16" name="TextBox 15"/>
          <p:cNvSpPr txBox="1"/>
          <p:nvPr/>
        </p:nvSpPr>
        <p:spPr>
          <a:xfrm>
            <a:off x="8046720" y="2962656"/>
            <a:ext cx="3657600" cy="457200"/>
          </a:xfrm>
          <a:prstGeom prst="rect">
            <a:avLst/>
          </a:prstGeom>
          <a:noFill/>
        </p:spPr>
        <p:txBody>
          <a:bodyPr wrap="square" lIns="0" tIns="0" rIns="0" bIns="0" anchor="t">
            <a:spAutoFit/>
          </a:bodyPr>
          <a:lstStyle/>
          <a:p>
            <a:pPr algn="l">
              <a:lnSpc>
                <a:spcPct val="130000"/>
              </a:lnSpc>
              <a:spcAft>
                <a:spcPts val="400"/>
              </a:spcAft>
            </a:pPr>
            <a:r>
              <a:rPr sz="1200" b="1">
                <a:solidFill>
                  <a:srgbClr val="141A33"/>
                </a:solidFill>
                <a:latin typeface="Meiryo"/>
              </a:rPr>
              <a:t>当方で即時に対応</a:t>
            </a:r>
          </a:p>
        </p:txBody>
      </p:sp>
      <p:sp>
        <p:nvSpPr>
          <p:cNvPr id="17" name="TextBox 16"/>
          <p:cNvSpPr txBox="1"/>
          <p:nvPr/>
        </p:nvSpPr>
        <p:spPr>
          <a:xfrm>
            <a:off x="566928" y="3712463"/>
            <a:ext cx="2926080" cy="365760"/>
          </a:xfrm>
          <a:prstGeom prst="rect">
            <a:avLst/>
          </a:prstGeom>
          <a:noFill/>
        </p:spPr>
        <p:txBody>
          <a:bodyPr wrap="square" lIns="0" tIns="0" rIns="0" bIns="0" anchor="t">
            <a:spAutoFit/>
          </a:bodyPr>
          <a:lstStyle/>
          <a:p>
            <a:pPr algn="l">
              <a:lnSpc>
                <a:spcPct val="130000"/>
              </a:lnSpc>
              <a:spcAft>
                <a:spcPts val="400"/>
              </a:spcAft>
            </a:pPr>
            <a:r>
              <a:rPr sz="1250" b="1">
                <a:solidFill>
                  <a:srgbClr val="141A33"/>
                </a:solidFill>
                <a:latin typeface="Meiryo"/>
              </a:rPr>
              <a:t>障害時の対応</a:t>
            </a:r>
          </a:p>
        </p:txBody>
      </p:sp>
      <p:sp>
        <p:nvSpPr>
          <p:cNvPr id="18" name="TextBox 17"/>
          <p:cNvSpPr txBox="1"/>
          <p:nvPr/>
        </p:nvSpPr>
        <p:spPr>
          <a:xfrm>
            <a:off x="3931920" y="3712463"/>
            <a:ext cx="3657600" cy="457200"/>
          </a:xfrm>
          <a:prstGeom prst="rect">
            <a:avLst/>
          </a:prstGeom>
          <a:noFill/>
        </p:spPr>
        <p:txBody>
          <a:bodyPr wrap="square" lIns="0" tIns="0" rIns="0" bIns="0" anchor="t">
            <a:spAutoFit/>
          </a:bodyPr>
          <a:lstStyle/>
          <a:p>
            <a:pPr algn="l">
              <a:lnSpc>
                <a:spcPct val="130000"/>
              </a:lnSpc>
              <a:spcAft>
                <a:spcPts val="400"/>
              </a:spcAft>
            </a:pPr>
            <a:r>
              <a:rPr sz="1200" b="0">
                <a:solidFill>
                  <a:srgbClr val="6B7280"/>
                </a:solidFill>
                <a:latin typeface="Meiryo"/>
              </a:rPr>
              <a:t>連絡と待ち時間が発生</a:t>
            </a:r>
          </a:p>
        </p:txBody>
      </p:sp>
      <p:sp>
        <p:nvSpPr>
          <p:cNvPr id="19" name="TextBox 18"/>
          <p:cNvSpPr txBox="1"/>
          <p:nvPr/>
        </p:nvSpPr>
        <p:spPr>
          <a:xfrm>
            <a:off x="8046720" y="3712463"/>
            <a:ext cx="3657600" cy="457200"/>
          </a:xfrm>
          <a:prstGeom prst="rect">
            <a:avLst/>
          </a:prstGeom>
          <a:noFill/>
        </p:spPr>
        <p:txBody>
          <a:bodyPr wrap="square" lIns="0" tIns="0" rIns="0" bIns="0" anchor="t">
            <a:spAutoFit/>
          </a:bodyPr>
          <a:lstStyle/>
          <a:p>
            <a:pPr algn="l">
              <a:lnSpc>
                <a:spcPct val="130000"/>
              </a:lnSpc>
              <a:spcAft>
                <a:spcPts val="400"/>
              </a:spcAft>
            </a:pPr>
            <a:r>
              <a:rPr sz="1200" b="1">
                <a:solidFill>
                  <a:srgbClr val="141A33"/>
                </a:solidFill>
                <a:latin typeface="Meiryo"/>
              </a:rPr>
              <a:t>その場で切り分け・復旧</a:t>
            </a:r>
          </a:p>
        </p:txBody>
      </p:sp>
      <p:sp>
        <p:nvSpPr>
          <p:cNvPr id="20" name="Rectangle 19"/>
          <p:cNvSpPr/>
          <p:nvPr/>
        </p:nvSpPr>
        <p:spPr>
          <a:xfrm>
            <a:off x="566928" y="4361688"/>
            <a:ext cx="11183112" cy="658368"/>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66928" y="4462272"/>
            <a:ext cx="2926080" cy="365760"/>
          </a:xfrm>
          <a:prstGeom prst="rect">
            <a:avLst/>
          </a:prstGeom>
          <a:noFill/>
        </p:spPr>
        <p:txBody>
          <a:bodyPr wrap="square" lIns="0" tIns="0" rIns="0" bIns="0" anchor="t">
            <a:spAutoFit/>
          </a:bodyPr>
          <a:lstStyle/>
          <a:p>
            <a:pPr algn="l">
              <a:lnSpc>
                <a:spcPct val="130000"/>
              </a:lnSpc>
              <a:spcAft>
                <a:spcPts val="400"/>
              </a:spcAft>
            </a:pPr>
            <a:r>
              <a:rPr sz="1250" b="1">
                <a:solidFill>
                  <a:srgbClr val="141A33"/>
                </a:solidFill>
                <a:latin typeface="Meiryo"/>
              </a:rPr>
              <a:t>権限</a:t>
            </a:r>
          </a:p>
        </p:txBody>
      </p:sp>
      <p:sp>
        <p:nvSpPr>
          <p:cNvPr id="22" name="TextBox 21"/>
          <p:cNvSpPr txBox="1"/>
          <p:nvPr/>
        </p:nvSpPr>
        <p:spPr>
          <a:xfrm>
            <a:off x="3931920" y="4462272"/>
            <a:ext cx="3657600" cy="457200"/>
          </a:xfrm>
          <a:prstGeom prst="rect">
            <a:avLst/>
          </a:prstGeom>
          <a:noFill/>
        </p:spPr>
        <p:txBody>
          <a:bodyPr wrap="square" lIns="0" tIns="0" rIns="0" bIns="0" anchor="t">
            <a:spAutoFit/>
          </a:bodyPr>
          <a:lstStyle/>
          <a:p>
            <a:pPr algn="l">
              <a:lnSpc>
                <a:spcPct val="130000"/>
              </a:lnSpc>
              <a:spcAft>
                <a:spcPts val="400"/>
              </a:spcAft>
            </a:pPr>
            <a:r>
              <a:rPr sz="1200" b="0">
                <a:solidFill>
                  <a:srgbClr val="6B7280"/>
                </a:solidFill>
                <a:latin typeface="Meiryo"/>
              </a:rPr>
              <a:t>他社様の管理下で制約あり</a:t>
            </a:r>
          </a:p>
        </p:txBody>
      </p:sp>
      <p:sp>
        <p:nvSpPr>
          <p:cNvPr id="23" name="TextBox 22"/>
          <p:cNvSpPr txBox="1"/>
          <p:nvPr/>
        </p:nvSpPr>
        <p:spPr>
          <a:xfrm>
            <a:off x="8046720" y="4462272"/>
            <a:ext cx="3657600" cy="457200"/>
          </a:xfrm>
          <a:prstGeom prst="rect">
            <a:avLst/>
          </a:prstGeom>
          <a:noFill/>
        </p:spPr>
        <p:txBody>
          <a:bodyPr wrap="square" lIns="0" tIns="0" rIns="0" bIns="0" anchor="t">
            <a:spAutoFit/>
          </a:bodyPr>
          <a:lstStyle/>
          <a:p>
            <a:pPr algn="l">
              <a:lnSpc>
                <a:spcPct val="130000"/>
              </a:lnSpc>
              <a:spcAft>
                <a:spcPts val="400"/>
              </a:spcAft>
            </a:pPr>
            <a:r>
              <a:rPr sz="1200" b="1">
                <a:solidFill>
                  <a:srgbClr val="141A33"/>
                </a:solidFill>
                <a:latin typeface="Meiryo"/>
              </a:rPr>
              <a:t>必要な権限を自由に設定</a:t>
            </a:r>
          </a:p>
        </p:txBody>
      </p:sp>
      <p:sp>
        <p:nvSpPr>
          <p:cNvPr id="24" name="TextBox 23"/>
          <p:cNvSpPr txBox="1"/>
          <p:nvPr/>
        </p:nvSpPr>
        <p:spPr>
          <a:xfrm>
            <a:off x="566928" y="5212080"/>
            <a:ext cx="2926080" cy="365760"/>
          </a:xfrm>
          <a:prstGeom prst="rect">
            <a:avLst/>
          </a:prstGeom>
          <a:noFill/>
        </p:spPr>
        <p:txBody>
          <a:bodyPr wrap="square" lIns="0" tIns="0" rIns="0" bIns="0" anchor="t">
            <a:spAutoFit/>
          </a:bodyPr>
          <a:lstStyle/>
          <a:p>
            <a:pPr algn="l">
              <a:lnSpc>
                <a:spcPct val="130000"/>
              </a:lnSpc>
              <a:spcAft>
                <a:spcPts val="400"/>
              </a:spcAft>
            </a:pPr>
            <a:r>
              <a:rPr sz="1250" b="1">
                <a:solidFill>
                  <a:srgbClr val="141A33"/>
                </a:solidFill>
                <a:latin typeface="Meiryo"/>
              </a:rPr>
              <a:t>お支払い</a:t>
            </a:r>
          </a:p>
        </p:txBody>
      </p:sp>
      <p:sp>
        <p:nvSpPr>
          <p:cNvPr id="25" name="TextBox 24"/>
          <p:cNvSpPr txBox="1"/>
          <p:nvPr/>
        </p:nvSpPr>
        <p:spPr>
          <a:xfrm>
            <a:off x="3931920" y="5212080"/>
            <a:ext cx="3657600" cy="457200"/>
          </a:xfrm>
          <a:prstGeom prst="rect">
            <a:avLst/>
          </a:prstGeom>
          <a:noFill/>
        </p:spPr>
        <p:txBody>
          <a:bodyPr wrap="square" lIns="0" tIns="0" rIns="0" bIns="0" anchor="t">
            <a:spAutoFit/>
          </a:bodyPr>
          <a:lstStyle/>
          <a:p>
            <a:pPr algn="l">
              <a:lnSpc>
                <a:spcPct val="130000"/>
              </a:lnSpc>
              <a:spcAft>
                <a:spcPts val="400"/>
              </a:spcAft>
            </a:pPr>
            <a:r>
              <a:rPr sz="1200" b="0">
                <a:solidFill>
                  <a:srgbClr val="6B7280"/>
                </a:solidFill>
                <a:latin typeface="Meiryo"/>
              </a:rPr>
              <a:t>御社アカウントに相乗り</a:t>
            </a:r>
          </a:p>
        </p:txBody>
      </p:sp>
      <p:sp>
        <p:nvSpPr>
          <p:cNvPr id="26" name="TextBox 25"/>
          <p:cNvSpPr txBox="1"/>
          <p:nvPr/>
        </p:nvSpPr>
        <p:spPr>
          <a:xfrm>
            <a:off x="8046720" y="5212080"/>
            <a:ext cx="3657600" cy="457200"/>
          </a:xfrm>
          <a:prstGeom prst="rect">
            <a:avLst/>
          </a:prstGeom>
          <a:noFill/>
        </p:spPr>
        <p:txBody>
          <a:bodyPr wrap="square" lIns="0" tIns="0" rIns="0" bIns="0" anchor="t">
            <a:spAutoFit/>
          </a:bodyPr>
          <a:lstStyle/>
          <a:p>
            <a:pPr algn="l">
              <a:lnSpc>
                <a:spcPct val="130000"/>
              </a:lnSpc>
              <a:spcAft>
                <a:spcPts val="400"/>
              </a:spcAft>
            </a:pPr>
            <a:r>
              <a:rPr sz="1200" b="1">
                <a:solidFill>
                  <a:srgbClr val="141A33"/>
                </a:solidFill>
                <a:latin typeface="Meiryo"/>
              </a:rPr>
              <a:t>当初は当方 → 御社カードへ切替</a:t>
            </a:r>
          </a:p>
        </p:txBody>
      </p:sp>
      <p:sp>
        <p:nvSpPr>
          <p:cNvPr id="27" name="Rounded Rectangle 26"/>
          <p:cNvSpPr/>
          <p:nvPr/>
        </p:nvSpPr>
        <p:spPr>
          <a:xfrm>
            <a:off x="566928" y="5925312"/>
            <a:ext cx="11073384" cy="566928"/>
          </a:xfrm>
          <a:prstGeom prst="roundRect">
            <a:avLst>
              <a:gd name="adj" fmla="val 6000"/>
            </a:avLst>
          </a:prstGeom>
          <a:solidFill>
            <a:srgbClr val="F2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868680" y="6062472"/>
            <a:ext cx="10515600" cy="365760"/>
          </a:xfrm>
          <a:prstGeom prst="rect">
            <a:avLst/>
          </a:prstGeom>
          <a:noFill/>
        </p:spPr>
        <p:txBody>
          <a:bodyPr wrap="square" lIns="0" tIns="0" rIns="0" bIns="0" anchor="t">
            <a:spAutoFit/>
          </a:bodyPr>
          <a:lstStyle/>
          <a:p>
            <a:pPr algn="l">
              <a:lnSpc>
                <a:spcPct val="130000"/>
              </a:lnSpc>
              <a:spcAft>
                <a:spcPts val="400"/>
              </a:spcAft>
            </a:pPr>
            <a:r>
              <a:rPr sz="1250" b="1">
                <a:solidFill>
                  <a:srgbClr val="4F46E5"/>
                </a:solidFill>
                <a:latin typeface="Meiryo"/>
              </a:rPr>
              <a:t>結論：料金差はありません。新規契約の方が対応が速く、御社側のご負担も少なくなります。</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66928" y="237744"/>
            <a:ext cx="8686800" cy="411480"/>
          </a:xfrm>
          <a:prstGeom prst="rect">
            <a:avLst/>
          </a:prstGeom>
          <a:noFill/>
        </p:spPr>
        <p:txBody>
          <a:bodyPr wrap="square" lIns="0" tIns="0" rIns="0" bIns="0" anchor="t">
            <a:spAutoFit/>
          </a:bodyPr>
          <a:lstStyle/>
          <a:p>
            <a:pPr algn="l">
              <a:lnSpc>
                <a:spcPct val="130000"/>
              </a:lnSpc>
              <a:spcAft>
                <a:spcPts val="400"/>
              </a:spcAft>
            </a:pPr>
            <a:r>
              <a:rPr sz="2200" b="1">
                <a:solidFill>
                  <a:srgbClr val="FFFFFF"/>
                </a:solidFill>
                <a:latin typeface="Meiryo"/>
              </a:rPr>
              <a:t>安全性について</a:t>
            </a:r>
          </a:p>
        </p:txBody>
      </p:sp>
      <p:sp>
        <p:nvSpPr>
          <p:cNvPr id="4" name="TextBox 3"/>
          <p:cNvSpPr txBox="1"/>
          <p:nvPr/>
        </p:nvSpPr>
        <p:spPr>
          <a:xfrm>
            <a:off x="566928" y="1024128"/>
            <a:ext cx="11064240" cy="365760"/>
          </a:xfrm>
          <a:prstGeom prst="rect">
            <a:avLst/>
          </a:prstGeom>
          <a:noFill/>
        </p:spPr>
        <p:txBody>
          <a:bodyPr wrap="square" lIns="0" tIns="0" rIns="0" bIns="0" anchor="t">
            <a:spAutoFit/>
          </a:bodyPr>
          <a:lstStyle/>
          <a:p>
            <a:pPr algn="l">
              <a:lnSpc>
                <a:spcPct val="130000"/>
              </a:lnSpc>
              <a:spcAft>
                <a:spcPts val="400"/>
              </a:spcAft>
            </a:pPr>
            <a:r>
              <a:rPr sz="1250" b="0">
                <a:solidFill>
                  <a:srgbClr val="6B7280"/>
                </a:solidFill>
                <a:latin typeface="Meiryo"/>
                <a:ea typeface="Meiryo"/>
              </a:rPr>
              <a:t>新規契約でも、安全性は既存サーバーと同等以上を確保します。保管場所は下記のとおり整理しています。</a:t>
            </a:r>
          </a:p>
        </p:txBody>
      </p:sp>
      <p:sp>
        <p:nvSpPr>
          <p:cNvPr id="5" name="Rounded Rectangle 4"/>
          <p:cNvSpPr/>
          <p:nvPr/>
        </p:nvSpPr>
        <p:spPr>
          <a:xfrm>
            <a:off x="566928" y="1627632"/>
            <a:ext cx="3529584" cy="1874519"/>
          </a:xfrm>
          <a:prstGeom prst="roundRect">
            <a:avLst>
              <a:gd name="adj" fmla="val 6000"/>
            </a:avLst>
          </a:prstGeom>
          <a:solidFill>
            <a:srgbClr val="FFFFFF"/>
          </a:solidFill>
          <a:ln w="12700">
            <a:solidFill>
              <a:srgbClr val="C7CD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41247" y="1865376"/>
            <a:ext cx="3017520" cy="320040"/>
          </a:xfrm>
          <a:prstGeom prst="rect">
            <a:avLst/>
          </a:prstGeom>
          <a:noFill/>
        </p:spPr>
        <p:txBody>
          <a:bodyPr wrap="square" lIns="0" tIns="0" rIns="0" bIns="0" anchor="t">
            <a:spAutoFit/>
          </a:bodyPr>
          <a:lstStyle/>
          <a:p>
            <a:pPr algn="l">
              <a:lnSpc>
                <a:spcPct val="130000"/>
              </a:lnSpc>
              <a:spcAft>
                <a:spcPts val="400"/>
              </a:spcAft>
            </a:pPr>
            <a:r>
              <a:rPr sz="1450" b="1">
                <a:solidFill>
                  <a:srgbClr val="1E2761"/>
                </a:solidFill>
                <a:latin typeface="Meiryo"/>
                <a:ea typeface="Meiryo"/>
              </a:rPr>
              <a:t>保管場所</a:t>
            </a:r>
          </a:p>
        </p:txBody>
      </p:sp>
      <p:sp>
        <p:nvSpPr>
          <p:cNvPr id="7" name="Rectangle 6"/>
          <p:cNvSpPr/>
          <p:nvPr/>
        </p:nvSpPr>
        <p:spPr>
          <a:xfrm>
            <a:off x="841247" y="2267712"/>
            <a:ext cx="457200" cy="36576"/>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41247" y="2450592"/>
            <a:ext cx="3035808" cy="960120"/>
          </a:xfrm>
          <a:prstGeom prst="rect">
            <a:avLst/>
          </a:prstGeom>
          <a:noFill/>
        </p:spPr>
        <p:txBody>
          <a:bodyPr wrap="square" lIns="0" tIns="0" rIns="0" bIns="0" anchor="t">
            <a:spAutoFit/>
          </a:bodyPr>
          <a:lstStyle/>
          <a:p>
            <a:pPr algn="l">
              <a:lnSpc>
                <a:spcPct val="140000"/>
              </a:lnSpc>
              <a:spcAft>
                <a:spcPts val="400"/>
              </a:spcAft>
            </a:pPr>
            <a:r>
              <a:rPr sz="1150" b="0">
                <a:solidFill>
                  <a:srgbClr val="6B7280"/>
                </a:solidFill>
                <a:latin typeface="Meiryo"/>
                <a:ea typeface="Meiryo"/>
              </a:rPr>
              <a:t>アプリ・データとも</a:t>
            </a:r>
          </a:p>
          <a:p>
            <a:r>
              <a:rPr sz="1150" b="0">
                <a:solidFill>
                  <a:srgbClr val="6B7280"/>
                </a:solidFill>
                <a:latin typeface="Meiryo"/>
                <a:ea typeface="Meiryo"/>
              </a:rPr>
              <a:t>東京リージョンに保管。</a:t>
            </a:r>
          </a:p>
          <a:p>
            <a:r>
              <a:rPr sz="1150" b="0">
                <a:solidFill>
                  <a:srgbClr val="6B7280"/>
                </a:solidFill>
                <a:latin typeface="Meiryo"/>
                <a:ea typeface="Meiryo"/>
              </a:rPr>
              <a:t>個人情報は国内で保管します。</a:t>
            </a:r>
          </a:p>
        </p:txBody>
      </p:sp>
      <p:sp>
        <p:nvSpPr>
          <p:cNvPr id="9" name="Rounded Rectangle 8"/>
          <p:cNvSpPr/>
          <p:nvPr/>
        </p:nvSpPr>
        <p:spPr>
          <a:xfrm>
            <a:off x="4334256" y="1627632"/>
            <a:ext cx="3529584" cy="1874519"/>
          </a:xfrm>
          <a:prstGeom prst="roundRect">
            <a:avLst>
              <a:gd name="adj" fmla="val 6000"/>
            </a:avLst>
          </a:prstGeom>
          <a:solidFill>
            <a:srgbClr val="FFFFFF"/>
          </a:solidFill>
          <a:ln w="12700">
            <a:solidFill>
              <a:srgbClr val="C7CD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608576" y="1865376"/>
            <a:ext cx="3017520" cy="320040"/>
          </a:xfrm>
          <a:prstGeom prst="rect">
            <a:avLst/>
          </a:prstGeom>
          <a:noFill/>
        </p:spPr>
        <p:txBody>
          <a:bodyPr wrap="square" lIns="0" tIns="0" rIns="0" bIns="0" anchor="t">
            <a:spAutoFit/>
          </a:bodyPr>
          <a:lstStyle/>
          <a:p>
            <a:pPr algn="l">
              <a:lnSpc>
                <a:spcPct val="130000"/>
              </a:lnSpc>
              <a:spcAft>
                <a:spcPts val="400"/>
              </a:spcAft>
            </a:pPr>
            <a:r>
              <a:rPr sz="1450" b="1">
                <a:solidFill>
                  <a:srgbClr val="1E2761"/>
                </a:solidFill>
                <a:latin typeface="Meiryo"/>
              </a:rPr>
              <a:t>通信の保護</a:t>
            </a:r>
          </a:p>
        </p:txBody>
      </p:sp>
      <p:sp>
        <p:nvSpPr>
          <p:cNvPr id="11" name="Rectangle 10"/>
          <p:cNvSpPr/>
          <p:nvPr/>
        </p:nvSpPr>
        <p:spPr>
          <a:xfrm>
            <a:off x="4608576" y="2267712"/>
            <a:ext cx="457200" cy="36576"/>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608576" y="2450592"/>
            <a:ext cx="3035808" cy="960120"/>
          </a:xfrm>
          <a:prstGeom prst="rect">
            <a:avLst/>
          </a:prstGeom>
          <a:noFill/>
        </p:spPr>
        <p:txBody>
          <a:bodyPr wrap="square" lIns="0" tIns="0" rIns="0" bIns="0" anchor="t">
            <a:spAutoFit/>
          </a:bodyPr>
          <a:lstStyle/>
          <a:p>
            <a:pPr algn="l">
              <a:lnSpc>
                <a:spcPct val="140000"/>
              </a:lnSpc>
              <a:spcAft>
                <a:spcPts val="400"/>
              </a:spcAft>
            </a:pPr>
            <a:r>
              <a:rPr sz="1150" b="0">
                <a:solidFill>
                  <a:srgbClr val="6B7280"/>
                </a:solidFill>
                <a:latin typeface="Meiryo"/>
              </a:rPr>
              <a:t>通信はすべて暗号化。</a:t>
            </a:r>
          </a:p>
          <a:p>
            <a:pPr algn="l">
              <a:lnSpc>
                <a:spcPct val="140000"/>
              </a:lnSpc>
              <a:spcAft>
                <a:spcPts val="400"/>
              </a:spcAft>
            </a:pPr>
            <a:r>
              <a:rPr sz="1150" b="0">
                <a:solidFill>
                  <a:srgbClr val="6B7280"/>
                </a:solidFill>
                <a:latin typeface="Meiryo"/>
              </a:rPr>
              <a:t>第三者が内容を読み取る</a:t>
            </a:r>
          </a:p>
          <a:p>
            <a:pPr algn="l">
              <a:lnSpc>
                <a:spcPct val="140000"/>
              </a:lnSpc>
              <a:spcAft>
                <a:spcPts val="400"/>
              </a:spcAft>
            </a:pPr>
            <a:r>
              <a:rPr sz="1150" b="0">
                <a:solidFill>
                  <a:srgbClr val="6B7280"/>
                </a:solidFill>
                <a:latin typeface="Meiryo"/>
              </a:rPr>
              <a:t>ことはできません。</a:t>
            </a:r>
          </a:p>
        </p:txBody>
      </p:sp>
      <p:sp>
        <p:nvSpPr>
          <p:cNvPr id="13" name="Rounded Rectangle 12"/>
          <p:cNvSpPr/>
          <p:nvPr/>
        </p:nvSpPr>
        <p:spPr>
          <a:xfrm>
            <a:off x="8101583" y="1627632"/>
            <a:ext cx="3529584" cy="1874519"/>
          </a:xfrm>
          <a:prstGeom prst="roundRect">
            <a:avLst>
              <a:gd name="adj" fmla="val 6000"/>
            </a:avLst>
          </a:prstGeom>
          <a:solidFill>
            <a:srgbClr val="FFFFFF"/>
          </a:solidFill>
          <a:ln w="12700">
            <a:solidFill>
              <a:srgbClr val="C7CD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375904" y="1865376"/>
            <a:ext cx="3017520" cy="320040"/>
          </a:xfrm>
          <a:prstGeom prst="rect">
            <a:avLst/>
          </a:prstGeom>
          <a:noFill/>
        </p:spPr>
        <p:txBody>
          <a:bodyPr wrap="square" lIns="0" tIns="0" rIns="0" bIns="0" anchor="t">
            <a:spAutoFit/>
          </a:bodyPr>
          <a:lstStyle/>
          <a:p>
            <a:pPr algn="l">
              <a:lnSpc>
                <a:spcPct val="130000"/>
              </a:lnSpc>
              <a:spcAft>
                <a:spcPts val="400"/>
              </a:spcAft>
            </a:pPr>
            <a:r>
              <a:rPr sz="1450" b="1">
                <a:solidFill>
                  <a:srgbClr val="1E2761"/>
                </a:solidFill>
                <a:latin typeface="Meiryo"/>
              </a:rPr>
              <a:t>権限による制御</a:t>
            </a:r>
          </a:p>
        </p:txBody>
      </p:sp>
      <p:sp>
        <p:nvSpPr>
          <p:cNvPr id="15" name="Rectangle 14"/>
          <p:cNvSpPr/>
          <p:nvPr/>
        </p:nvSpPr>
        <p:spPr>
          <a:xfrm>
            <a:off x="8375904" y="2267712"/>
            <a:ext cx="457200" cy="36576"/>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375904" y="2450592"/>
            <a:ext cx="3035808" cy="960120"/>
          </a:xfrm>
          <a:prstGeom prst="rect">
            <a:avLst/>
          </a:prstGeom>
          <a:noFill/>
        </p:spPr>
        <p:txBody>
          <a:bodyPr wrap="square" lIns="0" tIns="0" rIns="0" bIns="0" anchor="t">
            <a:spAutoFit/>
          </a:bodyPr>
          <a:lstStyle/>
          <a:p>
            <a:pPr algn="l">
              <a:lnSpc>
                <a:spcPct val="140000"/>
              </a:lnSpc>
              <a:spcAft>
                <a:spcPts val="400"/>
              </a:spcAft>
            </a:pPr>
            <a:r>
              <a:rPr sz="1150" b="0">
                <a:solidFill>
                  <a:srgbClr val="6B7280"/>
                </a:solidFill>
                <a:latin typeface="Meiryo"/>
              </a:rPr>
              <a:t>ログイン必須。担当者ごとに</a:t>
            </a:r>
          </a:p>
          <a:p>
            <a:pPr algn="l">
              <a:lnSpc>
                <a:spcPct val="140000"/>
              </a:lnSpc>
              <a:spcAft>
                <a:spcPts val="400"/>
              </a:spcAft>
            </a:pPr>
            <a:r>
              <a:rPr sz="1150" b="0">
                <a:solidFill>
                  <a:srgbClr val="6B7280"/>
                </a:solidFill>
                <a:latin typeface="Meiryo"/>
              </a:rPr>
              <a:t>閲覧できる案件をシステム</a:t>
            </a:r>
          </a:p>
          <a:p>
            <a:pPr algn="l">
              <a:lnSpc>
                <a:spcPct val="140000"/>
              </a:lnSpc>
              <a:spcAft>
                <a:spcPts val="400"/>
              </a:spcAft>
            </a:pPr>
            <a:r>
              <a:rPr sz="1150" b="0">
                <a:solidFill>
                  <a:srgbClr val="6B7280"/>
                </a:solidFill>
                <a:latin typeface="Meiryo"/>
              </a:rPr>
              <a:t>側で制限しています。</a:t>
            </a:r>
          </a:p>
        </p:txBody>
      </p:sp>
      <p:sp>
        <p:nvSpPr>
          <p:cNvPr id="17" name="Rounded Rectangle 16"/>
          <p:cNvSpPr/>
          <p:nvPr/>
        </p:nvSpPr>
        <p:spPr>
          <a:xfrm>
            <a:off x="566928" y="3712463"/>
            <a:ext cx="3529584" cy="1874519"/>
          </a:xfrm>
          <a:prstGeom prst="roundRect">
            <a:avLst>
              <a:gd name="adj" fmla="val 6000"/>
            </a:avLst>
          </a:prstGeom>
          <a:solidFill>
            <a:srgbClr val="FFFFFF"/>
          </a:solidFill>
          <a:ln w="12700">
            <a:solidFill>
              <a:srgbClr val="C7CD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41247" y="3950207"/>
            <a:ext cx="3017520" cy="320040"/>
          </a:xfrm>
          <a:prstGeom prst="rect">
            <a:avLst/>
          </a:prstGeom>
          <a:noFill/>
        </p:spPr>
        <p:txBody>
          <a:bodyPr wrap="square" lIns="0" tIns="0" rIns="0" bIns="0" anchor="t">
            <a:spAutoFit/>
          </a:bodyPr>
          <a:lstStyle/>
          <a:p>
            <a:pPr algn="l">
              <a:lnSpc>
                <a:spcPct val="130000"/>
              </a:lnSpc>
              <a:spcAft>
                <a:spcPts val="400"/>
              </a:spcAft>
            </a:pPr>
            <a:r>
              <a:rPr sz="1450" b="1">
                <a:solidFill>
                  <a:srgbClr val="1E2761"/>
                </a:solidFill>
                <a:latin typeface="Meiryo"/>
              </a:rPr>
              <a:t>AI利用の安全性</a:t>
            </a:r>
          </a:p>
        </p:txBody>
      </p:sp>
      <p:sp>
        <p:nvSpPr>
          <p:cNvPr id="19" name="Rectangle 18"/>
          <p:cNvSpPr/>
          <p:nvPr/>
        </p:nvSpPr>
        <p:spPr>
          <a:xfrm>
            <a:off x="841247" y="4352544"/>
            <a:ext cx="457200" cy="36576"/>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41247" y="4535424"/>
            <a:ext cx="3035808" cy="960120"/>
          </a:xfrm>
          <a:prstGeom prst="rect">
            <a:avLst/>
          </a:prstGeom>
          <a:noFill/>
        </p:spPr>
        <p:txBody>
          <a:bodyPr wrap="square" lIns="0" tIns="0" rIns="0" bIns="0" anchor="t">
            <a:spAutoFit/>
          </a:bodyPr>
          <a:lstStyle/>
          <a:p>
            <a:pPr algn="l">
              <a:lnSpc>
                <a:spcPct val="140000"/>
              </a:lnSpc>
              <a:spcAft>
                <a:spcPts val="400"/>
              </a:spcAft>
            </a:pPr>
            <a:r>
              <a:rPr sz="1150" b="0">
                <a:solidFill>
                  <a:srgbClr val="6B7280"/>
                </a:solidFill>
                <a:latin typeface="Meiryo"/>
                <a:ea typeface="Meiryo"/>
              </a:rPr>
              <a:t>AIに送ったデータが学習に</a:t>
            </a:r>
          </a:p>
          <a:p>
            <a:r>
              <a:rPr sz="1150" b="0">
                <a:solidFill>
                  <a:srgbClr val="6B7280"/>
                </a:solidFill>
                <a:latin typeface="Meiryo"/>
                <a:ea typeface="Meiryo"/>
              </a:rPr>
              <a:t>使われることはありません。</a:t>
            </a:r>
          </a:p>
          <a:p>
            <a:r>
              <a:rPr sz="1150" b="0">
                <a:solidFill>
                  <a:srgbClr val="6B7280"/>
                </a:solidFill>
                <a:latin typeface="Meiryo"/>
                <a:ea typeface="Meiryo"/>
              </a:rPr>
              <a:t>送信先は米国、保管もされません。</a:t>
            </a:r>
          </a:p>
        </p:txBody>
      </p:sp>
      <p:sp>
        <p:nvSpPr>
          <p:cNvPr id="21" name="Rounded Rectangle 20"/>
          <p:cNvSpPr/>
          <p:nvPr/>
        </p:nvSpPr>
        <p:spPr>
          <a:xfrm>
            <a:off x="4334256" y="3712463"/>
            <a:ext cx="3529584" cy="1874519"/>
          </a:xfrm>
          <a:prstGeom prst="roundRect">
            <a:avLst>
              <a:gd name="adj" fmla="val 6000"/>
            </a:avLst>
          </a:prstGeom>
          <a:solidFill>
            <a:srgbClr val="FFFFFF"/>
          </a:solidFill>
          <a:ln w="12700">
            <a:solidFill>
              <a:srgbClr val="C7CD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4608576" y="3950207"/>
            <a:ext cx="3017520" cy="320040"/>
          </a:xfrm>
          <a:prstGeom prst="rect">
            <a:avLst/>
          </a:prstGeom>
          <a:noFill/>
        </p:spPr>
        <p:txBody>
          <a:bodyPr wrap="square" lIns="0" tIns="0" rIns="0" bIns="0" anchor="t">
            <a:spAutoFit/>
          </a:bodyPr>
          <a:lstStyle/>
          <a:p>
            <a:pPr algn="l">
              <a:lnSpc>
                <a:spcPct val="130000"/>
              </a:lnSpc>
              <a:spcAft>
                <a:spcPts val="400"/>
              </a:spcAft>
            </a:pPr>
            <a:r>
              <a:rPr sz="1450" b="1">
                <a:solidFill>
                  <a:srgbClr val="1E2761"/>
                </a:solidFill>
                <a:latin typeface="Meiryo"/>
              </a:rPr>
              <a:t>バックアップ</a:t>
            </a:r>
          </a:p>
        </p:txBody>
      </p:sp>
      <p:sp>
        <p:nvSpPr>
          <p:cNvPr id="23" name="Rectangle 22"/>
          <p:cNvSpPr/>
          <p:nvPr/>
        </p:nvSpPr>
        <p:spPr>
          <a:xfrm>
            <a:off x="4608576" y="4352544"/>
            <a:ext cx="457200" cy="36576"/>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4608576" y="4535424"/>
            <a:ext cx="3035808" cy="960120"/>
          </a:xfrm>
          <a:prstGeom prst="rect">
            <a:avLst/>
          </a:prstGeom>
          <a:noFill/>
        </p:spPr>
        <p:txBody>
          <a:bodyPr wrap="square" lIns="0" tIns="0" rIns="0" bIns="0" anchor="t">
            <a:spAutoFit/>
          </a:bodyPr>
          <a:lstStyle/>
          <a:p>
            <a:pPr algn="l">
              <a:lnSpc>
                <a:spcPct val="140000"/>
              </a:lnSpc>
              <a:spcAft>
                <a:spcPts val="400"/>
              </a:spcAft>
            </a:pPr>
            <a:r>
              <a:rPr sz="1150" b="0">
                <a:solidFill>
                  <a:srgbClr val="6B7280"/>
                </a:solidFill>
                <a:latin typeface="Meiryo"/>
              </a:rPr>
              <a:t>自動バックアップと冗長化に</a:t>
            </a:r>
          </a:p>
          <a:p>
            <a:pPr algn="l">
              <a:lnSpc>
                <a:spcPct val="140000"/>
              </a:lnSpc>
              <a:spcAft>
                <a:spcPts val="400"/>
              </a:spcAft>
            </a:pPr>
            <a:r>
              <a:rPr sz="1150" b="0">
                <a:solidFill>
                  <a:srgbClr val="6B7280"/>
                </a:solidFill>
                <a:latin typeface="Meiryo"/>
              </a:rPr>
              <a:t>対応。障害時もデータを</a:t>
            </a:r>
          </a:p>
          <a:p>
            <a:pPr algn="l">
              <a:lnSpc>
                <a:spcPct val="140000"/>
              </a:lnSpc>
              <a:spcAft>
                <a:spcPts val="400"/>
              </a:spcAft>
            </a:pPr>
            <a:r>
              <a:rPr sz="1150" b="0">
                <a:solidFill>
                  <a:srgbClr val="6B7280"/>
                </a:solidFill>
                <a:latin typeface="Meiryo"/>
              </a:rPr>
              <a:t>保全します。</a:t>
            </a:r>
          </a:p>
        </p:txBody>
      </p:sp>
      <p:sp>
        <p:nvSpPr>
          <p:cNvPr id="25" name="Rounded Rectangle 24"/>
          <p:cNvSpPr/>
          <p:nvPr/>
        </p:nvSpPr>
        <p:spPr>
          <a:xfrm>
            <a:off x="8101583" y="3712463"/>
            <a:ext cx="3529584" cy="1874519"/>
          </a:xfrm>
          <a:prstGeom prst="roundRect">
            <a:avLst>
              <a:gd name="adj" fmla="val 6000"/>
            </a:avLst>
          </a:prstGeom>
          <a:solidFill>
            <a:srgbClr val="FFFFFF"/>
          </a:solidFill>
          <a:ln w="12700">
            <a:solidFill>
              <a:srgbClr val="C7CD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8375904" y="3950207"/>
            <a:ext cx="3017520" cy="320040"/>
          </a:xfrm>
          <a:prstGeom prst="rect">
            <a:avLst/>
          </a:prstGeom>
          <a:noFill/>
        </p:spPr>
        <p:txBody>
          <a:bodyPr wrap="square" lIns="0" tIns="0" rIns="0" bIns="0" anchor="t">
            <a:spAutoFit/>
          </a:bodyPr>
          <a:lstStyle/>
          <a:p>
            <a:pPr algn="l">
              <a:lnSpc>
                <a:spcPct val="130000"/>
              </a:lnSpc>
              <a:spcAft>
                <a:spcPts val="400"/>
              </a:spcAft>
            </a:pPr>
            <a:r>
              <a:rPr sz="1450" b="1">
                <a:solidFill>
                  <a:srgbClr val="1E2761"/>
                </a:solidFill>
                <a:latin typeface="Meiryo"/>
              </a:rPr>
              <a:t>監査・認証</a:t>
            </a:r>
          </a:p>
        </p:txBody>
      </p:sp>
      <p:sp>
        <p:nvSpPr>
          <p:cNvPr id="27" name="Rectangle 26"/>
          <p:cNvSpPr/>
          <p:nvPr/>
        </p:nvSpPr>
        <p:spPr>
          <a:xfrm>
            <a:off x="8375904" y="4352544"/>
            <a:ext cx="457200" cy="36576"/>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8375904" y="4535424"/>
            <a:ext cx="3035808" cy="960120"/>
          </a:xfrm>
          <a:prstGeom prst="rect">
            <a:avLst/>
          </a:prstGeom>
          <a:noFill/>
        </p:spPr>
        <p:txBody>
          <a:bodyPr wrap="square" lIns="0" tIns="0" rIns="0" bIns="0" anchor="t">
            <a:spAutoFit/>
          </a:bodyPr>
          <a:lstStyle/>
          <a:p>
            <a:pPr algn="l">
              <a:lnSpc>
                <a:spcPct val="140000"/>
              </a:lnSpc>
              <a:spcAft>
                <a:spcPts val="400"/>
              </a:spcAft>
            </a:pPr>
            <a:r>
              <a:rPr sz="1150" b="0">
                <a:solidFill>
                  <a:srgbClr val="6B7280"/>
                </a:solidFill>
                <a:latin typeface="Meiryo"/>
              </a:rPr>
              <a:t>Azure は国際的なセキュリティ</a:t>
            </a:r>
          </a:p>
          <a:p>
            <a:pPr algn="l">
              <a:lnSpc>
                <a:spcPct val="140000"/>
              </a:lnSpc>
              <a:spcAft>
                <a:spcPts val="400"/>
              </a:spcAft>
            </a:pPr>
            <a:r>
              <a:rPr sz="1150" b="0">
                <a:solidFill>
                  <a:srgbClr val="6B7280"/>
                </a:solidFill>
                <a:latin typeface="Meiryo"/>
              </a:rPr>
              <a:t>認証を取得した基盤です。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237744"/>
            <a:ext cx="8686800" cy="411480"/>
          </a:xfrm>
          <a:prstGeom prst="rect">
            <a:avLst/>
          </a:prstGeom>
          <a:noFill/>
        </p:spPr>
        <p:txBody>
          <a:bodyPr wrap="square" lIns="0" rIns="0" tIns="0" bIns="0">
            <a:spAutoFit/>
          </a:bodyPr>
          <a:lstStyle/>
          <a:p>
            <a:pPr algn="l"/>
            <a:r>
              <a:rPr sz="2200" b="1">
                <a:solidFill>
                  <a:srgbClr val="FFFFFF"/>
                </a:solidFill>
                <a:latin typeface="Meiryo"/>
                <a:ea typeface="Meiryo"/>
              </a:rPr>
              <a:t>データの保管場所</a:t>
            </a:r>
          </a:p>
        </p:txBody>
      </p:sp>
      <p:sp>
        <p:nvSpPr>
          <p:cNvPr id="4" name="TextBox 3"/>
          <p:cNvSpPr txBox="1"/>
          <p:nvPr/>
        </p:nvSpPr>
        <p:spPr>
          <a:xfrm>
            <a:off x="566928" y="1024128"/>
            <a:ext cx="11064240" cy="365760"/>
          </a:xfrm>
          <a:prstGeom prst="rect">
            <a:avLst/>
          </a:prstGeom>
          <a:noFill/>
        </p:spPr>
        <p:txBody>
          <a:bodyPr wrap="square" lIns="0" rIns="0" tIns="0" bIns="0">
            <a:spAutoFit/>
          </a:bodyPr>
          <a:lstStyle/>
          <a:p>
            <a:pPr algn="l"/>
            <a:r>
              <a:rPr sz="1250" b="0">
                <a:solidFill>
                  <a:srgbClr val="6B7280"/>
                </a:solidFill>
                <a:latin typeface="Meiryo"/>
                <a:ea typeface="Meiryo"/>
              </a:rPr>
              <a:t>システムは3つの部品でできています。それぞれの保管・処理の場所は次のとおりです。</a:t>
            </a:r>
          </a:p>
        </p:txBody>
      </p:sp>
      <p:sp>
        <p:nvSpPr>
          <p:cNvPr id="5" name="TextBox 4"/>
          <p:cNvSpPr txBox="1"/>
          <p:nvPr/>
        </p:nvSpPr>
        <p:spPr>
          <a:xfrm>
            <a:off x="566928" y="1600200"/>
            <a:ext cx="2926080" cy="320040"/>
          </a:xfrm>
          <a:prstGeom prst="rect">
            <a:avLst/>
          </a:prstGeom>
          <a:noFill/>
        </p:spPr>
        <p:txBody>
          <a:bodyPr wrap="square" lIns="0" rIns="0" tIns="0" bIns="0">
            <a:spAutoFit/>
          </a:bodyPr>
          <a:lstStyle/>
          <a:p>
            <a:pPr algn="l"/>
            <a:r>
              <a:rPr sz="1200" b="1">
                <a:solidFill>
                  <a:srgbClr val="6B7280"/>
                </a:solidFill>
                <a:latin typeface="Meiryo"/>
                <a:ea typeface="Meiryo"/>
              </a:rPr>
              <a:t>部品</a:t>
            </a:r>
          </a:p>
        </p:txBody>
      </p:sp>
      <p:sp>
        <p:nvSpPr>
          <p:cNvPr id="6" name="TextBox 5"/>
          <p:cNvSpPr txBox="1"/>
          <p:nvPr/>
        </p:nvSpPr>
        <p:spPr>
          <a:xfrm>
            <a:off x="3767328" y="1600200"/>
            <a:ext cx="2743200" cy="320040"/>
          </a:xfrm>
          <a:prstGeom prst="rect">
            <a:avLst/>
          </a:prstGeom>
          <a:noFill/>
        </p:spPr>
        <p:txBody>
          <a:bodyPr wrap="square" lIns="0" rIns="0" tIns="0" bIns="0">
            <a:spAutoFit/>
          </a:bodyPr>
          <a:lstStyle/>
          <a:p>
            <a:pPr algn="l"/>
            <a:r>
              <a:rPr sz="1200" b="1">
                <a:solidFill>
                  <a:srgbClr val="6B7280"/>
                </a:solidFill>
                <a:latin typeface="Meiryo"/>
                <a:ea typeface="Meiryo"/>
              </a:rPr>
              <a:t>現在</a:t>
            </a:r>
          </a:p>
        </p:txBody>
      </p:sp>
      <p:sp>
        <p:nvSpPr>
          <p:cNvPr id="7" name="TextBox 6"/>
          <p:cNvSpPr txBox="1"/>
          <p:nvPr/>
        </p:nvSpPr>
        <p:spPr>
          <a:xfrm>
            <a:off x="6784848" y="1600200"/>
            <a:ext cx="2743200" cy="320040"/>
          </a:xfrm>
          <a:prstGeom prst="rect">
            <a:avLst/>
          </a:prstGeom>
          <a:noFill/>
        </p:spPr>
        <p:txBody>
          <a:bodyPr wrap="square" lIns="0" rIns="0" tIns="0" bIns="0">
            <a:spAutoFit/>
          </a:bodyPr>
          <a:lstStyle/>
          <a:p>
            <a:pPr algn="l"/>
            <a:r>
              <a:rPr sz="1200" b="1">
                <a:solidFill>
                  <a:srgbClr val="6B7280"/>
                </a:solidFill>
                <a:latin typeface="Meiryo"/>
                <a:ea typeface="Meiryo"/>
              </a:rPr>
              <a:t>対応後</a:t>
            </a:r>
          </a:p>
        </p:txBody>
      </p:sp>
      <p:sp>
        <p:nvSpPr>
          <p:cNvPr id="8" name="TextBox 7"/>
          <p:cNvSpPr txBox="1"/>
          <p:nvPr/>
        </p:nvSpPr>
        <p:spPr>
          <a:xfrm>
            <a:off x="9802368" y="1600200"/>
            <a:ext cx="2514600" cy="320040"/>
          </a:xfrm>
          <a:prstGeom prst="rect">
            <a:avLst/>
          </a:prstGeom>
          <a:noFill/>
        </p:spPr>
        <p:txBody>
          <a:bodyPr wrap="square" lIns="0" rIns="0" tIns="0" bIns="0">
            <a:spAutoFit/>
          </a:bodyPr>
          <a:lstStyle/>
          <a:p>
            <a:pPr algn="l"/>
            <a:r>
              <a:rPr sz="1200" b="1">
                <a:solidFill>
                  <a:srgbClr val="6B7280"/>
                </a:solidFill>
                <a:latin typeface="Meiryo"/>
                <a:ea typeface="Meiryo"/>
              </a:rPr>
              <a:t>時期</a:t>
            </a:r>
          </a:p>
        </p:txBody>
      </p:sp>
      <p:sp>
        <p:nvSpPr>
          <p:cNvPr id="9" name="TextBox 8"/>
          <p:cNvSpPr txBox="1"/>
          <p:nvPr/>
        </p:nvSpPr>
        <p:spPr>
          <a:xfrm>
            <a:off x="566928" y="2240280"/>
            <a:ext cx="2926080" cy="365760"/>
          </a:xfrm>
          <a:prstGeom prst="rect">
            <a:avLst/>
          </a:prstGeom>
          <a:noFill/>
        </p:spPr>
        <p:txBody>
          <a:bodyPr wrap="square" lIns="0" rIns="0" tIns="0" bIns="0">
            <a:spAutoFit/>
          </a:bodyPr>
          <a:lstStyle/>
          <a:p>
            <a:pPr algn="l"/>
            <a:r>
              <a:rPr sz="1250" b="1">
                <a:solidFill>
                  <a:srgbClr val="141A33"/>
                </a:solidFill>
                <a:latin typeface="Meiryo"/>
                <a:ea typeface="Meiryo"/>
              </a:rPr>
              <a:t>アプリ本体</a:t>
            </a:r>
          </a:p>
        </p:txBody>
      </p:sp>
      <p:sp>
        <p:nvSpPr>
          <p:cNvPr id="10" name="TextBox 9"/>
          <p:cNvSpPr txBox="1"/>
          <p:nvPr/>
        </p:nvSpPr>
        <p:spPr>
          <a:xfrm>
            <a:off x="3767328" y="2240280"/>
            <a:ext cx="2743200" cy="365760"/>
          </a:xfrm>
          <a:prstGeom prst="rect">
            <a:avLst/>
          </a:prstGeom>
          <a:noFill/>
        </p:spPr>
        <p:txBody>
          <a:bodyPr wrap="square" lIns="0" rIns="0" tIns="0" bIns="0">
            <a:spAutoFit/>
          </a:bodyPr>
          <a:lstStyle/>
          <a:p>
            <a:pPr algn="l"/>
            <a:r>
              <a:rPr sz="1200" b="0">
                <a:solidFill>
                  <a:srgbClr val="6B7280"/>
                </a:solidFill>
                <a:latin typeface="Meiryo"/>
                <a:ea typeface="Meiryo"/>
              </a:rPr>
              <a:t>米国オレゴン（Render）</a:t>
            </a:r>
          </a:p>
        </p:txBody>
      </p:sp>
      <p:sp>
        <p:nvSpPr>
          <p:cNvPr id="11" name="TextBox 10"/>
          <p:cNvSpPr txBox="1"/>
          <p:nvPr/>
        </p:nvSpPr>
        <p:spPr>
          <a:xfrm>
            <a:off x="6784848" y="2240280"/>
            <a:ext cx="2743200" cy="365760"/>
          </a:xfrm>
          <a:prstGeom prst="rect">
            <a:avLst/>
          </a:prstGeom>
          <a:noFill/>
        </p:spPr>
        <p:txBody>
          <a:bodyPr wrap="square" lIns="0" rIns="0" tIns="0" bIns="0">
            <a:spAutoFit/>
          </a:bodyPr>
          <a:lstStyle/>
          <a:p>
            <a:pPr algn="l"/>
            <a:r>
              <a:rPr sz="1200" b="1">
                <a:solidFill>
                  <a:srgbClr val="141A33"/>
                </a:solidFill>
                <a:latin typeface="Meiryo"/>
                <a:ea typeface="Meiryo"/>
              </a:rPr>
              <a:t>東京（Azure）</a:t>
            </a:r>
          </a:p>
        </p:txBody>
      </p:sp>
      <p:sp>
        <p:nvSpPr>
          <p:cNvPr id="12" name="TextBox 11"/>
          <p:cNvSpPr txBox="1"/>
          <p:nvPr/>
        </p:nvSpPr>
        <p:spPr>
          <a:xfrm>
            <a:off x="9802368" y="2240280"/>
            <a:ext cx="2514600" cy="365760"/>
          </a:xfrm>
          <a:prstGeom prst="rect">
            <a:avLst/>
          </a:prstGeom>
          <a:noFill/>
        </p:spPr>
        <p:txBody>
          <a:bodyPr wrap="square" lIns="0" rIns="0" tIns="0" bIns="0">
            <a:spAutoFit/>
          </a:bodyPr>
          <a:lstStyle/>
          <a:p>
            <a:pPr algn="l"/>
            <a:r>
              <a:rPr sz="1200" b="0">
                <a:solidFill>
                  <a:srgbClr val="6B7280"/>
                </a:solidFill>
                <a:latin typeface="Meiryo"/>
                <a:ea typeface="Meiryo"/>
              </a:rPr>
              <a:t>完了</a:t>
            </a:r>
          </a:p>
        </p:txBody>
      </p:sp>
      <p:sp>
        <p:nvSpPr>
          <p:cNvPr id="13" name="Rectangle 12"/>
          <p:cNvSpPr/>
          <p:nvPr/>
        </p:nvSpPr>
        <p:spPr>
          <a:xfrm>
            <a:off x="566928" y="2788920"/>
            <a:ext cx="11183112" cy="73152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66928" y="2971800"/>
            <a:ext cx="2926080" cy="365760"/>
          </a:xfrm>
          <a:prstGeom prst="rect">
            <a:avLst/>
          </a:prstGeom>
          <a:noFill/>
        </p:spPr>
        <p:txBody>
          <a:bodyPr wrap="square" lIns="0" rIns="0" tIns="0" bIns="0">
            <a:spAutoFit/>
          </a:bodyPr>
          <a:lstStyle/>
          <a:p>
            <a:pPr algn="l"/>
            <a:r>
              <a:rPr sz="1250" b="1">
                <a:solidFill>
                  <a:srgbClr val="141A33"/>
                </a:solidFill>
                <a:latin typeface="Meiryo"/>
                <a:ea typeface="Meiryo"/>
              </a:rPr>
              <a:t>データベース・添付ファイル</a:t>
            </a:r>
          </a:p>
        </p:txBody>
      </p:sp>
      <p:sp>
        <p:nvSpPr>
          <p:cNvPr id="15" name="TextBox 14"/>
          <p:cNvSpPr txBox="1"/>
          <p:nvPr/>
        </p:nvSpPr>
        <p:spPr>
          <a:xfrm>
            <a:off x="3767328" y="2971800"/>
            <a:ext cx="2743200" cy="365760"/>
          </a:xfrm>
          <a:prstGeom prst="rect">
            <a:avLst/>
          </a:prstGeom>
          <a:noFill/>
        </p:spPr>
        <p:txBody>
          <a:bodyPr wrap="square" lIns="0" rIns="0" tIns="0" bIns="0">
            <a:spAutoFit/>
          </a:bodyPr>
          <a:lstStyle/>
          <a:p>
            <a:pPr algn="l"/>
            <a:r>
              <a:rPr sz="1200" b="0">
                <a:solidFill>
                  <a:srgbClr val="6B7280"/>
                </a:solidFill>
                <a:latin typeface="Meiryo"/>
                <a:ea typeface="Meiryo"/>
              </a:rPr>
              <a:t>東京（Supabase）</a:t>
            </a:r>
          </a:p>
        </p:txBody>
      </p:sp>
      <p:sp>
        <p:nvSpPr>
          <p:cNvPr id="16" name="TextBox 15"/>
          <p:cNvSpPr txBox="1"/>
          <p:nvPr/>
        </p:nvSpPr>
        <p:spPr>
          <a:xfrm>
            <a:off x="6784848" y="2971800"/>
            <a:ext cx="2743200" cy="365760"/>
          </a:xfrm>
          <a:prstGeom prst="rect">
            <a:avLst/>
          </a:prstGeom>
          <a:noFill/>
        </p:spPr>
        <p:txBody>
          <a:bodyPr wrap="square" lIns="0" rIns="0" tIns="0" bIns="0">
            <a:spAutoFit/>
          </a:bodyPr>
          <a:lstStyle/>
          <a:p>
            <a:pPr algn="l"/>
            <a:r>
              <a:rPr sz="1200" b="1">
                <a:solidFill>
                  <a:srgbClr val="141A33"/>
                </a:solidFill>
                <a:latin typeface="Meiryo"/>
                <a:ea typeface="Meiryo"/>
              </a:rPr>
              <a:t>東京（Supabase）</a:t>
            </a:r>
          </a:p>
        </p:txBody>
      </p:sp>
      <p:sp>
        <p:nvSpPr>
          <p:cNvPr id="17" name="TextBox 16"/>
          <p:cNvSpPr txBox="1"/>
          <p:nvPr/>
        </p:nvSpPr>
        <p:spPr>
          <a:xfrm>
            <a:off x="9802368" y="2971800"/>
            <a:ext cx="2514600" cy="365760"/>
          </a:xfrm>
          <a:prstGeom prst="rect">
            <a:avLst/>
          </a:prstGeom>
          <a:noFill/>
        </p:spPr>
        <p:txBody>
          <a:bodyPr wrap="square" lIns="0" rIns="0" tIns="0" bIns="0">
            <a:spAutoFit/>
          </a:bodyPr>
          <a:lstStyle/>
          <a:p>
            <a:pPr algn="l"/>
            <a:r>
              <a:rPr sz="1200" b="0">
                <a:solidFill>
                  <a:srgbClr val="6B7280"/>
                </a:solidFill>
                <a:latin typeface="Meiryo"/>
                <a:ea typeface="Meiryo"/>
              </a:rPr>
              <a:t>完了</a:t>
            </a:r>
          </a:p>
        </p:txBody>
      </p:sp>
      <p:sp>
        <p:nvSpPr>
          <p:cNvPr id="18" name="TextBox 17"/>
          <p:cNvSpPr txBox="1"/>
          <p:nvPr/>
        </p:nvSpPr>
        <p:spPr>
          <a:xfrm>
            <a:off x="566928" y="3703320"/>
            <a:ext cx="2926080" cy="365760"/>
          </a:xfrm>
          <a:prstGeom prst="rect">
            <a:avLst/>
          </a:prstGeom>
          <a:noFill/>
        </p:spPr>
        <p:txBody>
          <a:bodyPr wrap="square" lIns="0" rIns="0" tIns="0" bIns="0">
            <a:spAutoFit/>
          </a:bodyPr>
          <a:lstStyle/>
          <a:p>
            <a:pPr algn="l"/>
            <a:r>
              <a:rPr sz="1250" b="1">
                <a:solidFill>
                  <a:srgbClr val="141A33"/>
                </a:solidFill>
                <a:latin typeface="Meiryo"/>
                <a:ea typeface="Meiryo"/>
              </a:rPr>
              <a:t>AI・OCR</a:t>
            </a:r>
          </a:p>
        </p:txBody>
      </p:sp>
      <p:sp>
        <p:nvSpPr>
          <p:cNvPr id="19" name="TextBox 18"/>
          <p:cNvSpPr txBox="1"/>
          <p:nvPr/>
        </p:nvSpPr>
        <p:spPr>
          <a:xfrm>
            <a:off x="3767328" y="3703320"/>
            <a:ext cx="2743200" cy="365760"/>
          </a:xfrm>
          <a:prstGeom prst="rect">
            <a:avLst/>
          </a:prstGeom>
          <a:noFill/>
        </p:spPr>
        <p:txBody>
          <a:bodyPr wrap="square" lIns="0" rIns="0" tIns="0" bIns="0">
            <a:spAutoFit/>
          </a:bodyPr>
          <a:lstStyle/>
          <a:p>
            <a:pPr algn="l"/>
            <a:r>
              <a:rPr sz="1200" b="0">
                <a:solidFill>
                  <a:srgbClr val="6B7280"/>
                </a:solidFill>
                <a:latin typeface="Meiryo"/>
                <a:ea typeface="Meiryo"/>
              </a:rPr>
              <a:t>米国（Anthropic）</a:t>
            </a:r>
          </a:p>
        </p:txBody>
      </p:sp>
      <p:sp>
        <p:nvSpPr>
          <p:cNvPr id="20" name="TextBox 19"/>
          <p:cNvSpPr txBox="1"/>
          <p:nvPr/>
        </p:nvSpPr>
        <p:spPr>
          <a:xfrm>
            <a:off x="6784848" y="3703320"/>
            <a:ext cx="2743200" cy="365760"/>
          </a:xfrm>
          <a:prstGeom prst="rect">
            <a:avLst/>
          </a:prstGeom>
          <a:noFill/>
        </p:spPr>
        <p:txBody>
          <a:bodyPr wrap="square" lIns="0" rIns="0" tIns="0" bIns="0">
            <a:spAutoFit/>
          </a:bodyPr>
          <a:lstStyle/>
          <a:p>
            <a:pPr algn="l"/>
            <a:r>
              <a:rPr sz="1200" b="1">
                <a:solidFill>
                  <a:srgbClr val="141A33"/>
                </a:solidFill>
                <a:latin typeface="Meiryo"/>
                <a:ea typeface="Meiryo"/>
              </a:rPr>
              <a:t>当面は米国のまま</a:t>
            </a:r>
          </a:p>
        </p:txBody>
      </p:sp>
      <p:sp>
        <p:nvSpPr>
          <p:cNvPr id="21" name="TextBox 20"/>
          <p:cNvSpPr txBox="1"/>
          <p:nvPr/>
        </p:nvSpPr>
        <p:spPr>
          <a:xfrm>
            <a:off x="9802368" y="3703320"/>
            <a:ext cx="2514600" cy="365760"/>
          </a:xfrm>
          <a:prstGeom prst="rect">
            <a:avLst/>
          </a:prstGeom>
          <a:noFill/>
        </p:spPr>
        <p:txBody>
          <a:bodyPr wrap="square" lIns="0" rIns="0" tIns="0" bIns="0">
            <a:spAutoFit/>
          </a:bodyPr>
          <a:lstStyle/>
          <a:p>
            <a:pPr algn="l"/>
            <a:r>
              <a:rPr sz="1200" b="0">
                <a:solidFill>
                  <a:srgbClr val="6B7280"/>
                </a:solidFill>
                <a:latin typeface="Meiryo"/>
                <a:ea typeface="Meiryo"/>
              </a:rPr>
              <a:t>規約・公表で対応</a:t>
            </a:r>
          </a:p>
        </p:txBody>
      </p:sp>
      <p:sp>
        <p:nvSpPr>
          <p:cNvPr id="22" name="Rounded Rectangle 21"/>
          <p:cNvSpPr/>
          <p:nvPr/>
        </p:nvSpPr>
        <p:spPr>
          <a:xfrm>
            <a:off x="566928" y="4480560"/>
            <a:ext cx="11073384" cy="960120"/>
          </a:xfrm>
          <a:prstGeom prst="roundRect">
            <a:avLst>
              <a:gd name="adj" fmla="val 12000"/>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68680" y="4640580"/>
            <a:ext cx="10515600" cy="640080"/>
          </a:xfrm>
          <a:prstGeom prst="rect">
            <a:avLst/>
          </a:prstGeom>
          <a:noFill/>
        </p:spPr>
        <p:txBody>
          <a:bodyPr wrap="square" lIns="0" rIns="0" tIns="0" bIns="0">
            <a:spAutoFit/>
          </a:bodyPr>
          <a:lstStyle/>
          <a:p>
            <a:pPr algn="l">
              <a:spcAft>
                <a:spcPts val="300"/>
              </a:spcAft>
            </a:pPr>
            <a:r>
              <a:rPr sz="1200" b="0">
                <a:solidFill>
                  <a:srgbClr val="141A33"/>
                </a:solidFill>
                <a:latin typeface="Meiryo"/>
                <a:ea typeface="Meiryo"/>
              </a:rPr>
              <a:t>案件情報と、戸籍・通帳などの書類ファイルは、すべてデータベース側にあります。</a:t>
            </a:r>
          </a:p>
          <a:p>
            <a:pPr algn="l">
              <a:spcAft>
                <a:spcPts val="300"/>
              </a:spcAft>
            </a:pPr>
            <a:r>
              <a:rPr sz="1200" b="0">
                <a:solidFill>
                  <a:srgbClr val="141A33"/>
                </a:solidFill>
                <a:latin typeface="Meiryo"/>
                <a:ea typeface="Meiryo"/>
              </a:rPr>
              <a:t>ここを国内に移すことの効果が最も大きいため、優先して実施します。</a:t>
            </a:r>
          </a:p>
        </p:txBody>
      </p:sp>
      <p:sp>
        <p:nvSpPr>
          <p:cNvPr id="24" name="Rounded Rectangle 23"/>
          <p:cNvSpPr/>
          <p:nvPr/>
        </p:nvSpPr>
        <p:spPr>
          <a:xfrm>
            <a:off x="566928" y="5486400"/>
            <a:ext cx="11073384" cy="685800"/>
          </a:xfrm>
          <a:prstGeom prst="roundRect">
            <a:avLst>
              <a:gd name="adj" fmla="val 12000"/>
            </a:avLst>
          </a:prstGeom>
          <a:solidFill>
            <a:srgbClr val="F2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68680" y="5646420"/>
            <a:ext cx="10515600" cy="365760"/>
          </a:xfrm>
          <a:prstGeom prst="rect">
            <a:avLst/>
          </a:prstGeom>
          <a:noFill/>
        </p:spPr>
        <p:txBody>
          <a:bodyPr wrap="square" lIns="0" rIns="0" tIns="0" bIns="0">
            <a:spAutoFit/>
          </a:bodyPr>
          <a:lstStyle/>
          <a:p>
            <a:pPr algn="l">
              <a:spcAft>
                <a:spcPts val="300"/>
              </a:spcAft>
            </a:pPr>
            <a:r>
              <a:rPr sz="1250" b="1">
                <a:solidFill>
                  <a:srgbClr val="4F46E5"/>
                </a:solidFill>
                <a:latin typeface="Meiryo"/>
                <a:ea typeface="Meiryo"/>
              </a:rPr>
              <a:t>AI は現時点で日本国内で処理する選択肢が提供されていないため、当面は米国のまま、契約と公表で対応します。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237744"/>
            <a:ext cx="8686800" cy="411480"/>
          </a:xfrm>
          <a:prstGeom prst="rect">
            <a:avLst/>
          </a:prstGeom>
          <a:noFill/>
        </p:spPr>
        <p:txBody>
          <a:bodyPr wrap="square" lIns="0" rIns="0" tIns="0" bIns="0">
            <a:spAutoFit/>
          </a:bodyPr>
          <a:lstStyle/>
          <a:p>
            <a:pPr algn="l"/>
            <a:r>
              <a:rPr sz="2200" b="1">
                <a:solidFill>
                  <a:srgbClr val="FFFFFF"/>
                </a:solidFill>
                <a:latin typeface="Meiryo"/>
                <a:ea typeface="Meiryo"/>
              </a:rPr>
              <a:t>個人情報保護法への対応</a:t>
            </a:r>
          </a:p>
        </p:txBody>
      </p:sp>
      <p:sp>
        <p:nvSpPr>
          <p:cNvPr id="4" name="TextBox 3"/>
          <p:cNvSpPr txBox="1"/>
          <p:nvPr/>
        </p:nvSpPr>
        <p:spPr>
          <a:xfrm>
            <a:off x="566928" y="1024128"/>
            <a:ext cx="11064240" cy="365760"/>
          </a:xfrm>
          <a:prstGeom prst="rect">
            <a:avLst/>
          </a:prstGeom>
          <a:noFill/>
        </p:spPr>
        <p:txBody>
          <a:bodyPr wrap="square" lIns="0" rIns="0" tIns="0" bIns="0">
            <a:spAutoFit/>
          </a:bodyPr>
          <a:lstStyle/>
          <a:p>
            <a:pPr algn="l"/>
            <a:r>
              <a:rPr sz="1250" b="0">
                <a:solidFill>
                  <a:srgbClr val="6B7280"/>
                </a:solidFill>
                <a:latin typeface="Meiryo"/>
                <a:ea typeface="Meiryo"/>
              </a:rPr>
              <a:t>外国の事業者に個人データを預ける場合、本人の同意または「体制の確認と公表」が必要です（法第28条）。</a:t>
            </a:r>
          </a:p>
        </p:txBody>
      </p:sp>
      <p:sp>
        <p:nvSpPr>
          <p:cNvPr id="5" name="Rounded Rectangle 4"/>
          <p:cNvSpPr/>
          <p:nvPr/>
        </p:nvSpPr>
        <p:spPr>
          <a:xfrm>
            <a:off x="566928" y="1600200"/>
            <a:ext cx="3529584" cy="3200400"/>
          </a:xfrm>
          <a:prstGeom prst="roundRect">
            <a:avLst>
              <a:gd name="adj" fmla="val 3500"/>
            </a:avLst>
          </a:prstGeom>
          <a:solidFill>
            <a:srgbClr val="FFFFFF"/>
          </a:solidFill>
          <a:ln w="12700">
            <a:solidFill>
              <a:srgbClr val="C7CD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6928" y="1600200"/>
            <a:ext cx="3529584" cy="82296"/>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59536" y="1938528"/>
            <a:ext cx="3017520" cy="365760"/>
          </a:xfrm>
          <a:prstGeom prst="rect">
            <a:avLst/>
          </a:prstGeom>
          <a:noFill/>
        </p:spPr>
        <p:txBody>
          <a:bodyPr wrap="square" lIns="0" rIns="0" tIns="0" bIns="0">
            <a:spAutoFit/>
          </a:bodyPr>
          <a:lstStyle/>
          <a:p>
            <a:pPr algn="l"/>
            <a:r>
              <a:rPr sz="1100" b="1">
                <a:solidFill>
                  <a:srgbClr val="4F46E5"/>
                </a:solidFill>
                <a:latin typeface="Meiryo"/>
                <a:ea typeface="Meiryo"/>
              </a:rPr>
              <a:t>01</a:t>
            </a:r>
          </a:p>
        </p:txBody>
      </p:sp>
      <p:sp>
        <p:nvSpPr>
          <p:cNvPr id="8" name="TextBox 7"/>
          <p:cNvSpPr txBox="1"/>
          <p:nvPr/>
        </p:nvSpPr>
        <p:spPr>
          <a:xfrm>
            <a:off x="859536" y="2304288"/>
            <a:ext cx="3017520" cy="411480"/>
          </a:xfrm>
          <a:prstGeom prst="rect">
            <a:avLst/>
          </a:prstGeom>
          <a:noFill/>
        </p:spPr>
        <p:txBody>
          <a:bodyPr wrap="square" lIns="0" rIns="0" tIns="0" bIns="0">
            <a:spAutoFit/>
          </a:bodyPr>
          <a:lstStyle/>
          <a:p>
            <a:pPr algn="l"/>
            <a:r>
              <a:rPr sz="1500" b="1">
                <a:solidFill>
                  <a:srgbClr val="141A33"/>
                </a:solidFill>
                <a:latin typeface="Meiryo"/>
                <a:ea typeface="Meiryo"/>
              </a:rPr>
              <a:t>国内へ移す</a:t>
            </a:r>
          </a:p>
        </p:txBody>
      </p:sp>
      <p:sp>
        <p:nvSpPr>
          <p:cNvPr id="9" name="TextBox 8"/>
          <p:cNvSpPr txBox="1"/>
          <p:nvPr/>
        </p:nvSpPr>
        <p:spPr>
          <a:xfrm>
            <a:off x="859536" y="2889504"/>
            <a:ext cx="3017520" cy="1828800"/>
          </a:xfrm>
          <a:prstGeom prst="rect">
            <a:avLst/>
          </a:prstGeom>
          <a:noFill/>
        </p:spPr>
        <p:txBody>
          <a:bodyPr wrap="square" lIns="0" rIns="0" tIns="0" bIns="0">
            <a:spAutoFit/>
          </a:bodyPr>
          <a:lstStyle/>
          <a:p>
            <a:pPr algn="l">
              <a:spcAft>
                <a:spcPts val="200"/>
              </a:spcAft>
            </a:pPr>
            <a:r>
              <a:rPr sz="1150" b="0">
                <a:solidFill>
                  <a:srgbClr val="6B7280"/>
                </a:solidFill>
                <a:latin typeface="Meiryo"/>
                <a:ea typeface="Meiryo"/>
              </a:rPr>
              <a:t>データベースと添付ファイルを</a:t>
            </a:r>
          </a:p>
          <a:p>
            <a:pPr algn="l">
              <a:spcAft>
                <a:spcPts val="200"/>
              </a:spcAft>
            </a:pPr>
            <a:r>
              <a:rPr sz="1150" b="0">
                <a:solidFill>
                  <a:srgbClr val="6B7280"/>
                </a:solidFill>
                <a:latin typeface="Meiryo"/>
                <a:ea typeface="Meiryo"/>
              </a:rPr>
              <a:t>東京リージョンへ移します。</a:t>
            </a:r>
          </a:p>
          <a:p>
            <a:pPr algn="l">
              <a:spcAft>
                <a:spcPts val="200"/>
              </a:spcAft>
            </a:pPr>
            <a:r>
              <a:rPr sz="1150" b="0">
                <a:solidFill>
                  <a:srgbClr val="6B7280"/>
                </a:solidFill>
                <a:latin typeface="Meiryo"/>
                <a:ea typeface="Meiryo"/>
              </a:rPr>
              <a:t/>
            </a:r>
          </a:p>
          <a:p>
            <a:pPr algn="l">
              <a:spcAft>
                <a:spcPts val="200"/>
              </a:spcAft>
            </a:pPr>
            <a:r>
              <a:rPr sz="1150" b="0">
                <a:solidFill>
                  <a:srgbClr val="6B7280"/>
                </a:solidFill>
                <a:latin typeface="Meiryo"/>
                <a:ea typeface="Meiryo"/>
              </a:rPr>
              <a:t>全案件のデータが国内保管に</a:t>
            </a:r>
          </a:p>
          <a:p>
            <a:pPr algn="l">
              <a:spcAft>
                <a:spcPts val="200"/>
              </a:spcAft>
            </a:pPr>
            <a:r>
              <a:rPr sz="1150" b="0">
                <a:solidFill>
                  <a:srgbClr val="6B7280"/>
                </a:solidFill>
                <a:latin typeface="Meiryo"/>
                <a:ea typeface="Meiryo"/>
              </a:rPr>
              <a:t>なります。2026年8月中に実施。</a:t>
            </a:r>
          </a:p>
        </p:txBody>
      </p:sp>
      <p:sp>
        <p:nvSpPr>
          <p:cNvPr id="10" name="Rounded Rectangle 9"/>
          <p:cNvSpPr/>
          <p:nvPr/>
        </p:nvSpPr>
        <p:spPr>
          <a:xfrm>
            <a:off x="4334256" y="1600200"/>
            <a:ext cx="3529584" cy="3200400"/>
          </a:xfrm>
          <a:prstGeom prst="roundRect">
            <a:avLst>
              <a:gd name="adj" fmla="val 3500"/>
            </a:avLst>
          </a:prstGeom>
          <a:solidFill>
            <a:srgbClr val="FFFFFF"/>
          </a:solidFill>
          <a:ln w="12700">
            <a:solidFill>
              <a:srgbClr val="C7CD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334256" y="1600200"/>
            <a:ext cx="3529584" cy="82296"/>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626864" y="1938528"/>
            <a:ext cx="3017520" cy="365760"/>
          </a:xfrm>
          <a:prstGeom prst="rect">
            <a:avLst/>
          </a:prstGeom>
          <a:noFill/>
        </p:spPr>
        <p:txBody>
          <a:bodyPr wrap="square" lIns="0" rIns="0" tIns="0" bIns="0">
            <a:spAutoFit/>
          </a:bodyPr>
          <a:lstStyle/>
          <a:p>
            <a:pPr algn="l"/>
            <a:r>
              <a:rPr sz="1100" b="1">
                <a:solidFill>
                  <a:srgbClr val="4F46E5"/>
                </a:solidFill>
                <a:latin typeface="Meiryo"/>
                <a:ea typeface="Meiryo"/>
              </a:rPr>
              <a:t>02</a:t>
            </a:r>
          </a:p>
        </p:txBody>
      </p:sp>
      <p:sp>
        <p:nvSpPr>
          <p:cNvPr id="13" name="TextBox 12"/>
          <p:cNvSpPr txBox="1"/>
          <p:nvPr/>
        </p:nvSpPr>
        <p:spPr>
          <a:xfrm>
            <a:off x="4626864" y="2304288"/>
            <a:ext cx="3017520" cy="411480"/>
          </a:xfrm>
          <a:prstGeom prst="rect">
            <a:avLst/>
          </a:prstGeom>
          <a:noFill/>
        </p:spPr>
        <p:txBody>
          <a:bodyPr wrap="square" lIns="0" rIns="0" tIns="0" bIns="0">
            <a:spAutoFit/>
          </a:bodyPr>
          <a:lstStyle/>
          <a:p>
            <a:pPr algn="l"/>
            <a:r>
              <a:rPr sz="1500" b="1">
                <a:solidFill>
                  <a:srgbClr val="141A33"/>
                </a:solidFill>
                <a:latin typeface="Meiryo"/>
                <a:ea typeface="Meiryo"/>
              </a:rPr>
              <a:t>契約を結ぶ</a:t>
            </a:r>
          </a:p>
        </p:txBody>
      </p:sp>
      <p:sp>
        <p:nvSpPr>
          <p:cNvPr id="14" name="TextBox 13"/>
          <p:cNvSpPr txBox="1"/>
          <p:nvPr/>
        </p:nvSpPr>
        <p:spPr>
          <a:xfrm>
            <a:off x="4626864" y="2889504"/>
            <a:ext cx="3017520" cy="1828800"/>
          </a:xfrm>
          <a:prstGeom prst="rect">
            <a:avLst/>
          </a:prstGeom>
          <a:noFill/>
        </p:spPr>
        <p:txBody>
          <a:bodyPr wrap="square" lIns="0" rIns="0" tIns="0" bIns="0">
            <a:spAutoFit/>
          </a:bodyPr>
          <a:lstStyle/>
          <a:p>
            <a:pPr algn="l">
              <a:spcAft>
                <a:spcPts val="200"/>
              </a:spcAft>
            </a:pPr>
            <a:r>
              <a:rPr sz="1150" b="0">
                <a:solidFill>
                  <a:srgbClr val="6B7280"/>
                </a:solidFill>
                <a:latin typeface="Meiryo"/>
                <a:ea typeface="Meiryo"/>
              </a:rPr>
              <a:t>各委託先との間でデータの</a:t>
            </a:r>
          </a:p>
          <a:p>
            <a:pPr algn="l">
              <a:spcAft>
                <a:spcPts val="200"/>
              </a:spcAft>
            </a:pPr>
            <a:r>
              <a:rPr sz="1150" b="0">
                <a:solidFill>
                  <a:srgbClr val="6B7280"/>
                </a:solidFill>
                <a:latin typeface="Meiryo"/>
                <a:ea typeface="Meiryo"/>
              </a:rPr>
              <a:t>取扱いに関する契約を締結し、</a:t>
            </a:r>
          </a:p>
          <a:p>
            <a:pPr algn="l">
              <a:spcAft>
                <a:spcPts val="200"/>
              </a:spcAft>
            </a:pPr>
            <a:r>
              <a:rPr sz="1150" b="0">
                <a:solidFill>
                  <a:srgbClr val="6B7280"/>
                </a:solidFill>
                <a:latin typeface="Meiryo"/>
                <a:ea typeface="Meiryo"/>
              </a:rPr>
              <a:t/>
            </a:r>
          </a:p>
          <a:p>
            <a:pPr algn="l">
              <a:spcAft>
                <a:spcPts val="200"/>
              </a:spcAft>
            </a:pPr>
            <a:r>
              <a:rPr sz="1150" b="0">
                <a:solidFill>
                  <a:srgbClr val="6B7280"/>
                </a:solidFill>
                <a:latin typeface="Meiryo"/>
                <a:ea typeface="Meiryo"/>
              </a:rPr>
              <a:t>安全管理措置を確認します。</a:t>
            </a:r>
          </a:p>
        </p:txBody>
      </p:sp>
      <p:sp>
        <p:nvSpPr>
          <p:cNvPr id="15" name="Rounded Rectangle 14"/>
          <p:cNvSpPr/>
          <p:nvPr/>
        </p:nvSpPr>
        <p:spPr>
          <a:xfrm>
            <a:off x="8101584" y="1600200"/>
            <a:ext cx="3529584" cy="3200400"/>
          </a:xfrm>
          <a:prstGeom prst="roundRect">
            <a:avLst>
              <a:gd name="adj" fmla="val 3500"/>
            </a:avLst>
          </a:prstGeom>
          <a:solidFill>
            <a:srgbClr val="FFFFFF"/>
          </a:solidFill>
          <a:ln w="12700">
            <a:solidFill>
              <a:srgbClr val="C7CD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101584" y="1600200"/>
            <a:ext cx="3529584" cy="82296"/>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394192" y="1938528"/>
            <a:ext cx="3017520" cy="365760"/>
          </a:xfrm>
          <a:prstGeom prst="rect">
            <a:avLst/>
          </a:prstGeom>
          <a:noFill/>
        </p:spPr>
        <p:txBody>
          <a:bodyPr wrap="square" lIns="0" rIns="0" tIns="0" bIns="0">
            <a:spAutoFit/>
          </a:bodyPr>
          <a:lstStyle/>
          <a:p>
            <a:pPr algn="l"/>
            <a:r>
              <a:rPr sz="1100" b="1">
                <a:solidFill>
                  <a:srgbClr val="4F46E5"/>
                </a:solidFill>
                <a:latin typeface="Meiryo"/>
                <a:ea typeface="Meiryo"/>
              </a:rPr>
              <a:t>03</a:t>
            </a:r>
          </a:p>
        </p:txBody>
      </p:sp>
      <p:sp>
        <p:nvSpPr>
          <p:cNvPr id="18" name="TextBox 17"/>
          <p:cNvSpPr txBox="1"/>
          <p:nvPr/>
        </p:nvSpPr>
        <p:spPr>
          <a:xfrm>
            <a:off x="8394192" y="2304288"/>
            <a:ext cx="3017520" cy="411480"/>
          </a:xfrm>
          <a:prstGeom prst="rect">
            <a:avLst/>
          </a:prstGeom>
          <a:noFill/>
        </p:spPr>
        <p:txBody>
          <a:bodyPr wrap="square" lIns="0" rIns="0" tIns="0" bIns="0">
            <a:spAutoFit/>
          </a:bodyPr>
          <a:lstStyle/>
          <a:p>
            <a:pPr algn="l"/>
            <a:r>
              <a:rPr sz="1500" b="1">
                <a:solidFill>
                  <a:srgbClr val="141A33"/>
                </a:solidFill>
                <a:latin typeface="Meiryo"/>
                <a:ea typeface="Meiryo"/>
              </a:rPr>
              <a:t>公表する</a:t>
            </a:r>
          </a:p>
        </p:txBody>
      </p:sp>
      <p:sp>
        <p:nvSpPr>
          <p:cNvPr id="19" name="TextBox 18"/>
          <p:cNvSpPr txBox="1"/>
          <p:nvPr/>
        </p:nvSpPr>
        <p:spPr>
          <a:xfrm>
            <a:off x="8394192" y="2889504"/>
            <a:ext cx="3017520" cy="1828800"/>
          </a:xfrm>
          <a:prstGeom prst="rect">
            <a:avLst/>
          </a:prstGeom>
          <a:noFill/>
        </p:spPr>
        <p:txBody>
          <a:bodyPr wrap="square" lIns="0" rIns="0" tIns="0" bIns="0">
            <a:spAutoFit/>
          </a:bodyPr>
          <a:lstStyle/>
          <a:p>
            <a:pPr algn="l">
              <a:spcAft>
                <a:spcPts val="200"/>
              </a:spcAft>
            </a:pPr>
            <a:r>
              <a:rPr sz="1150" b="0">
                <a:solidFill>
                  <a:srgbClr val="6B7280"/>
                </a:solidFill>
                <a:latin typeface="Meiryo"/>
                <a:ea typeface="Meiryo"/>
              </a:rPr>
              <a:t>プライバシーポリシーに、</a:t>
            </a:r>
          </a:p>
          <a:p>
            <a:pPr algn="l">
              <a:spcAft>
                <a:spcPts val="200"/>
              </a:spcAft>
            </a:pPr>
            <a:r>
              <a:rPr sz="1150" b="0">
                <a:solidFill>
                  <a:srgbClr val="6B7280"/>
                </a:solidFill>
                <a:latin typeface="Meiryo"/>
                <a:ea typeface="Meiryo"/>
              </a:rPr>
              <a:t>移転先の国名・その国の制度・</a:t>
            </a:r>
          </a:p>
          <a:p>
            <a:pPr algn="l">
              <a:spcAft>
                <a:spcPts val="200"/>
              </a:spcAft>
            </a:pPr>
            <a:r>
              <a:rPr sz="1150" b="0">
                <a:solidFill>
                  <a:srgbClr val="6B7280"/>
                </a:solidFill>
                <a:latin typeface="Meiryo"/>
                <a:ea typeface="Meiryo"/>
              </a:rPr>
              <a:t>相手方の措置を記載します。</a:t>
            </a:r>
          </a:p>
          <a:p>
            <a:pPr algn="l">
              <a:spcAft>
                <a:spcPts val="200"/>
              </a:spcAft>
            </a:pPr>
            <a:r>
              <a:rPr sz="1150" b="0">
                <a:solidFill>
                  <a:srgbClr val="6B7280"/>
                </a:solidFill>
                <a:latin typeface="Meiryo"/>
                <a:ea typeface="Meiryo"/>
              </a:rPr>
              <a:t/>
            </a:r>
          </a:p>
          <a:p>
            <a:pPr algn="l">
              <a:spcAft>
                <a:spcPts val="200"/>
              </a:spcAft>
            </a:pPr>
            <a:r>
              <a:rPr sz="1150" b="0">
                <a:solidFill>
                  <a:srgbClr val="6B7280"/>
                </a:solidFill>
                <a:latin typeface="Meiryo"/>
                <a:ea typeface="Meiryo"/>
              </a:rPr>
              <a:t>文言案は次ページのとおりです。</a:t>
            </a:r>
          </a:p>
        </p:txBody>
      </p:sp>
      <p:sp>
        <p:nvSpPr>
          <p:cNvPr id="20" name="Rounded Rectangle 19"/>
          <p:cNvSpPr/>
          <p:nvPr/>
        </p:nvSpPr>
        <p:spPr>
          <a:xfrm>
            <a:off x="566928" y="5120640"/>
            <a:ext cx="11073384" cy="685800"/>
          </a:xfrm>
          <a:prstGeom prst="roundRect">
            <a:avLst>
              <a:gd name="adj" fmla="val 12000"/>
            </a:avLst>
          </a:prstGeom>
          <a:solidFill>
            <a:srgbClr val="F2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68680" y="5280660"/>
            <a:ext cx="10515600" cy="365760"/>
          </a:xfrm>
          <a:prstGeom prst="rect">
            <a:avLst/>
          </a:prstGeom>
          <a:noFill/>
        </p:spPr>
        <p:txBody>
          <a:bodyPr wrap="square" lIns="0" rIns="0" tIns="0" bIns="0">
            <a:spAutoFit/>
          </a:bodyPr>
          <a:lstStyle/>
          <a:p>
            <a:pPr algn="l">
              <a:spcAft>
                <a:spcPts val="300"/>
              </a:spcAft>
            </a:pPr>
            <a:r>
              <a:rPr sz="1250" b="1">
                <a:solidFill>
                  <a:srgbClr val="4F46E5"/>
                </a:solidFill>
                <a:latin typeface="Meiryo"/>
                <a:ea typeface="Meiryo"/>
              </a:rPr>
              <a:t>AI に送信した情報が、AIモデルの学習に利用されることはありません（商用APIの利用規約による）。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237744"/>
            <a:ext cx="8686800" cy="411480"/>
          </a:xfrm>
          <a:prstGeom prst="rect">
            <a:avLst/>
          </a:prstGeom>
          <a:noFill/>
        </p:spPr>
        <p:txBody>
          <a:bodyPr wrap="square" lIns="0" rIns="0" tIns="0" bIns="0">
            <a:spAutoFit/>
          </a:bodyPr>
          <a:lstStyle/>
          <a:p>
            <a:pPr algn="l"/>
            <a:r>
              <a:rPr sz="2200" b="1">
                <a:solidFill>
                  <a:srgbClr val="FFFFFF"/>
                </a:solidFill>
                <a:latin typeface="Meiryo"/>
                <a:ea typeface="Meiryo"/>
              </a:rPr>
              <a:t>プライバシーポリシー 記載文言案</a:t>
            </a:r>
          </a:p>
        </p:txBody>
      </p:sp>
      <p:sp>
        <p:nvSpPr>
          <p:cNvPr id="4" name="TextBox 3"/>
          <p:cNvSpPr txBox="1"/>
          <p:nvPr/>
        </p:nvSpPr>
        <p:spPr>
          <a:xfrm>
            <a:off x="566928" y="1024128"/>
            <a:ext cx="11064240" cy="365760"/>
          </a:xfrm>
          <a:prstGeom prst="rect">
            <a:avLst/>
          </a:prstGeom>
          <a:noFill/>
        </p:spPr>
        <p:txBody>
          <a:bodyPr wrap="square" lIns="0" rIns="0" tIns="0" bIns="0">
            <a:spAutoFit/>
          </a:bodyPr>
          <a:lstStyle/>
          <a:p>
            <a:pPr algn="l"/>
            <a:r>
              <a:rPr sz="1250" b="0">
                <a:solidFill>
                  <a:srgbClr val="6B7280"/>
                </a:solidFill>
                <a:latin typeface="Meiryo"/>
                <a:ea typeface="Meiryo"/>
              </a:rPr>
              <a:t>下記をプライバシーポリシーに追加します。最終的な文面は、顧問の専門家にご確認ください。</a:t>
            </a:r>
          </a:p>
        </p:txBody>
      </p:sp>
      <p:sp>
        <p:nvSpPr>
          <p:cNvPr id="5" name="Rounded Rectangle 4"/>
          <p:cNvSpPr/>
          <p:nvPr/>
        </p:nvSpPr>
        <p:spPr>
          <a:xfrm>
            <a:off x="566928" y="1554480"/>
            <a:ext cx="11183112" cy="3931920"/>
          </a:xfrm>
          <a:prstGeom prst="roundRect">
            <a:avLst>
              <a:gd name="adj" fmla="val 3000"/>
            </a:avLst>
          </a:prstGeom>
          <a:solidFill>
            <a:srgbClr val="FFFFFF"/>
          </a:solidFill>
          <a:ln w="12700">
            <a:solidFill>
              <a:srgbClr val="C7CD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32688" y="1874520"/>
            <a:ext cx="10430640" cy="411480"/>
          </a:xfrm>
          <a:prstGeom prst="rect">
            <a:avLst/>
          </a:prstGeom>
          <a:noFill/>
        </p:spPr>
        <p:txBody>
          <a:bodyPr wrap="square" lIns="0" rIns="0" tIns="0" bIns="0">
            <a:spAutoFit/>
          </a:bodyPr>
          <a:lstStyle/>
          <a:p>
            <a:pPr algn="l"/>
            <a:r>
              <a:rPr sz="1350" b="1">
                <a:solidFill>
                  <a:srgbClr val="141A33"/>
                </a:solidFill>
                <a:latin typeface="Meiryo"/>
                <a:ea typeface="Meiryo"/>
              </a:rPr>
              <a:t>第◯条（外国にある第三者への個人データの提供）</a:t>
            </a:r>
          </a:p>
        </p:txBody>
      </p:sp>
      <p:sp>
        <p:nvSpPr>
          <p:cNvPr id="7" name="TextBox 6"/>
          <p:cNvSpPr txBox="1"/>
          <p:nvPr/>
        </p:nvSpPr>
        <p:spPr>
          <a:xfrm>
            <a:off x="932688" y="2423160"/>
            <a:ext cx="10430640" cy="2926080"/>
          </a:xfrm>
          <a:prstGeom prst="rect">
            <a:avLst/>
          </a:prstGeom>
          <a:noFill/>
        </p:spPr>
        <p:txBody>
          <a:bodyPr wrap="square" lIns="0" rIns="0" tIns="0" bIns="0">
            <a:spAutoFit/>
          </a:bodyPr>
          <a:lstStyle/>
          <a:p>
            <a:pPr algn="l">
              <a:spcAft>
                <a:spcPts val="200"/>
              </a:spcAft>
            </a:pPr>
            <a:r>
              <a:rPr sz="1150" b="0">
                <a:solidFill>
                  <a:srgbClr val="141A33"/>
                </a:solidFill>
                <a:latin typeface="Meiryo"/>
                <a:ea typeface="Meiryo"/>
              </a:rPr>
              <a:t>当社は、業務の遂行にあたり、次のとおり外国にある第三者へ個人データの取扱いを委託しています。</a:t>
            </a:r>
          </a:p>
          <a:p>
            <a:pPr algn="l">
              <a:spcAft>
                <a:spcPts val="200"/>
              </a:spcAft>
            </a:pPr>
            <a:r>
              <a:rPr sz="1150" b="0">
                <a:solidFill>
                  <a:srgbClr val="141A33"/>
                </a:solidFill>
                <a:latin typeface="Meiryo"/>
                <a:ea typeface="Meiryo"/>
              </a:rPr>
              <a:t/>
            </a:r>
          </a:p>
          <a:p>
            <a:pPr algn="l">
              <a:spcAft>
                <a:spcPts val="200"/>
              </a:spcAft>
            </a:pPr>
            <a:r>
              <a:rPr sz="1150" b="0">
                <a:solidFill>
                  <a:srgbClr val="141A33"/>
                </a:solidFill>
                <a:latin typeface="Meiryo"/>
                <a:ea typeface="Meiryo"/>
              </a:rPr>
              <a:t>　・Supabase, Inc.（アメリカ合衆国／データの保管場所：日本）</a:t>
            </a:r>
          </a:p>
          <a:p>
            <a:pPr algn="l">
              <a:spcAft>
                <a:spcPts val="200"/>
              </a:spcAft>
            </a:pPr>
            <a:r>
              <a:rPr sz="1150" b="0">
                <a:solidFill>
                  <a:srgbClr val="141A33"/>
                </a:solidFill>
                <a:latin typeface="Meiryo"/>
                <a:ea typeface="Meiryo"/>
              </a:rPr>
              <a:t>　　委託する業務：案件情報およびお預かりした書類の保管</a:t>
            </a:r>
          </a:p>
          <a:p>
            <a:pPr algn="l">
              <a:spcAft>
                <a:spcPts val="200"/>
              </a:spcAft>
            </a:pPr>
            <a:r>
              <a:rPr sz="1150" b="0">
                <a:solidFill>
                  <a:srgbClr val="141A33"/>
                </a:solidFill>
                <a:latin typeface="Meiryo"/>
                <a:ea typeface="Meiryo"/>
              </a:rPr>
              <a:t/>
            </a:r>
          </a:p>
          <a:p>
            <a:pPr algn="l">
              <a:spcAft>
                <a:spcPts val="200"/>
              </a:spcAft>
            </a:pPr>
            <a:r>
              <a:rPr sz="1150" b="0">
                <a:solidFill>
                  <a:srgbClr val="141A33"/>
                </a:solidFill>
                <a:latin typeface="Meiryo"/>
                <a:ea typeface="Meiryo"/>
              </a:rPr>
              <a:t>　・Anthropic PBC（アメリカ合衆国）</a:t>
            </a:r>
          </a:p>
          <a:p>
            <a:pPr algn="l">
              <a:spcAft>
                <a:spcPts val="200"/>
              </a:spcAft>
            </a:pPr>
            <a:r>
              <a:rPr sz="1150" b="0">
                <a:solidFill>
                  <a:srgbClr val="141A33"/>
                </a:solidFill>
                <a:latin typeface="Meiryo"/>
                <a:ea typeface="Meiryo"/>
              </a:rPr>
              <a:t>　　委託する業務：書類画像の文字読み取り（OCR）および文章の要約</a:t>
            </a:r>
          </a:p>
          <a:p>
            <a:pPr algn="l">
              <a:spcAft>
                <a:spcPts val="200"/>
              </a:spcAft>
            </a:pPr>
            <a:r>
              <a:rPr sz="1150" b="0">
                <a:solidFill>
                  <a:srgbClr val="141A33"/>
                </a:solidFill>
                <a:latin typeface="Meiryo"/>
                <a:ea typeface="Meiryo"/>
              </a:rPr>
              <a:t/>
            </a:r>
          </a:p>
          <a:p>
            <a:pPr algn="l">
              <a:spcAft>
                <a:spcPts val="200"/>
              </a:spcAft>
            </a:pPr>
            <a:r>
              <a:rPr sz="1150" b="0">
                <a:solidFill>
                  <a:srgbClr val="141A33"/>
                </a:solidFill>
                <a:latin typeface="Meiryo"/>
                <a:ea typeface="Meiryo"/>
              </a:rPr>
              <a:t>各国における個人情報の保護に関する制度については、個人情報保護委員会の公表資料をご参照ください。</a:t>
            </a:r>
          </a:p>
          <a:p>
            <a:pPr algn="l">
              <a:spcAft>
                <a:spcPts val="200"/>
              </a:spcAft>
            </a:pPr>
            <a:r>
              <a:rPr sz="1150" b="0">
                <a:solidFill>
                  <a:srgbClr val="141A33"/>
                </a:solidFill>
                <a:latin typeface="Meiryo"/>
                <a:ea typeface="Meiryo"/>
              </a:rPr>
              <a:t>各委託先はいずれも第三者機関によるセキュリティ認証を取得しており、当社は各社との間でデータの</a:t>
            </a:r>
          </a:p>
          <a:p>
            <a:pPr algn="l">
              <a:spcAft>
                <a:spcPts val="200"/>
              </a:spcAft>
            </a:pPr>
            <a:r>
              <a:rPr sz="1150" b="0">
                <a:solidFill>
                  <a:srgbClr val="141A33"/>
                </a:solidFill>
                <a:latin typeface="Meiryo"/>
                <a:ea typeface="Meiryo"/>
              </a:rPr>
              <a:t>取扱いに関する契約を締結したうえで、個人データの安全管理措置を講じています。</a:t>
            </a:r>
          </a:p>
          <a:p>
            <a:pPr algn="l">
              <a:spcAft>
                <a:spcPts val="200"/>
              </a:spcAft>
            </a:pPr>
            <a:r>
              <a:rPr sz="1150" b="0">
                <a:solidFill>
                  <a:srgbClr val="141A33"/>
                </a:solidFill>
                <a:latin typeface="Meiryo"/>
                <a:ea typeface="Meiryo"/>
              </a:rPr>
              <a:t/>
            </a:r>
          </a:p>
          <a:p>
            <a:pPr algn="l">
              <a:spcAft>
                <a:spcPts val="200"/>
              </a:spcAft>
            </a:pPr>
            <a:r>
              <a:rPr sz="1150" b="0">
                <a:solidFill>
                  <a:srgbClr val="141A33"/>
                </a:solidFill>
                <a:latin typeface="Meiryo"/>
                <a:ea typeface="Meiryo"/>
              </a:rPr>
              <a:t>なお、上記のAI事業者へ送信した情報が、同社のAIモデルの学習に利用されることはありません。</a:t>
            </a:r>
          </a:p>
        </p:txBody>
      </p:sp>
      <p:sp>
        <p:nvSpPr>
          <p:cNvPr id="8" name="Rounded Rectangle 7"/>
          <p:cNvSpPr/>
          <p:nvPr/>
        </p:nvSpPr>
        <p:spPr>
          <a:xfrm>
            <a:off x="566928" y="5760720"/>
            <a:ext cx="11073384" cy="685800"/>
          </a:xfrm>
          <a:prstGeom prst="roundRect">
            <a:avLst>
              <a:gd name="adj" fmla="val 12000"/>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5920740"/>
            <a:ext cx="10515600" cy="365760"/>
          </a:xfrm>
          <a:prstGeom prst="rect">
            <a:avLst/>
          </a:prstGeom>
          <a:noFill/>
        </p:spPr>
        <p:txBody>
          <a:bodyPr wrap="square" lIns="0" rIns="0" tIns="0" bIns="0">
            <a:spAutoFit/>
          </a:bodyPr>
          <a:lstStyle/>
          <a:p>
            <a:pPr algn="l">
              <a:spcAft>
                <a:spcPts val="300"/>
              </a:spcAft>
            </a:pPr>
            <a:r>
              <a:rPr sz="1200" b="0">
                <a:solidFill>
                  <a:srgbClr val="141A33"/>
                </a:solidFill>
                <a:latin typeface="Meiryo"/>
                <a:ea typeface="Meiryo"/>
              </a:rPr>
              <a:t>Supabase の保管場所は東京リージョン（日本）へ移行済みです。上記のとおり「日本」と記載してください。</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66928" y="237744"/>
            <a:ext cx="8686800" cy="411480"/>
          </a:xfrm>
          <a:prstGeom prst="rect">
            <a:avLst/>
          </a:prstGeom>
          <a:noFill/>
        </p:spPr>
        <p:txBody>
          <a:bodyPr wrap="square" lIns="0" tIns="0" rIns="0" bIns="0" anchor="t">
            <a:spAutoFit/>
          </a:bodyPr>
          <a:lstStyle/>
          <a:p>
            <a:pPr algn="l">
              <a:lnSpc>
                <a:spcPct val="130000"/>
              </a:lnSpc>
              <a:spcAft>
                <a:spcPts val="400"/>
              </a:spcAft>
            </a:pPr>
            <a:r>
              <a:rPr sz="2200" b="1">
                <a:solidFill>
                  <a:srgbClr val="FFFFFF"/>
                </a:solidFill>
                <a:latin typeface="Meiryo"/>
              </a:rPr>
              <a:t>費用の試算</a:t>
            </a:r>
          </a:p>
        </p:txBody>
      </p:sp>
      <p:sp>
        <p:nvSpPr>
          <p:cNvPr id="4" name="TextBox 3"/>
          <p:cNvSpPr txBox="1"/>
          <p:nvPr/>
        </p:nvSpPr>
        <p:spPr>
          <a:xfrm>
            <a:off x="566928" y="1024128"/>
            <a:ext cx="11064240" cy="365760"/>
          </a:xfrm>
          <a:prstGeom prst="rect">
            <a:avLst/>
          </a:prstGeom>
          <a:noFill/>
        </p:spPr>
        <p:txBody>
          <a:bodyPr wrap="square" lIns="0" tIns="0" rIns="0" bIns="0" anchor="t">
            <a:spAutoFit/>
          </a:bodyPr>
          <a:lstStyle/>
          <a:p>
            <a:pPr algn="l">
              <a:lnSpc>
                <a:spcPct val="130000"/>
              </a:lnSpc>
              <a:spcAft>
                <a:spcPts val="400"/>
              </a:spcAft>
            </a:pPr>
            <a:r>
              <a:rPr sz="1250" b="0">
                <a:solidFill>
                  <a:srgbClr val="6B7280"/>
                </a:solidFill>
                <a:latin typeface="Meiryo"/>
              </a:rPr>
              <a:t>クラウドは基本料金なしの従量課金です。実際の利用量に応じたお支払いになります。</a:t>
            </a:r>
          </a:p>
        </p:txBody>
      </p:sp>
      <p:sp>
        <p:nvSpPr>
          <p:cNvPr id="5" name="Rounded Rectangle 4"/>
          <p:cNvSpPr/>
          <p:nvPr/>
        </p:nvSpPr>
        <p:spPr>
          <a:xfrm>
            <a:off x="566928" y="1572768"/>
            <a:ext cx="5394960" cy="2788920"/>
          </a:xfrm>
          <a:prstGeom prst="roundRect">
            <a:avLst>
              <a:gd name="adj" fmla="val 6000"/>
            </a:avLst>
          </a:prstGeom>
          <a:solidFill>
            <a:srgbClr val="FFFFFF"/>
          </a:solidFill>
          <a:ln w="12700">
            <a:solidFill>
              <a:srgbClr val="C7CD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41248" y="1810512"/>
            <a:ext cx="4846320" cy="320040"/>
          </a:xfrm>
          <a:prstGeom prst="rect">
            <a:avLst/>
          </a:prstGeom>
          <a:noFill/>
        </p:spPr>
        <p:txBody>
          <a:bodyPr wrap="square" lIns="0" tIns="0" rIns="0" bIns="0" anchor="t">
            <a:spAutoFit/>
          </a:bodyPr>
          <a:lstStyle/>
          <a:p>
            <a:pPr algn="l">
              <a:lnSpc>
                <a:spcPct val="130000"/>
              </a:lnSpc>
              <a:spcAft>
                <a:spcPts val="400"/>
              </a:spcAft>
            </a:pPr>
            <a:r>
              <a:rPr sz="1350" b="1">
                <a:solidFill>
                  <a:srgbClr val="141A33"/>
                </a:solidFill>
                <a:latin typeface="Meiryo"/>
              </a:rPr>
              <a:t>AI・OCR 利用料（月300回・1回1,000文字）</a:t>
            </a:r>
          </a:p>
        </p:txBody>
      </p:sp>
      <p:sp>
        <p:nvSpPr>
          <p:cNvPr id="7" name="Rectangle 6"/>
          <p:cNvSpPr/>
          <p:nvPr/>
        </p:nvSpPr>
        <p:spPr>
          <a:xfrm>
            <a:off x="841248" y="2231136"/>
            <a:ext cx="457200" cy="36576"/>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41248" y="2487168"/>
            <a:ext cx="2194560" cy="320040"/>
          </a:xfrm>
          <a:prstGeom prst="rect">
            <a:avLst/>
          </a:prstGeom>
          <a:noFill/>
        </p:spPr>
        <p:txBody>
          <a:bodyPr wrap="square" lIns="0" tIns="0" rIns="0" bIns="0" anchor="t">
            <a:spAutoFit/>
          </a:bodyPr>
          <a:lstStyle/>
          <a:p>
            <a:pPr algn="l">
              <a:lnSpc>
                <a:spcPct val="130000"/>
              </a:lnSpc>
              <a:spcAft>
                <a:spcPts val="400"/>
              </a:spcAft>
            </a:pPr>
            <a:r>
              <a:rPr sz="1200" b="0">
                <a:solidFill>
                  <a:srgbClr val="6B7280"/>
                </a:solidFill>
                <a:latin typeface="Meiryo"/>
              </a:rPr>
              <a:t>読み取り（入力）</a:t>
            </a:r>
          </a:p>
        </p:txBody>
      </p:sp>
      <p:sp>
        <p:nvSpPr>
          <p:cNvPr id="9" name="TextBox 8"/>
          <p:cNvSpPr txBox="1"/>
          <p:nvPr/>
        </p:nvSpPr>
        <p:spPr>
          <a:xfrm>
            <a:off x="3154680" y="2487168"/>
            <a:ext cx="1554480" cy="320040"/>
          </a:xfrm>
          <a:prstGeom prst="rect">
            <a:avLst/>
          </a:prstGeom>
          <a:noFill/>
        </p:spPr>
        <p:txBody>
          <a:bodyPr wrap="square" lIns="0" tIns="0" rIns="0" bIns="0" anchor="t">
            <a:spAutoFit/>
          </a:bodyPr>
          <a:lstStyle/>
          <a:p>
            <a:pPr algn="l">
              <a:lnSpc>
                <a:spcPct val="130000"/>
              </a:lnSpc>
              <a:spcAft>
                <a:spcPts val="400"/>
              </a:spcAft>
            </a:pPr>
            <a:r>
              <a:rPr sz="1200" b="0">
                <a:solidFill>
                  <a:srgbClr val="6B7280"/>
                </a:solidFill>
                <a:latin typeface="Meiryo"/>
              </a:rPr>
              <a:t>約90万トークン</a:t>
            </a:r>
          </a:p>
        </p:txBody>
      </p:sp>
      <p:sp>
        <p:nvSpPr>
          <p:cNvPr id="10" name="TextBox 9"/>
          <p:cNvSpPr txBox="1"/>
          <p:nvPr/>
        </p:nvSpPr>
        <p:spPr>
          <a:xfrm>
            <a:off x="4663440" y="2487168"/>
            <a:ext cx="1097280" cy="320040"/>
          </a:xfrm>
          <a:prstGeom prst="rect">
            <a:avLst/>
          </a:prstGeom>
          <a:noFill/>
        </p:spPr>
        <p:txBody>
          <a:bodyPr wrap="square" lIns="0" tIns="0" rIns="0" bIns="0" anchor="t">
            <a:spAutoFit/>
          </a:bodyPr>
          <a:lstStyle/>
          <a:p>
            <a:pPr algn="r">
              <a:lnSpc>
                <a:spcPct val="130000"/>
              </a:lnSpc>
              <a:spcAft>
                <a:spcPts val="400"/>
              </a:spcAft>
            </a:pPr>
            <a:r>
              <a:rPr sz="1200" b="0">
                <a:solidFill>
                  <a:srgbClr val="141A33"/>
                </a:solidFill>
                <a:latin typeface="Meiryo"/>
              </a:rPr>
              <a:t>約 700円</a:t>
            </a:r>
          </a:p>
        </p:txBody>
      </p:sp>
      <p:sp>
        <p:nvSpPr>
          <p:cNvPr id="11" name="TextBox 10"/>
          <p:cNvSpPr txBox="1"/>
          <p:nvPr/>
        </p:nvSpPr>
        <p:spPr>
          <a:xfrm>
            <a:off x="841248" y="2944368"/>
            <a:ext cx="2194560" cy="320040"/>
          </a:xfrm>
          <a:prstGeom prst="rect">
            <a:avLst/>
          </a:prstGeom>
          <a:noFill/>
        </p:spPr>
        <p:txBody>
          <a:bodyPr wrap="square" lIns="0" tIns="0" rIns="0" bIns="0" anchor="t">
            <a:spAutoFit/>
          </a:bodyPr>
          <a:lstStyle/>
          <a:p>
            <a:pPr algn="l">
              <a:lnSpc>
                <a:spcPct val="130000"/>
              </a:lnSpc>
              <a:spcAft>
                <a:spcPts val="400"/>
              </a:spcAft>
            </a:pPr>
            <a:r>
              <a:rPr sz="1200" b="0">
                <a:solidFill>
                  <a:srgbClr val="6B7280"/>
                </a:solidFill>
                <a:latin typeface="Meiryo"/>
              </a:rPr>
              <a:t>生成（出力）</a:t>
            </a:r>
          </a:p>
        </p:txBody>
      </p:sp>
      <p:sp>
        <p:nvSpPr>
          <p:cNvPr id="12" name="TextBox 11"/>
          <p:cNvSpPr txBox="1"/>
          <p:nvPr/>
        </p:nvSpPr>
        <p:spPr>
          <a:xfrm>
            <a:off x="3154680" y="2944368"/>
            <a:ext cx="1554480" cy="320040"/>
          </a:xfrm>
          <a:prstGeom prst="rect">
            <a:avLst/>
          </a:prstGeom>
          <a:noFill/>
        </p:spPr>
        <p:txBody>
          <a:bodyPr wrap="square" lIns="0" tIns="0" rIns="0" bIns="0" anchor="t">
            <a:spAutoFit/>
          </a:bodyPr>
          <a:lstStyle/>
          <a:p>
            <a:pPr algn="l">
              <a:lnSpc>
                <a:spcPct val="130000"/>
              </a:lnSpc>
              <a:spcAft>
                <a:spcPts val="400"/>
              </a:spcAft>
            </a:pPr>
            <a:r>
              <a:rPr sz="1200" b="0">
                <a:solidFill>
                  <a:srgbClr val="6B7280"/>
                </a:solidFill>
                <a:latin typeface="Meiryo"/>
              </a:rPr>
              <a:t>約45万トークン</a:t>
            </a:r>
          </a:p>
        </p:txBody>
      </p:sp>
      <p:sp>
        <p:nvSpPr>
          <p:cNvPr id="13" name="TextBox 12"/>
          <p:cNvSpPr txBox="1"/>
          <p:nvPr/>
        </p:nvSpPr>
        <p:spPr>
          <a:xfrm>
            <a:off x="4663440" y="2944368"/>
            <a:ext cx="1097280" cy="320040"/>
          </a:xfrm>
          <a:prstGeom prst="rect">
            <a:avLst/>
          </a:prstGeom>
          <a:noFill/>
        </p:spPr>
        <p:txBody>
          <a:bodyPr wrap="square" lIns="0" tIns="0" rIns="0" bIns="0" anchor="t">
            <a:spAutoFit/>
          </a:bodyPr>
          <a:lstStyle/>
          <a:p>
            <a:pPr algn="r">
              <a:lnSpc>
                <a:spcPct val="130000"/>
              </a:lnSpc>
              <a:spcAft>
                <a:spcPts val="400"/>
              </a:spcAft>
            </a:pPr>
            <a:r>
              <a:rPr sz="1200" b="0">
                <a:solidFill>
                  <a:srgbClr val="141A33"/>
                </a:solidFill>
                <a:latin typeface="Meiryo"/>
              </a:rPr>
              <a:t>約 1,800円</a:t>
            </a:r>
          </a:p>
        </p:txBody>
      </p:sp>
      <p:sp>
        <p:nvSpPr>
          <p:cNvPr id="14" name="Rectangle 13"/>
          <p:cNvSpPr/>
          <p:nvPr/>
        </p:nvSpPr>
        <p:spPr>
          <a:xfrm>
            <a:off x="841248" y="3456432"/>
            <a:ext cx="4846320" cy="18288"/>
          </a:xfrm>
          <a:prstGeom prst="rect">
            <a:avLst/>
          </a:prstGeom>
          <a:solidFill>
            <a:srgbClr val="C7C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41248" y="3611880"/>
            <a:ext cx="2194560" cy="365760"/>
          </a:xfrm>
          <a:prstGeom prst="rect">
            <a:avLst/>
          </a:prstGeom>
          <a:noFill/>
        </p:spPr>
        <p:txBody>
          <a:bodyPr wrap="square" lIns="0" tIns="0" rIns="0" bIns="0" anchor="t">
            <a:spAutoFit/>
          </a:bodyPr>
          <a:lstStyle/>
          <a:p>
            <a:pPr algn="l">
              <a:lnSpc>
                <a:spcPct val="130000"/>
              </a:lnSpc>
              <a:spcAft>
                <a:spcPts val="400"/>
              </a:spcAft>
            </a:pPr>
            <a:r>
              <a:rPr sz="1300" b="1">
                <a:solidFill>
                  <a:srgbClr val="141A33"/>
                </a:solidFill>
                <a:latin typeface="Meiryo"/>
              </a:rPr>
              <a:t>月額 合計</a:t>
            </a:r>
          </a:p>
        </p:txBody>
      </p:sp>
      <p:sp>
        <p:nvSpPr>
          <p:cNvPr id="16" name="TextBox 15"/>
          <p:cNvSpPr txBox="1"/>
          <p:nvPr/>
        </p:nvSpPr>
        <p:spPr>
          <a:xfrm>
            <a:off x="3566160" y="3547872"/>
            <a:ext cx="2194560" cy="457200"/>
          </a:xfrm>
          <a:prstGeom prst="rect">
            <a:avLst/>
          </a:prstGeom>
          <a:noFill/>
        </p:spPr>
        <p:txBody>
          <a:bodyPr wrap="square" lIns="0" tIns="0" rIns="0" bIns="0" anchor="t">
            <a:spAutoFit/>
          </a:bodyPr>
          <a:lstStyle/>
          <a:p>
            <a:pPr algn="r">
              <a:lnSpc>
                <a:spcPct val="130000"/>
              </a:lnSpc>
              <a:spcAft>
                <a:spcPts val="400"/>
              </a:spcAft>
            </a:pPr>
            <a:r>
              <a:rPr sz="1900" b="1">
                <a:solidFill>
                  <a:srgbClr val="4F46E5"/>
                </a:solidFill>
                <a:latin typeface="Meiryo"/>
              </a:rPr>
              <a:t>約 2,500円</a:t>
            </a:r>
          </a:p>
        </p:txBody>
      </p:sp>
      <p:sp>
        <p:nvSpPr>
          <p:cNvPr id="17" name="TextBox 16"/>
          <p:cNvSpPr txBox="1"/>
          <p:nvPr/>
        </p:nvSpPr>
        <p:spPr>
          <a:xfrm>
            <a:off x="841248" y="4041648"/>
            <a:ext cx="4846320" cy="274320"/>
          </a:xfrm>
          <a:prstGeom prst="rect">
            <a:avLst/>
          </a:prstGeom>
          <a:noFill/>
        </p:spPr>
        <p:txBody>
          <a:bodyPr wrap="square" lIns="0" tIns="0" rIns="0" bIns="0" anchor="t">
            <a:spAutoFit/>
          </a:bodyPr>
          <a:lstStyle/>
          <a:p>
            <a:pPr algn="l">
              <a:lnSpc>
                <a:spcPct val="130000"/>
              </a:lnSpc>
              <a:spcAft>
                <a:spcPts val="400"/>
              </a:spcAft>
            </a:pPr>
            <a:r>
              <a:rPr sz="1050" b="0">
                <a:solidFill>
                  <a:srgbClr val="6B7280"/>
                </a:solidFill>
                <a:latin typeface="Meiryo"/>
              </a:rPr>
              <a:t>※多く見積もっても月5,000円以内に収まる想定です。</a:t>
            </a:r>
          </a:p>
        </p:txBody>
      </p:sp>
      <p:sp>
        <p:nvSpPr>
          <p:cNvPr id="18" name="Rounded Rectangle 17"/>
          <p:cNvSpPr/>
          <p:nvPr/>
        </p:nvSpPr>
        <p:spPr>
          <a:xfrm>
            <a:off x="6245352" y="1572768"/>
            <a:ext cx="5394960" cy="2788920"/>
          </a:xfrm>
          <a:prstGeom prst="roundRect">
            <a:avLst>
              <a:gd name="adj" fmla="val 6000"/>
            </a:avLst>
          </a:prstGeom>
          <a:solidFill>
            <a:srgbClr val="FFFFFF"/>
          </a:solidFill>
          <a:ln w="12700">
            <a:solidFill>
              <a:srgbClr val="C7CD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519672" y="1810512"/>
            <a:ext cx="4846320" cy="320040"/>
          </a:xfrm>
          <a:prstGeom prst="rect">
            <a:avLst/>
          </a:prstGeom>
          <a:noFill/>
        </p:spPr>
        <p:txBody>
          <a:bodyPr wrap="square" lIns="0" tIns="0" rIns="0" bIns="0" anchor="t">
            <a:spAutoFit/>
          </a:bodyPr>
          <a:lstStyle/>
          <a:p>
            <a:pPr algn="l">
              <a:lnSpc>
                <a:spcPct val="130000"/>
              </a:lnSpc>
              <a:spcAft>
                <a:spcPts val="400"/>
              </a:spcAft>
            </a:pPr>
            <a:r>
              <a:rPr sz="1350" b="1">
                <a:solidFill>
                  <a:srgbClr val="141A33"/>
                </a:solidFill>
                <a:latin typeface="Meiryo"/>
              </a:rPr>
              <a:t>システム全体の月額（目安）</a:t>
            </a:r>
          </a:p>
        </p:txBody>
      </p:sp>
      <p:sp>
        <p:nvSpPr>
          <p:cNvPr id="20" name="Rectangle 19"/>
          <p:cNvSpPr/>
          <p:nvPr/>
        </p:nvSpPr>
        <p:spPr>
          <a:xfrm>
            <a:off x="6519672" y="2231136"/>
            <a:ext cx="457200" cy="36576"/>
          </a:xfrm>
          <a:prstGeom prst="rect">
            <a:avLst/>
          </a:prstGeom>
          <a:solidFill>
            <a:srgbClr val="1F5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519672" y="2487168"/>
            <a:ext cx="3108960" cy="320040"/>
          </a:xfrm>
          <a:prstGeom prst="rect">
            <a:avLst/>
          </a:prstGeom>
          <a:noFill/>
        </p:spPr>
        <p:txBody>
          <a:bodyPr wrap="square" lIns="0" tIns="0" rIns="0" bIns="0" anchor="t">
            <a:spAutoFit/>
          </a:bodyPr>
          <a:lstStyle/>
          <a:p>
            <a:pPr algn="l">
              <a:lnSpc>
                <a:spcPct val="130000"/>
              </a:lnSpc>
              <a:spcAft>
                <a:spcPts val="400"/>
              </a:spcAft>
            </a:pPr>
            <a:r>
              <a:rPr sz="1200" b="0">
                <a:solidFill>
                  <a:srgbClr val="6B7280"/>
                </a:solidFill>
                <a:latin typeface="Meiryo"/>
              </a:rPr>
              <a:t>アプリ本体（Azure）</a:t>
            </a:r>
          </a:p>
        </p:txBody>
      </p:sp>
      <p:sp>
        <p:nvSpPr>
          <p:cNvPr id="22" name="TextBox 21"/>
          <p:cNvSpPr txBox="1"/>
          <p:nvPr/>
        </p:nvSpPr>
        <p:spPr>
          <a:xfrm>
            <a:off x="9601200" y="2487168"/>
            <a:ext cx="1737360" cy="320040"/>
          </a:xfrm>
          <a:prstGeom prst="rect">
            <a:avLst/>
          </a:prstGeom>
          <a:noFill/>
        </p:spPr>
        <p:txBody>
          <a:bodyPr wrap="square" lIns="0" tIns="0" rIns="0" bIns="0" anchor="t">
            <a:spAutoFit/>
          </a:bodyPr>
          <a:lstStyle/>
          <a:p>
            <a:pPr algn="r">
              <a:lnSpc>
                <a:spcPct val="130000"/>
              </a:lnSpc>
              <a:spcAft>
                <a:spcPts val="400"/>
              </a:spcAft>
            </a:pPr>
            <a:r>
              <a:rPr sz="1200" b="0">
                <a:solidFill>
                  <a:srgbClr val="141A33"/>
                </a:solidFill>
                <a:latin typeface="Meiryo"/>
              </a:rPr>
              <a:t>3,000 〜 13,000円</a:t>
            </a:r>
          </a:p>
        </p:txBody>
      </p:sp>
      <p:sp>
        <p:nvSpPr>
          <p:cNvPr id="23" name="TextBox 22"/>
          <p:cNvSpPr txBox="1"/>
          <p:nvPr/>
        </p:nvSpPr>
        <p:spPr>
          <a:xfrm>
            <a:off x="6519672" y="2944368"/>
            <a:ext cx="3108960" cy="320040"/>
          </a:xfrm>
          <a:prstGeom prst="rect">
            <a:avLst/>
          </a:prstGeom>
          <a:noFill/>
        </p:spPr>
        <p:txBody>
          <a:bodyPr wrap="square" lIns="0" tIns="0" rIns="0" bIns="0" anchor="t">
            <a:spAutoFit/>
          </a:bodyPr>
          <a:lstStyle/>
          <a:p>
            <a:pPr algn="l">
              <a:lnSpc>
                <a:spcPct val="130000"/>
              </a:lnSpc>
              <a:spcAft>
                <a:spcPts val="400"/>
              </a:spcAft>
            </a:pPr>
            <a:r>
              <a:rPr sz="1200" b="0">
                <a:solidFill>
                  <a:srgbClr val="6B7280"/>
                </a:solidFill>
                <a:latin typeface="Meiryo"/>
              </a:rPr>
              <a:t>AI・OCR（Claude）</a:t>
            </a:r>
          </a:p>
        </p:txBody>
      </p:sp>
      <p:sp>
        <p:nvSpPr>
          <p:cNvPr id="24" name="TextBox 23"/>
          <p:cNvSpPr txBox="1"/>
          <p:nvPr/>
        </p:nvSpPr>
        <p:spPr>
          <a:xfrm>
            <a:off x="9601200" y="2944368"/>
            <a:ext cx="1737360" cy="320040"/>
          </a:xfrm>
          <a:prstGeom prst="rect">
            <a:avLst/>
          </a:prstGeom>
          <a:noFill/>
        </p:spPr>
        <p:txBody>
          <a:bodyPr wrap="square" lIns="0" tIns="0" rIns="0" bIns="0" anchor="t">
            <a:spAutoFit/>
          </a:bodyPr>
          <a:lstStyle/>
          <a:p>
            <a:pPr algn="r">
              <a:lnSpc>
                <a:spcPct val="130000"/>
              </a:lnSpc>
              <a:spcAft>
                <a:spcPts val="400"/>
              </a:spcAft>
            </a:pPr>
            <a:r>
              <a:rPr sz="1200" b="0">
                <a:solidFill>
                  <a:srgbClr val="141A33"/>
                </a:solidFill>
                <a:latin typeface="Meiryo"/>
              </a:rPr>
              <a:t>約 2,500円</a:t>
            </a:r>
          </a:p>
        </p:txBody>
      </p:sp>
      <p:sp>
        <p:nvSpPr>
          <p:cNvPr id="25" name="TextBox 24"/>
          <p:cNvSpPr txBox="1"/>
          <p:nvPr/>
        </p:nvSpPr>
        <p:spPr>
          <a:xfrm>
            <a:off x="6519672" y="3401568"/>
            <a:ext cx="3108960" cy="320040"/>
          </a:xfrm>
          <a:prstGeom prst="rect">
            <a:avLst/>
          </a:prstGeom>
          <a:noFill/>
        </p:spPr>
        <p:txBody>
          <a:bodyPr wrap="square" lIns="0" tIns="0" rIns="0" bIns="0" anchor="t">
            <a:spAutoFit/>
          </a:bodyPr>
          <a:lstStyle/>
          <a:p>
            <a:pPr algn="l">
              <a:lnSpc>
                <a:spcPct val="130000"/>
              </a:lnSpc>
              <a:spcAft>
                <a:spcPts val="400"/>
              </a:spcAft>
            </a:pPr>
            <a:r>
              <a:rPr sz="1200" b="0">
                <a:solidFill>
                  <a:srgbClr val="6B7280"/>
                </a:solidFill>
                <a:latin typeface="Meiryo"/>
              </a:rPr>
              <a:t>データベース（Supabase）</a:t>
            </a:r>
          </a:p>
        </p:txBody>
      </p:sp>
      <p:sp>
        <p:nvSpPr>
          <p:cNvPr id="26" name="TextBox 25"/>
          <p:cNvSpPr txBox="1"/>
          <p:nvPr/>
        </p:nvSpPr>
        <p:spPr>
          <a:xfrm>
            <a:off x="9601200" y="3401568"/>
            <a:ext cx="1737360" cy="320040"/>
          </a:xfrm>
          <a:prstGeom prst="rect">
            <a:avLst/>
          </a:prstGeom>
          <a:noFill/>
        </p:spPr>
        <p:txBody>
          <a:bodyPr wrap="square" lIns="0" tIns="0" rIns="0" bIns="0" anchor="t">
            <a:spAutoFit/>
          </a:bodyPr>
          <a:lstStyle/>
          <a:p>
            <a:pPr algn="r">
              <a:lnSpc>
                <a:spcPct val="130000"/>
              </a:lnSpc>
              <a:spcAft>
                <a:spcPts val="400"/>
              </a:spcAft>
            </a:pPr>
            <a:r>
              <a:rPr sz="1200" b="0">
                <a:solidFill>
                  <a:srgbClr val="141A33"/>
                </a:solidFill>
                <a:latin typeface="Meiryo"/>
              </a:rPr>
              <a:t>約 4,000円</a:t>
            </a:r>
          </a:p>
        </p:txBody>
      </p:sp>
      <p:sp>
        <p:nvSpPr>
          <p:cNvPr id="27" name="Rectangle 26"/>
          <p:cNvSpPr/>
          <p:nvPr/>
        </p:nvSpPr>
        <p:spPr>
          <a:xfrm>
            <a:off x="6519672" y="3858768"/>
            <a:ext cx="4846320" cy="18288"/>
          </a:xfrm>
          <a:prstGeom prst="rect">
            <a:avLst/>
          </a:prstGeom>
          <a:solidFill>
            <a:srgbClr val="C7C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519672" y="4005072"/>
            <a:ext cx="2194560" cy="365760"/>
          </a:xfrm>
          <a:prstGeom prst="rect">
            <a:avLst/>
          </a:prstGeom>
          <a:noFill/>
        </p:spPr>
        <p:txBody>
          <a:bodyPr wrap="square" lIns="0" tIns="0" rIns="0" bIns="0" anchor="t">
            <a:spAutoFit/>
          </a:bodyPr>
          <a:lstStyle/>
          <a:p>
            <a:pPr algn="l">
              <a:lnSpc>
                <a:spcPct val="130000"/>
              </a:lnSpc>
              <a:spcAft>
                <a:spcPts val="400"/>
              </a:spcAft>
            </a:pPr>
            <a:r>
              <a:rPr sz="1300" b="1">
                <a:solidFill>
                  <a:srgbClr val="141A33"/>
                </a:solidFill>
                <a:latin typeface="Meiryo"/>
              </a:rPr>
              <a:t>月額 合計</a:t>
            </a:r>
          </a:p>
        </p:txBody>
      </p:sp>
      <p:sp>
        <p:nvSpPr>
          <p:cNvPr id="29" name="TextBox 28"/>
          <p:cNvSpPr txBox="1"/>
          <p:nvPr/>
        </p:nvSpPr>
        <p:spPr>
          <a:xfrm>
            <a:off x="8595360" y="3931920"/>
            <a:ext cx="2743200" cy="457200"/>
          </a:xfrm>
          <a:prstGeom prst="rect">
            <a:avLst/>
          </a:prstGeom>
          <a:noFill/>
        </p:spPr>
        <p:txBody>
          <a:bodyPr wrap="square" lIns="0" tIns="0" rIns="0" bIns="0" anchor="t">
            <a:spAutoFit/>
          </a:bodyPr>
          <a:lstStyle/>
          <a:p>
            <a:pPr algn="r">
              <a:lnSpc>
                <a:spcPct val="130000"/>
              </a:lnSpc>
              <a:spcAft>
                <a:spcPts val="400"/>
              </a:spcAft>
            </a:pPr>
            <a:r>
              <a:rPr sz="1900" b="1">
                <a:solidFill>
                  <a:srgbClr val="1F5E4B"/>
                </a:solidFill>
                <a:latin typeface="Meiryo"/>
              </a:rPr>
              <a:t>約 1万 〜 2万円</a:t>
            </a:r>
          </a:p>
        </p:txBody>
      </p:sp>
      <p:sp>
        <p:nvSpPr>
          <p:cNvPr id="30" name="Rounded Rectangle 29"/>
          <p:cNvSpPr/>
          <p:nvPr/>
        </p:nvSpPr>
        <p:spPr>
          <a:xfrm>
            <a:off x="566928" y="4617720"/>
            <a:ext cx="11073384" cy="1572768"/>
          </a:xfrm>
          <a:prstGeom prst="roundRect">
            <a:avLst>
              <a:gd name="adj" fmla="val 6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868680" y="4828032"/>
            <a:ext cx="10515600" cy="1188720"/>
          </a:xfrm>
          <a:prstGeom prst="rect">
            <a:avLst/>
          </a:prstGeom>
          <a:noFill/>
        </p:spPr>
        <p:txBody>
          <a:bodyPr wrap="square" lIns="0" tIns="0" rIns="0" bIns="0" anchor="t">
            <a:spAutoFit/>
          </a:bodyPr>
          <a:lstStyle/>
          <a:p>
            <a:pPr algn="l">
              <a:lnSpc>
                <a:spcPct val="155000"/>
              </a:lnSpc>
              <a:spcAft>
                <a:spcPts val="400"/>
              </a:spcAft>
            </a:pPr>
            <a:r>
              <a:rPr sz="1200" b="0">
                <a:solidFill>
                  <a:srgbClr val="141A33"/>
                </a:solidFill>
                <a:latin typeface="Meiryo"/>
              </a:rPr>
              <a:t>試算の前提</a:t>
            </a:r>
          </a:p>
          <a:p>
            <a:pPr algn="l">
              <a:lnSpc>
                <a:spcPct val="155000"/>
              </a:lnSpc>
              <a:spcAft>
                <a:spcPts val="400"/>
              </a:spcAft>
            </a:pPr>
            <a:r>
              <a:rPr sz="1200" b="0">
                <a:solidFill>
                  <a:srgbClr val="141A33"/>
                </a:solidFill>
                <a:latin typeface="Meiryo"/>
              </a:rPr>
              <a:t>・OCR／AI書類作成：月300回、1回あたり約1,000文字の読み取り・生成</a:t>
            </a:r>
          </a:p>
          <a:p>
            <a:pPr algn="l">
              <a:lnSpc>
                <a:spcPct val="155000"/>
              </a:lnSpc>
              <a:spcAft>
                <a:spcPts val="400"/>
              </a:spcAft>
            </a:pPr>
            <a:r>
              <a:rPr sz="1200" b="0">
                <a:solidFill>
                  <a:srgbClr val="141A33"/>
                </a:solidFill>
                <a:latin typeface="Meiryo"/>
              </a:rPr>
              <a:t>・既存サーバーを利用した場合も同じ従量課金のため、料金差はほぼ発生しません</a:t>
            </a:r>
          </a:p>
          <a:p>
            <a:pPr algn="l">
              <a:lnSpc>
                <a:spcPct val="155000"/>
              </a:lnSpc>
              <a:spcAft>
                <a:spcPts val="400"/>
              </a:spcAft>
            </a:pPr>
            <a:r>
              <a:rPr sz="1200" b="0">
                <a:solidFill>
                  <a:srgbClr val="141A33"/>
                </a:solidFill>
                <a:latin typeface="Meiryo"/>
              </a:rPr>
              <a:t>・実際のご利用量が固まった段階で、正式なお見積もりを提出いたします</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66928" y="237744"/>
            <a:ext cx="8686800" cy="411480"/>
          </a:xfrm>
          <a:prstGeom prst="rect">
            <a:avLst/>
          </a:prstGeom>
          <a:noFill/>
        </p:spPr>
        <p:txBody>
          <a:bodyPr wrap="square" lIns="0" tIns="0" rIns="0" bIns="0" anchor="t">
            <a:spAutoFit/>
          </a:bodyPr>
          <a:lstStyle/>
          <a:p>
            <a:pPr algn="l">
              <a:lnSpc>
                <a:spcPct val="130000"/>
              </a:lnSpc>
              <a:spcAft>
                <a:spcPts val="400"/>
              </a:spcAft>
            </a:pPr>
            <a:r>
              <a:rPr sz="2200" b="1">
                <a:solidFill>
                  <a:srgbClr val="FFFFFF"/>
                </a:solidFill>
                <a:latin typeface="Meiryo"/>
              </a:rPr>
              <a:t>今後の進め方</a:t>
            </a:r>
          </a:p>
        </p:txBody>
      </p:sp>
      <p:sp>
        <p:nvSpPr>
          <p:cNvPr id="4" name="TextBox 3"/>
          <p:cNvSpPr txBox="1"/>
          <p:nvPr/>
        </p:nvSpPr>
        <p:spPr>
          <a:xfrm>
            <a:off x="566928" y="1024128"/>
            <a:ext cx="11064240" cy="365760"/>
          </a:xfrm>
          <a:prstGeom prst="rect">
            <a:avLst/>
          </a:prstGeom>
          <a:noFill/>
        </p:spPr>
        <p:txBody>
          <a:bodyPr wrap="square" lIns="0" tIns="0" rIns="0" bIns="0" anchor="t">
            <a:spAutoFit/>
          </a:bodyPr>
          <a:lstStyle/>
          <a:p>
            <a:pPr algn="l">
              <a:lnSpc>
                <a:spcPct val="130000"/>
              </a:lnSpc>
              <a:spcAft>
                <a:spcPts val="400"/>
              </a:spcAft>
            </a:pPr>
            <a:r>
              <a:rPr sz="1250" b="0">
                <a:solidFill>
                  <a:srgbClr val="6B7280"/>
                </a:solidFill>
                <a:latin typeface="Meiryo"/>
              </a:rPr>
              <a:t>ご承認をいただければ、以下の流れで進めます。</a:t>
            </a:r>
          </a:p>
        </p:txBody>
      </p:sp>
      <p:sp>
        <p:nvSpPr>
          <p:cNvPr id="5" name="Rounded Rectangle 4"/>
          <p:cNvSpPr/>
          <p:nvPr/>
        </p:nvSpPr>
        <p:spPr>
          <a:xfrm>
            <a:off x="566928" y="1783080"/>
            <a:ext cx="2606040" cy="2377440"/>
          </a:xfrm>
          <a:prstGeom prst="roundRect">
            <a:avLst>
              <a:gd name="adj" fmla="val 6000"/>
            </a:avLst>
          </a:prstGeom>
          <a:solidFill>
            <a:srgbClr val="FFFFFF"/>
          </a:solidFill>
          <a:ln w="12700">
            <a:solidFill>
              <a:srgbClr val="C7CD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566928" y="1783080"/>
            <a:ext cx="2606040" cy="82296"/>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22960" y="2084831"/>
            <a:ext cx="2103120" cy="274320"/>
          </a:xfrm>
          <a:prstGeom prst="rect">
            <a:avLst/>
          </a:prstGeom>
          <a:noFill/>
        </p:spPr>
        <p:txBody>
          <a:bodyPr wrap="square" lIns="0" tIns="0" rIns="0" bIns="0" anchor="t">
            <a:spAutoFit/>
          </a:bodyPr>
          <a:lstStyle/>
          <a:p>
            <a:pPr algn="l">
              <a:lnSpc>
                <a:spcPct val="130000"/>
              </a:lnSpc>
              <a:spcAft>
                <a:spcPts val="400"/>
              </a:spcAft>
            </a:pPr>
            <a:r>
              <a:rPr sz="1100" b="1">
                <a:solidFill>
                  <a:srgbClr val="4F46E5"/>
                </a:solidFill>
                <a:latin typeface="Meiryo"/>
              </a:rPr>
              <a:t>STEP 1</a:t>
            </a:r>
          </a:p>
        </p:txBody>
      </p:sp>
      <p:sp>
        <p:nvSpPr>
          <p:cNvPr id="8" name="TextBox 7"/>
          <p:cNvSpPr txBox="1"/>
          <p:nvPr/>
        </p:nvSpPr>
        <p:spPr>
          <a:xfrm>
            <a:off x="822960" y="2450592"/>
            <a:ext cx="2103120" cy="365760"/>
          </a:xfrm>
          <a:prstGeom prst="rect">
            <a:avLst/>
          </a:prstGeom>
          <a:noFill/>
        </p:spPr>
        <p:txBody>
          <a:bodyPr wrap="square" lIns="0" tIns="0" rIns="0" bIns="0" anchor="t">
            <a:spAutoFit/>
          </a:bodyPr>
          <a:lstStyle/>
          <a:p>
            <a:pPr algn="l">
              <a:lnSpc>
                <a:spcPct val="130000"/>
              </a:lnSpc>
              <a:spcAft>
                <a:spcPts val="400"/>
              </a:spcAft>
            </a:pPr>
            <a:r>
              <a:rPr sz="1500" b="1">
                <a:solidFill>
                  <a:srgbClr val="141A33"/>
                </a:solidFill>
                <a:latin typeface="Meiryo"/>
              </a:rPr>
              <a:t>サーバー契約</a:t>
            </a:r>
          </a:p>
        </p:txBody>
      </p:sp>
      <p:sp>
        <p:nvSpPr>
          <p:cNvPr id="9" name="TextBox 8"/>
          <p:cNvSpPr txBox="1"/>
          <p:nvPr/>
        </p:nvSpPr>
        <p:spPr>
          <a:xfrm>
            <a:off x="822960" y="2999232"/>
            <a:ext cx="2103120" cy="914400"/>
          </a:xfrm>
          <a:prstGeom prst="rect">
            <a:avLst/>
          </a:prstGeom>
          <a:noFill/>
        </p:spPr>
        <p:txBody>
          <a:bodyPr wrap="square" lIns="0" tIns="0" rIns="0" bIns="0" anchor="t">
            <a:spAutoFit/>
          </a:bodyPr>
          <a:lstStyle/>
          <a:p>
            <a:pPr algn="l">
              <a:lnSpc>
                <a:spcPct val="145000"/>
              </a:lnSpc>
              <a:spcAft>
                <a:spcPts val="400"/>
              </a:spcAft>
            </a:pPr>
            <a:r>
              <a:rPr sz="1150" b="0">
                <a:solidFill>
                  <a:srgbClr val="6B7280"/>
                </a:solidFill>
                <a:latin typeface="Meiryo"/>
              </a:rPr>
              <a:t>当方名義でAzureを契約し、</a:t>
            </a:r>
          </a:p>
          <a:p>
            <a:pPr algn="l">
              <a:lnSpc>
                <a:spcPct val="145000"/>
              </a:lnSpc>
              <a:spcAft>
                <a:spcPts val="400"/>
              </a:spcAft>
            </a:pPr>
            <a:r>
              <a:rPr sz="1150" b="0">
                <a:solidFill>
                  <a:srgbClr val="6B7280"/>
                </a:solidFill>
                <a:latin typeface="Meiryo"/>
              </a:rPr>
              <a:t>環境を構築します。</a:t>
            </a:r>
          </a:p>
        </p:txBody>
      </p:sp>
      <p:sp>
        <p:nvSpPr>
          <p:cNvPr id="10" name="TextBox 9"/>
          <p:cNvSpPr txBox="1"/>
          <p:nvPr/>
        </p:nvSpPr>
        <p:spPr>
          <a:xfrm>
            <a:off x="3200400" y="2788920"/>
            <a:ext cx="228600" cy="365760"/>
          </a:xfrm>
          <a:prstGeom prst="rect">
            <a:avLst/>
          </a:prstGeom>
          <a:noFill/>
        </p:spPr>
        <p:txBody>
          <a:bodyPr wrap="square" lIns="0" tIns="0" rIns="0" bIns="0" anchor="t">
            <a:spAutoFit/>
          </a:bodyPr>
          <a:lstStyle/>
          <a:p>
            <a:pPr algn="l">
              <a:lnSpc>
                <a:spcPct val="130000"/>
              </a:lnSpc>
              <a:spcAft>
                <a:spcPts val="400"/>
              </a:spcAft>
            </a:pPr>
            <a:r>
              <a:rPr sz="2000" b="1">
                <a:solidFill>
                  <a:srgbClr val="C7CDD8"/>
                </a:solidFill>
                <a:latin typeface="Meiryo"/>
              </a:rPr>
              <a:t>›</a:t>
            </a:r>
          </a:p>
        </p:txBody>
      </p:sp>
      <p:sp>
        <p:nvSpPr>
          <p:cNvPr id="11" name="Rounded Rectangle 10"/>
          <p:cNvSpPr/>
          <p:nvPr/>
        </p:nvSpPr>
        <p:spPr>
          <a:xfrm>
            <a:off x="3392424" y="1783080"/>
            <a:ext cx="2606040" cy="2377440"/>
          </a:xfrm>
          <a:prstGeom prst="roundRect">
            <a:avLst>
              <a:gd name="adj" fmla="val 6000"/>
            </a:avLst>
          </a:prstGeom>
          <a:solidFill>
            <a:srgbClr val="FFFFFF"/>
          </a:solidFill>
          <a:ln w="12700">
            <a:solidFill>
              <a:srgbClr val="C7CD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3392424" y="1783080"/>
            <a:ext cx="2606040" cy="82296"/>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648456" y="2084831"/>
            <a:ext cx="2103120" cy="274320"/>
          </a:xfrm>
          <a:prstGeom prst="rect">
            <a:avLst/>
          </a:prstGeom>
          <a:noFill/>
        </p:spPr>
        <p:txBody>
          <a:bodyPr wrap="square" lIns="0" tIns="0" rIns="0" bIns="0" anchor="t">
            <a:spAutoFit/>
          </a:bodyPr>
          <a:lstStyle/>
          <a:p>
            <a:pPr algn="l">
              <a:lnSpc>
                <a:spcPct val="130000"/>
              </a:lnSpc>
              <a:spcAft>
                <a:spcPts val="400"/>
              </a:spcAft>
            </a:pPr>
            <a:r>
              <a:rPr sz="1100" b="1">
                <a:solidFill>
                  <a:srgbClr val="4F46E5"/>
                </a:solidFill>
                <a:latin typeface="Meiryo"/>
              </a:rPr>
              <a:t>STEP 2</a:t>
            </a:r>
          </a:p>
        </p:txBody>
      </p:sp>
      <p:sp>
        <p:nvSpPr>
          <p:cNvPr id="14" name="TextBox 13"/>
          <p:cNvSpPr txBox="1"/>
          <p:nvPr/>
        </p:nvSpPr>
        <p:spPr>
          <a:xfrm>
            <a:off x="3648456" y="2450592"/>
            <a:ext cx="2103120" cy="365760"/>
          </a:xfrm>
          <a:prstGeom prst="rect">
            <a:avLst/>
          </a:prstGeom>
          <a:noFill/>
        </p:spPr>
        <p:txBody>
          <a:bodyPr wrap="square" lIns="0" tIns="0" rIns="0" bIns="0" anchor="t">
            <a:spAutoFit/>
          </a:bodyPr>
          <a:lstStyle/>
          <a:p>
            <a:pPr algn="l">
              <a:lnSpc>
                <a:spcPct val="130000"/>
              </a:lnSpc>
              <a:spcAft>
                <a:spcPts val="400"/>
              </a:spcAft>
            </a:pPr>
            <a:r>
              <a:rPr sz="1500" b="1">
                <a:solidFill>
                  <a:srgbClr val="141A33"/>
                </a:solidFill>
                <a:latin typeface="Meiryo"/>
              </a:rPr>
              <a:t>システム移設</a:t>
            </a:r>
          </a:p>
        </p:txBody>
      </p:sp>
      <p:sp>
        <p:nvSpPr>
          <p:cNvPr id="15" name="TextBox 14"/>
          <p:cNvSpPr txBox="1"/>
          <p:nvPr/>
        </p:nvSpPr>
        <p:spPr>
          <a:xfrm>
            <a:off x="3648456" y="2999232"/>
            <a:ext cx="2103120" cy="914400"/>
          </a:xfrm>
          <a:prstGeom prst="rect">
            <a:avLst/>
          </a:prstGeom>
          <a:noFill/>
        </p:spPr>
        <p:txBody>
          <a:bodyPr wrap="square" lIns="0" tIns="0" rIns="0" bIns="0" anchor="t">
            <a:spAutoFit/>
          </a:bodyPr>
          <a:lstStyle/>
          <a:p>
            <a:pPr algn="l">
              <a:lnSpc>
                <a:spcPct val="145000"/>
              </a:lnSpc>
              <a:spcAft>
                <a:spcPts val="400"/>
              </a:spcAft>
            </a:pPr>
            <a:r>
              <a:rPr sz="1150" b="0">
                <a:solidFill>
                  <a:srgbClr val="6B7280"/>
                </a:solidFill>
                <a:latin typeface="Meiryo"/>
              </a:rPr>
              <a:t>アプリ本体とAI機能を</a:t>
            </a:r>
          </a:p>
          <a:p>
            <a:pPr algn="l">
              <a:lnSpc>
                <a:spcPct val="145000"/>
              </a:lnSpc>
              <a:spcAft>
                <a:spcPts val="400"/>
              </a:spcAft>
            </a:pPr>
            <a:r>
              <a:rPr sz="1150" b="0">
                <a:solidFill>
                  <a:srgbClr val="6B7280"/>
                </a:solidFill>
                <a:latin typeface="Meiryo"/>
              </a:rPr>
              <a:t>新サーバーへ移します。</a:t>
            </a:r>
          </a:p>
        </p:txBody>
      </p:sp>
      <p:sp>
        <p:nvSpPr>
          <p:cNvPr id="16" name="TextBox 15"/>
          <p:cNvSpPr txBox="1"/>
          <p:nvPr/>
        </p:nvSpPr>
        <p:spPr>
          <a:xfrm>
            <a:off x="6025896" y="2788920"/>
            <a:ext cx="228600" cy="365760"/>
          </a:xfrm>
          <a:prstGeom prst="rect">
            <a:avLst/>
          </a:prstGeom>
          <a:noFill/>
        </p:spPr>
        <p:txBody>
          <a:bodyPr wrap="square" lIns="0" tIns="0" rIns="0" bIns="0" anchor="t">
            <a:spAutoFit/>
          </a:bodyPr>
          <a:lstStyle/>
          <a:p>
            <a:pPr algn="l">
              <a:lnSpc>
                <a:spcPct val="130000"/>
              </a:lnSpc>
              <a:spcAft>
                <a:spcPts val="400"/>
              </a:spcAft>
            </a:pPr>
            <a:r>
              <a:rPr sz="2000" b="1">
                <a:solidFill>
                  <a:srgbClr val="C7CDD8"/>
                </a:solidFill>
                <a:latin typeface="Meiryo"/>
              </a:rPr>
              <a:t>›</a:t>
            </a:r>
          </a:p>
        </p:txBody>
      </p:sp>
      <p:sp>
        <p:nvSpPr>
          <p:cNvPr id="17" name="Rounded Rectangle 16"/>
          <p:cNvSpPr/>
          <p:nvPr/>
        </p:nvSpPr>
        <p:spPr>
          <a:xfrm>
            <a:off x="6217920" y="1783080"/>
            <a:ext cx="2606040" cy="2377440"/>
          </a:xfrm>
          <a:prstGeom prst="roundRect">
            <a:avLst>
              <a:gd name="adj" fmla="val 6000"/>
            </a:avLst>
          </a:prstGeom>
          <a:solidFill>
            <a:srgbClr val="FFFFFF"/>
          </a:solidFill>
          <a:ln w="12700">
            <a:solidFill>
              <a:srgbClr val="C7CD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6217920" y="1783080"/>
            <a:ext cx="2606040" cy="82296"/>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473952" y="2084831"/>
            <a:ext cx="2103120" cy="274320"/>
          </a:xfrm>
          <a:prstGeom prst="rect">
            <a:avLst/>
          </a:prstGeom>
          <a:noFill/>
        </p:spPr>
        <p:txBody>
          <a:bodyPr wrap="square" lIns="0" tIns="0" rIns="0" bIns="0" anchor="t">
            <a:spAutoFit/>
          </a:bodyPr>
          <a:lstStyle/>
          <a:p>
            <a:pPr algn="l">
              <a:lnSpc>
                <a:spcPct val="130000"/>
              </a:lnSpc>
              <a:spcAft>
                <a:spcPts val="400"/>
              </a:spcAft>
            </a:pPr>
            <a:r>
              <a:rPr sz="1100" b="1">
                <a:solidFill>
                  <a:srgbClr val="4F46E5"/>
                </a:solidFill>
                <a:latin typeface="Meiryo"/>
              </a:rPr>
              <a:t>STEP 3</a:t>
            </a:r>
          </a:p>
        </p:txBody>
      </p:sp>
      <p:sp>
        <p:nvSpPr>
          <p:cNvPr id="20" name="TextBox 19"/>
          <p:cNvSpPr txBox="1"/>
          <p:nvPr/>
        </p:nvSpPr>
        <p:spPr>
          <a:xfrm>
            <a:off x="6473952" y="2450592"/>
            <a:ext cx="2103120" cy="365760"/>
          </a:xfrm>
          <a:prstGeom prst="rect">
            <a:avLst/>
          </a:prstGeom>
          <a:noFill/>
        </p:spPr>
        <p:txBody>
          <a:bodyPr wrap="square" lIns="0" tIns="0" rIns="0" bIns="0" anchor="t">
            <a:spAutoFit/>
          </a:bodyPr>
          <a:lstStyle/>
          <a:p>
            <a:pPr algn="l">
              <a:lnSpc>
                <a:spcPct val="130000"/>
              </a:lnSpc>
              <a:spcAft>
                <a:spcPts val="400"/>
              </a:spcAft>
            </a:pPr>
            <a:r>
              <a:rPr sz="1500" b="1">
                <a:solidFill>
                  <a:srgbClr val="141A33"/>
                </a:solidFill>
                <a:latin typeface="Meiryo"/>
              </a:rPr>
              <a:t>動作確認</a:t>
            </a:r>
          </a:p>
        </p:txBody>
      </p:sp>
      <p:sp>
        <p:nvSpPr>
          <p:cNvPr id="21" name="TextBox 20"/>
          <p:cNvSpPr txBox="1"/>
          <p:nvPr/>
        </p:nvSpPr>
        <p:spPr>
          <a:xfrm>
            <a:off x="6473952" y="2999232"/>
            <a:ext cx="2103120" cy="914400"/>
          </a:xfrm>
          <a:prstGeom prst="rect">
            <a:avLst/>
          </a:prstGeom>
          <a:noFill/>
        </p:spPr>
        <p:txBody>
          <a:bodyPr wrap="square" lIns="0" tIns="0" rIns="0" bIns="0" anchor="t">
            <a:spAutoFit/>
          </a:bodyPr>
          <a:lstStyle/>
          <a:p>
            <a:pPr algn="l">
              <a:lnSpc>
                <a:spcPct val="145000"/>
              </a:lnSpc>
              <a:spcAft>
                <a:spcPts val="400"/>
              </a:spcAft>
            </a:pPr>
            <a:r>
              <a:rPr sz="1150" b="0">
                <a:solidFill>
                  <a:srgbClr val="6B7280"/>
                </a:solidFill>
                <a:latin typeface="Meiryo"/>
              </a:rPr>
              <a:t>実際の業務データで</a:t>
            </a:r>
          </a:p>
          <a:p>
            <a:pPr algn="l">
              <a:lnSpc>
                <a:spcPct val="145000"/>
              </a:lnSpc>
              <a:spcAft>
                <a:spcPts val="400"/>
              </a:spcAft>
            </a:pPr>
            <a:r>
              <a:rPr sz="1150" b="0">
                <a:solidFill>
                  <a:srgbClr val="6B7280"/>
                </a:solidFill>
                <a:latin typeface="Meiryo"/>
              </a:rPr>
              <a:t>動作と速度を検証します。</a:t>
            </a:r>
          </a:p>
        </p:txBody>
      </p:sp>
      <p:sp>
        <p:nvSpPr>
          <p:cNvPr id="22" name="TextBox 21"/>
          <p:cNvSpPr txBox="1"/>
          <p:nvPr/>
        </p:nvSpPr>
        <p:spPr>
          <a:xfrm>
            <a:off x="8851392" y="2788920"/>
            <a:ext cx="228600" cy="365760"/>
          </a:xfrm>
          <a:prstGeom prst="rect">
            <a:avLst/>
          </a:prstGeom>
          <a:noFill/>
        </p:spPr>
        <p:txBody>
          <a:bodyPr wrap="square" lIns="0" tIns="0" rIns="0" bIns="0" anchor="t">
            <a:spAutoFit/>
          </a:bodyPr>
          <a:lstStyle/>
          <a:p>
            <a:pPr algn="l">
              <a:lnSpc>
                <a:spcPct val="130000"/>
              </a:lnSpc>
              <a:spcAft>
                <a:spcPts val="400"/>
              </a:spcAft>
            </a:pPr>
            <a:r>
              <a:rPr sz="2000" b="1">
                <a:solidFill>
                  <a:srgbClr val="C7CDD8"/>
                </a:solidFill>
                <a:latin typeface="Meiryo"/>
              </a:rPr>
              <a:t>›</a:t>
            </a:r>
          </a:p>
        </p:txBody>
      </p:sp>
      <p:sp>
        <p:nvSpPr>
          <p:cNvPr id="23" name="Rounded Rectangle 22"/>
          <p:cNvSpPr/>
          <p:nvPr/>
        </p:nvSpPr>
        <p:spPr>
          <a:xfrm>
            <a:off x="9043415" y="1783080"/>
            <a:ext cx="2606040" cy="2377440"/>
          </a:xfrm>
          <a:prstGeom prst="roundRect">
            <a:avLst>
              <a:gd name="adj" fmla="val 6000"/>
            </a:avLst>
          </a:prstGeom>
          <a:solidFill>
            <a:srgbClr val="FFFFFF"/>
          </a:solidFill>
          <a:ln w="12700">
            <a:solidFill>
              <a:srgbClr val="C7CD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9043415" y="1783080"/>
            <a:ext cx="2606040" cy="82296"/>
          </a:xfrm>
          <a:prstGeom prst="rect">
            <a:avLst/>
          </a:prstGeom>
          <a:solidFill>
            <a:srgbClr val="1F5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9299447" y="2084831"/>
            <a:ext cx="2103120" cy="274320"/>
          </a:xfrm>
          <a:prstGeom prst="rect">
            <a:avLst/>
          </a:prstGeom>
          <a:noFill/>
        </p:spPr>
        <p:txBody>
          <a:bodyPr wrap="square" lIns="0" tIns="0" rIns="0" bIns="0" anchor="t">
            <a:spAutoFit/>
          </a:bodyPr>
          <a:lstStyle/>
          <a:p>
            <a:pPr algn="l">
              <a:lnSpc>
                <a:spcPct val="130000"/>
              </a:lnSpc>
              <a:spcAft>
                <a:spcPts val="400"/>
              </a:spcAft>
            </a:pPr>
            <a:r>
              <a:rPr sz="1100" b="1">
                <a:solidFill>
                  <a:srgbClr val="1F5E4B"/>
                </a:solidFill>
                <a:latin typeface="Meiryo"/>
              </a:rPr>
              <a:t>STEP 4</a:t>
            </a:r>
          </a:p>
        </p:txBody>
      </p:sp>
      <p:sp>
        <p:nvSpPr>
          <p:cNvPr id="26" name="TextBox 25"/>
          <p:cNvSpPr txBox="1"/>
          <p:nvPr/>
        </p:nvSpPr>
        <p:spPr>
          <a:xfrm>
            <a:off x="9299447" y="2450592"/>
            <a:ext cx="2103120" cy="365760"/>
          </a:xfrm>
          <a:prstGeom prst="rect">
            <a:avLst/>
          </a:prstGeom>
          <a:noFill/>
        </p:spPr>
        <p:txBody>
          <a:bodyPr wrap="square" lIns="0" tIns="0" rIns="0" bIns="0" anchor="t">
            <a:spAutoFit/>
          </a:bodyPr>
          <a:lstStyle/>
          <a:p>
            <a:pPr algn="l">
              <a:lnSpc>
                <a:spcPct val="130000"/>
              </a:lnSpc>
              <a:spcAft>
                <a:spcPts val="400"/>
              </a:spcAft>
            </a:pPr>
            <a:r>
              <a:rPr sz="1500" b="1">
                <a:solidFill>
                  <a:srgbClr val="141A33"/>
                </a:solidFill>
                <a:latin typeface="Meiryo"/>
              </a:rPr>
              <a:t>カード切替</a:t>
            </a:r>
          </a:p>
        </p:txBody>
      </p:sp>
      <p:sp>
        <p:nvSpPr>
          <p:cNvPr id="27" name="TextBox 26"/>
          <p:cNvSpPr txBox="1"/>
          <p:nvPr/>
        </p:nvSpPr>
        <p:spPr>
          <a:xfrm>
            <a:off x="9299447" y="2999232"/>
            <a:ext cx="2103120" cy="914400"/>
          </a:xfrm>
          <a:prstGeom prst="rect">
            <a:avLst/>
          </a:prstGeom>
          <a:noFill/>
        </p:spPr>
        <p:txBody>
          <a:bodyPr wrap="square" lIns="0" tIns="0" rIns="0" bIns="0" anchor="t">
            <a:spAutoFit/>
          </a:bodyPr>
          <a:lstStyle/>
          <a:p>
            <a:pPr algn="l">
              <a:lnSpc>
                <a:spcPct val="145000"/>
              </a:lnSpc>
              <a:spcAft>
                <a:spcPts val="400"/>
              </a:spcAft>
            </a:pPr>
            <a:r>
              <a:rPr sz="1150" b="0">
                <a:solidFill>
                  <a:srgbClr val="6B7280"/>
                </a:solidFill>
                <a:latin typeface="Meiryo"/>
              </a:rPr>
              <a:t>お支払いを御社の</a:t>
            </a:r>
          </a:p>
          <a:p>
            <a:pPr algn="l">
              <a:lnSpc>
                <a:spcPct val="145000"/>
              </a:lnSpc>
              <a:spcAft>
                <a:spcPts val="400"/>
              </a:spcAft>
            </a:pPr>
            <a:r>
              <a:rPr sz="1150" b="0">
                <a:solidFill>
                  <a:srgbClr val="6B7280"/>
                </a:solidFill>
                <a:latin typeface="Meiryo"/>
              </a:rPr>
              <a:t>クレジットカードへ変更。</a:t>
            </a:r>
          </a:p>
        </p:txBody>
      </p:sp>
      <p:sp>
        <p:nvSpPr>
          <p:cNvPr id="28" name="Rounded Rectangle 27"/>
          <p:cNvSpPr/>
          <p:nvPr/>
        </p:nvSpPr>
        <p:spPr>
          <a:xfrm>
            <a:off x="566928" y="4572000"/>
            <a:ext cx="11073384" cy="1481328"/>
          </a:xfrm>
          <a:prstGeom prst="roundRect">
            <a:avLst>
              <a:gd name="adj" fmla="val 6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914400" y="4828032"/>
            <a:ext cx="10424160" cy="1005840"/>
          </a:xfrm>
          <a:prstGeom prst="rect">
            <a:avLst/>
          </a:prstGeom>
          <a:noFill/>
        </p:spPr>
        <p:txBody>
          <a:bodyPr wrap="square" lIns="0" tIns="0" rIns="0" bIns="0" anchor="t">
            <a:spAutoFit/>
          </a:bodyPr>
          <a:lstStyle/>
          <a:p>
            <a:pPr algn="l">
              <a:lnSpc>
                <a:spcPct val="160000"/>
              </a:lnSpc>
              <a:spcAft>
                <a:spcPts val="400"/>
              </a:spcAft>
            </a:pPr>
            <a:r>
              <a:rPr sz="1300" b="0">
                <a:solidFill>
                  <a:srgbClr val="FFFFFF"/>
                </a:solidFill>
                <a:latin typeface="Meiryo"/>
                <a:ea typeface="Meiryo"/>
              </a:rPr>
              <a:t>ご確認いただきたい点</a:t>
            </a:r>
          </a:p>
          <a:p>
            <a:r>
              <a:rPr sz="1300" b="0">
                <a:solidFill>
                  <a:srgbClr val="FFFFFF"/>
                </a:solidFill>
                <a:latin typeface="Meiryo"/>
                <a:ea typeface="Meiryo"/>
              </a:rPr>
              <a:t>　保管データについて「必ず御社Azure内に置く」という社内ルールはございますか。</a:t>
            </a:r>
          </a:p>
          <a:p>
            <a:r>
              <a:rPr sz="1300" b="0">
                <a:solidFill>
                  <a:srgbClr val="FFFFFF"/>
                </a:solidFill>
                <a:latin typeface="Meiryo"/>
                <a:ea typeface="Meiryo"/>
              </a:rPr>
              <a:t>　特になければ、データベースは Supabase（東京リージョン・国内保管）のまま継続いたします。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5165</TotalTime>
  <Words>439</Words>
  <Application>Microsoft Office PowerPoint</Application>
  <PresentationFormat>ワイド画面</PresentationFormat>
  <Paragraphs>148</Paragraphs>
  <Slides>7</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7</vt:i4>
      </vt:variant>
    </vt:vector>
  </HeadingPairs>
  <TitlesOfParts>
    <vt:vector size="11" baseType="lpstr">
      <vt:lpstr>Meiryo</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優 福島</cp:lastModifiedBy>
  <cp:revision>1</cp:revision>
  <dcterms:created xsi:type="dcterms:W3CDTF">2013-01-27T09:14:16Z</dcterms:created>
  <dcterms:modified xsi:type="dcterms:W3CDTF">2026-08-09T23:39:43Z</dcterms:modified>
  <cp:category/>
</cp:coreProperties>
</file>