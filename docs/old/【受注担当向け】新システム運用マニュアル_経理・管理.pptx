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300" r:id="rId2"/>
    <p:sldId id="302" r:id="rId3"/>
    <p:sldId id="303" r:id="rId4"/>
    <p:sldId id="304" r:id="rId5"/>
    <p:sldId id="298" r:id="rId6"/>
    <p:sldId id="299" r:id="rId7"/>
    <p:sldId id="297" r:id="rId8"/>
    <p:sldId id="305" r:id="rId9"/>
    <p:sldId id="301" r:id="rId10"/>
    <p:sldId id="306" r:id="rId11"/>
    <p:sldId id="307" r:id="rId12"/>
    <p:sldId id="308" r:id="rId1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5"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2F2"/>
    <a:srgbClr val="FCEBBC"/>
    <a:srgbClr val="0013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60"/>
  </p:normalViewPr>
  <p:slideViewPr>
    <p:cSldViewPr snapToGrid="0" showGuides="1">
      <p:cViewPr>
        <p:scale>
          <a:sx n="75" d="100"/>
          <a:sy n="75" d="100"/>
        </p:scale>
        <p:origin x="1360" y="596"/>
      </p:cViewPr>
      <p:guideLst>
        <p:guide orient="horz" pos="2205"/>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F91A2B-ED77-483B-962A-E5210BB954FC}" type="datetimeFigureOut">
              <a:rPr kumimoji="1" lang="ja-JP" altLang="en-US" smtClean="0"/>
              <a:t>2026/8/5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23D8AB-9FC5-4904-B3D8-7D76354ADD47}" type="slidenum">
              <a:rPr kumimoji="1" lang="ja-JP" altLang="en-US" smtClean="0"/>
              <a:t>‹#›</a:t>
            </a:fld>
            <a:endParaRPr kumimoji="1" lang="ja-JP" altLang="en-US"/>
          </a:p>
        </p:txBody>
      </p:sp>
    </p:spTree>
    <p:extLst>
      <p:ext uri="{BB962C8B-B14F-4D97-AF65-F5344CB8AC3E}">
        <p14:creationId xmlns:p14="http://schemas.microsoft.com/office/powerpoint/2010/main" val="396110821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7C3F14-23EA-15E8-110F-4213353D8E91}"/>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7DDD731B-E247-D7D5-2F35-C1B33708DA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75E3E5C-21A8-D12E-3657-B45386D745F9}"/>
              </a:ext>
            </a:extLst>
          </p:cNvPr>
          <p:cNvSpPr>
            <a:spLocks noGrp="1"/>
          </p:cNvSpPr>
          <p:nvPr>
            <p:ph type="dt" sz="half" idx="10"/>
          </p:nvPr>
        </p:nvSpPr>
        <p:spPr/>
        <p:txBody>
          <a:bodyPr/>
          <a:lstStyle/>
          <a:p>
            <a:fld id="{2BE04516-361D-47D2-AE4F-ED49292FA593}" type="datetime1">
              <a:rPr kumimoji="1" lang="ja-JP" altLang="en-US" smtClean="0"/>
              <a:t>2026/8/5</a:t>
            </a:fld>
            <a:endParaRPr kumimoji="1" lang="ja-JP" altLang="en-US"/>
          </a:p>
        </p:txBody>
      </p:sp>
      <p:sp>
        <p:nvSpPr>
          <p:cNvPr id="5" name="フッター プレースホルダー 4">
            <a:extLst>
              <a:ext uri="{FF2B5EF4-FFF2-40B4-BE49-F238E27FC236}">
                <a16:creationId xmlns:a16="http://schemas.microsoft.com/office/drawing/2014/main" id="{B406173A-C7D9-336A-AE79-C618948877D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DEFF4B3-249B-6709-417D-5FF8921B0D37}"/>
              </a:ext>
            </a:extLst>
          </p:cNvPr>
          <p:cNvSpPr>
            <a:spLocks noGrp="1"/>
          </p:cNvSpPr>
          <p:nvPr>
            <p:ph type="sldNum" sz="quarter" idx="12"/>
          </p:nvPr>
        </p:nvSpPr>
        <p:spPr/>
        <p:txBody>
          <a:bodyPr/>
          <a:lstStyle/>
          <a:p>
            <a:fld id="{F4EC9C95-8009-4180-AAA8-5F6B382748D2}" type="slidenum">
              <a:rPr kumimoji="1" lang="ja-JP" altLang="en-US" smtClean="0"/>
              <a:t>‹#›</a:t>
            </a:fld>
            <a:endParaRPr kumimoji="1" lang="ja-JP" altLang="en-US"/>
          </a:p>
        </p:txBody>
      </p:sp>
    </p:spTree>
    <p:extLst>
      <p:ext uri="{BB962C8B-B14F-4D97-AF65-F5344CB8AC3E}">
        <p14:creationId xmlns:p14="http://schemas.microsoft.com/office/powerpoint/2010/main" val="2047399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F8B157-F067-896A-B6EF-A4028D03514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C7C9545-048C-C19D-9593-E3435F5DA7BC}"/>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C9B3488-7682-B543-E55F-DBB4233A6390}"/>
              </a:ext>
            </a:extLst>
          </p:cNvPr>
          <p:cNvSpPr>
            <a:spLocks noGrp="1"/>
          </p:cNvSpPr>
          <p:nvPr>
            <p:ph type="dt" sz="half" idx="10"/>
          </p:nvPr>
        </p:nvSpPr>
        <p:spPr/>
        <p:txBody>
          <a:bodyPr/>
          <a:lstStyle/>
          <a:p>
            <a:fld id="{69D627B3-CE8B-4B0A-9923-E1E1339F247A}" type="datetime1">
              <a:rPr kumimoji="1" lang="ja-JP" altLang="en-US" smtClean="0"/>
              <a:t>2026/8/5</a:t>
            </a:fld>
            <a:endParaRPr kumimoji="1" lang="ja-JP" altLang="en-US"/>
          </a:p>
        </p:txBody>
      </p:sp>
      <p:sp>
        <p:nvSpPr>
          <p:cNvPr id="5" name="フッター プレースホルダー 4">
            <a:extLst>
              <a:ext uri="{FF2B5EF4-FFF2-40B4-BE49-F238E27FC236}">
                <a16:creationId xmlns:a16="http://schemas.microsoft.com/office/drawing/2014/main" id="{365C61B7-9BBB-F351-079B-6F1E1D93C28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867EBEA-1AFE-6842-8942-21845B09CFAE}"/>
              </a:ext>
            </a:extLst>
          </p:cNvPr>
          <p:cNvSpPr>
            <a:spLocks noGrp="1"/>
          </p:cNvSpPr>
          <p:nvPr>
            <p:ph type="sldNum" sz="quarter" idx="12"/>
          </p:nvPr>
        </p:nvSpPr>
        <p:spPr/>
        <p:txBody>
          <a:bodyPr/>
          <a:lstStyle/>
          <a:p>
            <a:fld id="{F4EC9C95-8009-4180-AAA8-5F6B382748D2}" type="slidenum">
              <a:rPr kumimoji="1" lang="ja-JP" altLang="en-US" smtClean="0"/>
              <a:t>‹#›</a:t>
            </a:fld>
            <a:endParaRPr kumimoji="1" lang="ja-JP" altLang="en-US"/>
          </a:p>
        </p:txBody>
      </p:sp>
    </p:spTree>
    <p:extLst>
      <p:ext uri="{BB962C8B-B14F-4D97-AF65-F5344CB8AC3E}">
        <p14:creationId xmlns:p14="http://schemas.microsoft.com/office/powerpoint/2010/main" val="3335013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1A3490-1043-3A0D-6842-30A466CDB1B0}"/>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51D4F7E-D733-D5AC-3E40-9924E0CEC58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1528C544-6028-B68D-A52B-89F20A4D1600}"/>
              </a:ext>
            </a:extLst>
          </p:cNvPr>
          <p:cNvSpPr>
            <a:spLocks noGrp="1"/>
          </p:cNvSpPr>
          <p:nvPr>
            <p:ph type="dt" sz="half" idx="10"/>
          </p:nvPr>
        </p:nvSpPr>
        <p:spPr/>
        <p:txBody>
          <a:bodyPr/>
          <a:lstStyle/>
          <a:p>
            <a:fld id="{3DD29695-ADF0-46AC-BF89-9CF6DA5906BD}" type="datetime1">
              <a:rPr kumimoji="1" lang="ja-JP" altLang="en-US" smtClean="0"/>
              <a:t>2026/8/5</a:t>
            </a:fld>
            <a:endParaRPr kumimoji="1" lang="ja-JP" altLang="en-US"/>
          </a:p>
        </p:txBody>
      </p:sp>
      <p:sp>
        <p:nvSpPr>
          <p:cNvPr id="5" name="フッター プレースホルダー 4">
            <a:extLst>
              <a:ext uri="{FF2B5EF4-FFF2-40B4-BE49-F238E27FC236}">
                <a16:creationId xmlns:a16="http://schemas.microsoft.com/office/drawing/2014/main" id="{2B71B282-DD17-048C-7D62-411FBBECD72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12D60E1-DD25-A85B-4035-85221FD67F44}"/>
              </a:ext>
            </a:extLst>
          </p:cNvPr>
          <p:cNvSpPr>
            <a:spLocks noGrp="1"/>
          </p:cNvSpPr>
          <p:nvPr>
            <p:ph type="sldNum" sz="quarter" idx="12"/>
          </p:nvPr>
        </p:nvSpPr>
        <p:spPr/>
        <p:txBody>
          <a:bodyPr/>
          <a:lstStyle/>
          <a:p>
            <a:fld id="{F4EC9C95-8009-4180-AAA8-5F6B382748D2}" type="slidenum">
              <a:rPr kumimoji="1" lang="ja-JP" altLang="en-US" smtClean="0"/>
              <a:t>‹#›</a:t>
            </a:fld>
            <a:endParaRPr kumimoji="1" lang="ja-JP" altLang="en-US"/>
          </a:p>
        </p:txBody>
      </p:sp>
    </p:spTree>
    <p:extLst>
      <p:ext uri="{BB962C8B-B14F-4D97-AF65-F5344CB8AC3E}">
        <p14:creationId xmlns:p14="http://schemas.microsoft.com/office/powerpoint/2010/main" val="29728653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8E78D0D-7EC2-6DE4-D3D3-BA86122E6AC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A252AB5-8E04-D98C-0045-87C03289535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9FD22E5D-C1CB-ED5B-E890-2D0CDB4E7B6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BA66C2C9-77F8-AAC9-86B8-E5E528382614}"/>
              </a:ext>
            </a:extLst>
          </p:cNvPr>
          <p:cNvSpPr>
            <a:spLocks noGrp="1"/>
          </p:cNvSpPr>
          <p:nvPr>
            <p:ph type="dt" sz="half" idx="10"/>
          </p:nvPr>
        </p:nvSpPr>
        <p:spPr/>
        <p:txBody>
          <a:bodyPr/>
          <a:lstStyle/>
          <a:p>
            <a:fld id="{55D5BC41-5B07-4FD5-8EB4-84BCF3D4B16F}" type="datetime1">
              <a:rPr kumimoji="1" lang="ja-JP" altLang="en-US" smtClean="0"/>
              <a:t>2026/8/5</a:t>
            </a:fld>
            <a:endParaRPr kumimoji="1" lang="ja-JP" altLang="en-US"/>
          </a:p>
        </p:txBody>
      </p:sp>
      <p:sp>
        <p:nvSpPr>
          <p:cNvPr id="6" name="フッター プレースホルダー 5">
            <a:extLst>
              <a:ext uri="{FF2B5EF4-FFF2-40B4-BE49-F238E27FC236}">
                <a16:creationId xmlns:a16="http://schemas.microsoft.com/office/drawing/2014/main" id="{5867A634-E013-0A04-8EAE-F762157AAC1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B49D3-FC78-6237-8256-603790E72212}"/>
              </a:ext>
            </a:extLst>
          </p:cNvPr>
          <p:cNvSpPr>
            <a:spLocks noGrp="1"/>
          </p:cNvSpPr>
          <p:nvPr>
            <p:ph type="sldNum" sz="quarter" idx="12"/>
          </p:nvPr>
        </p:nvSpPr>
        <p:spPr/>
        <p:txBody>
          <a:bodyPr/>
          <a:lstStyle/>
          <a:p>
            <a:fld id="{F4EC9C95-8009-4180-AAA8-5F6B382748D2}" type="slidenum">
              <a:rPr kumimoji="1" lang="ja-JP" altLang="en-US" smtClean="0"/>
              <a:t>‹#›</a:t>
            </a:fld>
            <a:endParaRPr kumimoji="1" lang="ja-JP" altLang="en-US"/>
          </a:p>
        </p:txBody>
      </p:sp>
    </p:spTree>
    <p:extLst>
      <p:ext uri="{BB962C8B-B14F-4D97-AF65-F5344CB8AC3E}">
        <p14:creationId xmlns:p14="http://schemas.microsoft.com/office/powerpoint/2010/main" val="2695082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35C838-FCB9-39E3-92A5-7C90DF2B2EB4}"/>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9A4D6AC-5619-7D15-B62D-E53D54FE45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3361D06F-7D26-844B-1861-16B8DF544EF4}"/>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536416D5-131A-E1B6-3B72-4F0BE3B1C8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02469AF5-2B35-64DD-9BBF-8A192F25E192}"/>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E7DE746D-774D-1AF1-4CBD-E645E6CB8352}"/>
              </a:ext>
            </a:extLst>
          </p:cNvPr>
          <p:cNvSpPr>
            <a:spLocks noGrp="1"/>
          </p:cNvSpPr>
          <p:nvPr>
            <p:ph type="dt" sz="half" idx="10"/>
          </p:nvPr>
        </p:nvSpPr>
        <p:spPr/>
        <p:txBody>
          <a:bodyPr/>
          <a:lstStyle/>
          <a:p>
            <a:fld id="{0A4AB2D7-C603-41DC-B12C-C86940258DEB}" type="datetime1">
              <a:rPr kumimoji="1" lang="ja-JP" altLang="en-US" smtClean="0"/>
              <a:t>2026/8/5</a:t>
            </a:fld>
            <a:endParaRPr kumimoji="1" lang="ja-JP" altLang="en-US"/>
          </a:p>
        </p:txBody>
      </p:sp>
      <p:sp>
        <p:nvSpPr>
          <p:cNvPr id="8" name="フッター プレースホルダー 7">
            <a:extLst>
              <a:ext uri="{FF2B5EF4-FFF2-40B4-BE49-F238E27FC236}">
                <a16:creationId xmlns:a16="http://schemas.microsoft.com/office/drawing/2014/main" id="{E92698E5-C3BF-04A3-72EB-ABE79F881DBA}"/>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41BA5D2A-0A82-6879-A9DC-F8D0878BE023}"/>
              </a:ext>
            </a:extLst>
          </p:cNvPr>
          <p:cNvSpPr>
            <a:spLocks noGrp="1"/>
          </p:cNvSpPr>
          <p:nvPr>
            <p:ph type="sldNum" sz="quarter" idx="12"/>
          </p:nvPr>
        </p:nvSpPr>
        <p:spPr/>
        <p:txBody>
          <a:bodyPr/>
          <a:lstStyle/>
          <a:p>
            <a:fld id="{F4EC9C95-8009-4180-AAA8-5F6B382748D2}" type="slidenum">
              <a:rPr kumimoji="1" lang="ja-JP" altLang="en-US" smtClean="0"/>
              <a:t>‹#›</a:t>
            </a:fld>
            <a:endParaRPr kumimoji="1" lang="ja-JP" altLang="en-US"/>
          </a:p>
        </p:txBody>
      </p:sp>
    </p:spTree>
    <p:extLst>
      <p:ext uri="{BB962C8B-B14F-4D97-AF65-F5344CB8AC3E}">
        <p14:creationId xmlns:p14="http://schemas.microsoft.com/office/powerpoint/2010/main" val="15383552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083B7D-71A1-2D01-325A-05EFD5675883}"/>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76AA7AA5-47AC-3ADE-AD1F-B8EBB81E155A}"/>
              </a:ext>
            </a:extLst>
          </p:cNvPr>
          <p:cNvSpPr>
            <a:spLocks noGrp="1"/>
          </p:cNvSpPr>
          <p:nvPr>
            <p:ph type="dt" sz="half" idx="10"/>
          </p:nvPr>
        </p:nvSpPr>
        <p:spPr/>
        <p:txBody>
          <a:bodyPr/>
          <a:lstStyle/>
          <a:p>
            <a:fld id="{A03D0B2B-F592-4BE7-8B26-61C641EE107B}" type="datetime1">
              <a:rPr kumimoji="1" lang="ja-JP" altLang="en-US" smtClean="0"/>
              <a:t>2026/8/5</a:t>
            </a:fld>
            <a:endParaRPr kumimoji="1" lang="ja-JP" altLang="en-US"/>
          </a:p>
        </p:txBody>
      </p:sp>
      <p:sp>
        <p:nvSpPr>
          <p:cNvPr id="4" name="フッター プレースホルダー 3">
            <a:extLst>
              <a:ext uri="{FF2B5EF4-FFF2-40B4-BE49-F238E27FC236}">
                <a16:creationId xmlns:a16="http://schemas.microsoft.com/office/drawing/2014/main" id="{5D51BDCA-6BE2-1229-0502-1B9453A94D0D}"/>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E4C69440-795A-8BDD-5E8F-7F2D2E4B789E}"/>
              </a:ext>
            </a:extLst>
          </p:cNvPr>
          <p:cNvSpPr>
            <a:spLocks noGrp="1"/>
          </p:cNvSpPr>
          <p:nvPr>
            <p:ph type="sldNum" sz="quarter" idx="12"/>
          </p:nvPr>
        </p:nvSpPr>
        <p:spPr/>
        <p:txBody>
          <a:bodyPr/>
          <a:lstStyle/>
          <a:p>
            <a:fld id="{F4EC9C95-8009-4180-AAA8-5F6B382748D2}" type="slidenum">
              <a:rPr kumimoji="1" lang="ja-JP" altLang="en-US" smtClean="0"/>
              <a:t>‹#›</a:t>
            </a:fld>
            <a:endParaRPr kumimoji="1" lang="ja-JP" altLang="en-US"/>
          </a:p>
        </p:txBody>
      </p:sp>
    </p:spTree>
    <p:extLst>
      <p:ext uri="{BB962C8B-B14F-4D97-AF65-F5344CB8AC3E}">
        <p14:creationId xmlns:p14="http://schemas.microsoft.com/office/powerpoint/2010/main" val="2183271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0A7880AD-C2F9-81B7-29CE-60C6DAB3C9B1}"/>
              </a:ext>
            </a:extLst>
          </p:cNvPr>
          <p:cNvSpPr>
            <a:spLocks noGrp="1"/>
          </p:cNvSpPr>
          <p:nvPr>
            <p:ph type="dt" sz="half" idx="10"/>
          </p:nvPr>
        </p:nvSpPr>
        <p:spPr/>
        <p:txBody>
          <a:bodyPr/>
          <a:lstStyle/>
          <a:p>
            <a:fld id="{8D43D6C0-D84C-46E5-A835-51E915C4E90C}" type="datetime1">
              <a:rPr kumimoji="1" lang="ja-JP" altLang="en-US" smtClean="0"/>
              <a:t>2026/8/5</a:t>
            </a:fld>
            <a:endParaRPr kumimoji="1" lang="ja-JP" altLang="en-US"/>
          </a:p>
        </p:txBody>
      </p:sp>
      <p:sp>
        <p:nvSpPr>
          <p:cNvPr id="3" name="フッター プレースホルダー 2">
            <a:extLst>
              <a:ext uri="{FF2B5EF4-FFF2-40B4-BE49-F238E27FC236}">
                <a16:creationId xmlns:a16="http://schemas.microsoft.com/office/drawing/2014/main" id="{66BD6F54-4BEF-564A-D669-EE5CAAEE5F7A}"/>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22AB90C-0ADA-66E1-0059-0967EAF8BD3B}"/>
              </a:ext>
            </a:extLst>
          </p:cNvPr>
          <p:cNvSpPr>
            <a:spLocks noGrp="1"/>
          </p:cNvSpPr>
          <p:nvPr>
            <p:ph type="sldNum" sz="quarter" idx="12"/>
          </p:nvPr>
        </p:nvSpPr>
        <p:spPr/>
        <p:txBody>
          <a:bodyPr/>
          <a:lstStyle/>
          <a:p>
            <a:fld id="{F4EC9C95-8009-4180-AAA8-5F6B382748D2}" type="slidenum">
              <a:rPr kumimoji="1" lang="ja-JP" altLang="en-US" smtClean="0"/>
              <a:t>‹#›</a:t>
            </a:fld>
            <a:endParaRPr kumimoji="1" lang="ja-JP" altLang="en-US"/>
          </a:p>
        </p:txBody>
      </p:sp>
    </p:spTree>
    <p:extLst>
      <p:ext uri="{BB962C8B-B14F-4D97-AF65-F5344CB8AC3E}">
        <p14:creationId xmlns:p14="http://schemas.microsoft.com/office/powerpoint/2010/main" val="1523191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CB1C7A1-0B13-4891-8217-26AB62F6F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52BD693-51B5-ACA1-93A6-E08CA82B4E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22ED7FBC-ED8B-899D-0C80-48173BA4C4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614A86E-5DAD-1CED-1E48-6CAB44475D99}"/>
              </a:ext>
            </a:extLst>
          </p:cNvPr>
          <p:cNvSpPr>
            <a:spLocks noGrp="1"/>
          </p:cNvSpPr>
          <p:nvPr>
            <p:ph type="dt" sz="half" idx="10"/>
          </p:nvPr>
        </p:nvSpPr>
        <p:spPr/>
        <p:txBody>
          <a:bodyPr/>
          <a:lstStyle/>
          <a:p>
            <a:fld id="{E42258F8-709E-4B5E-9B5E-853D1CBB35D4}" type="datetime1">
              <a:rPr kumimoji="1" lang="ja-JP" altLang="en-US" smtClean="0"/>
              <a:t>2026/8/5</a:t>
            </a:fld>
            <a:endParaRPr kumimoji="1" lang="ja-JP" altLang="en-US"/>
          </a:p>
        </p:txBody>
      </p:sp>
      <p:sp>
        <p:nvSpPr>
          <p:cNvPr id="6" name="フッター プレースホルダー 5">
            <a:extLst>
              <a:ext uri="{FF2B5EF4-FFF2-40B4-BE49-F238E27FC236}">
                <a16:creationId xmlns:a16="http://schemas.microsoft.com/office/drawing/2014/main" id="{8B351619-FC44-A960-7F78-F81C0F31C44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EA43640-811D-AF81-C395-FC43FA4061E9}"/>
              </a:ext>
            </a:extLst>
          </p:cNvPr>
          <p:cNvSpPr>
            <a:spLocks noGrp="1"/>
          </p:cNvSpPr>
          <p:nvPr>
            <p:ph type="sldNum" sz="quarter" idx="12"/>
          </p:nvPr>
        </p:nvSpPr>
        <p:spPr/>
        <p:txBody>
          <a:bodyPr/>
          <a:lstStyle/>
          <a:p>
            <a:fld id="{F4EC9C95-8009-4180-AAA8-5F6B382748D2}" type="slidenum">
              <a:rPr kumimoji="1" lang="ja-JP" altLang="en-US" smtClean="0"/>
              <a:t>‹#›</a:t>
            </a:fld>
            <a:endParaRPr kumimoji="1" lang="ja-JP" altLang="en-US"/>
          </a:p>
        </p:txBody>
      </p:sp>
    </p:spTree>
    <p:extLst>
      <p:ext uri="{BB962C8B-B14F-4D97-AF65-F5344CB8AC3E}">
        <p14:creationId xmlns:p14="http://schemas.microsoft.com/office/powerpoint/2010/main" val="4152535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A0B47E-7108-99D0-7C21-2304C8AFD02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B5267AEA-2990-CBFB-F8BF-A5A8AEF695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E14B4F23-1207-D2ED-C6F2-24D9222EED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16A9DBF-5B25-8124-10D5-09B6EE06D85D}"/>
              </a:ext>
            </a:extLst>
          </p:cNvPr>
          <p:cNvSpPr>
            <a:spLocks noGrp="1"/>
          </p:cNvSpPr>
          <p:nvPr>
            <p:ph type="dt" sz="half" idx="10"/>
          </p:nvPr>
        </p:nvSpPr>
        <p:spPr/>
        <p:txBody>
          <a:bodyPr/>
          <a:lstStyle/>
          <a:p>
            <a:fld id="{0E5400C9-4D01-432C-B418-5ACF4525A8B8}" type="datetime1">
              <a:rPr kumimoji="1" lang="ja-JP" altLang="en-US" smtClean="0"/>
              <a:t>2026/8/5</a:t>
            </a:fld>
            <a:endParaRPr kumimoji="1" lang="ja-JP" altLang="en-US"/>
          </a:p>
        </p:txBody>
      </p:sp>
      <p:sp>
        <p:nvSpPr>
          <p:cNvPr id="6" name="フッター プレースホルダー 5">
            <a:extLst>
              <a:ext uri="{FF2B5EF4-FFF2-40B4-BE49-F238E27FC236}">
                <a16:creationId xmlns:a16="http://schemas.microsoft.com/office/drawing/2014/main" id="{232873E6-3E37-C78D-22E9-1FBD2400BDF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DD69AA5-41D7-E1B9-F09A-FD92EF502763}"/>
              </a:ext>
            </a:extLst>
          </p:cNvPr>
          <p:cNvSpPr>
            <a:spLocks noGrp="1"/>
          </p:cNvSpPr>
          <p:nvPr>
            <p:ph type="sldNum" sz="quarter" idx="12"/>
          </p:nvPr>
        </p:nvSpPr>
        <p:spPr/>
        <p:txBody>
          <a:bodyPr/>
          <a:lstStyle/>
          <a:p>
            <a:fld id="{F4EC9C95-8009-4180-AAA8-5F6B382748D2}" type="slidenum">
              <a:rPr kumimoji="1" lang="ja-JP" altLang="en-US" smtClean="0"/>
              <a:t>‹#›</a:t>
            </a:fld>
            <a:endParaRPr kumimoji="1" lang="ja-JP" altLang="en-US"/>
          </a:p>
        </p:txBody>
      </p:sp>
    </p:spTree>
    <p:extLst>
      <p:ext uri="{BB962C8B-B14F-4D97-AF65-F5344CB8AC3E}">
        <p14:creationId xmlns:p14="http://schemas.microsoft.com/office/powerpoint/2010/main" val="3661129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17ED60-39FA-13C6-CD5C-DD505FAFB3C2}"/>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6EEAF64-7603-A487-2312-ED46B517BD00}"/>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C26D531-8BFB-1813-B5F9-63B7E0F5E545}"/>
              </a:ext>
            </a:extLst>
          </p:cNvPr>
          <p:cNvSpPr>
            <a:spLocks noGrp="1"/>
          </p:cNvSpPr>
          <p:nvPr>
            <p:ph type="dt" sz="half" idx="10"/>
          </p:nvPr>
        </p:nvSpPr>
        <p:spPr/>
        <p:txBody>
          <a:bodyPr/>
          <a:lstStyle/>
          <a:p>
            <a:fld id="{2E3A8F2A-F0FD-4E31-B4EF-40AD26E6CA0F}" type="datetime1">
              <a:rPr kumimoji="1" lang="ja-JP" altLang="en-US" smtClean="0"/>
              <a:t>2026/8/5</a:t>
            </a:fld>
            <a:endParaRPr kumimoji="1" lang="ja-JP" altLang="en-US"/>
          </a:p>
        </p:txBody>
      </p:sp>
      <p:sp>
        <p:nvSpPr>
          <p:cNvPr id="5" name="フッター プレースホルダー 4">
            <a:extLst>
              <a:ext uri="{FF2B5EF4-FFF2-40B4-BE49-F238E27FC236}">
                <a16:creationId xmlns:a16="http://schemas.microsoft.com/office/drawing/2014/main" id="{E22448D4-82F5-EAFA-494A-52FC547306F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51BEF6A-4437-DD07-211F-E6A1F3C1F8B7}"/>
              </a:ext>
            </a:extLst>
          </p:cNvPr>
          <p:cNvSpPr>
            <a:spLocks noGrp="1"/>
          </p:cNvSpPr>
          <p:nvPr>
            <p:ph type="sldNum" sz="quarter" idx="12"/>
          </p:nvPr>
        </p:nvSpPr>
        <p:spPr/>
        <p:txBody>
          <a:bodyPr/>
          <a:lstStyle/>
          <a:p>
            <a:fld id="{F4EC9C95-8009-4180-AAA8-5F6B382748D2}" type="slidenum">
              <a:rPr kumimoji="1" lang="ja-JP" altLang="en-US" smtClean="0"/>
              <a:t>‹#›</a:t>
            </a:fld>
            <a:endParaRPr kumimoji="1" lang="ja-JP" altLang="en-US"/>
          </a:p>
        </p:txBody>
      </p:sp>
    </p:spTree>
    <p:extLst>
      <p:ext uri="{BB962C8B-B14F-4D97-AF65-F5344CB8AC3E}">
        <p14:creationId xmlns:p14="http://schemas.microsoft.com/office/powerpoint/2010/main" val="35315924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45A48199-0CCB-85D1-8FC1-22854542E9D5}"/>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F0493E1-84B8-B789-F2B7-CC78A652C1D8}"/>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4214A00-08E6-DD8B-6EE1-56AC1DD10D95}"/>
              </a:ext>
            </a:extLst>
          </p:cNvPr>
          <p:cNvSpPr>
            <a:spLocks noGrp="1"/>
          </p:cNvSpPr>
          <p:nvPr>
            <p:ph type="dt" sz="half" idx="10"/>
          </p:nvPr>
        </p:nvSpPr>
        <p:spPr/>
        <p:txBody>
          <a:bodyPr/>
          <a:lstStyle/>
          <a:p>
            <a:fld id="{1B4E766C-EF80-48DE-9CB8-1BD57B59B04A}" type="datetime1">
              <a:rPr kumimoji="1" lang="ja-JP" altLang="en-US" smtClean="0"/>
              <a:t>2026/8/5</a:t>
            </a:fld>
            <a:endParaRPr kumimoji="1" lang="ja-JP" altLang="en-US"/>
          </a:p>
        </p:txBody>
      </p:sp>
      <p:sp>
        <p:nvSpPr>
          <p:cNvPr id="5" name="フッター プレースホルダー 4">
            <a:extLst>
              <a:ext uri="{FF2B5EF4-FFF2-40B4-BE49-F238E27FC236}">
                <a16:creationId xmlns:a16="http://schemas.microsoft.com/office/drawing/2014/main" id="{B38ABA2E-518E-4F5F-3B74-579A878B5D7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E40BF8C-8388-8471-C519-25702C0AF326}"/>
              </a:ext>
            </a:extLst>
          </p:cNvPr>
          <p:cNvSpPr>
            <a:spLocks noGrp="1"/>
          </p:cNvSpPr>
          <p:nvPr>
            <p:ph type="sldNum" sz="quarter" idx="12"/>
          </p:nvPr>
        </p:nvSpPr>
        <p:spPr/>
        <p:txBody>
          <a:bodyPr/>
          <a:lstStyle/>
          <a:p>
            <a:fld id="{F4EC9C95-8009-4180-AAA8-5F6B382748D2}" type="slidenum">
              <a:rPr kumimoji="1" lang="ja-JP" altLang="en-US" smtClean="0"/>
              <a:t>‹#›</a:t>
            </a:fld>
            <a:endParaRPr kumimoji="1" lang="ja-JP" altLang="en-US"/>
          </a:p>
        </p:txBody>
      </p:sp>
    </p:spTree>
    <p:extLst>
      <p:ext uri="{BB962C8B-B14F-4D97-AF65-F5344CB8AC3E}">
        <p14:creationId xmlns:p14="http://schemas.microsoft.com/office/powerpoint/2010/main" val="4358128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DBF7E759-8267-5427-EB2D-825572B486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1099F14-9D72-FE91-B84D-9BA97872A7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2E588B8-3070-1E18-208E-87612A4CAF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C5ADEE3-DF0B-4EF8-87B9-84A3DEA2E197}" type="datetime1">
              <a:rPr kumimoji="1" lang="ja-JP" altLang="en-US" smtClean="0"/>
              <a:t>2026/8/5</a:t>
            </a:fld>
            <a:endParaRPr kumimoji="1" lang="ja-JP" altLang="en-US"/>
          </a:p>
        </p:txBody>
      </p:sp>
      <p:sp>
        <p:nvSpPr>
          <p:cNvPr id="5" name="フッター プレースホルダー 4">
            <a:extLst>
              <a:ext uri="{FF2B5EF4-FFF2-40B4-BE49-F238E27FC236}">
                <a16:creationId xmlns:a16="http://schemas.microsoft.com/office/drawing/2014/main" id="{FE803E9F-B1EB-2C03-E631-1871C88FA9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BAB47470-8222-CFB8-5746-89C24A03B0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4EC9C95-8009-4180-AAA8-5F6B382748D2}" type="slidenum">
              <a:rPr kumimoji="1" lang="ja-JP" altLang="en-US" smtClean="0"/>
              <a:t>‹#›</a:t>
            </a:fld>
            <a:endParaRPr kumimoji="1" lang="ja-JP" altLang="en-US"/>
          </a:p>
        </p:txBody>
      </p:sp>
    </p:spTree>
    <p:extLst>
      <p:ext uri="{BB962C8B-B14F-4D97-AF65-F5344CB8AC3E}">
        <p14:creationId xmlns:p14="http://schemas.microsoft.com/office/powerpoint/2010/main" val="14639773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17D71-D645-45D1-66B9-5EE131588273}"/>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25B363F7-A5A5-F272-CD63-FB5B812D06EC}"/>
              </a:ext>
            </a:extLst>
          </p:cNvPr>
          <p:cNvSpPr>
            <a:spLocks noGrp="1"/>
          </p:cNvSpPr>
          <p:nvPr>
            <p:ph type="sldNum" sz="quarter" idx="12"/>
          </p:nvPr>
        </p:nvSpPr>
        <p:spPr/>
        <p:txBody>
          <a:bodyPr/>
          <a:lstStyle/>
          <a:p>
            <a:fld id="{F4EC9C95-8009-4180-AAA8-5F6B382748D2}" type="slidenum">
              <a:rPr kumimoji="1" lang="ja-JP" altLang="en-US" smtClean="0"/>
              <a:t>1</a:t>
            </a:fld>
            <a:endParaRPr kumimoji="1" lang="ja-JP" altLang="en-US"/>
          </a:p>
        </p:txBody>
      </p:sp>
      <p:sp>
        <p:nvSpPr>
          <p:cNvPr id="5" name="正方形/長方形 4">
            <a:extLst>
              <a:ext uri="{FF2B5EF4-FFF2-40B4-BE49-F238E27FC236}">
                <a16:creationId xmlns:a16="http://schemas.microsoft.com/office/drawing/2014/main" id="{C7335814-27C1-42FE-DB4E-075FF81B6167}"/>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6D38DFB8-360C-032A-D7ED-F2FF50FB33A4}"/>
              </a:ext>
            </a:extLst>
          </p:cNvPr>
          <p:cNvSpPr txBox="1"/>
          <p:nvPr/>
        </p:nvSpPr>
        <p:spPr>
          <a:xfrm>
            <a:off x="800100" y="2275482"/>
            <a:ext cx="2441694" cy="769441"/>
          </a:xfrm>
          <a:prstGeom prst="rect">
            <a:avLst/>
          </a:prstGeom>
          <a:noFill/>
        </p:spPr>
        <p:txBody>
          <a:bodyPr wrap="none" rtlCol="0">
            <a:spAutoFit/>
          </a:bodyPr>
          <a:lstStyle/>
          <a:p>
            <a:pPr algn="l" fontAlgn="t"/>
            <a:r>
              <a:rPr kumimoji="1" lang="ja-JP" altLang="en-US" sz="4400" b="1" i="0" dirty="0">
                <a:solidFill>
                  <a:schemeClr val="bg1"/>
                </a:solidFill>
                <a:effectLst/>
                <a:latin typeface="Meiryo UI" panose="020B0604030504040204" pitchFamily="50" charset="-128"/>
                <a:ea typeface="Meiryo UI" panose="020B0604030504040204" pitchFamily="50" charset="-128"/>
              </a:rPr>
              <a:t>請求機能</a:t>
            </a:r>
          </a:p>
        </p:txBody>
      </p:sp>
      <p:sp>
        <p:nvSpPr>
          <p:cNvPr id="7" name="テキスト ボックス 6">
            <a:extLst>
              <a:ext uri="{FF2B5EF4-FFF2-40B4-BE49-F238E27FC236}">
                <a16:creationId xmlns:a16="http://schemas.microsoft.com/office/drawing/2014/main" id="{F840AFAD-557D-12E5-AF55-F94F0CA2CE39}"/>
              </a:ext>
            </a:extLst>
          </p:cNvPr>
          <p:cNvSpPr txBox="1"/>
          <p:nvPr/>
        </p:nvSpPr>
        <p:spPr>
          <a:xfrm>
            <a:off x="800100" y="3131106"/>
            <a:ext cx="2829621" cy="369332"/>
          </a:xfrm>
          <a:prstGeom prst="rect">
            <a:avLst/>
          </a:prstGeom>
          <a:noFill/>
        </p:spPr>
        <p:txBody>
          <a:bodyPr wrap="none" rtlCol="0">
            <a:spAutoFit/>
          </a:bodyPr>
          <a:lstStyle/>
          <a:p>
            <a:pPr algn="l" fontAlgn="t"/>
            <a:r>
              <a:rPr kumimoji="1" lang="ja-JP" altLang="en-US" b="1" i="0" dirty="0">
                <a:solidFill>
                  <a:schemeClr val="bg1"/>
                </a:solidFill>
                <a:effectLst/>
                <a:latin typeface="Meiryo UI" panose="020B0604030504040204" pitchFamily="50" charset="-128"/>
                <a:ea typeface="Meiryo UI" panose="020B0604030504040204" pitchFamily="50" charset="-128"/>
              </a:rPr>
              <a:t>請求書発行、請求レコード、</a:t>
            </a:r>
          </a:p>
        </p:txBody>
      </p:sp>
    </p:spTree>
    <p:extLst>
      <p:ext uri="{BB962C8B-B14F-4D97-AF65-F5344CB8AC3E}">
        <p14:creationId xmlns:p14="http://schemas.microsoft.com/office/powerpoint/2010/main" val="28110786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D8F3A1A5-9EF9-AF5C-1873-170C0C3245C1}"/>
              </a:ext>
            </a:extLst>
          </p:cNvPr>
          <p:cNvSpPr>
            <a:spLocks noGrp="1"/>
          </p:cNvSpPr>
          <p:nvPr>
            <p:ph type="sldNum" sz="quarter" idx="12"/>
          </p:nvPr>
        </p:nvSpPr>
        <p:spPr>
          <a:xfrm>
            <a:off x="8610600" y="6164569"/>
            <a:ext cx="2743200" cy="365125"/>
          </a:xfrm>
        </p:spPr>
        <p:txBody>
          <a:bodyPr/>
          <a:lstStyle/>
          <a:p>
            <a:fld id="{F4EC9C95-8009-4180-AAA8-5F6B382748D2}" type="slidenum">
              <a:rPr kumimoji="1" lang="ja-JP" altLang="en-US" smtClean="0"/>
              <a:t>2</a:t>
            </a:fld>
            <a:endParaRPr kumimoji="1" lang="ja-JP" altLang="en-US"/>
          </a:p>
        </p:txBody>
      </p:sp>
      <p:pic>
        <p:nvPicPr>
          <p:cNvPr id="6" name="図 5">
            <a:extLst>
              <a:ext uri="{FF2B5EF4-FFF2-40B4-BE49-F238E27FC236}">
                <a16:creationId xmlns:a16="http://schemas.microsoft.com/office/drawing/2014/main" id="{6570B064-50C2-FDD7-AA7D-C51FD23C1663}"/>
              </a:ext>
            </a:extLst>
          </p:cNvPr>
          <p:cNvPicPr>
            <a:picLocks noChangeAspect="1"/>
          </p:cNvPicPr>
          <p:nvPr/>
        </p:nvPicPr>
        <p:blipFill>
          <a:blip r:embed="rId2"/>
          <a:stretch>
            <a:fillRect/>
          </a:stretch>
        </p:blipFill>
        <p:spPr>
          <a:xfrm>
            <a:off x="171212" y="1354667"/>
            <a:ext cx="6242723" cy="3624619"/>
          </a:xfrm>
          <a:prstGeom prst="rect">
            <a:avLst/>
          </a:prstGeom>
        </p:spPr>
      </p:pic>
      <p:pic>
        <p:nvPicPr>
          <p:cNvPr id="8" name="図 7">
            <a:extLst>
              <a:ext uri="{FF2B5EF4-FFF2-40B4-BE49-F238E27FC236}">
                <a16:creationId xmlns:a16="http://schemas.microsoft.com/office/drawing/2014/main" id="{F087E0B4-B828-581E-AB83-8D6A739C7D59}"/>
              </a:ext>
            </a:extLst>
          </p:cNvPr>
          <p:cNvPicPr>
            <a:picLocks noChangeAspect="1"/>
          </p:cNvPicPr>
          <p:nvPr/>
        </p:nvPicPr>
        <p:blipFill>
          <a:blip r:embed="rId3"/>
          <a:stretch>
            <a:fillRect/>
          </a:stretch>
        </p:blipFill>
        <p:spPr>
          <a:xfrm>
            <a:off x="171212" y="5006444"/>
            <a:ext cx="6242723" cy="1711856"/>
          </a:xfrm>
          <a:prstGeom prst="rect">
            <a:avLst/>
          </a:prstGeom>
        </p:spPr>
      </p:pic>
      <p:sp>
        <p:nvSpPr>
          <p:cNvPr id="10" name="テキスト ボックス 9">
            <a:extLst>
              <a:ext uri="{FF2B5EF4-FFF2-40B4-BE49-F238E27FC236}">
                <a16:creationId xmlns:a16="http://schemas.microsoft.com/office/drawing/2014/main" id="{A20F79BC-FE76-902A-7272-C76401B20B77}"/>
              </a:ext>
            </a:extLst>
          </p:cNvPr>
          <p:cNvSpPr txBox="1"/>
          <p:nvPr/>
        </p:nvSpPr>
        <p:spPr>
          <a:xfrm>
            <a:off x="254000" y="139700"/>
            <a:ext cx="2310248" cy="523220"/>
          </a:xfrm>
          <a:prstGeom prst="rect">
            <a:avLst/>
          </a:prstGeom>
          <a:noFill/>
        </p:spPr>
        <p:txBody>
          <a:bodyPr wrap="none" rtlCol="0">
            <a:spAutoFit/>
          </a:bodyPr>
          <a:lstStyle/>
          <a:p>
            <a:r>
              <a:rPr kumimoji="1" lang="ja-JP" altLang="en-US" sz="2800" b="1" dirty="0">
                <a:latin typeface="Meiryo UI" panose="020B0604030504040204" pitchFamily="50" charset="-128"/>
                <a:ea typeface="Meiryo UI" panose="020B0604030504040204" pitchFamily="50" charset="-128"/>
              </a:rPr>
              <a:t>請求書の発行</a:t>
            </a:r>
          </a:p>
        </p:txBody>
      </p:sp>
      <p:sp>
        <p:nvSpPr>
          <p:cNvPr id="12" name="正方形/長方形 11">
            <a:extLst>
              <a:ext uri="{FF2B5EF4-FFF2-40B4-BE49-F238E27FC236}">
                <a16:creationId xmlns:a16="http://schemas.microsoft.com/office/drawing/2014/main" id="{76578447-6937-9C49-3424-7265382E1A2B}"/>
              </a:ext>
            </a:extLst>
          </p:cNvPr>
          <p:cNvSpPr/>
          <p:nvPr/>
        </p:nvSpPr>
        <p:spPr>
          <a:xfrm>
            <a:off x="363314" y="662920"/>
            <a:ext cx="11547609" cy="5232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Meiryo UI" panose="020B0604030504040204" pitchFamily="50" charset="-128"/>
                <a:ea typeface="Meiryo UI" panose="020B0604030504040204" pitchFamily="50" charset="-128"/>
              </a:rPr>
              <a:t>案件詳細の請求タブで報酬金額や実費を入力し、請求書の発行が可能です。</a:t>
            </a:r>
          </a:p>
        </p:txBody>
      </p:sp>
      <p:sp>
        <p:nvSpPr>
          <p:cNvPr id="13" name="正方形/長方形 12">
            <a:extLst>
              <a:ext uri="{FF2B5EF4-FFF2-40B4-BE49-F238E27FC236}">
                <a16:creationId xmlns:a16="http://schemas.microsoft.com/office/drawing/2014/main" id="{067AC73C-2179-2A1B-9986-F859E264242A}"/>
              </a:ext>
            </a:extLst>
          </p:cNvPr>
          <p:cNvSpPr/>
          <p:nvPr/>
        </p:nvSpPr>
        <p:spPr>
          <a:xfrm>
            <a:off x="7175499" y="1950893"/>
            <a:ext cx="4178300" cy="68224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kumimoji="1" lang="ja-JP" altLang="en-US" sz="1200" dirty="0">
                <a:solidFill>
                  <a:schemeClr val="tx1"/>
                </a:solidFill>
                <a:latin typeface="Meiryo UI" panose="020B0604030504040204" pitchFamily="50" charset="-128"/>
                <a:ea typeface="Meiryo UI" panose="020B0604030504040204" pitchFamily="50" charset="-128"/>
              </a:rPr>
              <a:t>案件における請求パターンを選択</a:t>
            </a:r>
            <a:endParaRPr kumimoji="1" lang="en-US" altLang="ja-JP" sz="1200" dirty="0">
              <a:solidFill>
                <a:schemeClr val="tx1"/>
              </a:solidFill>
              <a:latin typeface="Meiryo UI" panose="020B0604030504040204" pitchFamily="50" charset="-128"/>
              <a:ea typeface="Meiryo UI" panose="020B0604030504040204" pitchFamily="50" charset="-128"/>
            </a:endParaRPr>
          </a:p>
        </p:txBody>
      </p:sp>
      <p:sp>
        <p:nvSpPr>
          <p:cNvPr id="14" name="楕円 13">
            <a:extLst>
              <a:ext uri="{FF2B5EF4-FFF2-40B4-BE49-F238E27FC236}">
                <a16:creationId xmlns:a16="http://schemas.microsoft.com/office/drawing/2014/main" id="{8EE75282-2610-810E-7770-0400756B087B}"/>
              </a:ext>
            </a:extLst>
          </p:cNvPr>
          <p:cNvSpPr/>
          <p:nvPr/>
        </p:nvSpPr>
        <p:spPr>
          <a:xfrm>
            <a:off x="6973663" y="1811221"/>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１</a:t>
            </a:r>
          </a:p>
        </p:txBody>
      </p:sp>
      <p:grpSp>
        <p:nvGrpSpPr>
          <p:cNvPr id="15" name="グループ化 14">
            <a:extLst>
              <a:ext uri="{FF2B5EF4-FFF2-40B4-BE49-F238E27FC236}">
                <a16:creationId xmlns:a16="http://schemas.microsoft.com/office/drawing/2014/main" id="{3C01EABD-FF6C-FBD8-C855-E6A807C2061E}"/>
              </a:ext>
            </a:extLst>
          </p:cNvPr>
          <p:cNvGrpSpPr/>
          <p:nvPr/>
        </p:nvGrpSpPr>
        <p:grpSpPr>
          <a:xfrm>
            <a:off x="7175499" y="1335338"/>
            <a:ext cx="4178300" cy="307777"/>
            <a:chOff x="7175500" y="1444823"/>
            <a:chExt cx="4178300" cy="307777"/>
          </a:xfrm>
        </p:grpSpPr>
        <p:cxnSp>
          <p:nvCxnSpPr>
            <p:cNvPr id="16" name="直線コネクタ 15">
              <a:extLst>
                <a:ext uri="{FF2B5EF4-FFF2-40B4-BE49-F238E27FC236}">
                  <a16:creationId xmlns:a16="http://schemas.microsoft.com/office/drawing/2014/main" id="{3F52667C-A1C1-7CAB-17A0-B6AEAEC913F2}"/>
                </a:ext>
              </a:extLst>
            </p:cNvPr>
            <p:cNvCxnSpPr/>
            <p:nvPr/>
          </p:nvCxnSpPr>
          <p:spPr>
            <a:xfrm>
              <a:off x="7175500" y="1752600"/>
              <a:ext cx="41783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7" name="テキスト ボックス 16">
              <a:extLst>
                <a:ext uri="{FF2B5EF4-FFF2-40B4-BE49-F238E27FC236}">
                  <a16:creationId xmlns:a16="http://schemas.microsoft.com/office/drawing/2014/main" id="{DBE22375-F266-9C32-993C-D7B1BA360E13}"/>
                </a:ext>
              </a:extLst>
            </p:cNvPr>
            <p:cNvSpPr txBox="1"/>
            <p:nvPr/>
          </p:nvSpPr>
          <p:spPr>
            <a:xfrm>
              <a:off x="8886982" y="1444823"/>
              <a:ext cx="755335" cy="307777"/>
            </a:xfrm>
            <a:prstGeom prst="rect">
              <a:avLst/>
            </a:prstGeom>
            <a:noFill/>
          </p:spPr>
          <p:txBody>
            <a:bodyPr wrap="none" rtlCol="0">
              <a:spAutoFit/>
            </a:bodyPr>
            <a:lstStyle/>
            <a:p>
              <a:pPr algn="l" fontAlgn="t"/>
              <a:r>
                <a:rPr kumimoji="1" lang="ja-JP" altLang="en-US" sz="1400" b="1" i="0" dirty="0">
                  <a:solidFill>
                    <a:srgbClr val="0B0B0B"/>
                  </a:solidFill>
                  <a:effectLst/>
                  <a:latin typeface="Meiryo UI" panose="020B0604030504040204" pitchFamily="50" charset="-128"/>
                  <a:ea typeface="Meiryo UI" panose="020B0604030504040204" pitchFamily="50" charset="-128"/>
                </a:rPr>
                <a:t>ポイント</a:t>
              </a:r>
            </a:p>
          </p:txBody>
        </p:sp>
      </p:grpSp>
      <p:sp>
        <p:nvSpPr>
          <p:cNvPr id="19" name="正方形/長方形 18">
            <a:extLst>
              <a:ext uri="{FF2B5EF4-FFF2-40B4-BE49-F238E27FC236}">
                <a16:creationId xmlns:a16="http://schemas.microsoft.com/office/drawing/2014/main" id="{CC071C80-072A-E19E-CBD4-8FE4DF5B62DE}"/>
              </a:ext>
            </a:extLst>
          </p:cNvPr>
          <p:cNvSpPr/>
          <p:nvPr/>
        </p:nvSpPr>
        <p:spPr>
          <a:xfrm>
            <a:off x="171212" y="3059909"/>
            <a:ext cx="6242723" cy="572291"/>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6CF65AA7-A276-03EA-F094-97F517B6AAAE}"/>
              </a:ext>
            </a:extLst>
          </p:cNvPr>
          <p:cNvSpPr/>
          <p:nvPr/>
        </p:nvSpPr>
        <p:spPr>
          <a:xfrm>
            <a:off x="171212" y="3659358"/>
            <a:ext cx="6242723" cy="1347086"/>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3FB09B09-6D50-7EF3-C5BB-C9B53BB9625E}"/>
              </a:ext>
            </a:extLst>
          </p:cNvPr>
          <p:cNvSpPr/>
          <p:nvPr/>
        </p:nvSpPr>
        <p:spPr>
          <a:xfrm>
            <a:off x="171211" y="5033602"/>
            <a:ext cx="6242723" cy="1684698"/>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BBC4AB3C-3E5E-9B63-7A11-98E1B861D39C}"/>
              </a:ext>
            </a:extLst>
          </p:cNvPr>
          <p:cNvSpPr/>
          <p:nvPr/>
        </p:nvSpPr>
        <p:spPr>
          <a:xfrm>
            <a:off x="7175499" y="2956884"/>
            <a:ext cx="4178300" cy="68224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kumimoji="1" lang="ja-JP" altLang="en-US" sz="1200" dirty="0">
                <a:solidFill>
                  <a:schemeClr val="tx1"/>
                </a:solidFill>
                <a:latin typeface="Meiryo UI" panose="020B0604030504040204" pitchFamily="50" charset="-128"/>
                <a:ea typeface="Meiryo UI" panose="020B0604030504040204" pitchFamily="50" charset="-128"/>
              </a:rPr>
              <a:t>行司それぞれにおける報酬金額および前受金額を入力</a:t>
            </a:r>
            <a:endParaRPr kumimoji="1" lang="en-US" altLang="ja-JP" sz="1200" dirty="0">
              <a:solidFill>
                <a:schemeClr val="tx1"/>
              </a:solidFill>
              <a:latin typeface="Meiryo UI" panose="020B0604030504040204" pitchFamily="50" charset="-128"/>
              <a:ea typeface="Meiryo UI" panose="020B0604030504040204" pitchFamily="50" charset="-128"/>
            </a:endParaRPr>
          </a:p>
        </p:txBody>
      </p:sp>
      <p:sp>
        <p:nvSpPr>
          <p:cNvPr id="23" name="楕円 22">
            <a:extLst>
              <a:ext uri="{FF2B5EF4-FFF2-40B4-BE49-F238E27FC236}">
                <a16:creationId xmlns:a16="http://schemas.microsoft.com/office/drawing/2014/main" id="{EB820FC2-D795-492C-0A17-809CDF5DF406}"/>
              </a:ext>
            </a:extLst>
          </p:cNvPr>
          <p:cNvSpPr/>
          <p:nvPr/>
        </p:nvSpPr>
        <p:spPr>
          <a:xfrm>
            <a:off x="6973663" y="2817212"/>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t>２</a:t>
            </a:r>
            <a:endParaRPr kumimoji="1" lang="ja-JP" altLang="en-US" b="1" dirty="0"/>
          </a:p>
        </p:txBody>
      </p:sp>
      <p:sp>
        <p:nvSpPr>
          <p:cNvPr id="24" name="正方形/長方形 23">
            <a:extLst>
              <a:ext uri="{FF2B5EF4-FFF2-40B4-BE49-F238E27FC236}">
                <a16:creationId xmlns:a16="http://schemas.microsoft.com/office/drawing/2014/main" id="{F85ACBB8-5EDF-FD78-8D50-64E6D650CCFF}"/>
              </a:ext>
            </a:extLst>
          </p:cNvPr>
          <p:cNvSpPr/>
          <p:nvPr/>
        </p:nvSpPr>
        <p:spPr>
          <a:xfrm>
            <a:off x="7175499" y="3937335"/>
            <a:ext cx="4178300" cy="68224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kumimoji="1" lang="ja-JP" altLang="en-US" sz="1200" dirty="0">
                <a:solidFill>
                  <a:schemeClr val="tx1"/>
                </a:solidFill>
                <a:latin typeface="Meiryo UI" panose="020B0604030504040204" pitchFamily="50" charset="-128"/>
                <a:ea typeface="Meiryo UI" panose="020B0604030504040204" pitchFamily="50" charset="-128"/>
              </a:rPr>
              <a:t>行司それぞれにおける立替実費を入力。作業進捗画面から自動取り込み可能。</a:t>
            </a:r>
            <a:r>
              <a:rPr kumimoji="1" lang="en-US" altLang="ja-JP" sz="1200" dirty="0">
                <a:solidFill>
                  <a:schemeClr val="tx1"/>
                </a:solidFill>
                <a:latin typeface="Meiryo UI" panose="020B0604030504040204" pitchFamily="50" charset="-128"/>
                <a:ea typeface="Meiryo UI" panose="020B0604030504040204" pitchFamily="50" charset="-128"/>
              </a:rPr>
              <a:t>※</a:t>
            </a:r>
            <a:r>
              <a:rPr lang="ja-JP" altLang="en-US" sz="1200" dirty="0">
                <a:solidFill>
                  <a:schemeClr val="tx1"/>
                </a:solidFill>
                <a:latin typeface="Meiryo UI" panose="020B0604030504040204" pitchFamily="50" charset="-128"/>
                <a:ea typeface="Meiryo UI" panose="020B0604030504040204" pitchFamily="50" charset="-128"/>
              </a:rPr>
              <a:t>後述</a:t>
            </a:r>
            <a:endParaRPr kumimoji="1" lang="en-US" altLang="ja-JP" sz="1200" dirty="0">
              <a:solidFill>
                <a:schemeClr val="tx1"/>
              </a:solidFill>
              <a:latin typeface="Meiryo UI" panose="020B0604030504040204" pitchFamily="50" charset="-128"/>
              <a:ea typeface="Meiryo UI" panose="020B0604030504040204" pitchFamily="50" charset="-128"/>
            </a:endParaRPr>
          </a:p>
        </p:txBody>
      </p:sp>
      <p:sp>
        <p:nvSpPr>
          <p:cNvPr id="25" name="楕円 24">
            <a:extLst>
              <a:ext uri="{FF2B5EF4-FFF2-40B4-BE49-F238E27FC236}">
                <a16:creationId xmlns:a16="http://schemas.microsoft.com/office/drawing/2014/main" id="{B7A9BA0F-5333-DF97-20A5-61450591FFF7}"/>
              </a:ext>
            </a:extLst>
          </p:cNvPr>
          <p:cNvSpPr/>
          <p:nvPr/>
        </p:nvSpPr>
        <p:spPr>
          <a:xfrm>
            <a:off x="6973663" y="3797663"/>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３</a:t>
            </a:r>
          </a:p>
        </p:txBody>
      </p:sp>
      <p:sp>
        <p:nvSpPr>
          <p:cNvPr id="26" name="楕円 25">
            <a:extLst>
              <a:ext uri="{FF2B5EF4-FFF2-40B4-BE49-F238E27FC236}">
                <a16:creationId xmlns:a16="http://schemas.microsoft.com/office/drawing/2014/main" id="{F463DDC1-DD0F-CE1A-5B47-20D8BD4F6C6C}"/>
              </a:ext>
            </a:extLst>
          </p:cNvPr>
          <p:cNvSpPr/>
          <p:nvPr/>
        </p:nvSpPr>
        <p:spPr>
          <a:xfrm>
            <a:off x="0" y="2828221"/>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１</a:t>
            </a:r>
          </a:p>
        </p:txBody>
      </p:sp>
      <p:sp>
        <p:nvSpPr>
          <p:cNvPr id="27" name="楕円 26">
            <a:extLst>
              <a:ext uri="{FF2B5EF4-FFF2-40B4-BE49-F238E27FC236}">
                <a16:creationId xmlns:a16="http://schemas.microsoft.com/office/drawing/2014/main" id="{45FD816B-551E-35D3-405F-5AAA22396727}"/>
              </a:ext>
            </a:extLst>
          </p:cNvPr>
          <p:cNvSpPr/>
          <p:nvPr/>
        </p:nvSpPr>
        <p:spPr>
          <a:xfrm>
            <a:off x="0" y="3514754"/>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t>２</a:t>
            </a:r>
            <a:endParaRPr kumimoji="1" lang="ja-JP" altLang="en-US" b="1" dirty="0"/>
          </a:p>
        </p:txBody>
      </p:sp>
      <p:sp>
        <p:nvSpPr>
          <p:cNvPr id="28" name="楕円 27">
            <a:extLst>
              <a:ext uri="{FF2B5EF4-FFF2-40B4-BE49-F238E27FC236}">
                <a16:creationId xmlns:a16="http://schemas.microsoft.com/office/drawing/2014/main" id="{B5810659-913A-450C-4E5E-F01F6F20DBDE}"/>
              </a:ext>
            </a:extLst>
          </p:cNvPr>
          <p:cNvSpPr/>
          <p:nvPr/>
        </p:nvSpPr>
        <p:spPr>
          <a:xfrm>
            <a:off x="10956" y="4699346"/>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３</a:t>
            </a:r>
          </a:p>
        </p:txBody>
      </p:sp>
      <p:sp>
        <p:nvSpPr>
          <p:cNvPr id="29" name="正方形/長方形 28">
            <a:extLst>
              <a:ext uri="{FF2B5EF4-FFF2-40B4-BE49-F238E27FC236}">
                <a16:creationId xmlns:a16="http://schemas.microsoft.com/office/drawing/2014/main" id="{F88B1054-AC8E-D698-B743-E76CCF87A536}"/>
              </a:ext>
            </a:extLst>
          </p:cNvPr>
          <p:cNvSpPr/>
          <p:nvPr/>
        </p:nvSpPr>
        <p:spPr>
          <a:xfrm>
            <a:off x="3739478" y="2203152"/>
            <a:ext cx="1780790" cy="269116"/>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a:extLst>
              <a:ext uri="{FF2B5EF4-FFF2-40B4-BE49-F238E27FC236}">
                <a16:creationId xmlns:a16="http://schemas.microsoft.com/office/drawing/2014/main" id="{1477C9DF-F421-CCED-55AD-80ED8C283560}"/>
              </a:ext>
            </a:extLst>
          </p:cNvPr>
          <p:cNvSpPr/>
          <p:nvPr/>
        </p:nvSpPr>
        <p:spPr>
          <a:xfrm>
            <a:off x="5520268" y="2197155"/>
            <a:ext cx="893666" cy="296274"/>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楕円 30">
            <a:extLst>
              <a:ext uri="{FF2B5EF4-FFF2-40B4-BE49-F238E27FC236}">
                <a16:creationId xmlns:a16="http://schemas.microsoft.com/office/drawing/2014/main" id="{205B8A9E-C5D3-85BB-851B-F70BBD651ED7}"/>
              </a:ext>
            </a:extLst>
          </p:cNvPr>
          <p:cNvSpPr/>
          <p:nvPr/>
        </p:nvSpPr>
        <p:spPr>
          <a:xfrm>
            <a:off x="3452036" y="1945974"/>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t>４</a:t>
            </a:r>
            <a:endParaRPr kumimoji="1" lang="ja-JP" altLang="en-US" b="1" dirty="0"/>
          </a:p>
        </p:txBody>
      </p:sp>
      <p:sp>
        <p:nvSpPr>
          <p:cNvPr id="32" name="楕円 31">
            <a:extLst>
              <a:ext uri="{FF2B5EF4-FFF2-40B4-BE49-F238E27FC236}">
                <a16:creationId xmlns:a16="http://schemas.microsoft.com/office/drawing/2014/main" id="{5360F3A0-6444-24AC-8762-3ADFE81F008E}"/>
              </a:ext>
            </a:extLst>
          </p:cNvPr>
          <p:cNvSpPr/>
          <p:nvPr/>
        </p:nvSpPr>
        <p:spPr>
          <a:xfrm>
            <a:off x="5361593" y="1888344"/>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５</a:t>
            </a:r>
          </a:p>
        </p:txBody>
      </p:sp>
      <p:sp>
        <p:nvSpPr>
          <p:cNvPr id="33" name="正方形/長方形 32">
            <a:extLst>
              <a:ext uri="{FF2B5EF4-FFF2-40B4-BE49-F238E27FC236}">
                <a16:creationId xmlns:a16="http://schemas.microsoft.com/office/drawing/2014/main" id="{D81C1EBA-34A0-6367-050C-38C37317CBCC}"/>
              </a:ext>
            </a:extLst>
          </p:cNvPr>
          <p:cNvSpPr/>
          <p:nvPr/>
        </p:nvSpPr>
        <p:spPr>
          <a:xfrm>
            <a:off x="7175499" y="4893499"/>
            <a:ext cx="4178300" cy="68224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kumimoji="1" lang="ja-JP" altLang="en-US" sz="1200" dirty="0">
                <a:solidFill>
                  <a:schemeClr val="tx1"/>
                </a:solidFill>
                <a:latin typeface="Meiryo UI" panose="020B0604030504040204" pitchFamily="50" charset="-128"/>
                <a:ea typeface="Meiryo UI" panose="020B0604030504040204" pitchFamily="50" charset="-128"/>
              </a:rPr>
              <a:t>入力した料金を基に前受金請求書、確定請求＋立替実費の請求書を自動発行可能</a:t>
            </a:r>
            <a:endParaRPr kumimoji="1" lang="en-US" altLang="ja-JP" sz="1200" dirty="0">
              <a:solidFill>
                <a:schemeClr val="tx1"/>
              </a:solidFill>
              <a:latin typeface="Meiryo UI" panose="020B0604030504040204" pitchFamily="50" charset="-128"/>
              <a:ea typeface="Meiryo UI" panose="020B0604030504040204" pitchFamily="50" charset="-128"/>
            </a:endParaRPr>
          </a:p>
        </p:txBody>
      </p:sp>
      <p:sp>
        <p:nvSpPr>
          <p:cNvPr id="34" name="楕円 33">
            <a:extLst>
              <a:ext uri="{FF2B5EF4-FFF2-40B4-BE49-F238E27FC236}">
                <a16:creationId xmlns:a16="http://schemas.microsoft.com/office/drawing/2014/main" id="{79B1D9E0-D6F7-9343-2452-8CD230139518}"/>
              </a:ext>
            </a:extLst>
          </p:cNvPr>
          <p:cNvSpPr/>
          <p:nvPr/>
        </p:nvSpPr>
        <p:spPr>
          <a:xfrm>
            <a:off x="6973663" y="4753827"/>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t>４</a:t>
            </a:r>
            <a:endParaRPr kumimoji="1" lang="ja-JP" altLang="en-US" b="1" dirty="0"/>
          </a:p>
        </p:txBody>
      </p:sp>
      <p:sp>
        <p:nvSpPr>
          <p:cNvPr id="35" name="正方形/長方形 34">
            <a:extLst>
              <a:ext uri="{FF2B5EF4-FFF2-40B4-BE49-F238E27FC236}">
                <a16:creationId xmlns:a16="http://schemas.microsoft.com/office/drawing/2014/main" id="{340C561B-E314-5327-EE2B-10F4A87015E3}"/>
              </a:ext>
            </a:extLst>
          </p:cNvPr>
          <p:cNvSpPr/>
          <p:nvPr/>
        </p:nvSpPr>
        <p:spPr>
          <a:xfrm>
            <a:off x="7175499" y="5849663"/>
            <a:ext cx="4178300" cy="68224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kumimoji="1" lang="ja-JP" altLang="en-US" sz="1200" dirty="0">
                <a:solidFill>
                  <a:schemeClr val="tx1"/>
                </a:solidFill>
                <a:latin typeface="Meiryo UI" panose="020B0604030504040204" pitchFamily="50" charset="-128"/>
                <a:ea typeface="Meiryo UI" panose="020B0604030504040204" pitchFamily="50" charset="-128"/>
              </a:rPr>
              <a:t>司法書士の確定請求書は、相続のチカラで出力した請求書</a:t>
            </a:r>
            <a:r>
              <a:rPr kumimoji="1" lang="en-US" altLang="ja-JP" sz="1200" dirty="0">
                <a:solidFill>
                  <a:schemeClr val="tx1"/>
                </a:solidFill>
                <a:latin typeface="Meiryo UI" panose="020B0604030504040204" pitchFamily="50" charset="-128"/>
                <a:ea typeface="Meiryo UI" panose="020B0604030504040204" pitchFamily="50" charset="-128"/>
              </a:rPr>
              <a:t>PDF</a:t>
            </a:r>
            <a:r>
              <a:rPr kumimoji="1" lang="ja-JP" altLang="en-US" sz="1200" dirty="0">
                <a:solidFill>
                  <a:schemeClr val="tx1"/>
                </a:solidFill>
                <a:latin typeface="Meiryo UI" panose="020B0604030504040204" pitchFamily="50" charset="-128"/>
                <a:ea typeface="Meiryo UI" panose="020B0604030504040204" pitchFamily="50" charset="-128"/>
              </a:rPr>
              <a:t>を読込自動入力可能</a:t>
            </a:r>
            <a:endParaRPr kumimoji="1" lang="en-US" altLang="ja-JP" sz="1200" dirty="0">
              <a:solidFill>
                <a:schemeClr val="tx1"/>
              </a:solidFill>
              <a:latin typeface="Meiryo UI" panose="020B0604030504040204" pitchFamily="50" charset="-128"/>
              <a:ea typeface="Meiryo UI" panose="020B0604030504040204" pitchFamily="50" charset="-128"/>
            </a:endParaRPr>
          </a:p>
        </p:txBody>
      </p:sp>
      <p:sp>
        <p:nvSpPr>
          <p:cNvPr id="36" name="楕円 35">
            <a:extLst>
              <a:ext uri="{FF2B5EF4-FFF2-40B4-BE49-F238E27FC236}">
                <a16:creationId xmlns:a16="http://schemas.microsoft.com/office/drawing/2014/main" id="{CA469B98-C42D-400F-DAD2-33CFA0CC924B}"/>
              </a:ext>
            </a:extLst>
          </p:cNvPr>
          <p:cNvSpPr/>
          <p:nvPr/>
        </p:nvSpPr>
        <p:spPr>
          <a:xfrm>
            <a:off x="6973663" y="5709991"/>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t>５</a:t>
            </a:r>
            <a:endParaRPr kumimoji="1" lang="ja-JP" altLang="en-US" b="1" dirty="0"/>
          </a:p>
        </p:txBody>
      </p:sp>
    </p:spTree>
    <p:extLst>
      <p:ext uri="{BB962C8B-B14F-4D97-AF65-F5344CB8AC3E}">
        <p14:creationId xmlns:p14="http://schemas.microsoft.com/office/powerpoint/2010/main" val="2011336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B8FAFE51-6FE8-F8B8-A9C0-962F79CA088C}"/>
              </a:ext>
            </a:extLst>
          </p:cNvPr>
          <p:cNvSpPr>
            <a:spLocks noGrp="1"/>
          </p:cNvSpPr>
          <p:nvPr>
            <p:ph type="sldNum" sz="quarter" idx="12"/>
          </p:nvPr>
        </p:nvSpPr>
        <p:spPr/>
        <p:txBody>
          <a:bodyPr/>
          <a:lstStyle/>
          <a:p>
            <a:fld id="{F4EC9C95-8009-4180-AAA8-5F6B382748D2}" type="slidenum">
              <a:rPr kumimoji="1" lang="ja-JP" altLang="en-US" smtClean="0"/>
              <a:t>3</a:t>
            </a:fld>
            <a:endParaRPr kumimoji="1" lang="ja-JP" altLang="en-US"/>
          </a:p>
        </p:txBody>
      </p:sp>
      <p:pic>
        <p:nvPicPr>
          <p:cNvPr id="6" name="図 5">
            <a:extLst>
              <a:ext uri="{FF2B5EF4-FFF2-40B4-BE49-F238E27FC236}">
                <a16:creationId xmlns:a16="http://schemas.microsoft.com/office/drawing/2014/main" id="{88140393-4671-A427-1FA8-1BEFD69C0D56}"/>
              </a:ext>
            </a:extLst>
          </p:cNvPr>
          <p:cNvPicPr>
            <a:picLocks noChangeAspect="1"/>
          </p:cNvPicPr>
          <p:nvPr/>
        </p:nvPicPr>
        <p:blipFill>
          <a:blip r:embed="rId2"/>
          <a:stretch>
            <a:fillRect/>
          </a:stretch>
        </p:blipFill>
        <p:spPr>
          <a:xfrm>
            <a:off x="321734" y="1370966"/>
            <a:ext cx="9565533" cy="4411767"/>
          </a:xfrm>
          <a:prstGeom prst="rect">
            <a:avLst/>
          </a:prstGeom>
        </p:spPr>
      </p:pic>
      <p:sp>
        <p:nvSpPr>
          <p:cNvPr id="8" name="テキスト ボックス 7">
            <a:extLst>
              <a:ext uri="{FF2B5EF4-FFF2-40B4-BE49-F238E27FC236}">
                <a16:creationId xmlns:a16="http://schemas.microsoft.com/office/drawing/2014/main" id="{5680404C-7924-4489-0E33-6DB894D9184F}"/>
              </a:ext>
            </a:extLst>
          </p:cNvPr>
          <p:cNvSpPr txBox="1"/>
          <p:nvPr/>
        </p:nvSpPr>
        <p:spPr>
          <a:xfrm>
            <a:off x="254000" y="139700"/>
            <a:ext cx="4392549" cy="523220"/>
          </a:xfrm>
          <a:prstGeom prst="rect">
            <a:avLst/>
          </a:prstGeom>
          <a:noFill/>
        </p:spPr>
        <p:txBody>
          <a:bodyPr wrap="none" rtlCol="0">
            <a:spAutoFit/>
          </a:bodyPr>
          <a:lstStyle/>
          <a:p>
            <a:r>
              <a:rPr kumimoji="1" lang="ja-JP" altLang="en-US" sz="2800" b="1" dirty="0">
                <a:latin typeface="Meiryo UI" panose="020B0604030504040204" pitchFamily="50" charset="-128"/>
                <a:ea typeface="Meiryo UI" panose="020B0604030504040204" pitchFamily="50" charset="-128"/>
              </a:rPr>
              <a:t>請求ステータスを入金待ちに</a:t>
            </a:r>
          </a:p>
        </p:txBody>
      </p:sp>
      <p:sp>
        <p:nvSpPr>
          <p:cNvPr id="10" name="正方形/長方形 9">
            <a:extLst>
              <a:ext uri="{FF2B5EF4-FFF2-40B4-BE49-F238E27FC236}">
                <a16:creationId xmlns:a16="http://schemas.microsoft.com/office/drawing/2014/main" id="{28920E8B-FC64-B987-D36F-BB433306F806}"/>
              </a:ext>
            </a:extLst>
          </p:cNvPr>
          <p:cNvSpPr/>
          <p:nvPr/>
        </p:nvSpPr>
        <p:spPr>
          <a:xfrm>
            <a:off x="363314" y="662920"/>
            <a:ext cx="11547609" cy="5232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Meiryo UI" panose="020B0604030504040204" pitchFamily="50" charset="-128"/>
                <a:ea typeface="Meiryo UI" panose="020B0604030504040204" pitchFamily="50" charset="-128"/>
              </a:rPr>
              <a:t>請求書を発行すると、メインメニューの請求・入金管理ページに新規請求レコードとして追加されます。請求書をお客様に送付した後、手動でステータスを入金待ちに変更してます。</a:t>
            </a:r>
          </a:p>
        </p:txBody>
      </p:sp>
      <p:sp>
        <p:nvSpPr>
          <p:cNvPr id="12" name="正方形/長方形 11">
            <a:extLst>
              <a:ext uri="{FF2B5EF4-FFF2-40B4-BE49-F238E27FC236}">
                <a16:creationId xmlns:a16="http://schemas.microsoft.com/office/drawing/2014/main" id="{E1F7C67F-A23C-0C29-28F8-E4911174C03D}"/>
              </a:ext>
            </a:extLst>
          </p:cNvPr>
          <p:cNvSpPr/>
          <p:nvPr/>
        </p:nvSpPr>
        <p:spPr>
          <a:xfrm>
            <a:off x="433679" y="3745710"/>
            <a:ext cx="9453588" cy="479158"/>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A1361601-F08E-332F-80F2-DF701C9BD1F3}"/>
              </a:ext>
            </a:extLst>
          </p:cNvPr>
          <p:cNvSpPr/>
          <p:nvPr/>
        </p:nvSpPr>
        <p:spPr>
          <a:xfrm>
            <a:off x="7907867" y="3886200"/>
            <a:ext cx="618066" cy="194733"/>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1D0BD885-13D9-06CD-A377-BFE256E7DE56}"/>
              </a:ext>
            </a:extLst>
          </p:cNvPr>
          <p:cNvSpPr/>
          <p:nvPr/>
        </p:nvSpPr>
        <p:spPr>
          <a:xfrm>
            <a:off x="7691966" y="4524760"/>
            <a:ext cx="4178300" cy="6822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kumimoji="1" lang="ja-JP" altLang="en-US" sz="1200" dirty="0">
                <a:solidFill>
                  <a:schemeClr val="tx1"/>
                </a:solidFill>
                <a:latin typeface="Meiryo UI" panose="020B0604030504040204" pitchFamily="50" charset="-128"/>
                <a:ea typeface="Meiryo UI" panose="020B0604030504040204" pitchFamily="50" charset="-128"/>
              </a:rPr>
              <a:t>請求書送付後、手動で入金待ちに変更</a:t>
            </a:r>
            <a:endParaRPr kumimoji="1" lang="en-US" altLang="ja-JP" sz="1200" dirty="0">
              <a:solidFill>
                <a:schemeClr val="tx1"/>
              </a:solidFill>
              <a:latin typeface="Meiryo UI" panose="020B0604030504040204" pitchFamily="50" charset="-128"/>
              <a:ea typeface="Meiryo UI" panose="020B0604030504040204" pitchFamily="50" charset="-128"/>
            </a:endParaRPr>
          </a:p>
        </p:txBody>
      </p:sp>
      <p:sp>
        <p:nvSpPr>
          <p:cNvPr id="17" name="楕円 16">
            <a:extLst>
              <a:ext uri="{FF2B5EF4-FFF2-40B4-BE49-F238E27FC236}">
                <a16:creationId xmlns:a16="http://schemas.microsoft.com/office/drawing/2014/main" id="{367DFDFD-E2A4-FC1E-A617-BC02B4C93636}"/>
              </a:ext>
            </a:extLst>
          </p:cNvPr>
          <p:cNvSpPr/>
          <p:nvPr/>
        </p:nvSpPr>
        <p:spPr>
          <a:xfrm>
            <a:off x="7504195" y="4365358"/>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１</a:t>
            </a:r>
          </a:p>
        </p:txBody>
      </p:sp>
    </p:spTree>
    <p:extLst>
      <p:ext uri="{BB962C8B-B14F-4D97-AF65-F5344CB8AC3E}">
        <p14:creationId xmlns:p14="http://schemas.microsoft.com/office/powerpoint/2010/main" val="11409750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0AD6C-8986-92AF-D72A-C10D55FBDBB0}"/>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39EB5CEA-3F3E-5E05-BC0D-944A3933070A}"/>
              </a:ext>
            </a:extLst>
          </p:cNvPr>
          <p:cNvSpPr>
            <a:spLocks noGrp="1"/>
          </p:cNvSpPr>
          <p:nvPr>
            <p:ph type="sldNum" sz="quarter" idx="12"/>
          </p:nvPr>
        </p:nvSpPr>
        <p:spPr/>
        <p:txBody>
          <a:bodyPr/>
          <a:lstStyle/>
          <a:p>
            <a:fld id="{F4EC9C95-8009-4180-AAA8-5F6B382748D2}" type="slidenum">
              <a:rPr kumimoji="1" lang="ja-JP" altLang="en-US" smtClean="0"/>
              <a:t>4</a:t>
            </a:fld>
            <a:endParaRPr kumimoji="1" lang="ja-JP" altLang="en-US"/>
          </a:p>
        </p:txBody>
      </p:sp>
      <p:sp>
        <p:nvSpPr>
          <p:cNvPr id="8" name="テキスト ボックス 7">
            <a:extLst>
              <a:ext uri="{FF2B5EF4-FFF2-40B4-BE49-F238E27FC236}">
                <a16:creationId xmlns:a16="http://schemas.microsoft.com/office/drawing/2014/main" id="{9F5429E8-47CC-2D80-D4DA-1828BE197C3E}"/>
              </a:ext>
            </a:extLst>
          </p:cNvPr>
          <p:cNvSpPr txBox="1"/>
          <p:nvPr/>
        </p:nvSpPr>
        <p:spPr>
          <a:xfrm>
            <a:off x="254000" y="139700"/>
            <a:ext cx="4392549" cy="523220"/>
          </a:xfrm>
          <a:prstGeom prst="rect">
            <a:avLst/>
          </a:prstGeom>
          <a:noFill/>
        </p:spPr>
        <p:txBody>
          <a:bodyPr wrap="none" rtlCol="0">
            <a:spAutoFit/>
          </a:bodyPr>
          <a:lstStyle/>
          <a:p>
            <a:r>
              <a:rPr kumimoji="1" lang="ja-JP" altLang="en-US" sz="2800" b="1" dirty="0">
                <a:latin typeface="Meiryo UI" panose="020B0604030504040204" pitchFamily="50" charset="-128"/>
                <a:ea typeface="Meiryo UI" panose="020B0604030504040204" pitchFamily="50" charset="-128"/>
              </a:rPr>
              <a:t>請求ステータスを入金待ちに</a:t>
            </a:r>
          </a:p>
        </p:txBody>
      </p:sp>
      <p:sp>
        <p:nvSpPr>
          <p:cNvPr id="10" name="正方形/長方形 9">
            <a:extLst>
              <a:ext uri="{FF2B5EF4-FFF2-40B4-BE49-F238E27FC236}">
                <a16:creationId xmlns:a16="http://schemas.microsoft.com/office/drawing/2014/main" id="{C7722D2D-565C-C02E-3354-729A0166B1BD}"/>
              </a:ext>
            </a:extLst>
          </p:cNvPr>
          <p:cNvSpPr/>
          <p:nvPr/>
        </p:nvSpPr>
        <p:spPr>
          <a:xfrm>
            <a:off x="363314" y="662920"/>
            <a:ext cx="11547609" cy="5232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Meiryo UI" panose="020B0604030504040204" pitchFamily="50" charset="-128"/>
                <a:ea typeface="Meiryo UI" panose="020B0604030504040204" pitchFamily="50" charset="-128"/>
              </a:rPr>
              <a:t>経理担当者は銀行の入金明細</a:t>
            </a:r>
            <a:r>
              <a:rPr lang="en-US" altLang="ja-JP" sz="1400" b="1" dirty="0">
                <a:solidFill>
                  <a:schemeClr val="tx1"/>
                </a:solidFill>
                <a:latin typeface="Meiryo UI" panose="020B0604030504040204" pitchFamily="50" charset="-128"/>
                <a:ea typeface="Meiryo UI" panose="020B0604030504040204" pitchFamily="50" charset="-128"/>
              </a:rPr>
              <a:t>CSV</a:t>
            </a:r>
            <a:r>
              <a:rPr lang="ja-JP" altLang="en-US" sz="1400" b="1" dirty="0">
                <a:solidFill>
                  <a:schemeClr val="tx1"/>
                </a:solidFill>
                <a:latin typeface="Meiryo UI" panose="020B0604030504040204" pitchFamily="50" charset="-128"/>
                <a:ea typeface="Meiryo UI" panose="020B0604030504040204" pitchFamily="50" charset="-128"/>
              </a:rPr>
              <a:t>をアップロードすることで、入金待ちの請求レコードと入金明細の自動照合が可能</a:t>
            </a:r>
          </a:p>
        </p:txBody>
      </p:sp>
      <p:sp>
        <p:nvSpPr>
          <p:cNvPr id="15" name="正方形/長方形 14">
            <a:extLst>
              <a:ext uri="{FF2B5EF4-FFF2-40B4-BE49-F238E27FC236}">
                <a16:creationId xmlns:a16="http://schemas.microsoft.com/office/drawing/2014/main" id="{DFD1DC06-4500-B248-3E75-58AAE2B6FDCD}"/>
              </a:ext>
            </a:extLst>
          </p:cNvPr>
          <p:cNvSpPr/>
          <p:nvPr/>
        </p:nvSpPr>
        <p:spPr>
          <a:xfrm>
            <a:off x="7115995" y="1991668"/>
            <a:ext cx="4178300" cy="6822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kumimoji="1" lang="ja-JP" altLang="en-US" sz="1200" dirty="0">
                <a:solidFill>
                  <a:schemeClr val="tx1"/>
                </a:solidFill>
                <a:latin typeface="Meiryo UI" panose="020B0604030504040204" pitchFamily="50" charset="-128"/>
                <a:ea typeface="Meiryo UI" panose="020B0604030504040204" pitchFamily="50" charset="-128"/>
              </a:rPr>
              <a:t>経理担当者は銀行の入金明細</a:t>
            </a:r>
            <a:r>
              <a:rPr kumimoji="1" lang="en-US" altLang="ja-JP" sz="1200" dirty="0">
                <a:solidFill>
                  <a:schemeClr val="tx1"/>
                </a:solidFill>
                <a:latin typeface="Meiryo UI" panose="020B0604030504040204" pitchFamily="50" charset="-128"/>
                <a:ea typeface="Meiryo UI" panose="020B0604030504040204" pitchFamily="50" charset="-128"/>
              </a:rPr>
              <a:t>CSV</a:t>
            </a:r>
            <a:r>
              <a:rPr kumimoji="1" lang="ja-JP" altLang="en-US" sz="1200" dirty="0">
                <a:solidFill>
                  <a:schemeClr val="tx1"/>
                </a:solidFill>
                <a:latin typeface="Meiryo UI" panose="020B0604030504040204" pitchFamily="50" charset="-128"/>
                <a:ea typeface="Meiryo UI" panose="020B0604030504040204" pitchFamily="50" charset="-128"/>
              </a:rPr>
              <a:t>をアップロードすることで、入金待ちの請求レコードと入金明細の自動照合が可能</a:t>
            </a:r>
            <a:endParaRPr kumimoji="1" lang="en-US" altLang="ja-JP" sz="1200" dirty="0">
              <a:solidFill>
                <a:schemeClr val="tx1"/>
              </a:solidFill>
              <a:latin typeface="Meiryo UI" panose="020B0604030504040204" pitchFamily="50" charset="-128"/>
              <a:ea typeface="Meiryo UI" panose="020B0604030504040204" pitchFamily="50" charset="-128"/>
            </a:endParaRPr>
          </a:p>
        </p:txBody>
      </p:sp>
      <p:sp>
        <p:nvSpPr>
          <p:cNvPr id="17" name="楕円 16">
            <a:extLst>
              <a:ext uri="{FF2B5EF4-FFF2-40B4-BE49-F238E27FC236}">
                <a16:creationId xmlns:a16="http://schemas.microsoft.com/office/drawing/2014/main" id="{6459A9E4-BD3A-F067-4BAE-9258F8140D7A}"/>
              </a:ext>
            </a:extLst>
          </p:cNvPr>
          <p:cNvSpPr/>
          <p:nvPr/>
        </p:nvSpPr>
        <p:spPr>
          <a:xfrm>
            <a:off x="6928224" y="1832266"/>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１</a:t>
            </a:r>
          </a:p>
        </p:txBody>
      </p:sp>
      <p:pic>
        <p:nvPicPr>
          <p:cNvPr id="3" name="図 2">
            <a:extLst>
              <a:ext uri="{FF2B5EF4-FFF2-40B4-BE49-F238E27FC236}">
                <a16:creationId xmlns:a16="http://schemas.microsoft.com/office/drawing/2014/main" id="{D368383F-A5F1-4F16-82CD-92A1E7DC9AF4}"/>
              </a:ext>
            </a:extLst>
          </p:cNvPr>
          <p:cNvPicPr>
            <a:picLocks noChangeAspect="1"/>
          </p:cNvPicPr>
          <p:nvPr/>
        </p:nvPicPr>
        <p:blipFill>
          <a:blip r:embed="rId2"/>
          <a:stretch>
            <a:fillRect/>
          </a:stretch>
        </p:blipFill>
        <p:spPr>
          <a:xfrm>
            <a:off x="433679" y="1709360"/>
            <a:ext cx="5808133" cy="1316835"/>
          </a:xfrm>
          <a:prstGeom prst="rect">
            <a:avLst/>
          </a:prstGeom>
        </p:spPr>
      </p:pic>
      <p:pic>
        <p:nvPicPr>
          <p:cNvPr id="7" name="図 6">
            <a:extLst>
              <a:ext uri="{FF2B5EF4-FFF2-40B4-BE49-F238E27FC236}">
                <a16:creationId xmlns:a16="http://schemas.microsoft.com/office/drawing/2014/main" id="{7B1A95AB-87AC-372E-9360-E91B15AAF404}"/>
              </a:ext>
            </a:extLst>
          </p:cNvPr>
          <p:cNvPicPr>
            <a:picLocks noChangeAspect="1"/>
          </p:cNvPicPr>
          <p:nvPr/>
        </p:nvPicPr>
        <p:blipFill>
          <a:blip r:embed="rId3"/>
          <a:stretch>
            <a:fillRect/>
          </a:stretch>
        </p:blipFill>
        <p:spPr>
          <a:xfrm>
            <a:off x="433679" y="3378335"/>
            <a:ext cx="5044254" cy="3160577"/>
          </a:xfrm>
          <a:prstGeom prst="rect">
            <a:avLst/>
          </a:prstGeom>
        </p:spPr>
      </p:pic>
      <p:sp>
        <p:nvSpPr>
          <p:cNvPr id="12" name="正方形/長方形 11">
            <a:extLst>
              <a:ext uri="{FF2B5EF4-FFF2-40B4-BE49-F238E27FC236}">
                <a16:creationId xmlns:a16="http://schemas.microsoft.com/office/drawing/2014/main" id="{4BFE2D9F-4CA4-0DD9-453F-E79EB686A58D}"/>
              </a:ext>
            </a:extLst>
          </p:cNvPr>
          <p:cNvSpPr/>
          <p:nvPr/>
        </p:nvSpPr>
        <p:spPr>
          <a:xfrm>
            <a:off x="4819412" y="1888619"/>
            <a:ext cx="573855" cy="270381"/>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4F6341B6-24A6-4491-2749-C6FA1DA2B4DD}"/>
              </a:ext>
            </a:extLst>
          </p:cNvPr>
          <p:cNvSpPr/>
          <p:nvPr/>
        </p:nvSpPr>
        <p:spPr>
          <a:xfrm>
            <a:off x="469424" y="3643904"/>
            <a:ext cx="5044254" cy="464720"/>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4" name="図 13">
            <a:extLst>
              <a:ext uri="{FF2B5EF4-FFF2-40B4-BE49-F238E27FC236}">
                <a16:creationId xmlns:a16="http://schemas.microsoft.com/office/drawing/2014/main" id="{BB0AED19-4EAB-79EC-AF90-24BCEB1771E0}"/>
              </a:ext>
            </a:extLst>
          </p:cNvPr>
          <p:cNvPicPr>
            <a:picLocks noChangeAspect="1"/>
          </p:cNvPicPr>
          <p:nvPr/>
        </p:nvPicPr>
        <p:blipFill>
          <a:blip r:embed="rId4"/>
          <a:stretch>
            <a:fillRect/>
          </a:stretch>
        </p:blipFill>
        <p:spPr>
          <a:xfrm>
            <a:off x="1007534" y="3184271"/>
            <a:ext cx="615982" cy="730288"/>
          </a:xfrm>
          <a:prstGeom prst="rect">
            <a:avLst/>
          </a:prstGeom>
        </p:spPr>
      </p:pic>
      <p:sp>
        <p:nvSpPr>
          <p:cNvPr id="16" name="楕円 15">
            <a:extLst>
              <a:ext uri="{FF2B5EF4-FFF2-40B4-BE49-F238E27FC236}">
                <a16:creationId xmlns:a16="http://schemas.microsoft.com/office/drawing/2014/main" id="{4BCB6F3F-A0EB-F1A7-80E3-27662B6A2023}"/>
              </a:ext>
            </a:extLst>
          </p:cNvPr>
          <p:cNvSpPr/>
          <p:nvPr/>
        </p:nvSpPr>
        <p:spPr>
          <a:xfrm>
            <a:off x="4617576" y="1637875"/>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t>1</a:t>
            </a:r>
            <a:endParaRPr kumimoji="1" lang="ja-JP" altLang="en-US" b="1" dirty="0"/>
          </a:p>
        </p:txBody>
      </p:sp>
      <p:sp>
        <p:nvSpPr>
          <p:cNvPr id="19" name="正方形/長方形 18">
            <a:extLst>
              <a:ext uri="{FF2B5EF4-FFF2-40B4-BE49-F238E27FC236}">
                <a16:creationId xmlns:a16="http://schemas.microsoft.com/office/drawing/2014/main" id="{592D8602-537E-6BCE-B7A8-054B8C31797C}"/>
              </a:ext>
            </a:extLst>
          </p:cNvPr>
          <p:cNvSpPr/>
          <p:nvPr/>
        </p:nvSpPr>
        <p:spPr>
          <a:xfrm>
            <a:off x="7115995" y="3232319"/>
            <a:ext cx="4178300" cy="6822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kumimoji="1" lang="ja-JP" altLang="en-US" sz="1200" dirty="0">
                <a:solidFill>
                  <a:schemeClr val="tx1"/>
                </a:solidFill>
                <a:latin typeface="Meiryo UI" panose="020B0604030504040204" pitchFamily="50" charset="-128"/>
                <a:ea typeface="Meiryo UI" panose="020B0604030504040204" pitchFamily="50" charset="-128"/>
              </a:rPr>
              <a:t>突合の結果、要確認になったものについては、管理担当</a:t>
            </a:r>
            <a:r>
              <a:rPr kumimoji="1" lang="en-US" altLang="ja-JP" sz="1200" dirty="0">
                <a:solidFill>
                  <a:schemeClr val="tx1"/>
                </a:solidFill>
                <a:latin typeface="Meiryo UI" panose="020B0604030504040204" pitchFamily="50" charset="-128"/>
                <a:ea typeface="Meiryo UI" panose="020B0604030504040204" pitchFamily="50" charset="-128"/>
              </a:rPr>
              <a:t>/</a:t>
            </a:r>
            <a:r>
              <a:rPr kumimoji="1" lang="ja-JP" altLang="en-US" sz="1200" dirty="0">
                <a:solidFill>
                  <a:schemeClr val="tx1"/>
                </a:solidFill>
                <a:latin typeface="Meiryo UI" panose="020B0604030504040204" pitchFamily="50" charset="-128"/>
                <a:ea typeface="Meiryo UI" panose="020B0604030504040204" pitchFamily="50" charset="-128"/>
              </a:rPr>
              <a:t>受注担当に通知を飛ばし、入金内容が正しいかどうかの確認が可能</a:t>
            </a:r>
            <a:endParaRPr kumimoji="1" lang="en-US" altLang="ja-JP" sz="1200" dirty="0">
              <a:solidFill>
                <a:schemeClr val="tx1"/>
              </a:solidFill>
              <a:latin typeface="Meiryo UI" panose="020B0604030504040204" pitchFamily="50" charset="-128"/>
              <a:ea typeface="Meiryo UI" panose="020B0604030504040204" pitchFamily="50" charset="-128"/>
            </a:endParaRPr>
          </a:p>
        </p:txBody>
      </p:sp>
      <p:sp>
        <p:nvSpPr>
          <p:cNvPr id="20" name="楕円 19">
            <a:extLst>
              <a:ext uri="{FF2B5EF4-FFF2-40B4-BE49-F238E27FC236}">
                <a16:creationId xmlns:a16="http://schemas.microsoft.com/office/drawing/2014/main" id="{2043EC88-7437-6329-78E3-A85F6263D49C}"/>
              </a:ext>
            </a:extLst>
          </p:cNvPr>
          <p:cNvSpPr/>
          <p:nvPr/>
        </p:nvSpPr>
        <p:spPr>
          <a:xfrm>
            <a:off x="6928224" y="3072917"/>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t>２</a:t>
            </a:r>
            <a:endParaRPr kumimoji="1" lang="ja-JP" altLang="en-US" b="1" dirty="0"/>
          </a:p>
        </p:txBody>
      </p:sp>
    </p:spTree>
    <p:extLst>
      <p:ext uri="{BB962C8B-B14F-4D97-AF65-F5344CB8AC3E}">
        <p14:creationId xmlns:p14="http://schemas.microsoft.com/office/powerpoint/2010/main" val="3186086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6673A-3496-9718-83BF-9E514CD0824B}"/>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5AE191E3-A155-CDF6-011F-C88457911D6A}"/>
              </a:ext>
            </a:extLst>
          </p:cNvPr>
          <p:cNvSpPr>
            <a:spLocks noGrp="1"/>
          </p:cNvSpPr>
          <p:nvPr>
            <p:ph type="sldNum" sz="quarter" idx="12"/>
          </p:nvPr>
        </p:nvSpPr>
        <p:spPr/>
        <p:txBody>
          <a:bodyPr/>
          <a:lstStyle/>
          <a:p>
            <a:fld id="{F4EC9C95-8009-4180-AAA8-5F6B382748D2}" type="slidenum">
              <a:rPr kumimoji="1" lang="ja-JP" altLang="en-US" smtClean="0"/>
              <a:t>5</a:t>
            </a:fld>
            <a:endParaRPr kumimoji="1" lang="ja-JP" altLang="en-US"/>
          </a:p>
        </p:txBody>
      </p:sp>
      <p:sp>
        <p:nvSpPr>
          <p:cNvPr id="5" name="正方形/長方形 4">
            <a:extLst>
              <a:ext uri="{FF2B5EF4-FFF2-40B4-BE49-F238E27FC236}">
                <a16:creationId xmlns:a16="http://schemas.microsoft.com/office/drawing/2014/main" id="{4DC8936C-E98F-9599-E7DD-79F235B19FA1}"/>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098E8A7C-B17B-BA35-BA85-497DBB65DA24}"/>
              </a:ext>
            </a:extLst>
          </p:cNvPr>
          <p:cNvSpPr txBox="1"/>
          <p:nvPr/>
        </p:nvSpPr>
        <p:spPr>
          <a:xfrm>
            <a:off x="800100" y="2275482"/>
            <a:ext cx="3570208" cy="769441"/>
          </a:xfrm>
          <a:prstGeom prst="rect">
            <a:avLst/>
          </a:prstGeom>
          <a:noFill/>
        </p:spPr>
        <p:txBody>
          <a:bodyPr wrap="none" rtlCol="0">
            <a:spAutoFit/>
          </a:bodyPr>
          <a:lstStyle/>
          <a:p>
            <a:pPr algn="l" fontAlgn="t"/>
            <a:r>
              <a:rPr kumimoji="1" lang="ja-JP" altLang="en-US" sz="4400" b="1" i="0" dirty="0">
                <a:solidFill>
                  <a:schemeClr val="bg1"/>
                </a:solidFill>
                <a:effectLst/>
                <a:latin typeface="Meiryo UI" panose="020B0604030504040204" pitchFamily="50" charset="-128"/>
                <a:ea typeface="Meiryo UI" panose="020B0604030504040204" pitchFamily="50" charset="-128"/>
              </a:rPr>
              <a:t>到着物受信簿</a:t>
            </a:r>
          </a:p>
        </p:txBody>
      </p:sp>
      <p:sp>
        <p:nvSpPr>
          <p:cNvPr id="7" name="テキスト ボックス 6">
            <a:extLst>
              <a:ext uri="{FF2B5EF4-FFF2-40B4-BE49-F238E27FC236}">
                <a16:creationId xmlns:a16="http://schemas.microsoft.com/office/drawing/2014/main" id="{84ECBB1F-2D94-E987-8279-6776994663E6}"/>
              </a:ext>
            </a:extLst>
          </p:cNvPr>
          <p:cNvSpPr txBox="1"/>
          <p:nvPr/>
        </p:nvSpPr>
        <p:spPr>
          <a:xfrm>
            <a:off x="800100" y="3131106"/>
            <a:ext cx="3898824" cy="369332"/>
          </a:xfrm>
          <a:prstGeom prst="rect">
            <a:avLst/>
          </a:prstGeom>
          <a:noFill/>
        </p:spPr>
        <p:txBody>
          <a:bodyPr wrap="none" rtlCol="0">
            <a:spAutoFit/>
          </a:bodyPr>
          <a:lstStyle/>
          <a:p>
            <a:pPr algn="l" fontAlgn="t"/>
            <a:r>
              <a:rPr kumimoji="1" lang="ja-JP" altLang="en-US" b="1" i="0" dirty="0">
                <a:solidFill>
                  <a:schemeClr val="bg1"/>
                </a:solidFill>
                <a:effectLst/>
                <a:latin typeface="Meiryo UI" panose="020B0604030504040204" pitchFamily="50" charset="-128"/>
                <a:ea typeface="Meiryo UI" panose="020B0604030504040204" pitchFamily="50" charset="-128"/>
              </a:rPr>
              <a:t>アラートやタスク、担当案件の一括管理</a:t>
            </a:r>
          </a:p>
        </p:txBody>
      </p:sp>
    </p:spTree>
    <p:extLst>
      <p:ext uri="{BB962C8B-B14F-4D97-AF65-F5344CB8AC3E}">
        <p14:creationId xmlns:p14="http://schemas.microsoft.com/office/powerpoint/2010/main" val="13195096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578A5190-6B07-FD02-1B3A-D07B929B13C1}"/>
              </a:ext>
            </a:extLst>
          </p:cNvPr>
          <p:cNvSpPr>
            <a:spLocks noGrp="1"/>
          </p:cNvSpPr>
          <p:nvPr>
            <p:ph type="sldNum" sz="quarter" idx="12"/>
          </p:nvPr>
        </p:nvSpPr>
        <p:spPr/>
        <p:txBody>
          <a:bodyPr/>
          <a:lstStyle/>
          <a:p>
            <a:fld id="{F4EC9C95-8009-4180-AAA8-5F6B382748D2}" type="slidenum">
              <a:rPr kumimoji="1" lang="ja-JP" altLang="en-US" smtClean="0"/>
              <a:t>6</a:t>
            </a:fld>
            <a:endParaRPr kumimoji="1" lang="ja-JP" altLang="en-US"/>
          </a:p>
        </p:txBody>
      </p:sp>
      <p:pic>
        <p:nvPicPr>
          <p:cNvPr id="6" name="図 5">
            <a:extLst>
              <a:ext uri="{FF2B5EF4-FFF2-40B4-BE49-F238E27FC236}">
                <a16:creationId xmlns:a16="http://schemas.microsoft.com/office/drawing/2014/main" id="{1EFDC88D-0B16-18BC-EAE1-93D20F4B63C8}"/>
              </a:ext>
            </a:extLst>
          </p:cNvPr>
          <p:cNvPicPr>
            <a:picLocks noChangeAspect="1"/>
          </p:cNvPicPr>
          <p:nvPr/>
        </p:nvPicPr>
        <p:blipFill>
          <a:blip r:embed="rId2"/>
          <a:srcRect b="34977"/>
          <a:stretch>
            <a:fillRect/>
          </a:stretch>
        </p:blipFill>
        <p:spPr>
          <a:xfrm>
            <a:off x="558628" y="2031908"/>
            <a:ext cx="6655142" cy="2345360"/>
          </a:xfrm>
          <a:prstGeom prst="rect">
            <a:avLst/>
          </a:prstGeom>
        </p:spPr>
      </p:pic>
      <p:sp>
        <p:nvSpPr>
          <p:cNvPr id="8" name="テキスト ボックス 7">
            <a:extLst>
              <a:ext uri="{FF2B5EF4-FFF2-40B4-BE49-F238E27FC236}">
                <a16:creationId xmlns:a16="http://schemas.microsoft.com/office/drawing/2014/main" id="{A522BED1-6C78-F430-BC1C-16F7BC096EEE}"/>
              </a:ext>
            </a:extLst>
          </p:cNvPr>
          <p:cNvSpPr txBox="1"/>
          <p:nvPr/>
        </p:nvSpPr>
        <p:spPr>
          <a:xfrm>
            <a:off x="254000" y="139700"/>
            <a:ext cx="2339102" cy="523220"/>
          </a:xfrm>
          <a:prstGeom prst="rect">
            <a:avLst/>
          </a:prstGeom>
          <a:noFill/>
        </p:spPr>
        <p:txBody>
          <a:bodyPr wrap="none" rtlCol="0">
            <a:spAutoFit/>
          </a:bodyPr>
          <a:lstStyle/>
          <a:p>
            <a:r>
              <a:rPr kumimoji="1" lang="ja-JP" altLang="en-US" sz="2800" b="1" dirty="0">
                <a:latin typeface="Meiryo UI" panose="020B0604030504040204" pitchFamily="50" charset="-128"/>
                <a:ea typeface="Meiryo UI" panose="020B0604030504040204" pitchFamily="50" charset="-128"/>
              </a:rPr>
              <a:t>到着物受信簿</a:t>
            </a:r>
          </a:p>
        </p:txBody>
      </p:sp>
      <p:sp>
        <p:nvSpPr>
          <p:cNvPr id="10" name="正方形/長方形 9">
            <a:extLst>
              <a:ext uri="{FF2B5EF4-FFF2-40B4-BE49-F238E27FC236}">
                <a16:creationId xmlns:a16="http://schemas.microsoft.com/office/drawing/2014/main" id="{DB6A5ABF-C2F3-371D-5E42-20B7F62F5A01}"/>
              </a:ext>
            </a:extLst>
          </p:cNvPr>
          <p:cNvSpPr/>
          <p:nvPr/>
        </p:nvSpPr>
        <p:spPr>
          <a:xfrm>
            <a:off x="363314" y="662920"/>
            <a:ext cx="11547609" cy="5232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Meiryo UI" panose="020B0604030504040204" pitchFamily="50" charset="-128"/>
                <a:ea typeface="Meiryo UI" panose="020B0604030504040204" pitchFamily="50" charset="-128"/>
              </a:rPr>
              <a:t>到着物受信簿ではまず拠点を選択します。拠点ごとに到着物受信簿を分けて管理します。</a:t>
            </a:r>
          </a:p>
        </p:txBody>
      </p:sp>
    </p:spTree>
    <p:extLst>
      <p:ext uri="{BB962C8B-B14F-4D97-AF65-F5344CB8AC3E}">
        <p14:creationId xmlns:p14="http://schemas.microsoft.com/office/powerpoint/2010/main" val="25662846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F196E15C-F4F3-C9C2-24E9-8282EFA1DE78}"/>
              </a:ext>
            </a:extLst>
          </p:cNvPr>
          <p:cNvSpPr>
            <a:spLocks noGrp="1"/>
          </p:cNvSpPr>
          <p:nvPr>
            <p:ph type="sldNum" sz="quarter" idx="12"/>
          </p:nvPr>
        </p:nvSpPr>
        <p:spPr/>
        <p:txBody>
          <a:bodyPr/>
          <a:lstStyle/>
          <a:p>
            <a:fld id="{F4EC9C95-8009-4180-AAA8-5F6B382748D2}" type="slidenum">
              <a:rPr kumimoji="1" lang="ja-JP" altLang="en-US" smtClean="0"/>
              <a:t>7</a:t>
            </a:fld>
            <a:endParaRPr kumimoji="1" lang="ja-JP" altLang="en-US"/>
          </a:p>
        </p:txBody>
      </p:sp>
      <p:pic>
        <p:nvPicPr>
          <p:cNvPr id="6" name="図 5">
            <a:extLst>
              <a:ext uri="{FF2B5EF4-FFF2-40B4-BE49-F238E27FC236}">
                <a16:creationId xmlns:a16="http://schemas.microsoft.com/office/drawing/2014/main" id="{13320B6C-D628-4E0F-6F54-1CEF4E3A51E2}"/>
              </a:ext>
            </a:extLst>
          </p:cNvPr>
          <p:cNvPicPr>
            <a:picLocks noChangeAspect="1"/>
          </p:cNvPicPr>
          <p:nvPr/>
        </p:nvPicPr>
        <p:blipFill>
          <a:blip r:embed="rId2"/>
          <a:stretch>
            <a:fillRect/>
          </a:stretch>
        </p:blipFill>
        <p:spPr>
          <a:xfrm>
            <a:off x="279400" y="1350029"/>
            <a:ext cx="6824133" cy="1413525"/>
          </a:xfrm>
          <a:prstGeom prst="rect">
            <a:avLst/>
          </a:prstGeom>
        </p:spPr>
      </p:pic>
      <p:pic>
        <p:nvPicPr>
          <p:cNvPr id="8" name="図 7">
            <a:extLst>
              <a:ext uri="{FF2B5EF4-FFF2-40B4-BE49-F238E27FC236}">
                <a16:creationId xmlns:a16="http://schemas.microsoft.com/office/drawing/2014/main" id="{7A8EA3A0-632C-4FA9-6F6A-88F57CB94FD4}"/>
              </a:ext>
            </a:extLst>
          </p:cNvPr>
          <p:cNvPicPr>
            <a:picLocks noChangeAspect="1"/>
          </p:cNvPicPr>
          <p:nvPr/>
        </p:nvPicPr>
        <p:blipFill>
          <a:blip r:embed="rId3"/>
          <a:stretch>
            <a:fillRect/>
          </a:stretch>
        </p:blipFill>
        <p:spPr>
          <a:xfrm>
            <a:off x="390226" y="2398429"/>
            <a:ext cx="3303813" cy="3748494"/>
          </a:xfrm>
          <a:prstGeom prst="rect">
            <a:avLst/>
          </a:prstGeom>
        </p:spPr>
      </p:pic>
      <p:pic>
        <p:nvPicPr>
          <p:cNvPr id="10" name="図 9">
            <a:extLst>
              <a:ext uri="{FF2B5EF4-FFF2-40B4-BE49-F238E27FC236}">
                <a16:creationId xmlns:a16="http://schemas.microsoft.com/office/drawing/2014/main" id="{8561958E-DDF9-5434-D4A7-D2CA9CD84A36}"/>
              </a:ext>
            </a:extLst>
          </p:cNvPr>
          <p:cNvPicPr>
            <a:picLocks noChangeAspect="1"/>
          </p:cNvPicPr>
          <p:nvPr/>
        </p:nvPicPr>
        <p:blipFill>
          <a:blip r:embed="rId4"/>
          <a:srcRect r="25600"/>
          <a:stretch>
            <a:fillRect/>
          </a:stretch>
        </p:blipFill>
        <p:spPr>
          <a:xfrm>
            <a:off x="4094638" y="2398429"/>
            <a:ext cx="3008895" cy="3748494"/>
          </a:xfrm>
          <a:prstGeom prst="rect">
            <a:avLst/>
          </a:prstGeom>
        </p:spPr>
      </p:pic>
      <p:sp>
        <p:nvSpPr>
          <p:cNvPr id="12" name="正方形/長方形 11">
            <a:extLst>
              <a:ext uri="{FF2B5EF4-FFF2-40B4-BE49-F238E27FC236}">
                <a16:creationId xmlns:a16="http://schemas.microsoft.com/office/drawing/2014/main" id="{701EF2A2-6C3D-59CD-C36D-9741561ECE7F}"/>
              </a:ext>
            </a:extLst>
          </p:cNvPr>
          <p:cNvSpPr/>
          <p:nvPr/>
        </p:nvSpPr>
        <p:spPr>
          <a:xfrm>
            <a:off x="390226" y="2763553"/>
            <a:ext cx="3191174" cy="1245007"/>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09362482-3DC7-937B-C01C-7C4F8E5A4B83}"/>
              </a:ext>
            </a:extLst>
          </p:cNvPr>
          <p:cNvSpPr/>
          <p:nvPr/>
        </p:nvSpPr>
        <p:spPr>
          <a:xfrm>
            <a:off x="390226" y="4434457"/>
            <a:ext cx="3114974" cy="332400"/>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F03588EA-5C7A-5910-9F97-BAE7022FB55E}"/>
              </a:ext>
            </a:extLst>
          </p:cNvPr>
          <p:cNvSpPr/>
          <p:nvPr/>
        </p:nvSpPr>
        <p:spPr>
          <a:xfrm>
            <a:off x="390226" y="4860354"/>
            <a:ext cx="3114974" cy="332400"/>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80089C7F-BDCB-81A7-FABC-2DA556E2B608}"/>
              </a:ext>
            </a:extLst>
          </p:cNvPr>
          <p:cNvSpPr/>
          <p:nvPr/>
        </p:nvSpPr>
        <p:spPr>
          <a:xfrm>
            <a:off x="390226" y="5291379"/>
            <a:ext cx="3114974" cy="449144"/>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7" name="直線コネクタ 16">
            <a:extLst>
              <a:ext uri="{FF2B5EF4-FFF2-40B4-BE49-F238E27FC236}">
                <a16:creationId xmlns:a16="http://schemas.microsoft.com/office/drawing/2014/main" id="{E4BA4B28-CC53-BA53-870B-B166EFC6E35A}"/>
              </a:ext>
            </a:extLst>
          </p:cNvPr>
          <p:cNvCxnSpPr/>
          <p:nvPr/>
        </p:nvCxnSpPr>
        <p:spPr>
          <a:xfrm flipV="1">
            <a:off x="3581400" y="2607856"/>
            <a:ext cx="406400" cy="2584898"/>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0224BB61-2352-9EF6-DD88-B55DE00A948F}"/>
              </a:ext>
            </a:extLst>
          </p:cNvPr>
          <p:cNvCxnSpPr>
            <a:cxnSpLocks/>
          </p:cNvCxnSpPr>
          <p:nvPr/>
        </p:nvCxnSpPr>
        <p:spPr>
          <a:xfrm>
            <a:off x="3505200" y="5740523"/>
            <a:ext cx="795867" cy="615827"/>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2" name="正方形/長方形 21">
            <a:extLst>
              <a:ext uri="{FF2B5EF4-FFF2-40B4-BE49-F238E27FC236}">
                <a16:creationId xmlns:a16="http://schemas.microsoft.com/office/drawing/2014/main" id="{CB0889BD-C08E-FEDD-93F8-D8CC64AAF17F}"/>
              </a:ext>
            </a:extLst>
          </p:cNvPr>
          <p:cNvSpPr/>
          <p:nvPr/>
        </p:nvSpPr>
        <p:spPr>
          <a:xfrm>
            <a:off x="7175499" y="1950893"/>
            <a:ext cx="4178300" cy="65696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kumimoji="1" lang="ja-JP" altLang="en-US" sz="1200" dirty="0">
                <a:solidFill>
                  <a:schemeClr val="tx1"/>
                </a:solidFill>
                <a:latin typeface="Meiryo UI" panose="020B0604030504040204" pitchFamily="50" charset="-128"/>
                <a:ea typeface="Meiryo UI" panose="020B0604030504040204" pitchFamily="50" charset="-128"/>
              </a:rPr>
              <a:t>到着物の封筒に記載されている案件管理番号や依頼者名から案件を検索</a:t>
            </a:r>
          </a:p>
        </p:txBody>
      </p:sp>
      <p:sp>
        <p:nvSpPr>
          <p:cNvPr id="24" name="楕円 23">
            <a:extLst>
              <a:ext uri="{FF2B5EF4-FFF2-40B4-BE49-F238E27FC236}">
                <a16:creationId xmlns:a16="http://schemas.microsoft.com/office/drawing/2014/main" id="{9BAB0BF9-100E-69D2-2CC9-874C0361D8E7}"/>
              </a:ext>
            </a:extLst>
          </p:cNvPr>
          <p:cNvSpPr/>
          <p:nvPr/>
        </p:nvSpPr>
        <p:spPr>
          <a:xfrm>
            <a:off x="6973663" y="1811221"/>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１</a:t>
            </a:r>
          </a:p>
        </p:txBody>
      </p:sp>
      <p:sp>
        <p:nvSpPr>
          <p:cNvPr id="26" name="楕円 25">
            <a:extLst>
              <a:ext uri="{FF2B5EF4-FFF2-40B4-BE49-F238E27FC236}">
                <a16:creationId xmlns:a16="http://schemas.microsoft.com/office/drawing/2014/main" id="{858CE2A1-0364-CDAC-B52C-5D903E561DB0}"/>
              </a:ext>
            </a:extLst>
          </p:cNvPr>
          <p:cNvSpPr/>
          <p:nvPr/>
        </p:nvSpPr>
        <p:spPr>
          <a:xfrm>
            <a:off x="141823" y="2528004"/>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１</a:t>
            </a:r>
          </a:p>
        </p:txBody>
      </p:sp>
      <p:sp>
        <p:nvSpPr>
          <p:cNvPr id="27" name="楕円 26">
            <a:extLst>
              <a:ext uri="{FF2B5EF4-FFF2-40B4-BE49-F238E27FC236}">
                <a16:creationId xmlns:a16="http://schemas.microsoft.com/office/drawing/2014/main" id="{666E43FB-AB74-508B-7E2E-BCA9C10E5AF4}"/>
              </a:ext>
            </a:extLst>
          </p:cNvPr>
          <p:cNvSpPr/>
          <p:nvPr/>
        </p:nvSpPr>
        <p:spPr>
          <a:xfrm>
            <a:off x="132977" y="4185512"/>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t>2</a:t>
            </a:r>
            <a:endParaRPr kumimoji="1" lang="ja-JP" altLang="en-US" b="1" dirty="0"/>
          </a:p>
        </p:txBody>
      </p:sp>
      <p:sp>
        <p:nvSpPr>
          <p:cNvPr id="28" name="楕円 27">
            <a:extLst>
              <a:ext uri="{FF2B5EF4-FFF2-40B4-BE49-F238E27FC236}">
                <a16:creationId xmlns:a16="http://schemas.microsoft.com/office/drawing/2014/main" id="{AD01CC08-D77E-9EE3-A140-146C0F4A3957}"/>
              </a:ext>
            </a:extLst>
          </p:cNvPr>
          <p:cNvSpPr/>
          <p:nvPr/>
        </p:nvSpPr>
        <p:spPr>
          <a:xfrm>
            <a:off x="132977" y="4568762"/>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t>3</a:t>
            </a:r>
            <a:endParaRPr kumimoji="1" lang="ja-JP" altLang="en-US" b="1" dirty="0"/>
          </a:p>
        </p:txBody>
      </p:sp>
      <p:sp>
        <p:nvSpPr>
          <p:cNvPr id="29" name="楕円 28">
            <a:extLst>
              <a:ext uri="{FF2B5EF4-FFF2-40B4-BE49-F238E27FC236}">
                <a16:creationId xmlns:a16="http://schemas.microsoft.com/office/drawing/2014/main" id="{34E1A099-8295-8617-709D-6515C78BD268}"/>
              </a:ext>
            </a:extLst>
          </p:cNvPr>
          <p:cNvSpPr/>
          <p:nvPr/>
        </p:nvSpPr>
        <p:spPr>
          <a:xfrm>
            <a:off x="3923541" y="2221922"/>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t>4</a:t>
            </a:r>
            <a:endParaRPr kumimoji="1" lang="ja-JP" altLang="en-US" b="1" dirty="0"/>
          </a:p>
        </p:txBody>
      </p:sp>
      <p:sp>
        <p:nvSpPr>
          <p:cNvPr id="31" name="テキスト ボックス 30">
            <a:extLst>
              <a:ext uri="{FF2B5EF4-FFF2-40B4-BE49-F238E27FC236}">
                <a16:creationId xmlns:a16="http://schemas.microsoft.com/office/drawing/2014/main" id="{57402D9A-6E0E-7F3D-BE0E-AE6125A775A5}"/>
              </a:ext>
            </a:extLst>
          </p:cNvPr>
          <p:cNvSpPr txBox="1"/>
          <p:nvPr/>
        </p:nvSpPr>
        <p:spPr>
          <a:xfrm>
            <a:off x="254000" y="139700"/>
            <a:ext cx="2339102" cy="523220"/>
          </a:xfrm>
          <a:prstGeom prst="rect">
            <a:avLst/>
          </a:prstGeom>
          <a:noFill/>
        </p:spPr>
        <p:txBody>
          <a:bodyPr wrap="none" rtlCol="0">
            <a:spAutoFit/>
          </a:bodyPr>
          <a:lstStyle/>
          <a:p>
            <a:r>
              <a:rPr kumimoji="1" lang="ja-JP" altLang="en-US" sz="2800" b="1" dirty="0">
                <a:latin typeface="Meiryo UI" panose="020B0604030504040204" pitchFamily="50" charset="-128"/>
                <a:ea typeface="Meiryo UI" panose="020B0604030504040204" pitchFamily="50" charset="-128"/>
              </a:rPr>
              <a:t>到着物受信簿</a:t>
            </a:r>
          </a:p>
        </p:txBody>
      </p:sp>
      <p:sp>
        <p:nvSpPr>
          <p:cNvPr id="33" name="正方形/長方形 32">
            <a:extLst>
              <a:ext uri="{FF2B5EF4-FFF2-40B4-BE49-F238E27FC236}">
                <a16:creationId xmlns:a16="http://schemas.microsoft.com/office/drawing/2014/main" id="{6DFF6758-D6C8-5EF3-82FC-84EF53FFCCBD}"/>
              </a:ext>
            </a:extLst>
          </p:cNvPr>
          <p:cNvSpPr/>
          <p:nvPr/>
        </p:nvSpPr>
        <p:spPr>
          <a:xfrm>
            <a:off x="363314" y="662920"/>
            <a:ext cx="11547609" cy="5232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Meiryo UI" panose="020B0604030504040204" pitchFamily="50" charset="-128"/>
                <a:ea typeface="Meiryo UI" panose="020B0604030504040204" pitchFamily="50" charset="-128"/>
              </a:rPr>
              <a:t>到着物受信簿ではまず拠点を選択します。拠点ごとに到着物受信簿を分けて管理します。</a:t>
            </a:r>
          </a:p>
        </p:txBody>
      </p:sp>
      <p:grpSp>
        <p:nvGrpSpPr>
          <p:cNvPr id="34" name="グループ化 33">
            <a:extLst>
              <a:ext uri="{FF2B5EF4-FFF2-40B4-BE49-F238E27FC236}">
                <a16:creationId xmlns:a16="http://schemas.microsoft.com/office/drawing/2014/main" id="{E1E4E277-76A4-AE3C-D7C8-81F261A829F6}"/>
              </a:ext>
            </a:extLst>
          </p:cNvPr>
          <p:cNvGrpSpPr/>
          <p:nvPr/>
        </p:nvGrpSpPr>
        <p:grpSpPr>
          <a:xfrm>
            <a:off x="7175499" y="1335338"/>
            <a:ext cx="4178300" cy="307777"/>
            <a:chOff x="7175500" y="1444823"/>
            <a:chExt cx="4178300" cy="307777"/>
          </a:xfrm>
        </p:grpSpPr>
        <p:cxnSp>
          <p:nvCxnSpPr>
            <p:cNvPr id="35" name="直線コネクタ 34">
              <a:extLst>
                <a:ext uri="{FF2B5EF4-FFF2-40B4-BE49-F238E27FC236}">
                  <a16:creationId xmlns:a16="http://schemas.microsoft.com/office/drawing/2014/main" id="{FF42C39B-67BB-8807-60C5-1523C456F170}"/>
                </a:ext>
              </a:extLst>
            </p:cNvPr>
            <p:cNvCxnSpPr/>
            <p:nvPr/>
          </p:nvCxnSpPr>
          <p:spPr>
            <a:xfrm>
              <a:off x="7175500" y="1752600"/>
              <a:ext cx="41783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6" name="テキスト ボックス 35">
              <a:extLst>
                <a:ext uri="{FF2B5EF4-FFF2-40B4-BE49-F238E27FC236}">
                  <a16:creationId xmlns:a16="http://schemas.microsoft.com/office/drawing/2014/main" id="{B1A00D96-FC23-12C4-4A32-F6ED76C81262}"/>
                </a:ext>
              </a:extLst>
            </p:cNvPr>
            <p:cNvSpPr txBox="1"/>
            <p:nvPr/>
          </p:nvSpPr>
          <p:spPr>
            <a:xfrm>
              <a:off x="8886982" y="1444823"/>
              <a:ext cx="755335" cy="307777"/>
            </a:xfrm>
            <a:prstGeom prst="rect">
              <a:avLst/>
            </a:prstGeom>
            <a:noFill/>
          </p:spPr>
          <p:txBody>
            <a:bodyPr wrap="none" rtlCol="0">
              <a:spAutoFit/>
            </a:bodyPr>
            <a:lstStyle/>
            <a:p>
              <a:pPr algn="l" fontAlgn="t"/>
              <a:r>
                <a:rPr kumimoji="1" lang="ja-JP" altLang="en-US" sz="1400" b="1" i="0" dirty="0">
                  <a:solidFill>
                    <a:srgbClr val="0B0B0B"/>
                  </a:solidFill>
                  <a:effectLst/>
                  <a:latin typeface="Meiryo UI" panose="020B0604030504040204" pitchFamily="50" charset="-128"/>
                  <a:ea typeface="Meiryo UI" panose="020B0604030504040204" pitchFamily="50" charset="-128"/>
                </a:rPr>
                <a:t>ポイント</a:t>
              </a:r>
            </a:p>
          </p:txBody>
        </p:sp>
      </p:grpSp>
      <p:sp>
        <p:nvSpPr>
          <p:cNvPr id="37" name="正方形/長方形 36">
            <a:extLst>
              <a:ext uri="{FF2B5EF4-FFF2-40B4-BE49-F238E27FC236}">
                <a16:creationId xmlns:a16="http://schemas.microsoft.com/office/drawing/2014/main" id="{9B496778-1DA3-00CA-0579-B7D15000CD7E}"/>
              </a:ext>
            </a:extLst>
          </p:cNvPr>
          <p:cNvSpPr/>
          <p:nvPr/>
        </p:nvSpPr>
        <p:spPr>
          <a:xfrm>
            <a:off x="7175499" y="2956861"/>
            <a:ext cx="4178300" cy="86629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kumimoji="1" lang="ja-JP" altLang="en-US" sz="1200" dirty="0">
                <a:solidFill>
                  <a:schemeClr val="tx1"/>
                </a:solidFill>
                <a:latin typeface="Meiryo UI" panose="020B0604030504040204" pitchFamily="50" charset="-128"/>
                <a:ea typeface="Meiryo UI" panose="020B0604030504040204" pitchFamily="50" charset="-128"/>
              </a:rPr>
              <a:t>受注</a:t>
            </a:r>
            <a:r>
              <a:rPr kumimoji="1" lang="en-US" altLang="ja-JP" sz="1200" dirty="0">
                <a:solidFill>
                  <a:schemeClr val="tx1"/>
                </a:solidFill>
                <a:latin typeface="Meiryo UI" panose="020B0604030504040204" pitchFamily="50" charset="-128"/>
                <a:ea typeface="Meiryo UI" panose="020B0604030504040204" pitchFamily="50" charset="-128"/>
              </a:rPr>
              <a:t>/</a:t>
            </a:r>
            <a:r>
              <a:rPr kumimoji="1" lang="ja-JP" altLang="en-US" sz="1200" dirty="0">
                <a:solidFill>
                  <a:schemeClr val="tx1"/>
                </a:solidFill>
                <a:latin typeface="Meiryo UI" panose="020B0604030504040204" pitchFamily="50" charset="-128"/>
                <a:ea typeface="Meiryo UI" panose="020B0604030504040204" pitchFamily="50" charset="-128"/>
              </a:rPr>
              <a:t>管理担当宛ての郵送物は開封せずに、郵送物一式として登録し、受注担当</a:t>
            </a:r>
            <a:r>
              <a:rPr kumimoji="1" lang="en-US" altLang="ja-JP" sz="1200" dirty="0">
                <a:solidFill>
                  <a:schemeClr val="tx1"/>
                </a:solidFill>
                <a:latin typeface="Meiryo UI" panose="020B0604030504040204" pitchFamily="50" charset="-128"/>
                <a:ea typeface="Meiryo UI" panose="020B0604030504040204" pitchFamily="50" charset="-128"/>
              </a:rPr>
              <a:t>/</a:t>
            </a:r>
            <a:r>
              <a:rPr kumimoji="1" lang="ja-JP" altLang="en-US" sz="1200" dirty="0">
                <a:solidFill>
                  <a:schemeClr val="tx1"/>
                </a:solidFill>
                <a:latin typeface="Meiryo UI" panose="020B0604030504040204" pitchFamily="50" charset="-128"/>
                <a:ea typeface="Meiryo UI" panose="020B0604030504040204" pitchFamily="50" charset="-128"/>
              </a:rPr>
              <a:t>管理担当に通知を送る。通知を開き受注担当</a:t>
            </a:r>
            <a:r>
              <a:rPr kumimoji="1" lang="en-US" altLang="ja-JP" sz="1200" dirty="0">
                <a:solidFill>
                  <a:schemeClr val="tx1"/>
                </a:solidFill>
                <a:latin typeface="Meiryo UI" panose="020B0604030504040204" pitchFamily="50" charset="-128"/>
                <a:ea typeface="Meiryo UI" panose="020B0604030504040204" pitchFamily="50" charset="-128"/>
              </a:rPr>
              <a:t>/</a:t>
            </a:r>
            <a:r>
              <a:rPr kumimoji="1" lang="ja-JP" altLang="en-US" sz="1200" dirty="0">
                <a:solidFill>
                  <a:schemeClr val="tx1"/>
                </a:solidFill>
                <a:latin typeface="Meiryo UI" panose="020B0604030504040204" pitchFamily="50" charset="-128"/>
                <a:ea typeface="Meiryo UI" panose="020B0604030504040204" pitchFamily="50" charset="-128"/>
              </a:rPr>
              <a:t>管理担当が郵送物一式で登録された、到着物の内容を詳細入力</a:t>
            </a:r>
          </a:p>
        </p:txBody>
      </p:sp>
      <p:sp>
        <p:nvSpPr>
          <p:cNvPr id="38" name="楕円 37">
            <a:extLst>
              <a:ext uri="{FF2B5EF4-FFF2-40B4-BE49-F238E27FC236}">
                <a16:creationId xmlns:a16="http://schemas.microsoft.com/office/drawing/2014/main" id="{E7E1FB70-148F-06DF-6CCD-02398429CDC6}"/>
              </a:ext>
            </a:extLst>
          </p:cNvPr>
          <p:cNvSpPr/>
          <p:nvPr/>
        </p:nvSpPr>
        <p:spPr>
          <a:xfrm>
            <a:off x="6973663" y="2817189"/>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t>2</a:t>
            </a:r>
            <a:endParaRPr kumimoji="1" lang="ja-JP" altLang="en-US" b="1" dirty="0"/>
          </a:p>
        </p:txBody>
      </p:sp>
      <p:sp>
        <p:nvSpPr>
          <p:cNvPr id="39" name="正方形/長方形 38">
            <a:extLst>
              <a:ext uri="{FF2B5EF4-FFF2-40B4-BE49-F238E27FC236}">
                <a16:creationId xmlns:a16="http://schemas.microsoft.com/office/drawing/2014/main" id="{3C231AA6-DF98-7F85-6A8B-2F13ABDEEFAD}"/>
              </a:ext>
            </a:extLst>
          </p:cNvPr>
          <p:cNvSpPr/>
          <p:nvPr/>
        </p:nvSpPr>
        <p:spPr>
          <a:xfrm>
            <a:off x="7225541" y="4117627"/>
            <a:ext cx="4178300" cy="86629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kumimoji="1" lang="ja-JP" altLang="en-US" sz="1200" dirty="0">
                <a:solidFill>
                  <a:schemeClr val="tx1"/>
                </a:solidFill>
                <a:latin typeface="Meiryo UI" panose="020B0604030504040204" pitchFamily="50" charset="-128"/>
                <a:ea typeface="Meiryo UI" panose="020B0604030504040204" pitchFamily="50" charset="-128"/>
              </a:rPr>
              <a:t>到着日や郵便の種類、原本格納先を選択</a:t>
            </a:r>
          </a:p>
        </p:txBody>
      </p:sp>
      <p:sp>
        <p:nvSpPr>
          <p:cNvPr id="40" name="楕円 39">
            <a:extLst>
              <a:ext uri="{FF2B5EF4-FFF2-40B4-BE49-F238E27FC236}">
                <a16:creationId xmlns:a16="http://schemas.microsoft.com/office/drawing/2014/main" id="{AF0D237A-797D-F8DE-33B8-01C3EF787998}"/>
              </a:ext>
            </a:extLst>
          </p:cNvPr>
          <p:cNvSpPr/>
          <p:nvPr/>
        </p:nvSpPr>
        <p:spPr>
          <a:xfrm>
            <a:off x="7023705" y="3977955"/>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３</a:t>
            </a:r>
          </a:p>
        </p:txBody>
      </p:sp>
      <p:sp>
        <p:nvSpPr>
          <p:cNvPr id="41" name="正方形/長方形 40">
            <a:extLst>
              <a:ext uri="{FF2B5EF4-FFF2-40B4-BE49-F238E27FC236}">
                <a16:creationId xmlns:a16="http://schemas.microsoft.com/office/drawing/2014/main" id="{A2C9246C-B0A6-9EFF-91D5-6C039A22EB6B}"/>
              </a:ext>
            </a:extLst>
          </p:cNvPr>
          <p:cNvSpPr/>
          <p:nvPr/>
        </p:nvSpPr>
        <p:spPr>
          <a:xfrm>
            <a:off x="7225541" y="5268314"/>
            <a:ext cx="4178300" cy="86629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kumimoji="1" lang="ja-JP" altLang="en-US" sz="1200" dirty="0">
                <a:solidFill>
                  <a:schemeClr val="tx1"/>
                </a:solidFill>
                <a:latin typeface="Meiryo UI" panose="020B0604030504040204" pitchFamily="50" charset="-128"/>
                <a:ea typeface="Meiryo UI" panose="020B0604030504040204" pitchFamily="50" charset="-128"/>
              </a:rPr>
              <a:t>契約書類や戸籍情報の取得予定物が案件に紐づいて管理されており、取得物をゼロから手入力せずに取得待ち状態の取得物と紐づけて入力</a:t>
            </a:r>
          </a:p>
        </p:txBody>
      </p:sp>
      <p:sp>
        <p:nvSpPr>
          <p:cNvPr id="42" name="楕円 41">
            <a:extLst>
              <a:ext uri="{FF2B5EF4-FFF2-40B4-BE49-F238E27FC236}">
                <a16:creationId xmlns:a16="http://schemas.microsoft.com/office/drawing/2014/main" id="{8E983124-6C8D-59DE-03DD-C21494A43A41}"/>
              </a:ext>
            </a:extLst>
          </p:cNvPr>
          <p:cNvSpPr/>
          <p:nvPr/>
        </p:nvSpPr>
        <p:spPr>
          <a:xfrm>
            <a:off x="7063619" y="5105692"/>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t>４</a:t>
            </a:r>
            <a:endParaRPr kumimoji="1" lang="ja-JP" altLang="en-US" b="1" dirty="0"/>
          </a:p>
        </p:txBody>
      </p:sp>
    </p:spTree>
    <p:extLst>
      <p:ext uri="{BB962C8B-B14F-4D97-AF65-F5344CB8AC3E}">
        <p14:creationId xmlns:p14="http://schemas.microsoft.com/office/powerpoint/2010/main" val="2882825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B7D06-CB20-3418-BA06-9F41FE286D37}"/>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0F6EB1B4-9B96-D787-C97E-F878E0A7A3EC}"/>
              </a:ext>
            </a:extLst>
          </p:cNvPr>
          <p:cNvSpPr>
            <a:spLocks noGrp="1"/>
          </p:cNvSpPr>
          <p:nvPr>
            <p:ph type="sldNum" sz="quarter" idx="12"/>
          </p:nvPr>
        </p:nvSpPr>
        <p:spPr/>
        <p:txBody>
          <a:bodyPr/>
          <a:lstStyle/>
          <a:p>
            <a:fld id="{F4EC9C95-8009-4180-AAA8-5F6B382748D2}" type="slidenum">
              <a:rPr kumimoji="1" lang="ja-JP" altLang="en-US" smtClean="0"/>
              <a:t>8</a:t>
            </a:fld>
            <a:endParaRPr kumimoji="1" lang="ja-JP" altLang="en-US"/>
          </a:p>
        </p:txBody>
      </p:sp>
      <p:sp>
        <p:nvSpPr>
          <p:cNvPr id="5" name="正方形/長方形 4">
            <a:extLst>
              <a:ext uri="{FF2B5EF4-FFF2-40B4-BE49-F238E27FC236}">
                <a16:creationId xmlns:a16="http://schemas.microsoft.com/office/drawing/2014/main" id="{7D5E29A0-210A-77B2-AA7A-2E3DF419DF63}"/>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F9840B11-7F70-7D9B-CA15-0B4E12FE0328}"/>
              </a:ext>
            </a:extLst>
          </p:cNvPr>
          <p:cNvSpPr txBox="1"/>
          <p:nvPr/>
        </p:nvSpPr>
        <p:spPr>
          <a:xfrm>
            <a:off x="800100" y="2275482"/>
            <a:ext cx="5521063" cy="769441"/>
          </a:xfrm>
          <a:prstGeom prst="rect">
            <a:avLst/>
          </a:prstGeom>
          <a:noFill/>
        </p:spPr>
        <p:txBody>
          <a:bodyPr wrap="none" rtlCol="0">
            <a:spAutoFit/>
          </a:bodyPr>
          <a:lstStyle/>
          <a:p>
            <a:pPr algn="l" fontAlgn="t"/>
            <a:r>
              <a:rPr kumimoji="1" lang="ja-JP" altLang="en-US" sz="4400" b="1" i="0" dirty="0">
                <a:solidFill>
                  <a:schemeClr val="bg1"/>
                </a:solidFill>
                <a:effectLst/>
                <a:latin typeface="Meiryo UI" panose="020B0604030504040204" pitchFamily="50" charset="-128"/>
                <a:ea typeface="Meiryo UI" panose="020B0604030504040204" pitchFamily="50" charset="-128"/>
              </a:rPr>
              <a:t>管理担当ダッシュボード</a:t>
            </a:r>
          </a:p>
        </p:txBody>
      </p:sp>
      <p:sp>
        <p:nvSpPr>
          <p:cNvPr id="7" name="テキスト ボックス 6">
            <a:extLst>
              <a:ext uri="{FF2B5EF4-FFF2-40B4-BE49-F238E27FC236}">
                <a16:creationId xmlns:a16="http://schemas.microsoft.com/office/drawing/2014/main" id="{C041BCED-4095-B267-3EB2-771BE292867B}"/>
              </a:ext>
            </a:extLst>
          </p:cNvPr>
          <p:cNvSpPr txBox="1"/>
          <p:nvPr/>
        </p:nvSpPr>
        <p:spPr>
          <a:xfrm>
            <a:off x="800100" y="3131106"/>
            <a:ext cx="2185214" cy="369332"/>
          </a:xfrm>
          <a:prstGeom prst="rect">
            <a:avLst/>
          </a:prstGeom>
          <a:noFill/>
        </p:spPr>
        <p:txBody>
          <a:bodyPr wrap="none" rtlCol="0">
            <a:spAutoFit/>
          </a:bodyPr>
          <a:lstStyle/>
          <a:p>
            <a:pPr algn="l" fontAlgn="t"/>
            <a:r>
              <a:rPr kumimoji="1" lang="ja-JP" altLang="en-US" b="1" i="0" dirty="0">
                <a:solidFill>
                  <a:schemeClr val="bg1"/>
                </a:solidFill>
                <a:effectLst/>
                <a:latin typeface="Meiryo UI" panose="020B0604030504040204" pitchFamily="50" charset="-128"/>
                <a:ea typeface="Meiryo UI" panose="020B0604030504040204" pitchFamily="50" charset="-128"/>
              </a:rPr>
              <a:t>案件報告、進捗管理</a:t>
            </a:r>
          </a:p>
        </p:txBody>
      </p:sp>
    </p:spTree>
    <p:extLst>
      <p:ext uri="{BB962C8B-B14F-4D97-AF65-F5344CB8AC3E}">
        <p14:creationId xmlns:p14="http://schemas.microsoft.com/office/powerpoint/2010/main" val="38810686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047BC868-3BF4-36AC-F3E1-3DF59D799650}"/>
              </a:ext>
            </a:extLst>
          </p:cNvPr>
          <p:cNvSpPr>
            <a:spLocks noGrp="1"/>
          </p:cNvSpPr>
          <p:nvPr>
            <p:ph type="sldNum" sz="quarter" idx="12"/>
          </p:nvPr>
        </p:nvSpPr>
        <p:spPr/>
        <p:txBody>
          <a:bodyPr/>
          <a:lstStyle/>
          <a:p>
            <a:fld id="{F4EC9C95-8009-4180-AAA8-5F6B382748D2}" type="slidenum">
              <a:rPr kumimoji="1" lang="ja-JP" altLang="en-US" smtClean="0"/>
              <a:t>9</a:t>
            </a:fld>
            <a:endParaRPr kumimoji="1" lang="ja-JP" altLang="en-US"/>
          </a:p>
        </p:txBody>
      </p:sp>
      <p:grpSp>
        <p:nvGrpSpPr>
          <p:cNvPr id="8" name="グループ化 7">
            <a:extLst>
              <a:ext uri="{FF2B5EF4-FFF2-40B4-BE49-F238E27FC236}">
                <a16:creationId xmlns:a16="http://schemas.microsoft.com/office/drawing/2014/main" id="{A3CF8303-1908-1D79-3B28-0B06E440D7F3}"/>
              </a:ext>
            </a:extLst>
          </p:cNvPr>
          <p:cNvGrpSpPr/>
          <p:nvPr/>
        </p:nvGrpSpPr>
        <p:grpSpPr>
          <a:xfrm>
            <a:off x="838200" y="1540027"/>
            <a:ext cx="10659396" cy="4732867"/>
            <a:chOff x="228737" y="1752600"/>
            <a:chExt cx="7614181" cy="4343400"/>
          </a:xfrm>
        </p:grpSpPr>
        <p:pic>
          <p:nvPicPr>
            <p:cNvPr id="6" name="図 5">
              <a:extLst>
                <a:ext uri="{FF2B5EF4-FFF2-40B4-BE49-F238E27FC236}">
                  <a16:creationId xmlns:a16="http://schemas.microsoft.com/office/drawing/2014/main" id="{9EBC0E84-D035-3183-2E57-2E03CB2382C4}"/>
                </a:ext>
              </a:extLst>
            </p:cNvPr>
            <p:cNvPicPr>
              <a:picLocks noChangeAspect="1"/>
            </p:cNvPicPr>
            <p:nvPr/>
          </p:nvPicPr>
          <p:blipFill>
            <a:blip r:embed="rId2"/>
            <a:stretch>
              <a:fillRect/>
            </a:stretch>
          </p:blipFill>
          <p:spPr>
            <a:xfrm>
              <a:off x="228737" y="1752600"/>
              <a:ext cx="7614181" cy="4343400"/>
            </a:xfrm>
            <a:prstGeom prst="rect">
              <a:avLst/>
            </a:prstGeom>
          </p:spPr>
        </p:pic>
        <p:sp>
          <p:nvSpPr>
            <p:cNvPr id="7" name="正方形/長方形 6">
              <a:extLst>
                <a:ext uri="{FF2B5EF4-FFF2-40B4-BE49-F238E27FC236}">
                  <a16:creationId xmlns:a16="http://schemas.microsoft.com/office/drawing/2014/main" id="{401A4161-955D-CA9E-64E3-14E3AF4B6247}"/>
                </a:ext>
              </a:extLst>
            </p:cNvPr>
            <p:cNvSpPr/>
            <p:nvPr/>
          </p:nvSpPr>
          <p:spPr>
            <a:xfrm>
              <a:off x="982133" y="2328333"/>
              <a:ext cx="778934" cy="3048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0" name="テキスト ボックス 9">
            <a:extLst>
              <a:ext uri="{FF2B5EF4-FFF2-40B4-BE49-F238E27FC236}">
                <a16:creationId xmlns:a16="http://schemas.microsoft.com/office/drawing/2014/main" id="{21A56FED-B0CE-5B12-B7E3-21BEF7E59580}"/>
              </a:ext>
            </a:extLst>
          </p:cNvPr>
          <p:cNvSpPr txBox="1"/>
          <p:nvPr/>
        </p:nvSpPr>
        <p:spPr>
          <a:xfrm>
            <a:off x="254000" y="139700"/>
            <a:ext cx="3583032" cy="523220"/>
          </a:xfrm>
          <a:prstGeom prst="rect">
            <a:avLst/>
          </a:prstGeom>
          <a:noFill/>
        </p:spPr>
        <p:txBody>
          <a:bodyPr wrap="none" rtlCol="0">
            <a:spAutoFit/>
          </a:bodyPr>
          <a:lstStyle/>
          <a:p>
            <a:r>
              <a:rPr lang="ja-JP" altLang="en-US" sz="2800" b="1" dirty="0">
                <a:latin typeface="Meiryo UI" panose="020B0604030504040204" pitchFamily="50" charset="-128"/>
                <a:ea typeface="Meiryo UI" panose="020B0604030504040204" pitchFamily="50" charset="-128"/>
              </a:rPr>
              <a:t>管理担当ダッシュボード</a:t>
            </a:r>
            <a:endParaRPr kumimoji="1" lang="ja-JP" altLang="en-US" sz="2800" b="1" dirty="0">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38A2F345-DFF0-D235-9252-86B9797919C5}"/>
              </a:ext>
            </a:extLst>
          </p:cNvPr>
          <p:cNvSpPr/>
          <p:nvPr/>
        </p:nvSpPr>
        <p:spPr>
          <a:xfrm>
            <a:off x="363314" y="662920"/>
            <a:ext cx="11547609" cy="5232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Meiryo UI" panose="020B0604030504040204" pitchFamily="50" charset="-128"/>
                <a:ea typeface="Meiryo UI" panose="020B0604030504040204" pitchFamily="50" charset="-128"/>
              </a:rPr>
              <a:t>管理担当は現在自身が管理している案件をマイページで一覧化し、進捗状況の遅れの確認や、受注担当への週次の案件報告や報連相を実施可能です。</a:t>
            </a:r>
          </a:p>
        </p:txBody>
      </p:sp>
    </p:spTree>
    <p:extLst>
      <p:ext uri="{BB962C8B-B14F-4D97-AF65-F5344CB8AC3E}">
        <p14:creationId xmlns:p14="http://schemas.microsoft.com/office/powerpoint/2010/main" val="17714051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B88ECB22-DF6A-4A29-CB35-9075D291C387}"/>
              </a:ext>
            </a:extLst>
          </p:cNvPr>
          <p:cNvSpPr>
            <a:spLocks noGrp="1"/>
          </p:cNvSpPr>
          <p:nvPr>
            <p:ph type="sldNum" sz="quarter" idx="12"/>
          </p:nvPr>
        </p:nvSpPr>
        <p:spPr/>
        <p:txBody>
          <a:bodyPr/>
          <a:lstStyle/>
          <a:p>
            <a:fld id="{F4EC9C95-8009-4180-AAA8-5F6B382748D2}" type="slidenum">
              <a:rPr kumimoji="1" lang="ja-JP" altLang="en-US" smtClean="0"/>
              <a:t>10</a:t>
            </a:fld>
            <a:endParaRPr kumimoji="1" lang="ja-JP" altLang="en-US"/>
          </a:p>
        </p:txBody>
      </p:sp>
      <p:pic>
        <p:nvPicPr>
          <p:cNvPr id="6" name="図 5">
            <a:extLst>
              <a:ext uri="{FF2B5EF4-FFF2-40B4-BE49-F238E27FC236}">
                <a16:creationId xmlns:a16="http://schemas.microsoft.com/office/drawing/2014/main" id="{57ECEB2F-3FE2-9DC1-3D00-F2C90F2AC092}"/>
              </a:ext>
            </a:extLst>
          </p:cNvPr>
          <p:cNvPicPr>
            <a:picLocks noChangeAspect="1"/>
          </p:cNvPicPr>
          <p:nvPr/>
        </p:nvPicPr>
        <p:blipFill>
          <a:blip r:embed="rId2"/>
          <a:stretch>
            <a:fillRect/>
          </a:stretch>
        </p:blipFill>
        <p:spPr>
          <a:xfrm>
            <a:off x="1032933" y="1528553"/>
            <a:ext cx="9533467" cy="4587026"/>
          </a:xfrm>
          <a:prstGeom prst="rect">
            <a:avLst/>
          </a:prstGeom>
        </p:spPr>
      </p:pic>
      <p:sp>
        <p:nvSpPr>
          <p:cNvPr id="8" name="テキスト ボックス 7">
            <a:extLst>
              <a:ext uri="{FF2B5EF4-FFF2-40B4-BE49-F238E27FC236}">
                <a16:creationId xmlns:a16="http://schemas.microsoft.com/office/drawing/2014/main" id="{669D5C07-D1E9-6605-8430-80F8AB150021}"/>
              </a:ext>
            </a:extLst>
          </p:cNvPr>
          <p:cNvSpPr txBox="1"/>
          <p:nvPr/>
        </p:nvSpPr>
        <p:spPr>
          <a:xfrm>
            <a:off x="254000" y="139700"/>
            <a:ext cx="2669320" cy="523220"/>
          </a:xfrm>
          <a:prstGeom prst="rect">
            <a:avLst/>
          </a:prstGeom>
          <a:noFill/>
        </p:spPr>
        <p:txBody>
          <a:bodyPr wrap="none" rtlCol="0">
            <a:spAutoFit/>
          </a:bodyPr>
          <a:lstStyle/>
          <a:p>
            <a:r>
              <a:rPr lang="ja-JP" altLang="en-US" sz="2800" b="1" dirty="0">
                <a:latin typeface="Meiryo UI" panose="020B0604030504040204" pitchFamily="50" charset="-128"/>
                <a:ea typeface="Meiryo UI" panose="020B0604030504040204" pitchFamily="50" charset="-128"/>
              </a:rPr>
              <a:t>案件進捗の把握</a:t>
            </a:r>
            <a:endParaRPr kumimoji="1" lang="ja-JP" altLang="en-US" sz="2800" b="1" dirty="0">
              <a:latin typeface="Meiryo UI" panose="020B0604030504040204" pitchFamily="50" charset="-128"/>
              <a:ea typeface="Meiryo UI" panose="020B0604030504040204" pitchFamily="50" charset="-128"/>
            </a:endParaRPr>
          </a:p>
        </p:txBody>
      </p:sp>
      <p:sp>
        <p:nvSpPr>
          <p:cNvPr id="10" name="正方形/長方形 9">
            <a:extLst>
              <a:ext uri="{FF2B5EF4-FFF2-40B4-BE49-F238E27FC236}">
                <a16:creationId xmlns:a16="http://schemas.microsoft.com/office/drawing/2014/main" id="{34C63014-5AE1-8861-F830-75B69623FE13}"/>
              </a:ext>
            </a:extLst>
          </p:cNvPr>
          <p:cNvSpPr/>
          <p:nvPr/>
        </p:nvSpPr>
        <p:spPr>
          <a:xfrm>
            <a:off x="363314" y="662920"/>
            <a:ext cx="11547609" cy="5232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Meiryo UI" panose="020B0604030504040204" pitchFamily="50" charset="-128"/>
                <a:ea typeface="Meiryo UI" panose="020B0604030504040204" pitchFamily="50" charset="-128"/>
              </a:rPr>
              <a:t>マイページから任意の案件を選択し、案件詳細画面に遷移し、案件報告タブの中に進捗サマリーというタブがあります。進捗サマリーは、事務管理のタスクの進捗状況を</a:t>
            </a:r>
            <a:r>
              <a:rPr lang="en-US" altLang="ja-JP" sz="1400" b="1" dirty="0">
                <a:solidFill>
                  <a:schemeClr val="tx1"/>
                </a:solidFill>
                <a:latin typeface="Meiryo UI" panose="020B0604030504040204" pitchFamily="50" charset="-128"/>
                <a:ea typeface="Meiryo UI" panose="020B0604030504040204" pitchFamily="50" charset="-128"/>
              </a:rPr>
              <a:t>AI</a:t>
            </a:r>
            <a:r>
              <a:rPr lang="ja-JP" altLang="en-US" sz="1400" b="1" dirty="0">
                <a:solidFill>
                  <a:schemeClr val="tx1"/>
                </a:solidFill>
                <a:latin typeface="Meiryo UI" panose="020B0604030504040204" pitchFamily="50" charset="-128"/>
                <a:ea typeface="Meiryo UI" panose="020B0604030504040204" pitchFamily="50" charset="-128"/>
              </a:rPr>
              <a:t>が収集し、自動で案件全体の進捗をまとめる機能です。</a:t>
            </a:r>
          </a:p>
        </p:txBody>
      </p:sp>
    </p:spTree>
    <p:extLst>
      <p:ext uri="{BB962C8B-B14F-4D97-AF65-F5344CB8AC3E}">
        <p14:creationId xmlns:p14="http://schemas.microsoft.com/office/powerpoint/2010/main" val="37258485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70F93-72F6-DC9B-23EB-620B644340BE}"/>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C26CE3AA-D685-8472-BFC7-FB803AD7D998}"/>
              </a:ext>
            </a:extLst>
          </p:cNvPr>
          <p:cNvSpPr>
            <a:spLocks noGrp="1"/>
          </p:cNvSpPr>
          <p:nvPr>
            <p:ph type="sldNum" sz="quarter" idx="12"/>
          </p:nvPr>
        </p:nvSpPr>
        <p:spPr/>
        <p:txBody>
          <a:bodyPr/>
          <a:lstStyle/>
          <a:p>
            <a:fld id="{F4EC9C95-8009-4180-AAA8-5F6B382748D2}" type="slidenum">
              <a:rPr kumimoji="1" lang="ja-JP" altLang="en-US" smtClean="0"/>
              <a:t>11</a:t>
            </a:fld>
            <a:endParaRPr kumimoji="1" lang="ja-JP" altLang="en-US"/>
          </a:p>
        </p:txBody>
      </p:sp>
      <p:sp>
        <p:nvSpPr>
          <p:cNvPr id="8" name="テキスト ボックス 7">
            <a:extLst>
              <a:ext uri="{FF2B5EF4-FFF2-40B4-BE49-F238E27FC236}">
                <a16:creationId xmlns:a16="http://schemas.microsoft.com/office/drawing/2014/main" id="{B71384D4-61A7-F634-228F-0B95C3685741}"/>
              </a:ext>
            </a:extLst>
          </p:cNvPr>
          <p:cNvSpPr txBox="1"/>
          <p:nvPr/>
        </p:nvSpPr>
        <p:spPr>
          <a:xfrm>
            <a:off x="254000" y="139700"/>
            <a:ext cx="3934090" cy="523220"/>
          </a:xfrm>
          <a:prstGeom prst="rect">
            <a:avLst/>
          </a:prstGeom>
          <a:noFill/>
        </p:spPr>
        <p:txBody>
          <a:bodyPr wrap="none" rtlCol="0">
            <a:spAutoFit/>
          </a:bodyPr>
          <a:lstStyle/>
          <a:p>
            <a:r>
              <a:rPr lang="ja-JP" altLang="en-US" sz="2800" b="1" dirty="0">
                <a:latin typeface="Meiryo UI" panose="020B0604030504040204" pitchFamily="50" charset="-128"/>
                <a:ea typeface="Meiryo UI" panose="020B0604030504040204" pitchFamily="50" charset="-128"/>
              </a:rPr>
              <a:t>案件進捗の報告・報連相</a:t>
            </a:r>
            <a:endParaRPr kumimoji="1" lang="ja-JP" altLang="en-US" sz="2800" b="1" dirty="0">
              <a:latin typeface="Meiryo UI" panose="020B0604030504040204" pitchFamily="50" charset="-128"/>
              <a:ea typeface="Meiryo UI" panose="020B0604030504040204" pitchFamily="50" charset="-128"/>
            </a:endParaRPr>
          </a:p>
        </p:txBody>
      </p:sp>
      <p:sp>
        <p:nvSpPr>
          <p:cNvPr id="10" name="正方形/長方形 9">
            <a:extLst>
              <a:ext uri="{FF2B5EF4-FFF2-40B4-BE49-F238E27FC236}">
                <a16:creationId xmlns:a16="http://schemas.microsoft.com/office/drawing/2014/main" id="{E829FCD4-517F-C3D3-B9EC-988F23DEC920}"/>
              </a:ext>
            </a:extLst>
          </p:cNvPr>
          <p:cNvSpPr/>
          <p:nvPr/>
        </p:nvSpPr>
        <p:spPr>
          <a:xfrm>
            <a:off x="363314" y="662920"/>
            <a:ext cx="11547609" cy="5232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Meiryo UI" panose="020B0604030504040204" pitchFamily="50" charset="-128"/>
                <a:ea typeface="Meiryo UI" panose="020B0604030504040204" pitchFamily="50" charset="-128"/>
              </a:rPr>
              <a:t>さらに、進捗サマリーの右にある案件報告や報連相タブから、いつでも受注担当に案件の報告や報連相を行えます。</a:t>
            </a:r>
          </a:p>
        </p:txBody>
      </p:sp>
      <p:pic>
        <p:nvPicPr>
          <p:cNvPr id="3" name="図 2">
            <a:extLst>
              <a:ext uri="{FF2B5EF4-FFF2-40B4-BE49-F238E27FC236}">
                <a16:creationId xmlns:a16="http://schemas.microsoft.com/office/drawing/2014/main" id="{7F8A87F8-EC55-397A-DC56-B978B4110760}"/>
              </a:ext>
            </a:extLst>
          </p:cNvPr>
          <p:cNvPicPr>
            <a:picLocks noChangeAspect="1"/>
          </p:cNvPicPr>
          <p:nvPr/>
        </p:nvPicPr>
        <p:blipFill>
          <a:blip r:embed="rId2"/>
          <a:stretch>
            <a:fillRect/>
          </a:stretch>
        </p:blipFill>
        <p:spPr>
          <a:xfrm>
            <a:off x="363314" y="1715012"/>
            <a:ext cx="6671902" cy="4480068"/>
          </a:xfrm>
          <a:prstGeom prst="rect">
            <a:avLst/>
          </a:prstGeom>
        </p:spPr>
      </p:pic>
      <p:pic>
        <p:nvPicPr>
          <p:cNvPr id="7" name="図 6">
            <a:extLst>
              <a:ext uri="{FF2B5EF4-FFF2-40B4-BE49-F238E27FC236}">
                <a16:creationId xmlns:a16="http://schemas.microsoft.com/office/drawing/2014/main" id="{ECC9B7CF-B40E-36FA-FAA5-6984C12855F0}"/>
              </a:ext>
            </a:extLst>
          </p:cNvPr>
          <p:cNvPicPr>
            <a:picLocks noChangeAspect="1"/>
          </p:cNvPicPr>
          <p:nvPr/>
        </p:nvPicPr>
        <p:blipFill>
          <a:blip r:embed="rId3"/>
          <a:stretch>
            <a:fillRect/>
          </a:stretch>
        </p:blipFill>
        <p:spPr>
          <a:xfrm>
            <a:off x="7319341" y="1709360"/>
            <a:ext cx="3015226" cy="4480069"/>
          </a:xfrm>
          <a:prstGeom prst="rect">
            <a:avLst/>
          </a:prstGeom>
        </p:spPr>
      </p:pic>
    </p:spTree>
    <p:extLst>
      <p:ext uri="{BB962C8B-B14F-4D97-AF65-F5344CB8AC3E}">
        <p14:creationId xmlns:p14="http://schemas.microsoft.com/office/powerpoint/2010/main" val="2963948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B991DAD1-59F9-D5E4-CD5A-4432CB2BE005}"/>
              </a:ext>
            </a:extLst>
          </p:cNvPr>
          <p:cNvSpPr>
            <a:spLocks noGrp="1"/>
          </p:cNvSpPr>
          <p:nvPr>
            <p:ph type="sldNum" sz="quarter" idx="12"/>
          </p:nvPr>
        </p:nvSpPr>
        <p:spPr/>
        <p:txBody>
          <a:bodyPr/>
          <a:lstStyle/>
          <a:p>
            <a:fld id="{F4EC9C95-8009-4180-AAA8-5F6B382748D2}" type="slidenum">
              <a:rPr kumimoji="1" lang="ja-JP" altLang="en-US" smtClean="0"/>
              <a:t>12</a:t>
            </a:fld>
            <a:endParaRPr kumimoji="1" lang="ja-JP" altLang="en-US"/>
          </a:p>
        </p:txBody>
      </p:sp>
      <p:sp>
        <p:nvSpPr>
          <p:cNvPr id="6" name="テキスト ボックス 5">
            <a:extLst>
              <a:ext uri="{FF2B5EF4-FFF2-40B4-BE49-F238E27FC236}">
                <a16:creationId xmlns:a16="http://schemas.microsoft.com/office/drawing/2014/main" id="{75492267-951B-D144-52D7-ACD633565476}"/>
              </a:ext>
            </a:extLst>
          </p:cNvPr>
          <p:cNvSpPr txBox="1"/>
          <p:nvPr/>
        </p:nvSpPr>
        <p:spPr>
          <a:xfrm>
            <a:off x="254000" y="139700"/>
            <a:ext cx="3515706" cy="523220"/>
          </a:xfrm>
          <a:prstGeom prst="rect">
            <a:avLst/>
          </a:prstGeom>
          <a:noFill/>
        </p:spPr>
        <p:txBody>
          <a:bodyPr wrap="none" rtlCol="0">
            <a:spAutoFit/>
          </a:bodyPr>
          <a:lstStyle/>
          <a:p>
            <a:r>
              <a:rPr lang="ja-JP" altLang="en-US" sz="2800" b="1" dirty="0">
                <a:latin typeface="Meiryo UI" panose="020B0604030504040204" pitchFamily="50" charset="-128"/>
                <a:ea typeface="Meiryo UI" panose="020B0604030504040204" pitchFamily="50" charset="-128"/>
              </a:rPr>
              <a:t>案件請求状況の把握</a:t>
            </a:r>
            <a:endParaRPr kumimoji="1" lang="ja-JP" altLang="en-US" sz="2800" b="1" dirty="0">
              <a:latin typeface="Meiryo UI" panose="020B0604030504040204" pitchFamily="50" charset="-128"/>
              <a:ea typeface="Meiryo UI" panose="020B0604030504040204" pitchFamily="50" charset="-128"/>
            </a:endParaRPr>
          </a:p>
        </p:txBody>
      </p:sp>
      <p:sp>
        <p:nvSpPr>
          <p:cNvPr id="8" name="正方形/長方形 7">
            <a:extLst>
              <a:ext uri="{FF2B5EF4-FFF2-40B4-BE49-F238E27FC236}">
                <a16:creationId xmlns:a16="http://schemas.microsoft.com/office/drawing/2014/main" id="{A65E742D-0415-8BE6-7E27-14E005437889}"/>
              </a:ext>
            </a:extLst>
          </p:cNvPr>
          <p:cNvSpPr/>
          <p:nvPr/>
        </p:nvSpPr>
        <p:spPr>
          <a:xfrm>
            <a:off x="363314" y="662920"/>
            <a:ext cx="11547609" cy="5232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Meiryo UI" panose="020B0604030504040204" pitchFamily="50" charset="-128"/>
                <a:ea typeface="Meiryo UI" panose="020B0604030504040204" pitchFamily="50" charset="-128"/>
              </a:rPr>
              <a:t>管理担当のマイページでは、自身が担当する案件の入金状況を一覧で把握可能です。</a:t>
            </a:r>
          </a:p>
        </p:txBody>
      </p:sp>
      <p:pic>
        <p:nvPicPr>
          <p:cNvPr id="10" name="図 9">
            <a:extLst>
              <a:ext uri="{FF2B5EF4-FFF2-40B4-BE49-F238E27FC236}">
                <a16:creationId xmlns:a16="http://schemas.microsoft.com/office/drawing/2014/main" id="{86A7F37F-B88A-83EE-3494-CE9C3FD4EA02}"/>
              </a:ext>
            </a:extLst>
          </p:cNvPr>
          <p:cNvPicPr>
            <a:picLocks noChangeAspect="1"/>
          </p:cNvPicPr>
          <p:nvPr/>
        </p:nvPicPr>
        <p:blipFill>
          <a:blip r:embed="rId2"/>
          <a:stretch>
            <a:fillRect/>
          </a:stretch>
        </p:blipFill>
        <p:spPr>
          <a:xfrm>
            <a:off x="363314" y="1531770"/>
            <a:ext cx="11244486" cy="4449634"/>
          </a:xfrm>
          <a:prstGeom prst="rect">
            <a:avLst/>
          </a:prstGeom>
        </p:spPr>
      </p:pic>
    </p:spTree>
    <p:extLst>
      <p:ext uri="{BB962C8B-B14F-4D97-AF65-F5344CB8AC3E}">
        <p14:creationId xmlns:p14="http://schemas.microsoft.com/office/powerpoint/2010/main" val="1949383982"/>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a:spAutoFit/>
      </a:bodyPr>
      <a:lstStyle>
        <a:defPPr algn="l" fontAlgn="t">
          <a:defRPr sz="1200" b="0" i="0" dirty="0" smtClean="0">
            <a:solidFill>
              <a:srgbClr val="0B0B0B"/>
            </a:solidFill>
            <a:effectLst/>
            <a:latin typeface="Meiryo UI" panose="020B0604030504040204" pitchFamily="50" charset="-128"/>
            <a:ea typeface="Meiryo UI" panose="020B0604030504040204" pitchFamily="50" charset="-128"/>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926</TotalTime>
  <Words>628</Words>
  <Application>Microsoft Office PowerPoint</Application>
  <PresentationFormat>ワイド画面</PresentationFormat>
  <Paragraphs>72</Paragraphs>
  <Slides>12</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12</vt:i4>
      </vt:variant>
    </vt:vector>
  </HeadingPairs>
  <TitlesOfParts>
    <vt:vector size="18" baseType="lpstr">
      <vt:lpstr>Meiryo UI</vt:lpstr>
      <vt:lpstr>游ゴシック</vt:lpstr>
      <vt:lpstr>游ゴシック Light</vt:lpstr>
      <vt:lpstr>Arial</vt:lpstr>
      <vt:lpstr>Wingdings</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優 福島</dc:creator>
  <cp:lastModifiedBy>優 福島</cp:lastModifiedBy>
  <cp:revision>4</cp:revision>
  <dcterms:created xsi:type="dcterms:W3CDTF">2026-08-04T16:39:06Z</dcterms:created>
  <dcterms:modified xsi:type="dcterms:W3CDTF">2026-08-05T08:06:03Z</dcterms:modified>
</cp:coreProperties>
</file>