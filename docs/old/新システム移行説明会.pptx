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0" r:id="rId10"/>
    <p:sldId id="271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8A"/>
    <a:srgbClr val="C5E0B4"/>
    <a:srgbClr val="EF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47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お集まりいただきありがとうございます。7月6日から新しい業務管理システムのミニマム運用を開始します。本日はその目的・使い方・スケジュール・利用開始方法をご説明します。約1時間、よろしく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本日の流れです。まず『なぜこのシステムに移行するのか』、次に『どう段階的に使っていくか（移行方針）』、そして『スケジュール』『利用開始方法』の順にご説明します。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は、エクセル・手書き・紙が分かれていて、同じことを何度も書き写したり、状況を探すのに時間がかかっています。新システムでは、案件の情報をひとつに集約します。一度入れれば使い回せて、進捗も請求も同じ画面で見えます。目的は皆さんの手間を減らす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大きくは4つ。ひとつに集約する『一元管理』、書き写しをなくす『転記レス』、状況が見える『見える化』、そしてやることを覚えておく『抜け漏れ防止』です。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が機能の全体マップです。青くハイライトしているのが、今回のミニマムで使う機能です。相談案件登録・案件一覧・マイページ・管理担当アサイン・各種請求書、そして任意でAI書類作成。グレーの機能はいったんお休みで、これまで通り各担当で管理し、トライアルを経て約1ヶ月後に解放します。全部を一度に始めず、まず使う範囲を絞る、という考え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DD78-E5B3-048E-976C-C660CF7F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9DC75-147C-6B9A-050D-064148728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1CA3D-C6A1-2B15-337C-E20F98374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が機能の全体マップです。青くハイライトしているのが、今回のミニマムで使う機能です。相談案件登録・案件一覧・マイページ・管理担当アサイン・各種請求書、そして任意でAI書類作成。グレーの機能はいったんお休みで、これまで通り各担当で管理し、トライアルを経て約1ヶ月後に解放します。全部を一度に始めず、まず使う範囲を絞る、という考え方です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01716-CF5D-0810-B84E-FA8FDE3DA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68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使い方です。面談結果を登録して案件を作る、管理担当をアサインする、受注になったら前受金請求書を出す、事務管理へ引き継いだら対応中にする、完了したら立替実費を入れて確定請求と立替実費請求書を作る。これだけです。加えて、依頼者と被相続人情報を入れた方は、AIで契約書・委任状・郵送確認票も作れます（任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月6日からミニマム運用を開始します。そこから約1ヶ月トライアルを行い、実際に使いながら課題を洗い出して仕様を調整します。そのうえでフル機能をリリースする予定です。トライアル中に仕様を変える可能性が高いので、フルで使える機能の範囲は変わることがあります、という点はご了承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アカウントを発行するのは、管理担当・受注担当・LP担当の皆さんです。ID・パスワードとログインURLを、7月6日月曜日の朝までにお送りします。届いたらURLを開いて、IDとパスワードでログインするだけで、すぐに使い始め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スワードについてです。初回はお送りする初期パスワードでログインし、そのあとプロフィール画面から必ずご自分のパスワードに変更してください。もしパスワードを忘れてしまったら、管理者の福島（suguru.fukushima@congen-ai.com）まで連絡ください。こちらで再設定して新しいパスワード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最初から完璧を目指さず、まず小さく確実に始めます。使ってみて気づいたことは何でも教えてください。トライアル期間で一緒に良いものにしていきましょう。本日はありがとうございました。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412480" y="4206240"/>
            <a:ext cx="5943600" cy="5943600"/>
          </a:xfrm>
          <a:prstGeom prst="ellipse">
            <a:avLst/>
          </a:prstGeom>
          <a:solidFill>
            <a:srgbClr val="2F5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875520" y="5120640"/>
            <a:ext cx="4114800" cy="4114800"/>
          </a:xfrm>
          <a:prstGeom prst="ellipse">
            <a:avLst/>
          </a:prstGeom>
          <a:solidFill>
            <a:srgbClr val="0092C7">
              <a:alpha val="1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13232" y="685800"/>
            <a:ext cx="2048256" cy="1542288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828800" cy="1359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業務管理システム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新システム移行説明会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これまでの管理を、“楽に・確実に”へ。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8680" y="521208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051560" y="5212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ミニマム運用開始  </a:t>
            </a: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2026年7月16日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6126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株式会社オーシャン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本日お話しすること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27080" cy="932688"/>
          </a:xfrm>
          <a:prstGeom prst="roundRect">
            <a:avLst>
              <a:gd name="adj" fmla="val 5882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65960" y="2157984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2951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209397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このシステムが実現すること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743200" y="2468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なぜ移行するのか／何が楽になるのか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026664"/>
            <a:ext cx="10927080" cy="932688"/>
          </a:xfrm>
          <a:prstGeom prst="roundRect">
            <a:avLst>
              <a:gd name="adj" fmla="val 5882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68680" y="3026664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965960" y="3218688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3558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3154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移行方針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743200" y="352958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ミニマム運用 → 1ヶ月後のフル機能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087368"/>
            <a:ext cx="10927080" cy="932688"/>
          </a:xfrm>
          <a:prstGeom prst="roundRect">
            <a:avLst>
              <a:gd name="adj" fmla="val 5882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/>
          <p:nvPr/>
        </p:nvSpPr>
        <p:spPr>
          <a:xfrm>
            <a:off x="868680" y="4087368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1965960" y="4279392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44165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43200" y="421538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スケジュール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743200" y="45902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7/6 開始とトライアル期間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5148072"/>
            <a:ext cx="10927080" cy="932688"/>
          </a:xfrm>
          <a:prstGeom prst="roundRect">
            <a:avLst>
              <a:gd name="adj" fmla="val 5882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868680" y="5148072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965960" y="5340096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547725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43200" y="52760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利用開始方法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2743200" y="5650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アカウント発行と初回ログイン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2F58D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092C7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18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PURPOSE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このシステムが実現すること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「管理のための作業」を減らし、本来の業務に集中できるように。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36576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404164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WHY WE MOVE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なぜ、新しいシステムに移行するのか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480560"/>
          </a:xfrm>
          <a:prstGeom prst="roundRect">
            <a:avLst>
              <a:gd name="adj" fmla="val 1224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2037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いままで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エクセル・手書き・紙がバラバラ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821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08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同じ情報を何度も転記している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319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8587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「あの案件どうなってる？」を探すのに時間がかかる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8172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6085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担当者しか分からず、属人化している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3153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53583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転記ミス・対応の抜け漏れが起きやすい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519672" y="1783080"/>
            <a:ext cx="5029200" cy="4480560"/>
          </a:xfrm>
          <a:prstGeom prst="roundRect">
            <a:avLst>
              <a:gd name="adj" fmla="val 1224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1"/>
          <p:cNvSpPr/>
          <p:nvPr/>
        </p:nvSpPr>
        <p:spPr>
          <a:xfrm>
            <a:off x="6839712" y="2057400"/>
            <a:ext cx="566928" cy="566928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2203704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71232" y="2084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このシステム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7571232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案件情報をひとつの画面に集約</a:t>
            </a:r>
            <a:endParaRPr lang="en-US" sz="12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182112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96912" y="3108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入力は一度だけ。転記の手間がなくなる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93192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296912" y="38587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進捗・請求・書類が同じ画面で一目で分かる</a:t>
            </a:r>
            <a:endParaRPr lang="en-US" sz="14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4681728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296912" y="46085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誰が見ても状況が分かり、引き継ぎが楽</a:t>
            </a:r>
            <a:endParaRPr lang="en-US" sz="14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5431536"/>
            <a:ext cx="256032" cy="25603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296912" y="53583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やること・期日が明確で、抜け漏れが減る</a:t>
            </a:r>
            <a:endParaRPr lang="en-US" sz="14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703320"/>
            <a:ext cx="502920" cy="50292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WHAT IT BRINGS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移行で、こう変わります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70048" cy="35661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472184" y="2377440"/>
            <a:ext cx="1005840" cy="1005840"/>
          </a:xfrm>
          <a:prstGeom prst="ellipse">
            <a:avLst/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6616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一元管理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6112" y="4069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案件・依頼者・請求・書類をひとつの場所に。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83864" y="1965960"/>
            <a:ext cx="2670048" cy="35661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315968" y="2377440"/>
            <a:ext cx="1005840" cy="1005840"/>
          </a:xfrm>
          <a:prstGeom prst="ellipse">
            <a:avLst/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356616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転記レス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739896" y="4069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一度入力すれば、契約書や請求書に自動で反映。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327648" y="1965960"/>
            <a:ext cx="2670048" cy="35661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7159752" y="2377440"/>
            <a:ext cx="1005840" cy="1005840"/>
          </a:xfrm>
          <a:prstGeom prst="ellipse">
            <a:avLst/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356616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見える化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583680" y="4069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進捗・担当・期日がひと目で分かる。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171432" y="1965960"/>
            <a:ext cx="2670048" cy="356616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10003536" y="2377440"/>
            <a:ext cx="1005840" cy="1005840"/>
          </a:xfrm>
          <a:prstGeom prst="ellipse">
            <a:avLst/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56" y="26517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56616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抜け漏れ防止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427464" y="406908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やること・期日をシステムが覚えておく。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806440"/>
            <a:ext cx="10927080" cy="640080"/>
          </a:xfrm>
          <a:prstGeom prst="roundRect">
            <a:avLst>
              <a:gd name="adj" fmla="val 8571"/>
            </a:avLst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/>
          <p:nvPr/>
        </p:nvSpPr>
        <p:spPr>
          <a:xfrm>
            <a:off x="91440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➡  “管理のための作業”を減らし、皆さんが本来の業務に集中できるようにするのが目的です。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2F58D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092C7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18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ROLLOUT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移行方針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まずは小さく確実に。1ヶ月後にフル機能へ広げます。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36576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404164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使う機能マップ ── 今回はここだけ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56248" y="5852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903720" y="5212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今回のミニマム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21240" y="6035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FF2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268712" y="539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1ヶ月後に解放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41248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455164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相談案件登録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58963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3060131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575" y="2455164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41843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案件一覧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77846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5279014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2458" y="24551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60726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マイページ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296729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6"/>
          <p:cNvSpPr/>
          <p:nvPr/>
        </p:nvSpPr>
        <p:spPr>
          <a:xfrm>
            <a:off x="7497897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341" y="24551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9609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管理担当アサイン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515612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9"/>
          <p:cNvSpPr/>
          <p:nvPr/>
        </p:nvSpPr>
        <p:spPr>
          <a:xfrm>
            <a:off x="9716780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224" y="245516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8492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前受金請求書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2"/>
          <p:cNvSpPr/>
          <p:nvPr/>
        </p:nvSpPr>
        <p:spPr>
          <a:xfrm>
            <a:off x="841248" y="36850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3808476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確定・立替実費請求</a:t>
            </a:r>
            <a:r>
              <a:rPr lang="ja-JP" alt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858963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5"/>
          <p:cNvSpPr/>
          <p:nvPr/>
        </p:nvSpPr>
        <p:spPr>
          <a:xfrm>
            <a:off x="4181734" y="36484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6"/>
          <p:cNvSpPr/>
          <p:nvPr/>
        </p:nvSpPr>
        <p:spPr>
          <a:xfrm>
            <a:off x="4181734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50" b="1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060131" y="36850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3575" y="3808476"/>
            <a:ext cx="246888" cy="2468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041843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AI書類作成</a:t>
            </a:r>
            <a:endParaRPr lang="en-US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Shape 29"/>
          <p:cNvSpPr/>
          <p:nvPr/>
        </p:nvSpPr>
        <p:spPr>
          <a:xfrm>
            <a:off x="5077846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0"/>
          <p:cNvSpPr/>
          <p:nvPr/>
        </p:nvSpPr>
        <p:spPr>
          <a:xfrm>
            <a:off x="6254313" y="36484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1"/>
          <p:cNvSpPr/>
          <p:nvPr/>
        </p:nvSpPr>
        <p:spPr>
          <a:xfrm>
            <a:off x="6254313" y="3648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279014" y="3685032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2458" y="3808476"/>
            <a:ext cx="246888" cy="2468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60726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タスク進捗管理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7296729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C5E0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37"/>
          <p:cNvSpPr/>
          <p:nvPr/>
        </p:nvSpPr>
        <p:spPr>
          <a:xfrm>
            <a:off x="7497897" y="3685032"/>
            <a:ext cx="493776" cy="49377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1341" y="3808476"/>
            <a:ext cx="246888" cy="24688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479609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到着物受信簿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Shape 39"/>
          <p:cNvSpPr/>
          <p:nvPr/>
        </p:nvSpPr>
        <p:spPr>
          <a:xfrm>
            <a:off x="9515612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0"/>
          <p:cNvSpPr/>
          <p:nvPr/>
        </p:nvSpPr>
        <p:spPr>
          <a:xfrm>
            <a:off x="10692079" y="36484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1"/>
          <p:cNvSpPr/>
          <p:nvPr/>
        </p:nvSpPr>
        <p:spPr>
          <a:xfrm>
            <a:off x="10692079" y="3648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9716780" y="3685032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0224" y="3808476"/>
            <a:ext cx="246888" cy="2468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9698492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640080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5"/>
          <p:cNvSpPr/>
          <p:nvPr/>
        </p:nvSpPr>
        <p:spPr>
          <a:xfrm>
            <a:off x="1816547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46"/>
          <p:cNvSpPr/>
          <p:nvPr/>
        </p:nvSpPr>
        <p:spPr>
          <a:xfrm>
            <a:off x="1816547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841248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692" y="5161788"/>
            <a:ext cx="246888" cy="24688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822960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事務管理タスク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管理機能</a:t>
            </a:r>
            <a:endParaRPr lang="en-US" sz="1200" dirty="0"/>
          </a:p>
        </p:txBody>
      </p:sp>
      <p:sp>
        <p:nvSpPr>
          <p:cNvPr id="62" name="Shape 49"/>
          <p:cNvSpPr/>
          <p:nvPr/>
        </p:nvSpPr>
        <p:spPr>
          <a:xfrm>
            <a:off x="2858963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0"/>
          <p:cNvSpPr/>
          <p:nvPr/>
        </p:nvSpPr>
        <p:spPr>
          <a:xfrm>
            <a:off x="4035430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51"/>
          <p:cNvSpPr/>
          <p:nvPr/>
        </p:nvSpPr>
        <p:spPr>
          <a:xfrm>
            <a:off x="4035430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3060131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83575" y="5161788"/>
            <a:ext cx="246888" cy="24688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3041843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altLang="ja-JP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各手続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の詳細管理機能</a:t>
            </a:r>
            <a:endParaRPr lang="en-US" altLang="ja-JP" sz="1200" dirty="0"/>
          </a:p>
        </p:txBody>
      </p:sp>
      <p:sp>
        <p:nvSpPr>
          <p:cNvPr id="68" name="Shape 54"/>
          <p:cNvSpPr/>
          <p:nvPr/>
        </p:nvSpPr>
        <p:spPr>
          <a:xfrm>
            <a:off x="5077846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5"/>
          <p:cNvSpPr/>
          <p:nvPr/>
        </p:nvSpPr>
        <p:spPr>
          <a:xfrm>
            <a:off x="6254313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6"/>
          <p:cNvSpPr/>
          <p:nvPr/>
        </p:nvSpPr>
        <p:spPr>
          <a:xfrm>
            <a:off x="6254313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71" name="Shape 57"/>
          <p:cNvSpPr/>
          <p:nvPr/>
        </p:nvSpPr>
        <p:spPr>
          <a:xfrm>
            <a:off x="5279014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2458" y="5161788"/>
            <a:ext cx="246888" cy="246888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5260726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altLang="ja-JP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ダッシュボード／稼働状況</a:t>
            </a:r>
            <a:endParaRPr lang="en-US" altLang="ja-JP" sz="1200" dirty="0"/>
          </a:p>
        </p:txBody>
      </p:sp>
      <p:sp>
        <p:nvSpPr>
          <p:cNvPr id="74" name="Shape 59"/>
          <p:cNvSpPr/>
          <p:nvPr/>
        </p:nvSpPr>
        <p:spPr>
          <a:xfrm>
            <a:off x="7296729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60"/>
          <p:cNvSpPr/>
          <p:nvPr/>
        </p:nvSpPr>
        <p:spPr>
          <a:xfrm>
            <a:off x="8473196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61"/>
          <p:cNvSpPr/>
          <p:nvPr/>
        </p:nvSpPr>
        <p:spPr>
          <a:xfrm>
            <a:off x="8473196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77" name="Shape 62"/>
          <p:cNvSpPr/>
          <p:nvPr/>
        </p:nvSpPr>
        <p:spPr>
          <a:xfrm>
            <a:off x="7497897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1341" y="5161788"/>
            <a:ext cx="246888" cy="246888"/>
          </a:xfrm>
          <a:prstGeom prst="rect">
            <a:avLst/>
          </a:prstGeom>
        </p:spPr>
      </p:pic>
      <p:sp>
        <p:nvSpPr>
          <p:cNvPr id="79" name="Text 63"/>
          <p:cNvSpPr/>
          <p:nvPr/>
        </p:nvSpPr>
        <p:spPr>
          <a:xfrm>
            <a:off x="7479609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</a:rPr>
              <a:t>レポート作成機能</a:t>
            </a:r>
            <a:endParaRPr lang="en-US" sz="1200" dirty="0"/>
          </a:p>
        </p:txBody>
      </p:sp>
      <p:sp>
        <p:nvSpPr>
          <p:cNvPr id="80" name="Shape 64"/>
          <p:cNvSpPr/>
          <p:nvPr/>
        </p:nvSpPr>
        <p:spPr>
          <a:xfrm>
            <a:off x="9515612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65"/>
          <p:cNvSpPr/>
          <p:nvPr/>
        </p:nvSpPr>
        <p:spPr>
          <a:xfrm>
            <a:off x="10692079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66"/>
          <p:cNvSpPr/>
          <p:nvPr/>
        </p:nvSpPr>
        <p:spPr>
          <a:xfrm>
            <a:off x="10692079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83" name="Shape 67"/>
          <p:cNvSpPr/>
          <p:nvPr/>
        </p:nvSpPr>
        <p:spPr>
          <a:xfrm>
            <a:off x="9716780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40224" y="5161788"/>
            <a:ext cx="246888" cy="246888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9698492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チャットサポート</a:t>
            </a:r>
            <a:r>
              <a:rPr lang="en-US" altLang="ja-JP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マニュアル</a:t>
            </a:r>
            <a:endParaRPr lang="en-US" sz="1200" dirty="0"/>
          </a:p>
        </p:txBody>
      </p:sp>
      <p:sp>
        <p:nvSpPr>
          <p:cNvPr id="86" name="Shape 69"/>
          <p:cNvSpPr/>
          <p:nvPr/>
        </p:nvSpPr>
        <p:spPr>
          <a:xfrm>
            <a:off x="640080" y="6199632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7" name="Text 70"/>
          <p:cNvSpPr/>
          <p:nvPr/>
        </p:nvSpPr>
        <p:spPr>
          <a:xfrm>
            <a:off x="914400" y="6199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まずは小さく。 </a:t>
            </a:r>
            <a:r>
              <a:rPr lang="en-US" sz="12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青の機能から運用を開始し、進行ゲート等の自動制御を含む残りは、トライアル後（約1ヶ月）に解放します。</a:t>
            </a:r>
            <a:endParaRPr lang="en-US" sz="1250" dirty="0"/>
          </a:p>
        </p:txBody>
      </p:sp>
      <p:sp>
        <p:nvSpPr>
          <p:cNvPr id="88" name="Text 7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000" dirty="0"/>
          </a:p>
        </p:txBody>
      </p:sp>
      <p:sp>
        <p:nvSpPr>
          <p:cNvPr id="89" name="Shape 2">
            <a:extLst>
              <a:ext uri="{FF2B5EF4-FFF2-40B4-BE49-F238E27FC236}">
                <a16:creationId xmlns:a16="http://schemas.microsoft.com/office/drawing/2014/main" id="{9835356B-3B8D-335A-EC9E-FB239E024210}"/>
              </a:ext>
            </a:extLst>
          </p:cNvPr>
          <p:cNvSpPr/>
          <p:nvPr/>
        </p:nvSpPr>
        <p:spPr>
          <a:xfrm>
            <a:off x="8156448" y="566928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3">
            <a:extLst>
              <a:ext uri="{FF2B5EF4-FFF2-40B4-BE49-F238E27FC236}">
                <a16:creationId xmlns:a16="http://schemas.microsoft.com/office/drawing/2014/main" id="{83F81AD9-0F93-ACE9-7397-C5D65A5342BF}"/>
              </a:ext>
            </a:extLst>
          </p:cNvPr>
          <p:cNvSpPr/>
          <p:nvPr/>
        </p:nvSpPr>
        <p:spPr>
          <a:xfrm>
            <a:off x="8503920" y="5029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chemeClr val="accent6">
                    <a:lumMod val="75000"/>
                  </a:schemeClr>
                </a:solidFill>
                <a:latin typeface="Meiryo UI" pitchFamily="34" charset="0"/>
                <a:ea typeface="Meiryo UI" pitchFamily="34" charset="-122"/>
              </a:rPr>
              <a:t>今回一部利用可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B445-40C7-B10F-8225-60841F5F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76586B-2E29-C003-1A9C-2C363DA571D7}"/>
              </a:ext>
            </a:extLst>
          </p:cNvPr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4D86C7-BE81-8EF3-7A67-F4BD2ED4B8F7}"/>
              </a:ext>
            </a:extLst>
          </p:cNvPr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使う機能マップ ── 今回はここだけ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566AA3-8AED-D321-77BB-94519BFC2492}"/>
              </a:ext>
            </a:extLst>
          </p:cNvPr>
          <p:cNvSpPr/>
          <p:nvPr/>
        </p:nvSpPr>
        <p:spPr>
          <a:xfrm>
            <a:off x="6556248" y="5852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653B17-3323-FEC6-1FDF-8861B2024D30}"/>
              </a:ext>
            </a:extLst>
          </p:cNvPr>
          <p:cNvSpPr/>
          <p:nvPr/>
        </p:nvSpPr>
        <p:spPr>
          <a:xfrm>
            <a:off x="6903720" y="5212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今回のミニマム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615E8A-A9AB-4996-8EF7-B31218B33BE0}"/>
              </a:ext>
            </a:extLst>
          </p:cNvPr>
          <p:cNvSpPr/>
          <p:nvPr/>
        </p:nvSpPr>
        <p:spPr>
          <a:xfrm>
            <a:off x="9921240" y="6035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FF2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C8D66F-88E6-4BCA-253F-9985BCD205CA}"/>
              </a:ext>
            </a:extLst>
          </p:cNvPr>
          <p:cNvSpPr/>
          <p:nvPr/>
        </p:nvSpPr>
        <p:spPr>
          <a:xfrm>
            <a:off x="10268712" y="539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1ヶ月後に解放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7B4F87-135A-DC44-493C-DB563E1F4C5E}"/>
              </a:ext>
            </a:extLst>
          </p:cNvPr>
          <p:cNvSpPr/>
          <p:nvPr/>
        </p:nvSpPr>
        <p:spPr>
          <a:xfrm>
            <a:off x="640080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FFC000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E0098D-ACEE-C4C1-D37D-E3BAB8BD6D37}"/>
              </a:ext>
            </a:extLst>
          </p:cNvPr>
          <p:cNvSpPr/>
          <p:nvPr/>
        </p:nvSpPr>
        <p:spPr>
          <a:xfrm>
            <a:off x="841248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0CD51CC-B526-A4D5-3808-39B8A7239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455164"/>
            <a:ext cx="246888" cy="246888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86B94B5-E1D9-F150-6A86-6BD38E4C1BAF}"/>
              </a:ext>
            </a:extLst>
          </p:cNvPr>
          <p:cNvSpPr/>
          <p:nvPr/>
        </p:nvSpPr>
        <p:spPr>
          <a:xfrm>
            <a:off x="822960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相談案件登録</a:t>
            </a:r>
            <a:endParaRPr lang="en-US" sz="12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91ED9EE-CEE3-DC42-3C2A-BF52C449318A}"/>
              </a:ext>
            </a:extLst>
          </p:cNvPr>
          <p:cNvSpPr/>
          <p:nvPr/>
        </p:nvSpPr>
        <p:spPr>
          <a:xfrm>
            <a:off x="2858963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0F2082D-F891-0373-2892-3EED0D6891CF}"/>
              </a:ext>
            </a:extLst>
          </p:cNvPr>
          <p:cNvSpPr/>
          <p:nvPr/>
        </p:nvSpPr>
        <p:spPr>
          <a:xfrm>
            <a:off x="3060131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8179E488-26E1-24EE-6F7C-C239AA511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575" y="2455164"/>
            <a:ext cx="246888" cy="24688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140DE15-889E-18D7-FFF8-624B239F5F88}"/>
              </a:ext>
            </a:extLst>
          </p:cNvPr>
          <p:cNvSpPr/>
          <p:nvPr/>
        </p:nvSpPr>
        <p:spPr>
          <a:xfrm>
            <a:off x="3041843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案件一覧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20B4ABE-FCBA-34E5-7ACF-87D0C86539B0}"/>
              </a:ext>
            </a:extLst>
          </p:cNvPr>
          <p:cNvSpPr/>
          <p:nvPr/>
        </p:nvSpPr>
        <p:spPr>
          <a:xfrm>
            <a:off x="5077846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68494BA-566B-7D68-3806-A15285DCA252}"/>
              </a:ext>
            </a:extLst>
          </p:cNvPr>
          <p:cNvSpPr/>
          <p:nvPr/>
        </p:nvSpPr>
        <p:spPr>
          <a:xfrm>
            <a:off x="5279014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43B26CB6-370D-BBAF-6814-0EEA0BE7E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2458" y="2455164"/>
            <a:ext cx="246888" cy="246888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065E1655-7300-F51B-5A5A-90FB137396EB}"/>
              </a:ext>
            </a:extLst>
          </p:cNvPr>
          <p:cNvSpPr/>
          <p:nvPr/>
        </p:nvSpPr>
        <p:spPr>
          <a:xfrm>
            <a:off x="5260726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マイページ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B4AA99B2-956C-7BB0-F5AF-3927C99BD2B8}"/>
              </a:ext>
            </a:extLst>
          </p:cNvPr>
          <p:cNvSpPr/>
          <p:nvPr/>
        </p:nvSpPr>
        <p:spPr>
          <a:xfrm>
            <a:off x="7296729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2F58D4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D7974D5-4193-A00A-0AC6-7305ECAC34E2}"/>
              </a:ext>
            </a:extLst>
          </p:cNvPr>
          <p:cNvSpPr/>
          <p:nvPr/>
        </p:nvSpPr>
        <p:spPr>
          <a:xfrm>
            <a:off x="7497897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7DB6BFC7-AD52-D5FB-49D8-E6285B7B0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341" y="2455164"/>
            <a:ext cx="246888" cy="246888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82C6B5A3-4297-C884-A290-5F826CCD460A}"/>
              </a:ext>
            </a:extLst>
          </p:cNvPr>
          <p:cNvSpPr/>
          <p:nvPr/>
        </p:nvSpPr>
        <p:spPr>
          <a:xfrm>
            <a:off x="7479609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管理担当アサイン</a:t>
            </a:r>
            <a:endParaRPr lang="en-US" sz="12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5D6F278A-AA7F-9248-960E-847D9FE770E2}"/>
              </a:ext>
            </a:extLst>
          </p:cNvPr>
          <p:cNvSpPr/>
          <p:nvPr/>
        </p:nvSpPr>
        <p:spPr>
          <a:xfrm>
            <a:off x="9515612" y="2148840"/>
            <a:ext cx="2036003" cy="1170432"/>
          </a:xfrm>
          <a:prstGeom prst="roundRect">
            <a:avLst>
              <a:gd name="adj" fmla="val 5469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D6B5048-9912-2BEC-8A8E-406BE557F871}"/>
              </a:ext>
            </a:extLst>
          </p:cNvPr>
          <p:cNvSpPr/>
          <p:nvPr/>
        </p:nvSpPr>
        <p:spPr>
          <a:xfrm>
            <a:off x="9716780" y="233172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473C77C8-29AB-3EE5-CA99-3E2ED6B9D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224" y="2455164"/>
            <a:ext cx="246888" cy="246888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BA2B0D34-79D9-F3F6-06B9-BDFBB3978194}"/>
              </a:ext>
            </a:extLst>
          </p:cNvPr>
          <p:cNvSpPr/>
          <p:nvPr/>
        </p:nvSpPr>
        <p:spPr>
          <a:xfrm>
            <a:off x="9698492" y="289864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前受金請求書</a:t>
            </a:r>
            <a:endParaRPr lang="en-US" sz="12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B1015B34-EBA9-08A9-C99F-72A4186BDA6B}"/>
              </a:ext>
            </a:extLst>
          </p:cNvPr>
          <p:cNvSpPr/>
          <p:nvPr/>
        </p:nvSpPr>
        <p:spPr>
          <a:xfrm>
            <a:off x="640080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6B78BA5C-0CBA-C539-98DA-A4331AE7BE2D}"/>
              </a:ext>
            </a:extLst>
          </p:cNvPr>
          <p:cNvSpPr/>
          <p:nvPr/>
        </p:nvSpPr>
        <p:spPr>
          <a:xfrm>
            <a:off x="841248" y="36850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7D235E1E-6998-DF35-A40E-9EA8C8A6A4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3808476"/>
            <a:ext cx="246888" cy="246888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DAC738A8-56AA-E412-AF4D-8329AD6DB60E}"/>
              </a:ext>
            </a:extLst>
          </p:cNvPr>
          <p:cNvSpPr/>
          <p:nvPr/>
        </p:nvSpPr>
        <p:spPr>
          <a:xfrm>
            <a:off x="822960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確定・立替実費請求</a:t>
            </a:r>
            <a:r>
              <a:rPr lang="ja-JP" alt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</a:t>
            </a:r>
            <a:endParaRPr lang="en-US" sz="12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B09F13A1-A6D5-03B8-B39A-A8617B517D55}"/>
              </a:ext>
            </a:extLst>
          </p:cNvPr>
          <p:cNvSpPr/>
          <p:nvPr/>
        </p:nvSpPr>
        <p:spPr>
          <a:xfrm>
            <a:off x="2858963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364BA9F5-C2D4-9288-88E0-EAD270A3D7E0}"/>
              </a:ext>
            </a:extLst>
          </p:cNvPr>
          <p:cNvSpPr/>
          <p:nvPr/>
        </p:nvSpPr>
        <p:spPr>
          <a:xfrm>
            <a:off x="4181734" y="36484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5BB344AE-AF26-7A3F-A6CF-E1A461E0D504}"/>
              </a:ext>
            </a:extLst>
          </p:cNvPr>
          <p:cNvSpPr/>
          <p:nvPr/>
        </p:nvSpPr>
        <p:spPr>
          <a:xfrm>
            <a:off x="4181734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50" b="1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</a:t>
            </a:r>
            <a:endParaRPr lang="en-US" sz="95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185B698C-D446-F18E-BC57-5127DD1EF490}"/>
              </a:ext>
            </a:extLst>
          </p:cNvPr>
          <p:cNvSpPr/>
          <p:nvPr/>
        </p:nvSpPr>
        <p:spPr>
          <a:xfrm>
            <a:off x="3060131" y="368503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F4BFA00C-9832-2149-79BA-A616171061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3575" y="3808476"/>
            <a:ext cx="246888" cy="246888"/>
          </a:xfrm>
          <a:prstGeom prst="rect">
            <a:avLst/>
          </a:prstGeom>
        </p:spPr>
      </p:pic>
      <p:sp>
        <p:nvSpPr>
          <p:cNvPr id="37" name="Text 28">
            <a:extLst>
              <a:ext uri="{FF2B5EF4-FFF2-40B4-BE49-F238E27FC236}">
                <a16:creationId xmlns:a16="http://schemas.microsoft.com/office/drawing/2014/main" id="{9A5B85BC-DBAB-CFFD-5137-3381C9F4DA6F}"/>
              </a:ext>
            </a:extLst>
          </p:cNvPr>
          <p:cNvSpPr/>
          <p:nvPr/>
        </p:nvSpPr>
        <p:spPr>
          <a:xfrm>
            <a:off x="3041843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AI書類作成</a:t>
            </a:r>
            <a:endParaRPr lang="en-US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9DA54DDF-5664-DC8E-3883-D0D29135BB71}"/>
              </a:ext>
            </a:extLst>
          </p:cNvPr>
          <p:cNvSpPr/>
          <p:nvPr/>
        </p:nvSpPr>
        <p:spPr>
          <a:xfrm>
            <a:off x="5077846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3164607E-18A6-05F1-C189-1D9F46341F20}"/>
              </a:ext>
            </a:extLst>
          </p:cNvPr>
          <p:cNvSpPr/>
          <p:nvPr/>
        </p:nvSpPr>
        <p:spPr>
          <a:xfrm>
            <a:off x="6254313" y="36484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B8AC19DD-87F4-8206-C2C4-B121D890CFC9}"/>
              </a:ext>
            </a:extLst>
          </p:cNvPr>
          <p:cNvSpPr/>
          <p:nvPr/>
        </p:nvSpPr>
        <p:spPr>
          <a:xfrm>
            <a:off x="6254313" y="3648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BAA0EDD3-DF32-B3BD-900A-509C627D1A8A}"/>
              </a:ext>
            </a:extLst>
          </p:cNvPr>
          <p:cNvSpPr/>
          <p:nvPr/>
        </p:nvSpPr>
        <p:spPr>
          <a:xfrm>
            <a:off x="5279014" y="3685032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7" descr="preencoded.png">
            <a:extLst>
              <a:ext uri="{FF2B5EF4-FFF2-40B4-BE49-F238E27FC236}">
                <a16:creationId xmlns:a16="http://schemas.microsoft.com/office/drawing/2014/main" id="{9A33FA90-2DE0-1D3D-1F07-2707022A13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2458" y="3808476"/>
            <a:ext cx="246888" cy="246888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5588950B-5900-F9D6-7BB4-F70174B9ECF7}"/>
              </a:ext>
            </a:extLst>
          </p:cNvPr>
          <p:cNvSpPr/>
          <p:nvPr/>
        </p:nvSpPr>
        <p:spPr>
          <a:xfrm>
            <a:off x="5260726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タスク進捗管理</a:t>
            </a:r>
            <a:endParaRPr lang="en-US" sz="1200" dirty="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0DD7EC47-440D-282A-D0FD-B1FB3EB8B5E3}"/>
              </a:ext>
            </a:extLst>
          </p:cNvPr>
          <p:cNvSpPr/>
          <p:nvPr/>
        </p:nvSpPr>
        <p:spPr>
          <a:xfrm>
            <a:off x="7296729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9431A249-84C5-9F29-59B4-11F95864403E}"/>
              </a:ext>
            </a:extLst>
          </p:cNvPr>
          <p:cNvSpPr/>
          <p:nvPr/>
        </p:nvSpPr>
        <p:spPr>
          <a:xfrm>
            <a:off x="8473196" y="36484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002E8DCF-8986-FA07-F1E7-C96673A00B25}"/>
              </a:ext>
            </a:extLst>
          </p:cNvPr>
          <p:cNvSpPr/>
          <p:nvPr/>
        </p:nvSpPr>
        <p:spPr>
          <a:xfrm>
            <a:off x="8473196" y="3648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7A30E11F-48DB-E61C-A09D-7C94541B83D0}"/>
              </a:ext>
            </a:extLst>
          </p:cNvPr>
          <p:cNvSpPr/>
          <p:nvPr/>
        </p:nvSpPr>
        <p:spPr>
          <a:xfrm>
            <a:off x="7497897" y="3685032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8" descr="preencoded.png">
            <a:extLst>
              <a:ext uri="{FF2B5EF4-FFF2-40B4-BE49-F238E27FC236}">
                <a16:creationId xmlns:a16="http://schemas.microsoft.com/office/drawing/2014/main" id="{15C211A4-4EA5-541A-2251-279A899D9B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1341" y="3808476"/>
            <a:ext cx="246888" cy="246888"/>
          </a:xfrm>
          <a:prstGeom prst="rect">
            <a:avLst/>
          </a:prstGeom>
        </p:spPr>
      </p:pic>
      <p:sp>
        <p:nvSpPr>
          <p:cNvPr id="49" name="Text 38">
            <a:extLst>
              <a:ext uri="{FF2B5EF4-FFF2-40B4-BE49-F238E27FC236}">
                <a16:creationId xmlns:a16="http://schemas.microsoft.com/office/drawing/2014/main" id="{B59D04C4-D5FF-9651-505A-8FB46E8819FB}"/>
              </a:ext>
            </a:extLst>
          </p:cNvPr>
          <p:cNvSpPr/>
          <p:nvPr/>
        </p:nvSpPr>
        <p:spPr>
          <a:xfrm>
            <a:off x="7479609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到着物受信簿</a:t>
            </a:r>
            <a:endParaRPr lang="en-US" sz="1200" dirty="0"/>
          </a:p>
        </p:txBody>
      </p:sp>
      <p:sp>
        <p:nvSpPr>
          <p:cNvPr id="50" name="Shape 39">
            <a:extLst>
              <a:ext uri="{FF2B5EF4-FFF2-40B4-BE49-F238E27FC236}">
                <a16:creationId xmlns:a16="http://schemas.microsoft.com/office/drawing/2014/main" id="{1EAC75E5-50BD-D5ED-A23A-84A136B2214A}"/>
              </a:ext>
            </a:extLst>
          </p:cNvPr>
          <p:cNvSpPr/>
          <p:nvPr/>
        </p:nvSpPr>
        <p:spPr>
          <a:xfrm>
            <a:off x="9515612" y="3502152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8A53B281-C573-1D25-5E1E-472B46F49CDD}"/>
              </a:ext>
            </a:extLst>
          </p:cNvPr>
          <p:cNvSpPr/>
          <p:nvPr/>
        </p:nvSpPr>
        <p:spPr>
          <a:xfrm>
            <a:off x="10692079" y="36484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9A659913-A669-3C2F-3526-E410D7D76172}"/>
              </a:ext>
            </a:extLst>
          </p:cNvPr>
          <p:cNvSpPr/>
          <p:nvPr/>
        </p:nvSpPr>
        <p:spPr>
          <a:xfrm>
            <a:off x="10692079" y="3648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E2C83B5A-32B6-039C-E242-7F279FA45B29}"/>
              </a:ext>
            </a:extLst>
          </p:cNvPr>
          <p:cNvSpPr/>
          <p:nvPr/>
        </p:nvSpPr>
        <p:spPr>
          <a:xfrm>
            <a:off x="9716780" y="3685032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9" descr="preencoded.png">
            <a:extLst>
              <a:ext uri="{FF2B5EF4-FFF2-40B4-BE49-F238E27FC236}">
                <a16:creationId xmlns:a16="http://schemas.microsoft.com/office/drawing/2014/main" id="{E8654C35-4B63-9A00-7DD4-F4F3658A3D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0224" y="3808476"/>
            <a:ext cx="246888" cy="246888"/>
          </a:xfrm>
          <a:prstGeom prst="rect">
            <a:avLst/>
          </a:prstGeom>
        </p:spPr>
      </p:pic>
      <p:sp>
        <p:nvSpPr>
          <p:cNvPr id="55" name="Text 43">
            <a:extLst>
              <a:ext uri="{FF2B5EF4-FFF2-40B4-BE49-F238E27FC236}">
                <a16:creationId xmlns:a16="http://schemas.microsoft.com/office/drawing/2014/main" id="{3FC75153-409D-2CD2-0A3C-64CD8FBEE642}"/>
              </a:ext>
            </a:extLst>
          </p:cNvPr>
          <p:cNvSpPr/>
          <p:nvPr/>
        </p:nvSpPr>
        <p:spPr>
          <a:xfrm>
            <a:off x="9698492" y="4251960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オーダーシート</a:t>
            </a:r>
            <a:endParaRPr lang="en-US" sz="1200" dirty="0"/>
          </a:p>
        </p:txBody>
      </p:sp>
      <p:sp>
        <p:nvSpPr>
          <p:cNvPr id="56" name="Shape 44">
            <a:extLst>
              <a:ext uri="{FF2B5EF4-FFF2-40B4-BE49-F238E27FC236}">
                <a16:creationId xmlns:a16="http://schemas.microsoft.com/office/drawing/2014/main" id="{CD647235-4CE2-26E1-97E9-BCC347C140C8}"/>
              </a:ext>
            </a:extLst>
          </p:cNvPr>
          <p:cNvSpPr/>
          <p:nvPr/>
        </p:nvSpPr>
        <p:spPr>
          <a:xfrm>
            <a:off x="640080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5">
            <a:extLst>
              <a:ext uri="{FF2B5EF4-FFF2-40B4-BE49-F238E27FC236}">
                <a16:creationId xmlns:a16="http://schemas.microsoft.com/office/drawing/2014/main" id="{4A4E59FF-70F9-9540-B175-C0FE313DC5EC}"/>
              </a:ext>
            </a:extLst>
          </p:cNvPr>
          <p:cNvSpPr/>
          <p:nvPr/>
        </p:nvSpPr>
        <p:spPr>
          <a:xfrm>
            <a:off x="1816547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46">
            <a:extLst>
              <a:ext uri="{FF2B5EF4-FFF2-40B4-BE49-F238E27FC236}">
                <a16:creationId xmlns:a16="http://schemas.microsoft.com/office/drawing/2014/main" id="{1DD253F0-1E23-0B5E-9BD3-9229219D87C9}"/>
              </a:ext>
            </a:extLst>
          </p:cNvPr>
          <p:cNvSpPr/>
          <p:nvPr/>
        </p:nvSpPr>
        <p:spPr>
          <a:xfrm>
            <a:off x="1816547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59" name="Shape 47">
            <a:extLst>
              <a:ext uri="{FF2B5EF4-FFF2-40B4-BE49-F238E27FC236}">
                <a16:creationId xmlns:a16="http://schemas.microsoft.com/office/drawing/2014/main" id="{87A32091-D66C-CE3E-0A55-9EBEC82FE189}"/>
              </a:ext>
            </a:extLst>
          </p:cNvPr>
          <p:cNvSpPr/>
          <p:nvPr/>
        </p:nvSpPr>
        <p:spPr>
          <a:xfrm>
            <a:off x="841248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0" descr="preencoded.png">
            <a:extLst>
              <a:ext uri="{FF2B5EF4-FFF2-40B4-BE49-F238E27FC236}">
                <a16:creationId xmlns:a16="http://schemas.microsoft.com/office/drawing/2014/main" id="{6D3FCCF7-5D26-512D-ED85-A9A371C20C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692" y="5161788"/>
            <a:ext cx="246888" cy="246888"/>
          </a:xfrm>
          <a:prstGeom prst="rect">
            <a:avLst/>
          </a:prstGeom>
        </p:spPr>
      </p:pic>
      <p:sp>
        <p:nvSpPr>
          <p:cNvPr id="61" name="Text 48">
            <a:extLst>
              <a:ext uri="{FF2B5EF4-FFF2-40B4-BE49-F238E27FC236}">
                <a16:creationId xmlns:a16="http://schemas.microsoft.com/office/drawing/2014/main" id="{39986BD1-A60B-BD75-7A02-54A585296D2E}"/>
              </a:ext>
            </a:extLst>
          </p:cNvPr>
          <p:cNvSpPr/>
          <p:nvPr/>
        </p:nvSpPr>
        <p:spPr>
          <a:xfrm>
            <a:off x="822960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事務管理タスク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管理機能</a:t>
            </a:r>
            <a:endParaRPr lang="en-US" sz="120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EFBCBDDD-6653-2655-D02C-B1A776378E9F}"/>
              </a:ext>
            </a:extLst>
          </p:cNvPr>
          <p:cNvSpPr/>
          <p:nvPr/>
        </p:nvSpPr>
        <p:spPr>
          <a:xfrm>
            <a:off x="2858963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0">
            <a:extLst>
              <a:ext uri="{FF2B5EF4-FFF2-40B4-BE49-F238E27FC236}">
                <a16:creationId xmlns:a16="http://schemas.microsoft.com/office/drawing/2014/main" id="{ED8429AB-6664-7427-CF41-E1DE14A79D29}"/>
              </a:ext>
            </a:extLst>
          </p:cNvPr>
          <p:cNvSpPr/>
          <p:nvPr/>
        </p:nvSpPr>
        <p:spPr>
          <a:xfrm>
            <a:off x="4035430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F4C4EE39-65D5-91E7-EFDE-49DE044FA4BF}"/>
              </a:ext>
            </a:extLst>
          </p:cNvPr>
          <p:cNvSpPr/>
          <p:nvPr/>
        </p:nvSpPr>
        <p:spPr>
          <a:xfrm>
            <a:off x="4035430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5F8E3A85-98C5-E0C1-9D2E-A41E873414E2}"/>
              </a:ext>
            </a:extLst>
          </p:cNvPr>
          <p:cNvSpPr/>
          <p:nvPr/>
        </p:nvSpPr>
        <p:spPr>
          <a:xfrm>
            <a:off x="3060131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6" name="Image 11" descr="preencoded.png">
            <a:extLst>
              <a:ext uri="{FF2B5EF4-FFF2-40B4-BE49-F238E27FC236}">
                <a16:creationId xmlns:a16="http://schemas.microsoft.com/office/drawing/2014/main" id="{D6119E40-0994-0377-BC2C-9C850AA2C4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83575" y="5161788"/>
            <a:ext cx="246888" cy="246888"/>
          </a:xfrm>
          <a:prstGeom prst="rect">
            <a:avLst/>
          </a:prstGeom>
        </p:spPr>
      </p:pic>
      <p:sp>
        <p:nvSpPr>
          <p:cNvPr id="67" name="Text 53">
            <a:extLst>
              <a:ext uri="{FF2B5EF4-FFF2-40B4-BE49-F238E27FC236}">
                <a16:creationId xmlns:a16="http://schemas.microsoft.com/office/drawing/2014/main" id="{C383D2A0-C3A7-BAF1-DB22-03F807E9FF36}"/>
              </a:ext>
            </a:extLst>
          </p:cNvPr>
          <p:cNvSpPr/>
          <p:nvPr/>
        </p:nvSpPr>
        <p:spPr>
          <a:xfrm>
            <a:off x="3041843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altLang="ja-JP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各手続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の詳細管理機能</a:t>
            </a:r>
            <a:endParaRPr lang="en-US" altLang="ja-JP" sz="1200" dirty="0"/>
          </a:p>
        </p:txBody>
      </p:sp>
      <p:sp>
        <p:nvSpPr>
          <p:cNvPr id="68" name="Shape 54">
            <a:extLst>
              <a:ext uri="{FF2B5EF4-FFF2-40B4-BE49-F238E27FC236}">
                <a16:creationId xmlns:a16="http://schemas.microsoft.com/office/drawing/2014/main" id="{25E41605-A08F-4661-66BA-52180F282399}"/>
              </a:ext>
            </a:extLst>
          </p:cNvPr>
          <p:cNvSpPr/>
          <p:nvPr/>
        </p:nvSpPr>
        <p:spPr>
          <a:xfrm>
            <a:off x="5077846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5">
            <a:extLst>
              <a:ext uri="{FF2B5EF4-FFF2-40B4-BE49-F238E27FC236}">
                <a16:creationId xmlns:a16="http://schemas.microsoft.com/office/drawing/2014/main" id="{2D62F74F-561B-F8E6-DE1B-0C098B5879B5}"/>
              </a:ext>
            </a:extLst>
          </p:cNvPr>
          <p:cNvSpPr/>
          <p:nvPr/>
        </p:nvSpPr>
        <p:spPr>
          <a:xfrm>
            <a:off x="6254313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6">
            <a:extLst>
              <a:ext uri="{FF2B5EF4-FFF2-40B4-BE49-F238E27FC236}">
                <a16:creationId xmlns:a16="http://schemas.microsoft.com/office/drawing/2014/main" id="{5AA3AF24-1FC1-6F96-C5C8-74BC47BB73A6}"/>
              </a:ext>
            </a:extLst>
          </p:cNvPr>
          <p:cNvSpPr/>
          <p:nvPr/>
        </p:nvSpPr>
        <p:spPr>
          <a:xfrm>
            <a:off x="6254313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71" name="Shape 57">
            <a:extLst>
              <a:ext uri="{FF2B5EF4-FFF2-40B4-BE49-F238E27FC236}">
                <a16:creationId xmlns:a16="http://schemas.microsoft.com/office/drawing/2014/main" id="{E7CA03F1-CA74-FE82-8266-8751F31E388D}"/>
              </a:ext>
            </a:extLst>
          </p:cNvPr>
          <p:cNvSpPr/>
          <p:nvPr/>
        </p:nvSpPr>
        <p:spPr>
          <a:xfrm>
            <a:off x="5279014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2" name="Image 12" descr="preencoded.png">
            <a:extLst>
              <a:ext uri="{FF2B5EF4-FFF2-40B4-BE49-F238E27FC236}">
                <a16:creationId xmlns:a16="http://schemas.microsoft.com/office/drawing/2014/main" id="{E74BF16D-D374-9A61-F83D-A62ED3B754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02458" y="5161788"/>
            <a:ext cx="246888" cy="246888"/>
          </a:xfrm>
          <a:prstGeom prst="rect">
            <a:avLst/>
          </a:prstGeom>
        </p:spPr>
      </p:pic>
      <p:sp>
        <p:nvSpPr>
          <p:cNvPr id="73" name="Text 58">
            <a:extLst>
              <a:ext uri="{FF2B5EF4-FFF2-40B4-BE49-F238E27FC236}">
                <a16:creationId xmlns:a16="http://schemas.microsoft.com/office/drawing/2014/main" id="{2187E2D2-F5BC-C410-F97E-887349B1ABA1}"/>
              </a:ext>
            </a:extLst>
          </p:cNvPr>
          <p:cNvSpPr/>
          <p:nvPr/>
        </p:nvSpPr>
        <p:spPr>
          <a:xfrm>
            <a:off x="5260726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altLang="ja-JP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ダッシュボード／稼働状況</a:t>
            </a:r>
            <a:endParaRPr lang="en-US" altLang="ja-JP" sz="1200" dirty="0"/>
          </a:p>
        </p:txBody>
      </p:sp>
      <p:sp>
        <p:nvSpPr>
          <p:cNvPr id="74" name="Shape 59">
            <a:extLst>
              <a:ext uri="{FF2B5EF4-FFF2-40B4-BE49-F238E27FC236}">
                <a16:creationId xmlns:a16="http://schemas.microsoft.com/office/drawing/2014/main" id="{E842A5A5-1AF0-D01C-444D-7A2ED0702217}"/>
              </a:ext>
            </a:extLst>
          </p:cNvPr>
          <p:cNvSpPr/>
          <p:nvPr/>
        </p:nvSpPr>
        <p:spPr>
          <a:xfrm>
            <a:off x="7296729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60">
            <a:extLst>
              <a:ext uri="{FF2B5EF4-FFF2-40B4-BE49-F238E27FC236}">
                <a16:creationId xmlns:a16="http://schemas.microsoft.com/office/drawing/2014/main" id="{BA54744E-FCB0-B0AC-759B-615A9A89C890}"/>
              </a:ext>
            </a:extLst>
          </p:cNvPr>
          <p:cNvSpPr/>
          <p:nvPr/>
        </p:nvSpPr>
        <p:spPr>
          <a:xfrm>
            <a:off x="8473196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61">
            <a:extLst>
              <a:ext uri="{FF2B5EF4-FFF2-40B4-BE49-F238E27FC236}">
                <a16:creationId xmlns:a16="http://schemas.microsoft.com/office/drawing/2014/main" id="{2AE78D92-A0AF-2D72-9BD8-AC18A4BDF35E}"/>
              </a:ext>
            </a:extLst>
          </p:cNvPr>
          <p:cNvSpPr/>
          <p:nvPr/>
        </p:nvSpPr>
        <p:spPr>
          <a:xfrm>
            <a:off x="8473196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77" name="Shape 62">
            <a:extLst>
              <a:ext uri="{FF2B5EF4-FFF2-40B4-BE49-F238E27FC236}">
                <a16:creationId xmlns:a16="http://schemas.microsoft.com/office/drawing/2014/main" id="{785B4DA0-C979-7E1D-6BC8-BDB9C5DD07C4}"/>
              </a:ext>
            </a:extLst>
          </p:cNvPr>
          <p:cNvSpPr/>
          <p:nvPr/>
        </p:nvSpPr>
        <p:spPr>
          <a:xfrm>
            <a:off x="7497897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8" name="Image 13" descr="preencoded.png">
            <a:extLst>
              <a:ext uri="{FF2B5EF4-FFF2-40B4-BE49-F238E27FC236}">
                <a16:creationId xmlns:a16="http://schemas.microsoft.com/office/drawing/2014/main" id="{941D11E1-4BBB-A2D3-D1E5-CC4B4BED46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1341" y="5161788"/>
            <a:ext cx="246888" cy="246888"/>
          </a:xfrm>
          <a:prstGeom prst="rect">
            <a:avLst/>
          </a:prstGeom>
        </p:spPr>
      </p:pic>
      <p:sp>
        <p:nvSpPr>
          <p:cNvPr id="79" name="Text 63">
            <a:extLst>
              <a:ext uri="{FF2B5EF4-FFF2-40B4-BE49-F238E27FC236}">
                <a16:creationId xmlns:a16="http://schemas.microsoft.com/office/drawing/2014/main" id="{EF245F2A-0287-7BA7-32CC-B84D61C2B52A}"/>
              </a:ext>
            </a:extLst>
          </p:cNvPr>
          <p:cNvSpPr/>
          <p:nvPr/>
        </p:nvSpPr>
        <p:spPr>
          <a:xfrm>
            <a:off x="7479609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</a:rPr>
              <a:t>レポート作成機能</a:t>
            </a:r>
            <a:endParaRPr lang="en-US" sz="1200" dirty="0"/>
          </a:p>
        </p:txBody>
      </p:sp>
      <p:sp>
        <p:nvSpPr>
          <p:cNvPr id="80" name="Shape 64">
            <a:extLst>
              <a:ext uri="{FF2B5EF4-FFF2-40B4-BE49-F238E27FC236}">
                <a16:creationId xmlns:a16="http://schemas.microsoft.com/office/drawing/2014/main" id="{57FD90A6-00CC-C2EB-0C17-C371124F7FC2}"/>
              </a:ext>
            </a:extLst>
          </p:cNvPr>
          <p:cNvSpPr/>
          <p:nvPr/>
        </p:nvSpPr>
        <p:spPr>
          <a:xfrm>
            <a:off x="9515612" y="4855464"/>
            <a:ext cx="2036003" cy="1170432"/>
          </a:xfrm>
          <a:prstGeom prst="roundRect">
            <a:avLst>
              <a:gd name="adj" fmla="val 5469"/>
            </a:avLst>
          </a:prstGeom>
          <a:solidFill>
            <a:srgbClr val="EFF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65">
            <a:extLst>
              <a:ext uri="{FF2B5EF4-FFF2-40B4-BE49-F238E27FC236}">
                <a16:creationId xmlns:a16="http://schemas.microsoft.com/office/drawing/2014/main" id="{96116C6D-0DAC-012D-BA91-53E9489533A5}"/>
              </a:ext>
            </a:extLst>
          </p:cNvPr>
          <p:cNvSpPr/>
          <p:nvPr/>
        </p:nvSpPr>
        <p:spPr>
          <a:xfrm>
            <a:off x="10692079" y="5001768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66">
            <a:extLst>
              <a:ext uri="{FF2B5EF4-FFF2-40B4-BE49-F238E27FC236}">
                <a16:creationId xmlns:a16="http://schemas.microsoft.com/office/drawing/2014/main" id="{04611DF1-BEB8-605C-EB66-81A81835A581}"/>
              </a:ext>
            </a:extLst>
          </p:cNvPr>
          <p:cNvSpPr/>
          <p:nvPr/>
        </p:nvSpPr>
        <p:spPr>
          <a:xfrm>
            <a:off x="10692079" y="5001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1ヶ月後</a:t>
            </a:r>
            <a:endParaRPr lang="en-US" sz="900" dirty="0"/>
          </a:p>
        </p:txBody>
      </p:sp>
      <p:sp>
        <p:nvSpPr>
          <p:cNvPr id="83" name="Shape 67">
            <a:extLst>
              <a:ext uri="{FF2B5EF4-FFF2-40B4-BE49-F238E27FC236}">
                <a16:creationId xmlns:a16="http://schemas.microsoft.com/office/drawing/2014/main" id="{67FB4170-35A1-A4A3-54AE-B1586526902C}"/>
              </a:ext>
            </a:extLst>
          </p:cNvPr>
          <p:cNvSpPr/>
          <p:nvPr/>
        </p:nvSpPr>
        <p:spPr>
          <a:xfrm>
            <a:off x="9716780" y="5038344"/>
            <a:ext cx="493776" cy="493776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4" name="Image 14" descr="preencoded.png">
            <a:extLst>
              <a:ext uri="{FF2B5EF4-FFF2-40B4-BE49-F238E27FC236}">
                <a16:creationId xmlns:a16="http://schemas.microsoft.com/office/drawing/2014/main" id="{0637BFEC-F59F-59E3-6A5D-D8E3ECC679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40224" y="5161788"/>
            <a:ext cx="246888" cy="246888"/>
          </a:xfrm>
          <a:prstGeom prst="rect">
            <a:avLst/>
          </a:prstGeom>
        </p:spPr>
      </p:pic>
      <p:sp>
        <p:nvSpPr>
          <p:cNvPr id="85" name="Text 68">
            <a:extLst>
              <a:ext uri="{FF2B5EF4-FFF2-40B4-BE49-F238E27FC236}">
                <a16:creationId xmlns:a16="http://schemas.microsoft.com/office/drawing/2014/main" id="{4468E3CD-1595-D0F5-17DE-A514327E22E1}"/>
              </a:ext>
            </a:extLst>
          </p:cNvPr>
          <p:cNvSpPr/>
          <p:nvPr/>
        </p:nvSpPr>
        <p:spPr>
          <a:xfrm>
            <a:off x="9698492" y="560527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</a:t>
            </a:r>
            <a:r>
              <a:rPr lang="ja-JP" altLang="en-US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チャットサポート</a:t>
            </a:r>
            <a:r>
              <a:rPr lang="en-US" altLang="ja-JP" sz="12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n-US" sz="1200" b="1" dirty="0" err="1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マニュアル</a:t>
            </a:r>
            <a:endParaRPr lang="en-US" sz="1200" dirty="0"/>
          </a:p>
        </p:txBody>
      </p:sp>
      <p:sp>
        <p:nvSpPr>
          <p:cNvPr id="86" name="Shape 69">
            <a:extLst>
              <a:ext uri="{FF2B5EF4-FFF2-40B4-BE49-F238E27FC236}">
                <a16:creationId xmlns:a16="http://schemas.microsoft.com/office/drawing/2014/main" id="{D46569D0-FF67-7AEA-175F-C3358E608219}"/>
              </a:ext>
            </a:extLst>
          </p:cNvPr>
          <p:cNvSpPr/>
          <p:nvPr/>
        </p:nvSpPr>
        <p:spPr>
          <a:xfrm>
            <a:off x="640080" y="6199632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7" name="Text 70">
            <a:extLst>
              <a:ext uri="{FF2B5EF4-FFF2-40B4-BE49-F238E27FC236}">
                <a16:creationId xmlns:a16="http://schemas.microsoft.com/office/drawing/2014/main" id="{6778C4A1-A8E4-066F-C887-81B8CA0528BC}"/>
              </a:ext>
            </a:extLst>
          </p:cNvPr>
          <p:cNvSpPr/>
          <p:nvPr/>
        </p:nvSpPr>
        <p:spPr>
          <a:xfrm>
            <a:off x="914400" y="6199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まずは小さく。 </a:t>
            </a:r>
            <a:r>
              <a:rPr lang="en-US" sz="12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青の機能から運用を開始し、進行ゲート等の自動制御を含む残りは、トライアル後（約1ヶ月）に解放します。</a:t>
            </a:r>
            <a:endParaRPr lang="en-US" sz="1250" dirty="0"/>
          </a:p>
        </p:txBody>
      </p:sp>
      <p:sp>
        <p:nvSpPr>
          <p:cNvPr id="88" name="Text 71">
            <a:extLst>
              <a:ext uri="{FF2B5EF4-FFF2-40B4-BE49-F238E27FC236}">
                <a16:creationId xmlns:a16="http://schemas.microsoft.com/office/drawing/2014/main" id="{CAFC3064-DDDB-5079-3FE4-C960683DCA2A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000" dirty="0"/>
          </a:p>
        </p:txBody>
      </p:sp>
      <p:sp>
        <p:nvSpPr>
          <p:cNvPr id="89" name="Shape 2">
            <a:extLst>
              <a:ext uri="{FF2B5EF4-FFF2-40B4-BE49-F238E27FC236}">
                <a16:creationId xmlns:a16="http://schemas.microsoft.com/office/drawing/2014/main" id="{A48627A6-7FBD-BD7A-D554-A0FA17FC274F}"/>
              </a:ext>
            </a:extLst>
          </p:cNvPr>
          <p:cNvSpPr/>
          <p:nvPr/>
        </p:nvSpPr>
        <p:spPr>
          <a:xfrm>
            <a:off x="8156448" y="566928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3">
            <a:extLst>
              <a:ext uri="{FF2B5EF4-FFF2-40B4-BE49-F238E27FC236}">
                <a16:creationId xmlns:a16="http://schemas.microsoft.com/office/drawing/2014/main" id="{1BE4BED0-BC02-6300-C06A-0925CC036539}"/>
              </a:ext>
            </a:extLst>
          </p:cNvPr>
          <p:cNvSpPr/>
          <p:nvPr/>
        </p:nvSpPr>
        <p:spPr>
          <a:xfrm>
            <a:off x="8503920" y="5029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chemeClr val="accent6">
                    <a:lumMod val="75000"/>
                  </a:schemeClr>
                </a:solidFill>
                <a:latin typeface="Meiryo UI" pitchFamily="34" charset="0"/>
                <a:ea typeface="Meiryo UI" pitchFamily="34" charset="-122"/>
              </a:rPr>
              <a:t>今回一部利用可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81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89D1D98-1E65-F39F-7278-28F1F8C01A6F}"/>
              </a:ext>
            </a:extLst>
          </p:cNvPr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3AFC549-DF9F-4115-81A6-FED29F90110A}"/>
              </a:ext>
            </a:extLst>
          </p:cNvPr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POINT</a:t>
            </a:r>
            <a:endParaRPr lang="en-US" sz="1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4B8CD0F-3930-60DC-93BC-083B44B9CE67}"/>
              </a:ext>
            </a:extLst>
          </p:cNvPr>
          <p:cNvSpPr/>
          <p:nvPr/>
        </p:nvSpPr>
        <p:spPr>
          <a:xfrm>
            <a:off x="792480" y="929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</a:rPr>
              <a:t>相談案件登録アプリ</a:t>
            </a:r>
            <a:endParaRPr lang="en-US" sz="2800" dirty="0"/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E91AC462-0B22-962C-D54B-C6729E91598F}"/>
              </a:ext>
            </a:extLst>
          </p:cNvPr>
          <p:cNvSpPr/>
          <p:nvPr/>
        </p:nvSpPr>
        <p:spPr>
          <a:xfrm>
            <a:off x="914400" y="2730857"/>
            <a:ext cx="1579528" cy="1165634"/>
          </a:xfrm>
          <a:prstGeom prst="can">
            <a:avLst>
              <a:gd name="adj" fmla="val 195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相続ステーション</a:t>
            </a:r>
          </a:p>
        </p:txBody>
      </p:sp>
      <p:sp>
        <p:nvSpPr>
          <p:cNvPr id="9" name="円柱 8">
            <a:extLst>
              <a:ext uri="{FF2B5EF4-FFF2-40B4-BE49-F238E27FC236}">
                <a16:creationId xmlns:a16="http://schemas.microsoft.com/office/drawing/2014/main" id="{CC72A9A9-910B-50CD-1112-82536DE6FA0C}"/>
              </a:ext>
            </a:extLst>
          </p:cNvPr>
          <p:cNvSpPr/>
          <p:nvPr/>
        </p:nvSpPr>
        <p:spPr>
          <a:xfrm>
            <a:off x="4592672" y="2730857"/>
            <a:ext cx="1579528" cy="1165634"/>
          </a:xfrm>
          <a:prstGeom prst="can">
            <a:avLst>
              <a:gd name="adj" fmla="val 195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新システム</a:t>
            </a:r>
            <a:endParaRPr kumimoji="1" lang="en-US" altLang="ja-JP" sz="11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相続案件管理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1CA59A0-6EEC-CBB9-7973-1F8A8D3C7E75}"/>
              </a:ext>
            </a:extLst>
          </p:cNvPr>
          <p:cNvCxnSpPr>
            <a:stCxn id="8" idx="4"/>
            <a:endCxn id="9" idx="2"/>
          </p:cNvCxnSpPr>
          <p:nvPr/>
        </p:nvCxnSpPr>
        <p:spPr>
          <a:xfrm>
            <a:off x="2493928" y="3313674"/>
            <a:ext cx="209874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A3B2400-99D6-9A48-25DF-B15CAFFE58F2}"/>
              </a:ext>
            </a:extLst>
          </p:cNvPr>
          <p:cNvSpPr/>
          <p:nvPr/>
        </p:nvSpPr>
        <p:spPr>
          <a:xfrm>
            <a:off x="2966519" y="3141658"/>
            <a:ext cx="1077362" cy="344032"/>
          </a:xfrm>
          <a:prstGeom prst="roundRect">
            <a:avLst>
              <a:gd name="adj" fmla="val 50000"/>
            </a:avLst>
          </a:prstGeom>
          <a:solidFill>
            <a:srgbClr val="1B3A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システム連携</a:t>
            </a:r>
          </a:p>
        </p:txBody>
      </p:sp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1FD036EA-C560-9CD3-F8E1-0DFD5C6472DA}"/>
              </a:ext>
            </a:extLst>
          </p:cNvPr>
          <p:cNvSpPr/>
          <p:nvPr/>
        </p:nvSpPr>
        <p:spPr>
          <a:xfrm>
            <a:off x="2320063" y="4068508"/>
            <a:ext cx="2370273" cy="1072474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相続ステーションでアポ完了済の相談案件が新システムに連携されます。</a:t>
            </a:r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※7/16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以降に相続ステーションでアポ完了済にした案件情報が自動連携</a:t>
            </a:r>
            <a:b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kumimoji="1" lang="en-US" altLang="ja-JP" sz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B3F2C1A-AE2E-8B9C-23C2-2397CE70B01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3505200" y="3485690"/>
            <a:ext cx="0" cy="582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C427B228-8CCE-D209-F4CC-39B7D5202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350" y="2225065"/>
            <a:ext cx="1849085" cy="3410661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9C2E9D60-F97B-A9A8-7EEF-F61F4427E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497" y="3169553"/>
            <a:ext cx="1971429" cy="1971429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2970D9A-EFB9-4441-3C54-15DD86F7CE61}"/>
              </a:ext>
            </a:extLst>
          </p:cNvPr>
          <p:cNvSpPr txBox="1"/>
          <p:nvPr/>
        </p:nvSpPr>
        <p:spPr>
          <a:xfrm>
            <a:off x="9413423" y="2395906"/>
            <a:ext cx="1311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インストール</a:t>
            </a:r>
          </a:p>
        </p:txBody>
      </p:sp>
      <p:sp>
        <p:nvSpPr>
          <p:cNvPr id="32" name="Shape 69">
            <a:extLst>
              <a:ext uri="{FF2B5EF4-FFF2-40B4-BE49-F238E27FC236}">
                <a16:creationId xmlns:a16="http://schemas.microsoft.com/office/drawing/2014/main" id="{63A09E09-1B84-13D4-3256-E09F3023C8E7}"/>
              </a:ext>
            </a:extLst>
          </p:cNvPr>
          <p:cNvSpPr/>
          <p:nvPr/>
        </p:nvSpPr>
        <p:spPr>
          <a:xfrm>
            <a:off x="640080" y="6199632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70">
            <a:extLst>
              <a:ext uri="{FF2B5EF4-FFF2-40B4-BE49-F238E27FC236}">
                <a16:creationId xmlns:a16="http://schemas.microsoft.com/office/drawing/2014/main" id="{A03B9675-979F-BF94-C963-B64DF196D7DA}"/>
              </a:ext>
            </a:extLst>
          </p:cNvPr>
          <p:cNvSpPr/>
          <p:nvPr/>
        </p:nvSpPr>
        <p:spPr>
          <a:xfrm>
            <a:off x="914400" y="6199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b="1" dirty="0">
                <a:solidFill>
                  <a:srgbClr val="2F58D4"/>
                </a:solidFill>
                <a:latin typeface="Meiryo UI" pitchFamily="34" charset="0"/>
                <a:ea typeface="Meiryo UI" pitchFamily="34" charset="-122"/>
              </a:rPr>
              <a:t>専用アプリで出先でも、相談案件の登録が可能に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1970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A65577-73AC-CE08-9700-4D9D94E8B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57" y="1859280"/>
            <a:ext cx="2277291" cy="420049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94253C3-18A9-7283-54DF-E1CC41D89640}"/>
              </a:ext>
            </a:extLst>
          </p:cNvPr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</a:rPr>
              <a:t>APP Image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CEF49A1-8DB9-543B-CC05-54C736848110}"/>
              </a:ext>
            </a:extLst>
          </p:cNvPr>
          <p:cNvSpPr/>
          <p:nvPr/>
        </p:nvSpPr>
        <p:spPr>
          <a:xfrm>
            <a:off x="792480" y="929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</a:rPr>
              <a:t>いつでもどこでも相談案件登録</a:t>
            </a:r>
            <a:endParaRPr lang="en-US" sz="28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C2EDCC-7D41-43C6-418C-E14B4AB7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89" y="1859280"/>
            <a:ext cx="2277291" cy="42004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B4507A7-319F-53A8-CB96-E6AF9D77E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59" y="1859280"/>
            <a:ext cx="2244521" cy="4140048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13E3C115-91CC-6874-B786-44FAB9888016}"/>
              </a:ext>
            </a:extLst>
          </p:cNvPr>
          <p:cNvSpPr/>
          <p:nvPr/>
        </p:nvSpPr>
        <p:spPr>
          <a:xfrm>
            <a:off x="3846286" y="3319704"/>
            <a:ext cx="899885" cy="609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BD3B973-EA37-B654-A8FE-3E6B1C8BE972}"/>
              </a:ext>
            </a:extLst>
          </p:cNvPr>
          <p:cNvSpPr/>
          <p:nvPr/>
        </p:nvSpPr>
        <p:spPr>
          <a:xfrm>
            <a:off x="7802911" y="3349926"/>
            <a:ext cx="899885" cy="609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062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MINIMUM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ミニマム運用 ── この流れで使います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41248" y="1993392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412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0756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9202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面談結果を登録して案件を作る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11680" y="226771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「相談案件登録」から面談結果を入力（受注／依頼確定待ち／検討中 など）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706624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841248" y="2871216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8412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9535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79806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管理担当をアサインする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011680" y="314553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案件に管理担当を割り当てる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584448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841248" y="3749040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84124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83133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367588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受注になったら前受金請求書を発行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011680" y="402336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管理担当が「請求」タブから前受金請求書を作成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462272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8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841248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470916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11680" y="455371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事務管理へ引き継ぎ、対応中に変更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011680" y="490118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手動でステータスを「対応中」へ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5340096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3"/>
          <p:cNvSpPr/>
          <p:nvPr/>
        </p:nvSpPr>
        <p:spPr>
          <a:xfrm>
            <a:off x="841248" y="5504688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4"/>
          <p:cNvSpPr/>
          <p:nvPr/>
        </p:nvSpPr>
        <p:spPr>
          <a:xfrm>
            <a:off x="841248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558698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011680" y="543153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完了時に確定＋立替実費を請求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2011680" y="577900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立替実費を入力し、確定請求書・立替実費請求書を作成して完了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6263640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28"/>
          <p:cNvSpPr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任意：  </a:t>
            </a: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依頼者・被相続人情報をきちんと入れた方は、AIで契約書・委任状・郵送確認票も作成できます。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2F58D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092C7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18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スケジュール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まず7/6から。1ヶ月のトライアルを経てフル機能へ。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36576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404164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スケジュール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3611880"/>
            <a:ext cx="9601200" cy="54864"/>
          </a:xfrm>
          <a:prstGeom prst="rect">
            <a:avLst/>
          </a:prstGeom>
          <a:solidFill>
            <a:srgbClr val="D9E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408176" y="3493008"/>
            <a:ext cx="292608" cy="292608"/>
          </a:xfrm>
          <a:prstGeom prst="ellipse">
            <a:avLst/>
          </a:prstGeom>
          <a:solidFill>
            <a:srgbClr val="2F58D4"/>
          </a:solidFill>
          <a:ln w="31750">
            <a:solidFill>
              <a:srgbClr val="2F58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705856" y="3493008"/>
            <a:ext cx="292608" cy="292608"/>
          </a:xfrm>
          <a:prstGeom prst="ellipse">
            <a:avLst/>
          </a:prstGeom>
          <a:solidFill>
            <a:srgbClr val="2F58D4"/>
          </a:solidFill>
          <a:ln w="31750">
            <a:solidFill>
              <a:srgbClr val="2F58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912096" y="3493008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58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68680" y="1975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7/16</a:t>
            </a:r>
            <a:r>
              <a:rPr lang="en-US" sz="1300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</a:t>
            </a:r>
            <a:r>
              <a:rPr lang="ja-JP" altLang="en-US" sz="1300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木</a:t>
            </a:r>
            <a:r>
              <a:rPr lang="en-US" sz="1300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ミニマム運用開始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28529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面談登録・管理担当アサイン・請求発行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3429000"/>
            <a:ext cx="0" cy="182880"/>
          </a:xfrm>
          <a:prstGeom prst="line">
            <a:avLst/>
          </a:prstGeom>
          <a:noFill/>
          <a:ln w="19050">
            <a:solidFill>
              <a:srgbClr val="D9E2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137660" y="41148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66260" y="4261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7月</a:t>
            </a:r>
            <a:r>
              <a:rPr lang="en-US" sz="1300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66260" y="4773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トライアル期間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66260" y="51389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実運用しながら課題を洗い出し、仕様を調整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3611880"/>
            <a:ext cx="0" cy="502920"/>
          </a:xfrm>
          <a:prstGeom prst="line">
            <a:avLst/>
          </a:prstGeom>
          <a:noFill/>
          <a:ln w="19050">
            <a:solidFill>
              <a:srgbClr val="D9E2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122615" y="18288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EFF2F6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351215" y="1975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約1ヶ月後 8/5</a:t>
            </a:r>
            <a:r>
              <a:rPr lang="ja-JP" altLang="en-US" sz="2400" b="1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予定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51215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フル機能リリース（予定）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51215" y="28529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実務・書類管理まで全機能を解放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0" y="3429000"/>
            <a:ext cx="0" cy="182880"/>
          </a:xfrm>
          <a:prstGeom prst="line">
            <a:avLst/>
          </a:prstGeom>
          <a:noFill/>
          <a:ln w="19050">
            <a:solidFill>
              <a:srgbClr val="D9E2F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27080" cy="640080"/>
          </a:xfrm>
          <a:prstGeom prst="roundRect">
            <a:avLst>
              <a:gd name="adj" fmla="val 8571"/>
            </a:avLst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914400" y="5989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ご注意：  </a:t>
            </a:r>
            <a:r>
              <a:rPr lang="en-US" sz="13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トライアル中に仕様変更を行う可能性が高いため、フル機能で使える範囲は変更になる場合があります。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2F58D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092C7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18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利用開始方法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アカウントを発行します。7/16の朝までにお届けします。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92640" y="36576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404164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ACCOUNTS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アカウントの発行について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発行の対象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4800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97280" y="2916936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0540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74320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管理担当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767328"/>
            <a:ext cx="4800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1097280" y="3941064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0782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76732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受注担当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14400" y="4791456"/>
            <a:ext cx="4800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1097280" y="4965192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1023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91456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LP担当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217920" y="182880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お届けとログイン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92240" y="2743200"/>
            <a:ext cx="566928" cy="566928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889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2706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ID・パスワードとURLを送付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3072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7月16日（月）の朝までにお届けします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92240" y="3767328"/>
            <a:ext cx="566928" cy="566928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391363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69480" y="3730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URLを開く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726948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お使いのPCのブラウザからアクセス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92240" y="4791456"/>
            <a:ext cx="566928" cy="566928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9377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IDとパスワードでログイン</a:t>
            </a:r>
            <a:endParaRPr lang="en-US" sz="1550" dirty="0"/>
          </a:p>
        </p:txBody>
      </p:sp>
      <p:sp>
        <p:nvSpPr>
          <p:cNvPr id="31" name="Text 23"/>
          <p:cNvSpPr/>
          <p:nvPr/>
        </p:nvSpPr>
        <p:spPr>
          <a:xfrm>
            <a:off x="72694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そのまますぐにご利用いただけます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パスワードの設定と再発行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55080" cy="4297680"/>
          </a:xfrm>
          <a:prstGeom prst="roundRect">
            <a:avLst>
              <a:gd name="adj" fmla="val 1277"/>
            </a:avLst>
          </a:prstGeom>
          <a:solidFill>
            <a:srgbClr val="EEF2FE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初回ログインとパスワード設定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2825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届いたURLを開く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31912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PCのブラウザからアクセス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5448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初期パスワードでログイン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41513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配布したID・パスワードを入力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54480" y="47457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自分のパスワードに変更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54480" y="5111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プロフィール画面「パスワード変更」から（8文字以上）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1828800"/>
            <a:ext cx="4389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7452360" y="2057400"/>
            <a:ext cx="548640" cy="548640"/>
          </a:xfrm>
          <a:prstGeom prst="ellipse">
            <a:avLst/>
          </a:prstGeom>
          <a:solidFill>
            <a:srgbClr val="E6F7F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9456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381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パスワードを忘れたら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745236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管理者に連絡してください。すぐに再設定して、新しいパスワードをお伝えします。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452360" y="36118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/>
          <p:nvPr/>
        </p:nvSpPr>
        <p:spPr>
          <a:xfrm>
            <a:off x="768096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6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再発行の依頼先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680960" y="4114800"/>
            <a:ext cx="502920" cy="502920"/>
          </a:xfrm>
          <a:prstGeom prst="ellipse">
            <a:avLst/>
          </a:prstGeom>
          <a:solidFill>
            <a:srgbClr val="2F5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4242816"/>
            <a:ext cx="246888" cy="246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21040" y="4114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管理者　福島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7680960" y="4709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92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suguru.fukushima@congen-ai.com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745236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連絡いただければ、こちらで再設定します。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023360"/>
            <a:ext cx="5943600" cy="5943600"/>
          </a:xfrm>
          <a:prstGeom prst="ellipse">
            <a:avLst/>
          </a:prstGeom>
          <a:solidFill>
            <a:srgbClr val="2F58D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966960" y="4846320"/>
            <a:ext cx="3840480" cy="3840480"/>
          </a:xfrm>
          <a:prstGeom prst="ellipse">
            <a:avLst/>
          </a:prstGeom>
          <a:solidFill>
            <a:srgbClr val="0092C7">
              <a:alpha val="16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13232" y="685800"/>
            <a:ext cx="1865376" cy="1406347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8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645920" cy="12234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まずは小さく、確実に。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F7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一緒に、日々の業務を楽にしていきましょう。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使ってみて気づいたこと・困ったことは、遠慮なくお知らせください。トライアルで一緒に良くしていきます。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2026年7月16日（月）ミニマム運用開始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855</Words>
  <Application>Microsoft Office PowerPoint</Application>
  <PresentationFormat>ワイド画面</PresentationFormat>
  <Paragraphs>233</Paragraphs>
  <Slides>17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 UI</vt:lpstr>
      <vt:lpstr>Arial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新システム移行説明会</dc:title>
  <dc:subject>PptxGenJS Presentation</dc:subject>
  <dc:creator>オーシャン</dc:creator>
  <cp:lastModifiedBy>優 福島</cp:lastModifiedBy>
  <cp:revision>4</cp:revision>
  <dcterms:created xsi:type="dcterms:W3CDTF">2026-07-02T15:24:42Z</dcterms:created>
  <dcterms:modified xsi:type="dcterms:W3CDTF">2026-07-04T05:45:06Z</dcterms:modified>
</cp:coreProperties>
</file>