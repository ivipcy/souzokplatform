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8" r:id="rId3"/>
    <p:sldId id="295" r:id="rId4"/>
    <p:sldId id="282" r:id="rId5"/>
    <p:sldId id="261" r:id="rId6"/>
    <p:sldId id="273" r:id="rId7"/>
    <p:sldId id="262" r:id="rId8"/>
    <p:sldId id="263" r:id="rId9"/>
    <p:sldId id="264" r:id="rId10"/>
    <p:sldId id="265" r:id="rId11"/>
    <p:sldId id="281" r:id="rId12"/>
    <p:sldId id="266" r:id="rId13"/>
    <p:sldId id="267" r:id="rId14"/>
    <p:sldId id="268" r:id="rId15"/>
    <p:sldId id="269" r:id="rId16"/>
    <p:sldId id="270" r:id="rId17"/>
    <p:sldId id="283" r:id="rId18"/>
    <p:sldId id="284" r:id="rId19"/>
    <p:sldId id="285" r:id="rId20"/>
    <p:sldId id="287" r:id="rId21"/>
    <p:sldId id="259" r:id="rId22"/>
    <p:sldId id="286" r:id="rId23"/>
    <p:sldId id="288" r:id="rId24"/>
    <p:sldId id="289" r:id="rId25"/>
    <p:sldId id="290" r:id="rId26"/>
    <p:sldId id="292" r:id="rId27"/>
    <p:sldId id="293" r:id="rId28"/>
    <p:sldId id="294" r:id="rId29"/>
    <p:sldId id="296" r:id="rId30"/>
    <p:sldId id="280" r:id="rId31"/>
    <p:sldId id="274" r:id="rId32"/>
    <p:sldId id="277" r:id="rId33"/>
    <p:sldId id="278" r:id="rId34"/>
    <p:sldId id="275" r:id="rId35"/>
    <p:sldId id="279" r:id="rId3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FCEBBC"/>
    <a:srgbClr val="0013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showGuides="1">
      <p:cViewPr>
        <p:scale>
          <a:sx n="75" d="100"/>
          <a:sy n="75" d="100"/>
        </p:scale>
        <p:origin x="1890" y="624"/>
      </p:cViewPr>
      <p:guideLst>
        <p:guide orient="horz" pos="220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91A2B-ED77-483B-962A-E5210BB954FC}" type="datetimeFigureOut">
              <a:rPr kumimoji="1" lang="ja-JP" altLang="en-US" smtClean="0"/>
              <a:t>2026/8/5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23D8AB-9FC5-4904-B3D8-7D76354ADD47}" type="slidenum">
              <a:rPr kumimoji="1" lang="ja-JP" altLang="en-US" smtClean="0"/>
              <a:t>‹#›</a:t>
            </a:fld>
            <a:endParaRPr kumimoji="1" lang="ja-JP" altLang="en-US"/>
          </a:p>
        </p:txBody>
      </p:sp>
    </p:spTree>
    <p:extLst>
      <p:ext uri="{BB962C8B-B14F-4D97-AF65-F5344CB8AC3E}">
        <p14:creationId xmlns:p14="http://schemas.microsoft.com/office/powerpoint/2010/main" val="39611082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7C3F14-23EA-15E8-110F-4213353D8E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DDD731B-E247-D7D5-2F35-C1B33708DA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75E3E5C-21A8-D12E-3657-B45386D745F9}"/>
              </a:ext>
            </a:extLst>
          </p:cNvPr>
          <p:cNvSpPr>
            <a:spLocks noGrp="1"/>
          </p:cNvSpPr>
          <p:nvPr>
            <p:ph type="dt" sz="half" idx="10"/>
          </p:nvPr>
        </p:nvSpPr>
        <p:spPr/>
        <p:txBody>
          <a:bodyPr/>
          <a:lstStyle/>
          <a:p>
            <a:fld id="{2BE04516-361D-47D2-AE4F-ED49292FA593}"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B406173A-C7D9-336A-AE79-C618948877D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EFF4B3-249B-6709-417D-5FF8921B0D37}"/>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047399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F8B157-F067-896A-B6EF-A4028D0351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C7C9545-048C-C19D-9593-E3435F5DA7B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B3488-7682-B543-E55F-DBB4233A6390}"/>
              </a:ext>
            </a:extLst>
          </p:cNvPr>
          <p:cNvSpPr>
            <a:spLocks noGrp="1"/>
          </p:cNvSpPr>
          <p:nvPr>
            <p:ph type="dt" sz="half" idx="10"/>
          </p:nvPr>
        </p:nvSpPr>
        <p:spPr/>
        <p:txBody>
          <a:bodyPr/>
          <a:lstStyle/>
          <a:p>
            <a:fld id="{69D627B3-CE8B-4B0A-9923-E1E1339F247A}"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365C61B7-9BBB-F351-079B-6F1E1D93C2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67EBEA-1AFE-6842-8942-21845B09CFAE}"/>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3335013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A3490-1043-3A0D-6842-30A466CDB1B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51D4F7E-D733-D5AC-3E40-9924E0CEC5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528C544-6028-B68D-A52B-89F20A4D1600}"/>
              </a:ext>
            </a:extLst>
          </p:cNvPr>
          <p:cNvSpPr>
            <a:spLocks noGrp="1"/>
          </p:cNvSpPr>
          <p:nvPr>
            <p:ph type="dt" sz="half" idx="10"/>
          </p:nvPr>
        </p:nvSpPr>
        <p:spPr/>
        <p:txBody>
          <a:bodyPr/>
          <a:lstStyle/>
          <a:p>
            <a:fld id="{3DD29695-ADF0-46AC-BF89-9CF6DA5906BD}"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2B71B282-DD17-048C-7D62-411FBBECD7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2D60E1-DD25-A85B-4035-85221FD67F44}"/>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97286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E78D0D-7EC2-6DE4-D3D3-BA86122E6A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A252AB5-8E04-D98C-0045-87C03289535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FD22E5D-C1CB-ED5B-E890-2D0CDB4E7B6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A66C2C9-77F8-AAC9-86B8-E5E528382614}"/>
              </a:ext>
            </a:extLst>
          </p:cNvPr>
          <p:cNvSpPr>
            <a:spLocks noGrp="1"/>
          </p:cNvSpPr>
          <p:nvPr>
            <p:ph type="dt" sz="half" idx="10"/>
          </p:nvPr>
        </p:nvSpPr>
        <p:spPr/>
        <p:txBody>
          <a:bodyPr/>
          <a:lstStyle/>
          <a:p>
            <a:fld id="{55D5BC41-5B07-4FD5-8EB4-84BCF3D4B16F}" type="datetime1">
              <a:rPr kumimoji="1" lang="ja-JP" altLang="en-US" smtClean="0"/>
              <a:t>2026/8/5</a:t>
            </a:fld>
            <a:endParaRPr kumimoji="1" lang="ja-JP" altLang="en-US"/>
          </a:p>
        </p:txBody>
      </p:sp>
      <p:sp>
        <p:nvSpPr>
          <p:cNvPr id="6" name="フッター プレースホルダー 5">
            <a:extLst>
              <a:ext uri="{FF2B5EF4-FFF2-40B4-BE49-F238E27FC236}">
                <a16:creationId xmlns:a16="http://schemas.microsoft.com/office/drawing/2014/main" id="{5867A634-E013-0A04-8EAE-F762157AAC1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B49D3-FC78-6237-8256-603790E72212}"/>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69508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35C838-FCB9-39E3-92A5-7C90DF2B2EB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9A4D6AC-5619-7D15-B62D-E53D54FE45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361D06F-7D26-844B-1861-16B8DF544EF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36416D5-131A-E1B6-3B72-4F0BE3B1C8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2469AF5-2B35-64DD-9BBF-8A192F25E19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7DE746D-774D-1AF1-4CBD-E645E6CB8352}"/>
              </a:ext>
            </a:extLst>
          </p:cNvPr>
          <p:cNvSpPr>
            <a:spLocks noGrp="1"/>
          </p:cNvSpPr>
          <p:nvPr>
            <p:ph type="dt" sz="half" idx="10"/>
          </p:nvPr>
        </p:nvSpPr>
        <p:spPr/>
        <p:txBody>
          <a:bodyPr/>
          <a:lstStyle/>
          <a:p>
            <a:fld id="{0A4AB2D7-C603-41DC-B12C-C86940258DEB}" type="datetime1">
              <a:rPr kumimoji="1" lang="ja-JP" altLang="en-US" smtClean="0"/>
              <a:t>2026/8/5</a:t>
            </a:fld>
            <a:endParaRPr kumimoji="1" lang="ja-JP" altLang="en-US"/>
          </a:p>
        </p:txBody>
      </p:sp>
      <p:sp>
        <p:nvSpPr>
          <p:cNvPr id="8" name="フッター プレースホルダー 7">
            <a:extLst>
              <a:ext uri="{FF2B5EF4-FFF2-40B4-BE49-F238E27FC236}">
                <a16:creationId xmlns:a16="http://schemas.microsoft.com/office/drawing/2014/main" id="{E92698E5-C3BF-04A3-72EB-ABE79F881DB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1BA5D2A-0A82-6879-A9DC-F8D0878BE023}"/>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1538355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083B7D-71A1-2D01-325A-05EFD567588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6AA7AA5-47AC-3ADE-AD1F-B8EBB81E155A}"/>
              </a:ext>
            </a:extLst>
          </p:cNvPr>
          <p:cNvSpPr>
            <a:spLocks noGrp="1"/>
          </p:cNvSpPr>
          <p:nvPr>
            <p:ph type="dt" sz="half" idx="10"/>
          </p:nvPr>
        </p:nvSpPr>
        <p:spPr/>
        <p:txBody>
          <a:bodyPr/>
          <a:lstStyle/>
          <a:p>
            <a:fld id="{A03D0B2B-F592-4BE7-8B26-61C641EE107B}" type="datetime1">
              <a:rPr kumimoji="1" lang="ja-JP" altLang="en-US" smtClean="0"/>
              <a:t>2026/8/5</a:t>
            </a:fld>
            <a:endParaRPr kumimoji="1" lang="ja-JP" altLang="en-US"/>
          </a:p>
        </p:txBody>
      </p:sp>
      <p:sp>
        <p:nvSpPr>
          <p:cNvPr id="4" name="フッター プレースホルダー 3">
            <a:extLst>
              <a:ext uri="{FF2B5EF4-FFF2-40B4-BE49-F238E27FC236}">
                <a16:creationId xmlns:a16="http://schemas.microsoft.com/office/drawing/2014/main" id="{5D51BDCA-6BE2-1229-0502-1B9453A94D0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4C69440-795A-8BDD-5E8F-7F2D2E4B789E}"/>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2183271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A7880AD-C2F9-81B7-29CE-60C6DAB3C9B1}"/>
              </a:ext>
            </a:extLst>
          </p:cNvPr>
          <p:cNvSpPr>
            <a:spLocks noGrp="1"/>
          </p:cNvSpPr>
          <p:nvPr>
            <p:ph type="dt" sz="half" idx="10"/>
          </p:nvPr>
        </p:nvSpPr>
        <p:spPr/>
        <p:txBody>
          <a:bodyPr/>
          <a:lstStyle/>
          <a:p>
            <a:fld id="{8D43D6C0-D84C-46E5-A835-51E915C4E90C}" type="datetime1">
              <a:rPr kumimoji="1" lang="ja-JP" altLang="en-US" smtClean="0"/>
              <a:t>2026/8/5</a:t>
            </a:fld>
            <a:endParaRPr kumimoji="1" lang="ja-JP" altLang="en-US"/>
          </a:p>
        </p:txBody>
      </p:sp>
      <p:sp>
        <p:nvSpPr>
          <p:cNvPr id="3" name="フッター プレースホルダー 2">
            <a:extLst>
              <a:ext uri="{FF2B5EF4-FFF2-40B4-BE49-F238E27FC236}">
                <a16:creationId xmlns:a16="http://schemas.microsoft.com/office/drawing/2014/main" id="{66BD6F54-4BEF-564A-D669-EE5CAAEE5F7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2AB90C-0ADA-66E1-0059-0967EAF8BD3B}"/>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1523191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B1C7A1-0B13-4891-8217-26AB62F6F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2BD693-51B5-ACA1-93A6-E08CA82B4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2ED7FBC-ED8B-899D-0C80-48173BA4C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614A86E-5DAD-1CED-1E48-6CAB44475D99}"/>
              </a:ext>
            </a:extLst>
          </p:cNvPr>
          <p:cNvSpPr>
            <a:spLocks noGrp="1"/>
          </p:cNvSpPr>
          <p:nvPr>
            <p:ph type="dt" sz="half" idx="10"/>
          </p:nvPr>
        </p:nvSpPr>
        <p:spPr/>
        <p:txBody>
          <a:bodyPr/>
          <a:lstStyle/>
          <a:p>
            <a:fld id="{E42258F8-709E-4B5E-9B5E-853D1CBB35D4}" type="datetime1">
              <a:rPr kumimoji="1" lang="ja-JP" altLang="en-US" smtClean="0"/>
              <a:t>2026/8/5</a:t>
            </a:fld>
            <a:endParaRPr kumimoji="1" lang="ja-JP" altLang="en-US"/>
          </a:p>
        </p:txBody>
      </p:sp>
      <p:sp>
        <p:nvSpPr>
          <p:cNvPr id="6" name="フッター プレースホルダー 5">
            <a:extLst>
              <a:ext uri="{FF2B5EF4-FFF2-40B4-BE49-F238E27FC236}">
                <a16:creationId xmlns:a16="http://schemas.microsoft.com/office/drawing/2014/main" id="{8B351619-FC44-A960-7F78-F81C0F31C44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EA43640-811D-AF81-C395-FC43FA4061E9}"/>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4152535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A0B47E-7108-99D0-7C21-2304C8AFD02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5267AEA-2990-CBFB-F8BF-A5A8AEF69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14B4F23-1207-D2ED-C6F2-24D9222EED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16A9DBF-5B25-8124-10D5-09B6EE06D85D}"/>
              </a:ext>
            </a:extLst>
          </p:cNvPr>
          <p:cNvSpPr>
            <a:spLocks noGrp="1"/>
          </p:cNvSpPr>
          <p:nvPr>
            <p:ph type="dt" sz="half" idx="10"/>
          </p:nvPr>
        </p:nvSpPr>
        <p:spPr/>
        <p:txBody>
          <a:bodyPr/>
          <a:lstStyle/>
          <a:p>
            <a:fld id="{0E5400C9-4D01-432C-B418-5ACF4525A8B8}" type="datetime1">
              <a:rPr kumimoji="1" lang="ja-JP" altLang="en-US" smtClean="0"/>
              <a:t>2026/8/5</a:t>
            </a:fld>
            <a:endParaRPr kumimoji="1" lang="ja-JP" altLang="en-US"/>
          </a:p>
        </p:txBody>
      </p:sp>
      <p:sp>
        <p:nvSpPr>
          <p:cNvPr id="6" name="フッター プレースホルダー 5">
            <a:extLst>
              <a:ext uri="{FF2B5EF4-FFF2-40B4-BE49-F238E27FC236}">
                <a16:creationId xmlns:a16="http://schemas.microsoft.com/office/drawing/2014/main" id="{232873E6-3E37-C78D-22E9-1FBD2400BD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DD69AA5-41D7-E1B9-F09A-FD92EF502763}"/>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366112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17ED60-39FA-13C6-CD5C-DD505FAFB3C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6EEAF64-7603-A487-2312-ED46B517BD0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C26D531-8BFB-1813-B5F9-63B7E0F5E545}"/>
              </a:ext>
            </a:extLst>
          </p:cNvPr>
          <p:cNvSpPr>
            <a:spLocks noGrp="1"/>
          </p:cNvSpPr>
          <p:nvPr>
            <p:ph type="dt" sz="half" idx="10"/>
          </p:nvPr>
        </p:nvSpPr>
        <p:spPr/>
        <p:txBody>
          <a:bodyPr/>
          <a:lstStyle/>
          <a:p>
            <a:fld id="{2E3A8F2A-F0FD-4E31-B4EF-40AD26E6CA0F}"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E22448D4-82F5-EAFA-494A-52FC547306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1BEF6A-4437-DD07-211F-E6A1F3C1F8B7}"/>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3531592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5A48199-0CCB-85D1-8FC1-22854542E9D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F0493E1-84B8-B789-F2B7-CC78A652C1D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4214A00-08E6-DD8B-6EE1-56AC1DD10D95}"/>
              </a:ext>
            </a:extLst>
          </p:cNvPr>
          <p:cNvSpPr>
            <a:spLocks noGrp="1"/>
          </p:cNvSpPr>
          <p:nvPr>
            <p:ph type="dt" sz="half" idx="10"/>
          </p:nvPr>
        </p:nvSpPr>
        <p:spPr/>
        <p:txBody>
          <a:bodyPr/>
          <a:lstStyle/>
          <a:p>
            <a:fld id="{1B4E766C-EF80-48DE-9CB8-1BD57B59B04A}"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B38ABA2E-518E-4F5F-3B74-579A878B5D7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40BF8C-8388-8471-C519-25702C0AF326}"/>
              </a:ext>
            </a:extLst>
          </p:cNvPr>
          <p:cNvSpPr>
            <a:spLocks noGrp="1"/>
          </p:cNvSpPr>
          <p:nvPr>
            <p:ph type="sldNum" sz="quarter" idx="12"/>
          </p:nvPr>
        </p:nvSpPr>
        <p:spPr/>
        <p:txBody>
          <a:body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435812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BF7E759-8267-5427-EB2D-825572B486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099F14-9D72-FE91-B84D-9BA97872A7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2E588B8-3070-1E18-208E-87612A4CAF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5ADEE3-DF0B-4EF8-87B9-84A3DEA2E197}" type="datetime1">
              <a:rPr kumimoji="1" lang="ja-JP" altLang="en-US" smtClean="0"/>
              <a:t>2026/8/5</a:t>
            </a:fld>
            <a:endParaRPr kumimoji="1" lang="ja-JP" altLang="en-US"/>
          </a:p>
        </p:txBody>
      </p:sp>
      <p:sp>
        <p:nvSpPr>
          <p:cNvPr id="5" name="フッター プレースホルダー 4">
            <a:extLst>
              <a:ext uri="{FF2B5EF4-FFF2-40B4-BE49-F238E27FC236}">
                <a16:creationId xmlns:a16="http://schemas.microsoft.com/office/drawing/2014/main" id="{FE803E9F-B1EB-2C03-E631-1871C88FA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AB47470-8222-CFB8-5746-89C24A03B0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EC9C95-8009-4180-AAA8-5F6B382748D2}" type="slidenum">
              <a:rPr kumimoji="1" lang="ja-JP" altLang="en-US" smtClean="0"/>
              <a:t>‹#›</a:t>
            </a:fld>
            <a:endParaRPr kumimoji="1" lang="ja-JP" altLang="en-US"/>
          </a:p>
        </p:txBody>
      </p:sp>
    </p:spTree>
    <p:extLst>
      <p:ext uri="{BB962C8B-B14F-4D97-AF65-F5344CB8AC3E}">
        <p14:creationId xmlns:p14="http://schemas.microsoft.com/office/powerpoint/2010/main" val="1463977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C5B25291-1CE7-ED9E-C7B8-201943F778B2}"/>
              </a:ext>
            </a:extLst>
          </p:cNvPr>
          <p:cNvSpPr/>
          <p:nvPr/>
        </p:nvSpPr>
        <p:spPr>
          <a:xfrm>
            <a:off x="0" y="0"/>
            <a:ext cx="12192000" cy="6858000"/>
          </a:xfrm>
          <a:prstGeom prst="rect">
            <a:avLst/>
          </a:prstGeom>
          <a:solidFill>
            <a:srgbClr val="0013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43CDA5C4-7AA2-2B63-CF00-9CAACE353B27}"/>
              </a:ext>
            </a:extLst>
          </p:cNvPr>
          <p:cNvSpPr txBox="1"/>
          <p:nvPr/>
        </p:nvSpPr>
        <p:spPr>
          <a:xfrm>
            <a:off x="567099" y="2032000"/>
            <a:ext cx="5416868" cy="707886"/>
          </a:xfrm>
          <a:prstGeom prst="rect">
            <a:avLst/>
          </a:prstGeom>
          <a:noFill/>
        </p:spPr>
        <p:txBody>
          <a:bodyPr wrap="none" rtlCol="0">
            <a:spAutoFit/>
          </a:bodyPr>
          <a:lstStyle/>
          <a:p>
            <a:r>
              <a:rPr kumimoji="1" lang="ja-JP" altLang="en-US" sz="4000" b="1" dirty="0">
                <a:solidFill>
                  <a:schemeClr val="bg1"/>
                </a:solidFill>
                <a:latin typeface="Meiryo UI" panose="020B0604030504040204" pitchFamily="50" charset="-128"/>
                <a:ea typeface="Meiryo UI" panose="020B0604030504040204" pitchFamily="50" charset="-128"/>
              </a:rPr>
              <a:t>新システム運用マニュアル</a:t>
            </a:r>
          </a:p>
        </p:txBody>
      </p:sp>
      <p:sp>
        <p:nvSpPr>
          <p:cNvPr id="8" name="テキスト ボックス 7">
            <a:extLst>
              <a:ext uri="{FF2B5EF4-FFF2-40B4-BE49-F238E27FC236}">
                <a16:creationId xmlns:a16="http://schemas.microsoft.com/office/drawing/2014/main" id="{092915AE-6D86-5467-2B2A-08C258E0486F}"/>
              </a:ext>
            </a:extLst>
          </p:cNvPr>
          <p:cNvSpPr txBox="1"/>
          <p:nvPr/>
        </p:nvSpPr>
        <p:spPr>
          <a:xfrm>
            <a:off x="567099" y="1551351"/>
            <a:ext cx="1569660" cy="369332"/>
          </a:xfrm>
          <a:prstGeom prst="rect">
            <a:avLst/>
          </a:prstGeom>
          <a:noFill/>
        </p:spPr>
        <p:txBody>
          <a:bodyPr wrap="none" rtlCol="0">
            <a:spAutoFit/>
          </a:bodyPr>
          <a:lstStyle/>
          <a:p>
            <a:r>
              <a:rPr lang="ja-JP" altLang="en-US" b="1" dirty="0">
                <a:solidFill>
                  <a:srgbClr val="FFC000"/>
                </a:solidFill>
                <a:latin typeface="Meiryo UI" panose="020B0604030504040204" pitchFamily="50" charset="-128"/>
                <a:ea typeface="Meiryo UI" panose="020B0604030504040204" pitchFamily="50" charset="-128"/>
              </a:rPr>
              <a:t>受注担当向け</a:t>
            </a:r>
            <a:endParaRPr kumimoji="1" lang="ja-JP" altLang="en-US" b="1" dirty="0">
              <a:solidFill>
                <a:srgbClr val="FFC000"/>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C2DC656E-C7BF-4D7F-1833-9E8040ABEF9D}"/>
              </a:ext>
            </a:extLst>
          </p:cNvPr>
          <p:cNvSpPr txBox="1"/>
          <p:nvPr/>
        </p:nvSpPr>
        <p:spPr>
          <a:xfrm>
            <a:off x="595658" y="2851203"/>
            <a:ext cx="1021433" cy="369332"/>
          </a:xfrm>
          <a:prstGeom prst="rect">
            <a:avLst/>
          </a:prstGeom>
          <a:noFill/>
        </p:spPr>
        <p:txBody>
          <a:bodyPr wrap="none" rtlCol="0">
            <a:spAutoFit/>
          </a:bodyPr>
          <a:lstStyle/>
          <a:p>
            <a:r>
              <a:rPr kumimoji="1" lang="ja-JP" altLang="en-US" b="1" dirty="0">
                <a:solidFill>
                  <a:srgbClr val="FFC000"/>
                </a:solidFill>
                <a:latin typeface="Meiryo UI" panose="020B0604030504040204" pitchFamily="50" charset="-128"/>
                <a:ea typeface="Meiryo UI" panose="020B0604030504040204" pitchFamily="50" charset="-128"/>
              </a:rPr>
              <a:t>面談から</a:t>
            </a:r>
          </a:p>
        </p:txBody>
      </p:sp>
      <p:grpSp>
        <p:nvGrpSpPr>
          <p:cNvPr id="17" name="グループ化 16">
            <a:extLst>
              <a:ext uri="{FF2B5EF4-FFF2-40B4-BE49-F238E27FC236}">
                <a16:creationId xmlns:a16="http://schemas.microsoft.com/office/drawing/2014/main" id="{B30B98C6-82E8-FB49-258F-5BD2B59ADB70}"/>
              </a:ext>
            </a:extLst>
          </p:cNvPr>
          <p:cNvGrpSpPr/>
          <p:nvPr/>
        </p:nvGrpSpPr>
        <p:grpSpPr>
          <a:xfrm>
            <a:off x="6362700" y="1551351"/>
            <a:ext cx="5020901" cy="3465150"/>
            <a:chOff x="6362700" y="1551351"/>
            <a:chExt cx="5020901" cy="3465150"/>
          </a:xfrm>
        </p:grpSpPr>
        <p:pic>
          <p:nvPicPr>
            <p:cNvPr id="5" name="図 4">
              <a:extLst>
                <a:ext uri="{FF2B5EF4-FFF2-40B4-BE49-F238E27FC236}">
                  <a16:creationId xmlns:a16="http://schemas.microsoft.com/office/drawing/2014/main" id="{101F0B80-3DEB-C0BC-8EA6-8834020F6A0F}"/>
                </a:ext>
              </a:extLst>
            </p:cNvPr>
            <p:cNvPicPr>
              <a:picLocks noChangeAspect="1"/>
            </p:cNvPicPr>
            <p:nvPr/>
          </p:nvPicPr>
          <p:blipFill>
            <a:blip r:embed="rId2">
              <a:extLst>
                <a:ext uri="{28A0092B-C50C-407E-A947-70E740481C1C}">
                  <a14:useLocalDpi xmlns:a14="http://schemas.microsoft.com/office/drawing/2010/main" val="0"/>
                </a:ext>
              </a:extLst>
            </a:blip>
            <a:srcRect r="33333"/>
            <a:stretch>
              <a:fillRect/>
            </a:stretch>
          </p:blipFill>
          <p:spPr>
            <a:xfrm>
              <a:off x="6362700" y="1551351"/>
              <a:ext cx="5020901" cy="3465150"/>
            </a:xfrm>
            <a:prstGeom prst="rect">
              <a:avLst/>
            </a:prstGeom>
          </p:spPr>
        </p:pic>
        <p:pic>
          <p:nvPicPr>
            <p:cNvPr id="13" name="図 12">
              <a:extLst>
                <a:ext uri="{FF2B5EF4-FFF2-40B4-BE49-F238E27FC236}">
                  <a16:creationId xmlns:a16="http://schemas.microsoft.com/office/drawing/2014/main" id="{4D12C662-5F9F-F971-A676-B7DC86ACE69B}"/>
                </a:ext>
              </a:extLst>
            </p:cNvPr>
            <p:cNvPicPr>
              <a:picLocks noChangeAspect="1"/>
            </p:cNvPicPr>
            <p:nvPr/>
          </p:nvPicPr>
          <p:blipFill>
            <a:blip r:embed="rId3"/>
            <a:stretch>
              <a:fillRect/>
            </a:stretch>
          </p:blipFill>
          <p:spPr>
            <a:xfrm>
              <a:off x="6525666" y="1701801"/>
              <a:ext cx="4373539" cy="2628900"/>
            </a:xfrm>
            <a:prstGeom prst="rect">
              <a:avLst/>
            </a:prstGeom>
          </p:spPr>
        </p:pic>
      </p:grpSp>
      <p:sp>
        <p:nvSpPr>
          <p:cNvPr id="15" name="四角形: 角を丸くする 14">
            <a:extLst>
              <a:ext uri="{FF2B5EF4-FFF2-40B4-BE49-F238E27FC236}">
                <a16:creationId xmlns:a16="http://schemas.microsoft.com/office/drawing/2014/main" id="{FA32FCD3-189D-689D-E223-DD33E7E94B8E}"/>
              </a:ext>
            </a:extLst>
          </p:cNvPr>
          <p:cNvSpPr/>
          <p:nvPr/>
        </p:nvSpPr>
        <p:spPr>
          <a:xfrm>
            <a:off x="9779000" y="241300"/>
            <a:ext cx="1955800" cy="624251"/>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eiryo UI" panose="020B0604030504040204" pitchFamily="50" charset="-128"/>
                <a:ea typeface="Meiryo UI" panose="020B0604030504040204" pitchFamily="50" charset="-128"/>
              </a:rPr>
              <a:t>Ver.0.1</a:t>
            </a:r>
            <a:endParaRPr kumimoji="1" lang="ja-JP" altLang="en-US" b="1" dirty="0">
              <a:latin typeface="Meiryo UI" panose="020B0604030504040204" pitchFamily="50" charset="-128"/>
              <a:ea typeface="Meiryo UI" panose="020B0604030504040204" pitchFamily="50" charset="-128"/>
            </a:endParaRPr>
          </a:p>
        </p:txBody>
      </p:sp>
      <p:sp>
        <p:nvSpPr>
          <p:cNvPr id="21" name="スライド番号プレースホルダー 20">
            <a:extLst>
              <a:ext uri="{FF2B5EF4-FFF2-40B4-BE49-F238E27FC236}">
                <a16:creationId xmlns:a16="http://schemas.microsoft.com/office/drawing/2014/main" id="{2DEEE862-9F16-201F-AE24-7531B954A125}"/>
              </a:ext>
            </a:extLst>
          </p:cNvPr>
          <p:cNvSpPr>
            <a:spLocks noGrp="1"/>
          </p:cNvSpPr>
          <p:nvPr>
            <p:ph type="sldNum" sz="quarter" idx="12"/>
          </p:nvPr>
        </p:nvSpPr>
        <p:spPr/>
        <p:txBody>
          <a:bodyPr/>
          <a:lstStyle/>
          <a:p>
            <a:fld id="{F4EC9C95-8009-4180-AAA8-5F6B382748D2}" type="slidenum">
              <a:rPr kumimoji="1" lang="ja-JP" altLang="en-US" smtClean="0"/>
              <a:t>1</a:t>
            </a:fld>
            <a:endParaRPr kumimoji="1" lang="ja-JP" altLang="en-US"/>
          </a:p>
        </p:txBody>
      </p:sp>
    </p:spTree>
    <p:extLst>
      <p:ext uri="{BB962C8B-B14F-4D97-AF65-F5344CB8AC3E}">
        <p14:creationId xmlns:p14="http://schemas.microsoft.com/office/powerpoint/2010/main" val="1660016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正方形/長方形 101">
            <a:extLst>
              <a:ext uri="{FF2B5EF4-FFF2-40B4-BE49-F238E27FC236}">
                <a16:creationId xmlns:a16="http://schemas.microsoft.com/office/drawing/2014/main" id="{69B9BE41-7815-5A12-1711-A2FC1928279B}"/>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a:solidFill>
                  <a:schemeClr val="tx1"/>
                </a:solidFill>
                <a:latin typeface="Meiryo UI" panose="020B0604030504040204" pitchFamily="50" charset="-128"/>
                <a:ea typeface="Meiryo UI" panose="020B0604030504040204" pitchFamily="50" charset="-128"/>
              </a:rPr>
              <a:t>本説明会では、受注担当の受注処理の流れやシステム操作方法、業務ルールについて説明します。</a:t>
            </a:r>
            <a:endParaRPr lang="ja-JP" altLang="en-US" sz="1400" b="1" dirty="0">
              <a:solidFill>
                <a:schemeClr val="tx1"/>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16FAA90E-22B2-DDC8-C61B-E57E58B1BC9E}"/>
              </a:ext>
            </a:extLst>
          </p:cNvPr>
          <p:cNvSpPr/>
          <p:nvPr/>
        </p:nvSpPr>
        <p:spPr>
          <a:xfrm>
            <a:off x="8320696" y="1545653"/>
            <a:ext cx="3564360" cy="50546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939E1119-F7A1-4775-F51E-08DCE2BECE53}"/>
              </a:ext>
            </a:extLst>
          </p:cNvPr>
          <p:cNvSpPr txBox="1"/>
          <p:nvPr/>
        </p:nvSpPr>
        <p:spPr>
          <a:xfrm>
            <a:off x="254000" y="139700"/>
            <a:ext cx="1620957"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説明範囲</a:t>
            </a:r>
          </a:p>
        </p:txBody>
      </p:sp>
      <p:sp>
        <p:nvSpPr>
          <p:cNvPr id="41" name="矢印: 五方向 40">
            <a:extLst>
              <a:ext uri="{FF2B5EF4-FFF2-40B4-BE49-F238E27FC236}">
                <a16:creationId xmlns:a16="http://schemas.microsoft.com/office/drawing/2014/main" id="{E100401F-F5F9-4C47-4D39-0C95CB0DFADC}"/>
              </a:ext>
            </a:extLst>
          </p:cNvPr>
          <p:cNvSpPr/>
          <p:nvPr/>
        </p:nvSpPr>
        <p:spPr>
          <a:xfrm>
            <a:off x="5305545" y="5370847"/>
            <a:ext cx="4353774"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200" dirty="0">
                <a:latin typeface="Meiryo UI" panose="020B0604030504040204" pitchFamily="50" charset="-128"/>
                <a:ea typeface="Meiryo UI" panose="020B0604030504040204" pitchFamily="50" charset="-128"/>
              </a:rPr>
              <a:t>前受け金</a:t>
            </a:r>
            <a:r>
              <a:rPr lang="ja-JP" altLang="en-US" sz="1200" dirty="0">
                <a:latin typeface="Meiryo UI" panose="020B0604030504040204" pitchFamily="50" charset="-128"/>
                <a:ea typeface="Meiryo UI" panose="020B0604030504040204" pitchFamily="50" charset="-128"/>
              </a:rPr>
              <a:t>入金確認</a:t>
            </a:r>
            <a:endParaRPr kumimoji="1" lang="ja-JP" altLang="en-US" sz="1200" dirty="0">
              <a:latin typeface="Meiryo UI" panose="020B0604030504040204" pitchFamily="50" charset="-128"/>
              <a:ea typeface="Meiryo UI" panose="020B0604030504040204" pitchFamily="50" charset="-128"/>
            </a:endParaRPr>
          </a:p>
        </p:txBody>
      </p:sp>
      <p:sp>
        <p:nvSpPr>
          <p:cNvPr id="44" name="矢印: 五方向 43">
            <a:extLst>
              <a:ext uri="{FF2B5EF4-FFF2-40B4-BE49-F238E27FC236}">
                <a16:creationId xmlns:a16="http://schemas.microsoft.com/office/drawing/2014/main" id="{9B4F4A94-AAE1-F2D1-C6BF-BBD16627E28E}"/>
              </a:ext>
            </a:extLst>
          </p:cNvPr>
          <p:cNvSpPr/>
          <p:nvPr/>
        </p:nvSpPr>
        <p:spPr>
          <a:xfrm>
            <a:off x="8341819" y="5891795"/>
            <a:ext cx="1317500" cy="408163"/>
          </a:xfrm>
          <a:prstGeom prst="homePlate">
            <a:avLst>
              <a:gd name="adj" fmla="val 29518"/>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ファイル化</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 name="矢印: 五方向 3">
            <a:extLst>
              <a:ext uri="{FF2B5EF4-FFF2-40B4-BE49-F238E27FC236}">
                <a16:creationId xmlns:a16="http://schemas.microsoft.com/office/drawing/2014/main" id="{BDA79ACA-B1B8-464F-E83D-FCA3A494F4A2}"/>
              </a:ext>
            </a:extLst>
          </p:cNvPr>
          <p:cNvSpPr/>
          <p:nvPr/>
        </p:nvSpPr>
        <p:spPr>
          <a:xfrm>
            <a:off x="474870" y="2814229"/>
            <a:ext cx="1275843" cy="846632"/>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200" dirty="0">
                <a:latin typeface="Meiryo UI" panose="020B0604030504040204" pitchFamily="50" charset="-128"/>
                <a:ea typeface="Meiryo UI" panose="020B0604030504040204" pitchFamily="50" charset="-128"/>
              </a:rPr>
              <a:t>面談実施</a:t>
            </a:r>
          </a:p>
        </p:txBody>
      </p:sp>
      <p:sp>
        <p:nvSpPr>
          <p:cNvPr id="18" name="矢印: 五方向 17">
            <a:extLst>
              <a:ext uri="{FF2B5EF4-FFF2-40B4-BE49-F238E27FC236}">
                <a16:creationId xmlns:a16="http://schemas.microsoft.com/office/drawing/2014/main" id="{C5EB4F9C-F4FB-D959-BFDC-A463747D7EF7}"/>
              </a:ext>
            </a:extLst>
          </p:cNvPr>
          <p:cNvSpPr/>
          <p:nvPr/>
        </p:nvSpPr>
        <p:spPr>
          <a:xfrm>
            <a:off x="1857626" y="2819744"/>
            <a:ext cx="1275843" cy="846632"/>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200" dirty="0">
                <a:latin typeface="Meiryo UI" panose="020B0604030504040204" pitchFamily="50" charset="-128"/>
                <a:ea typeface="Meiryo UI" panose="020B0604030504040204" pitchFamily="50" charset="-128"/>
              </a:rPr>
              <a:t>面談シート作成</a:t>
            </a:r>
            <a:endParaRPr kumimoji="1" lang="en-US" altLang="ja-JP" sz="1200" dirty="0">
              <a:latin typeface="Meiryo UI" panose="020B0604030504040204" pitchFamily="50" charset="-128"/>
              <a:ea typeface="Meiryo UI" panose="020B0604030504040204" pitchFamily="50" charset="-128"/>
            </a:endParaRPr>
          </a:p>
        </p:txBody>
      </p:sp>
      <p:sp>
        <p:nvSpPr>
          <p:cNvPr id="24" name="矢印: 五方向 23">
            <a:extLst>
              <a:ext uri="{FF2B5EF4-FFF2-40B4-BE49-F238E27FC236}">
                <a16:creationId xmlns:a16="http://schemas.microsoft.com/office/drawing/2014/main" id="{A3B9E9F2-7609-8062-9E14-120304DC203B}"/>
              </a:ext>
            </a:extLst>
          </p:cNvPr>
          <p:cNvSpPr/>
          <p:nvPr/>
        </p:nvSpPr>
        <p:spPr>
          <a:xfrm>
            <a:off x="3246563" y="2819744"/>
            <a:ext cx="1275843" cy="846632"/>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latin typeface="Meiryo UI" panose="020B0604030504040204" pitchFamily="50" charset="-128"/>
                <a:ea typeface="Meiryo UI" panose="020B0604030504040204" pitchFamily="50" charset="-128"/>
              </a:rPr>
              <a:t>面談結果登録</a:t>
            </a:r>
            <a:endParaRPr kumimoji="1" lang="ja-JP" altLang="en-US" sz="1200" dirty="0">
              <a:latin typeface="Meiryo UI" panose="020B0604030504040204" pitchFamily="50" charset="-128"/>
              <a:ea typeface="Meiryo UI" panose="020B0604030504040204" pitchFamily="50" charset="-128"/>
            </a:endParaRPr>
          </a:p>
        </p:txBody>
      </p:sp>
      <p:sp>
        <p:nvSpPr>
          <p:cNvPr id="28" name="矢印: 五方向 27">
            <a:extLst>
              <a:ext uri="{FF2B5EF4-FFF2-40B4-BE49-F238E27FC236}">
                <a16:creationId xmlns:a16="http://schemas.microsoft.com/office/drawing/2014/main" id="{6EB2312D-398B-99D4-E895-FA707EE51D5C}"/>
              </a:ext>
            </a:extLst>
          </p:cNvPr>
          <p:cNvSpPr/>
          <p:nvPr/>
        </p:nvSpPr>
        <p:spPr>
          <a:xfrm>
            <a:off x="4672076" y="2807694"/>
            <a:ext cx="1275843" cy="846632"/>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latin typeface="Meiryo UI" panose="020B0604030504040204" pitchFamily="50" charset="-128"/>
                <a:ea typeface="Meiryo UI" panose="020B0604030504040204" pitchFamily="50" charset="-128"/>
              </a:rPr>
              <a:t>オーダーシート</a:t>
            </a:r>
            <a:endParaRPr lang="en-US" altLang="ja-JP" sz="1200" dirty="0">
              <a:latin typeface="Meiryo UI" panose="020B0604030504040204" pitchFamily="50" charset="-128"/>
              <a:ea typeface="Meiryo UI" panose="020B0604030504040204" pitchFamily="50" charset="-128"/>
            </a:endParaRPr>
          </a:p>
          <a:p>
            <a:pPr algn="ctr"/>
            <a:r>
              <a:rPr lang="ja-JP" altLang="en-US" sz="1200" dirty="0">
                <a:latin typeface="Meiryo UI" panose="020B0604030504040204" pitchFamily="50" charset="-128"/>
                <a:ea typeface="Meiryo UI" panose="020B0604030504040204" pitchFamily="50" charset="-128"/>
              </a:rPr>
              <a:t>作成</a:t>
            </a:r>
            <a:endParaRPr kumimoji="1" lang="ja-JP" altLang="en-US" sz="1200" dirty="0">
              <a:latin typeface="Meiryo UI" panose="020B0604030504040204" pitchFamily="50" charset="-128"/>
              <a:ea typeface="Meiryo UI" panose="020B0604030504040204" pitchFamily="50" charset="-128"/>
            </a:endParaRPr>
          </a:p>
        </p:txBody>
      </p:sp>
      <p:sp>
        <p:nvSpPr>
          <p:cNvPr id="40" name="矢印: 五方向 39">
            <a:extLst>
              <a:ext uri="{FF2B5EF4-FFF2-40B4-BE49-F238E27FC236}">
                <a16:creationId xmlns:a16="http://schemas.microsoft.com/office/drawing/2014/main" id="{166E3987-3994-1365-0A75-347A6E89693A}"/>
              </a:ext>
            </a:extLst>
          </p:cNvPr>
          <p:cNvSpPr/>
          <p:nvPr/>
        </p:nvSpPr>
        <p:spPr>
          <a:xfrm>
            <a:off x="6015735" y="2807694"/>
            <a:ext cx="1275843" cy="846632"/>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latin typeface="Meiryo UI" panose="020B0604030504040204" pitchFamily="50" charset="-128"/>
                <a:ea typeface="Meiryo UI" panose="020B0604030504040204" pitchFamily="50" charset="-128"/>
              </a:rPr>
              <a:t>前受け金請求書発行</a:t>
            </a:r>
            <a:endParaRPr kumimoji="1" lang="ja-JP" altLang="en-US" sz="1200" dirty="0">
              <a:latin typeface="Meiryo UI" panose="020B0604030504040204" pitchFamily="50" charset="-128"/>
              <a:ea typeface="Meiryo UI" panose="020B0604030504040204" pitchFamily="50" charset="-128"/>
            </a:endParaRPr>
          </a:p>
        </p:txBody>
      </p:sp>
      <p:sp>
        <p:nvSpPr>
          <p:cNvPr id="43" name="矢印: 五方向 42">
            <a:extLst>
              <a:ext uri="{FF2B5EF4-FFF2-40B4-BE49-F238E27FC236}">
                <a16:creationId xmlns:a16="http://schemas.microsoft.com/office/drawing/2014/main" id="{4F770CD6-81A4-047A-D9E0-5E2DC37240AB}"/>
              </a:ext>
            </a:extLst>
          </p:cNvPr>
          <p:cNvSpPr/>
          <p:nvPr/>
        </p:nvSpPr>
        <p:spPr>
          <a:xfrm>
            <a:off x="4658561" y="2415761"/>
            <a:ext cx="3727956" cy="296640"/>
          </a:xfrm>
          <a:prstGeom prst="homePlate">
            <a:avLst>
              <a:gd name="adj" fmla="val 2951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200" dirty="0">
                <a:latin typeface="Meiryo UI" panose="020B0604030504040204" pitchFamily="50" charset="-128"/>
                <a:ea typeface="Meiryo UI" panose="020B0604030504040204" pitchFamily="50" charset="-128"/>
              </a:rPr>
              <a:t>受注</a:t>
            </a:r>
          </a:p>
        </p:txBody>
      </p:sp>
      <p:sp>
        <p:nvSpPr>
          <p:cNvPr id="30" name="矢印: 五方向 29">
            <a:extLst>
              <a:ext uri="{FF2B5EF4-FFF2-40B4-BE49-F238E27FC236}">
                <a16:creationId xmlns:a16="http://schemas.microsoft.com/office/drawing/2014/main" id="{8D22E23C-F029-78D4-3361-2E2991F44336}"/>
              </a:ext>
            </a:extLst>
          </p:cNvPr>
          <p:cNvSpPr/>
          <p:nvPr/>
        </p:nvSpPr>
        <p:spPr>
          <a:xfrm>
            <a:off x="3254053" y="3815588"/>
            <a:ext cx="2566263" cy="408163"/>
          </a:xfrm>
          <a:prstGeom prst="homePlate">
            <a:avLst>
              <a:gd name="adj" fmla="val 29518"/>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管理担当</a:t>
            </a:r>
            <a:r>
              <a:rPr kumimoji="1" lang="ja-JP" altLang="en-US" sz="1200" dirty="0">
                <a:solidFill>
                  <a:schemeClr val="tx1"/>
                </a:solidFill>
                <a:latin typeface="Meiryo UI" panose="020B0604030504040204" pitchFamily="50" charset="-128"/>
                <a:ea typeface="Meiryo UI" panose="020B0604030504040204" pitchFamily="50" charset="-128"/>
              </a:rPr>
              <a:t>アサイン</a:t>
            </a:r>
          </a:p>
        </p:txBody>
      </p:sp>
      <p:sp>
        <p:nvSpPr>
          <p:cNvPr id="38" name="矢印: 五方向 37">
            <a:extLst>
              <a:ext uri="{FF2B5EF4-FFF2-40B4-BE49-F238E27FC236}">
                <a16:creationId xmlns:a16="http://schemas.microsoft.com/office/drawing/2014/main" id="{DB46F473-8583-0B1A-0633-04B184D4F69B}"/>
              </a:ext>
            </a:extLst>
          </p:cNvPr>
          <p:cNvSpPr/>
          <p:nvPr/>
        </p:nvSpPr>
        <p:spPr>
          <a:xfrm>
            <a:off x="585319" y="4867392"/>
            <a:ext cx="7801198" cy="408163"/>
          </a:xfrm>
          <a:prstGeom prst="homePlate">
            <a:avLst>
              <a:gd name="adj" fmla="val 29518"/>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契約書類</a:t>
            </a:r>
            <a:r>
              <a:rPr kumimoji="1" lang="ja-JP" altLang="en-US" sz="1200" dirty="0">
                <a:solidFill>
                  <a:schemeClr val="tx1"/>
                </a:solidFill>
                <a:latin typeface="Meiryo UI" panose="020B0604030504040204" pitchFamily="50" charset="-128"/>
                <a:ea typeface="Meiryo UI" panose="020B0604030504040204" pitchFamily="50" charset="-128"/>
              </a:rPr>
              <a:t>受領</a:t>
            </a:r>
          </a:p>
        </p:txBody>
      </p:sp>
      <p:sp>
        <p:nvSpPr>
          <p:cNvPr id="42" name="矢印: 五方向 41">
            <a:extLst>
              <a:ext uri="{FF2B5EF4-FFF2-40B4-BE49-F238E27FC236}">
                <a16:creationId xmlns:a16="http://schemas.microsoft.com/office/drawing/2014/main" id="{DE764197-77E7-9E03-3DAF-E8391D31A573}"/>
              </a:ext>
            </a:extLst>
          </p:cNvPr>
          <p:cNvSpPr/>
          <p:nvPr/>
        </p:nvSpPr>
        <p:spPr>
          <a:xfrm>
            <a:off x="4658561" y="4352276"/>
            <a:ext cx="2595151" cy="386739"/>
          </a:xfrm>
          <a:prstGeom prst="homePlate">
            <a:avLst>
              <a:gd name="adj" fmla="val 29518"/>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オーダーシート</a:t>
            </a:r>
            <a:r>
              <a:rPr kumimoji="1" lang="ja-JP" altLang="en-US" sz="1200" dirty="0">
                <a:solidFill>
                  <a:schemeClr val="tx1"/>
                </a:solidFill>
                <a:latin typeface="Meiryo UI" panose="020B0604030504040204" pitchFamily="50" charset="-128"/>
                <a:ea typeface="Meiryo UI" panose="020B0604030504040204" pitchFamily="50" charset="-128"/>
              </a:rPr>
              <a:t>最終化</a:t>
            </a:r>
          </a:p>
        </p:txBody>
      </p:sp>
      <p:sp>
        <p:nvSpPr>
          <p:cNvPr id="45" name="矢印: 五方向 44">
            <a:extLst>
              <a:ext uri="{FF2B5EF4-FFF2-40B4-BE49-F238E27FC236}">
                <a16:creationId xmlns:a16="http://schemas.microsoft.com/office/drawing/2014/main" id="{E8763532-FD3C-8579-D1F2-7AB11819F75E}"/>
              </a:ext>
            </a:extLst>
          </p:cNvPr>
          <p:cNvSpPr/>
          <p:nvPr/>
        </p:nvSpPr>
        <p:spPr>
          <a:xfrm>
            <a:off x="474870" y="2415761"/>
            <a:ext cx="4047537" cy="296640"/>
          </a:xfrm>
          <a:prstGeom prst="homePlate">
            <a:avLst>
              <a:gd name="adj" fmla="val 2951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200" dirty="0">
                <a:latin typeface="Meiryo UI" panose="020B0604030504040204" pitchFamily="50" charset="-128"/>
                <a:ea typeface="Meiryo UI" panose="020B0604030504040204" pitchFamily="50" charset="-128"/>
              </a:rPr>
              <a:t>-</a:t>
            </a:r>
            <a:endParaRPr kumimoji="1" lang="ja-JP" altLang="en-US" sz="1200" dirty="0">
              <a:latin typeface="Meiryo UI" panose="020B0604030504040204" pitchFamily="50" charset="-128"/>
              <a:ea typeface="Meiryo UI" panose="020B0604030504040204" pitchFamily="50" charset="-128"/>
            </a:endParaRPr>
          </a:p>
        </p:txBody>
      </p:sp>
      <p:sp>
        <p:nvSpPr>
          <p:cNvPr id="47" name="矢印: 五方向 46">
            <a:extLst>
              <a:ext uri="{FF2B5EF4-FFF2-40B4-BE49-F238E27FC236}">
                <a16:creationId xmlns:a16="http://schemas.microsoft.com/office/drawing/2014/main" id="{9095ACEA-A8B5-5C8C-DF08-A1DFA7374D74}"/>
              </a:ext>
            </a:extLst>
          </p:cNvPr>
          <p:cNvSpPr/>
          <p:nvPr/>
        </p:nvSpPr>
        <p:spPr>
          <a:xfrm>
            <a:off x="8386517" y="2415761"/>
            <a:ext cx="1318305" cy="296640"/>
          </a:xfrm>
          <a:prstGeom prst="homePlate">
            <a:avLst>
              <a:gd name="adj" fmla="val 2951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200" dirty="0">
                <a:latin typeface="Meiryo UI" panose="020B0604030504040204" pitchFamily="50" charset="-128"/>
                <a:ea typeface="Meiryo UI" panose="020B0604030504040204" pitchFamily="50" charset="-128"/>
              </a:rPr>
              <a:t>作業着手準備</a:t>
            </a:r>
          </a:p>
        </p:txBody>
      </p:sp>
      <p:sp>
        <p:nvSpPr>
          <p:cNvPr id="55" name="矢印: 五方向 54">
            <a:extLst>
              <a:ext uri="{FF2B5EF4-FFF2-40B4-BE49-F238E27FC236}">
                <a16:creationId xmlns:a16="http://schemas.microsoft.com/office/drawing/2014/main" id="{ED8635EB-E521-5A82-48F1-2AB216A52BF7}"/>
              </a:ext>
            </a:extLst>
          </p:cNvPr>
          <p:cNvSpPr/>
          <p:nvPr/>
        </p:nvSpPr>
        <p:spPr>
          <a:xfrm>
            <a:off x="8428979" y="2807694"/>
            <a:ext cx="1275843" cy="846632"/>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200" dirty="0">
                <a:latin typeface="Meiryo UI" panose="020B0604030504040204" pitchFamily="50" charset="-128"/>
                <a:ea typeface="Meiryo UI" panose="020B0604030504040204" pitchFamily="50" charset="-128"/>
              </a:rPr>
              <a:t>ファイル化</a:t>
            </a:r>
            <a:r>
              <a:rPr kumimoji="1" lang="en-US" altLang="ja-JP" sz="1200" dirty="0">
                <a:latin typeface="Meiryo UI" panose="020B0604030504040204" pitchFamily="50" charset="-128"/>
                <a:ea typeface="Meiryo UI" panose="020B0604030504040204" pitchFamily="50" charset="-128"/>
              </a:rPr>
              <a:t>/</a:t>
            </a:r>
          </a:p>
          <a:p>
            <a:pPr algn="ctr"/>
            <a:r>
              <a:rPr lang="ja-JP" altLang="en-US" sz="1200" dirty="0">
                <a:latin typeface="Meiryo UI" panose="020B0604030504040204" pitchFamily="50" charset="-128"/>
                <a:ea typeface="Meiryo UI" panose="020B0604030504040204" pitchFamily="50" charset="-128"/>
              </a:rPr>
              <a:t>入金確認</a:t>
            </a:r>
            <a:endParaRPr kumimoji="1" lang="ja-JP" altLang="en-US" sz="1200" dirty="0">
              <a:latin typeface="Meiryo UI" panose="020B0604030504040204" pitchFamily="50" charset="-128"/>
              <a:ea typeface="Meiryo UI" panose="020B0604030504040204" pitchFamily="50" charset="-128"/>
            </a:endParaRPr>
          </a:p>
        </p:txBody>
      </p:sp>
      <p:grpSp>
        <p:nvGrpSpPr>
          <p:cNvPr id="67" name="グループ化 66">
            <a:extLst>
              <a:ext uri="{FF2B5EF4-FFF2-40B4-BE49-F238E27FC236}">
                <a16:creationId xmlns:a16="http://schemas.microsoft.com/office/drawing/2014/main" id="{A5311465-AE9F-09A9-625A-208710157902}"/>
              </a:ext>
            </a:extLst>
          </p:cNvPr>
          <p:cNvGrpSpPr/>
          <p:nvPr/>
        </p:nvGrpSpPr>
        <p:grpSpPr>
          <a:xfrm>
            <a:off x="9801874" y="2415761"/>
            <a:ext cx="1968882" cy="1462974"/>
            <a:chOff x="8928636" y="1572315"/>
            <a:chExt cx="3091756" cy="1821476"/>
          </a:xfrm>
        </p:grpSpPr>
        <p:sp>
          <p:nvSpPr>
            <p:cNvPr id="61" name="矢印: 五方向 60">
              <a:extLst>
                <a:ext uri="{FF2B5EF4-FFF2-40B4-BE49-F238E27FC236}">
                  <a16:creationId xmlns:a16="http://schemas.microsoft.com/office/drawing/2014/main" id="{650DBF6B-6CAE-1B88-8EB3-C01EBA2D4E37}"/>
                </a:ext>
              </a:extLst>
            </p:cNvPr>
            <p:cNvSpPr/>
            <p:nvPr/>
          </p:nvSpPr>
          <p:spPr>
            <a:xfrm>
              <a:off x="10691406" y="2339691"/>
              <a:ext cx="1328986" cy="1054100"/>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50" dirty="0">
                  <a:latin typeface="Meiryo UI" panose="020B0604030504040204" pitchFamily="50" charset="-128"/>
                  <a:ea typeface="Meiryo UI" panose="020B0604030504040204" pitchFamily="50" charset="-128"/>
                </a:rPr>
                <a:t>相続人調査</a:t>
              </a:r>
            </a:p>
          </p:txBody>
        </p:sp>
        <p:sp>
          <p:nvSpPr>
            <p:cNvPr id="60" name="矢印: 五方向 59">
              <a:extLst>
                <a:ext uri="{FF2B5EF4-FFF2-40B4-BE49-F238E27FC236}">
                  <a16:creationId xmlns:a16="http://schemas.microsoft.com/office/drawing/2014/main" id="{4882B85C-F3E5-0379-995B-51474E3AD66F}"/>
                </a:ext>
              </a:extLst>
            </p:cNvPr>
            <p:cNvSpPr/>
            <p:nvPr/>
          </p:nvSpPr>
          <p:spPr>
            <a:xfrm>
              <a:off x="10539006" y="2212691"/>
              <a:ext cx="1328986" cy="1054100"/>
            </a:xfrm>
            <a:prstGeom prst="homePlate">
              <a:avLst>
                <a:gd name="adj" fmla="val 29518"/>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50" dirty="0">
                  <a:latin typeface="Meiryo UI" panose="020B0604030504040204" pitchFamily="50" charset="-128"/>
                  <a:ea typeface="Meiryo UI" panose="020B0604030504040204" pitchFamily="50" charset="-128"/>
                </a:rPr>
                <a:t>相続人調査</a:t>
              </a:r>
            </a:p>
          </p:txBody>
        </p:sp>
        <p:sp>
          <p:nvSpPr>
            <p:cNvPr id="56" name="矢印: 五方向 55">
              <a:extLst>
                <a:ext uri="{FF2B5EF4-FFF2-40B4-BE49-F238E27FC236}">
                  <a16:creationId xmlns:a16="http://schemas.microsoft.com/office/drawing/2014/main" id="{A147646E-16CD-377D-1D69-644C83381A92}"/>
                </a:ext>
              </a:extLst>
            </p:cNvPr>
            <p:cNvSpPr/>
            <p:nvPr/>
          </p:nvSpPr>
          <p:spPr>
            <a:xfrm>
              <a:off x="8928636" y="1572315"/>
              <a:ext cx="2786956" cy="369332"/>
            </a:xfrm>
            <a:prstGeom prst="homePlate">
              <a:avLst>
                <a:gd name="adj" fmla="val 2951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50" dirty="0">
                  <a:latin typeface="Meiryo UI" panose="020B0604030504040204" pitchFamily="50" charset="-128"/>
                  <a:ea typeface="Meiryo UI" panose="020B0604030504040204" pitchFamily="50" charset="-128"/>
                </a:rPr>
                <a:t>作業進行中</a:t>
              </a:r>
            </a:p>
          </p:txBody>
        </p:sp>
        <p:sp>
          <p:nvSpPr>
            <p:cNvPr id="57" name="矢印: 五方向 56">
              <a:extLst>
                <a:ext uri="{FF2B5EF4-FFF2-40B4-BE49-F238E27FC236}">
                  <a16:creationId xmlns:a16="http://schemas.microsoft.com/office/drawing/2014/main" id="{3C022930-C94C-BA47-4CDD-7DA647BEFFCF}"/>
                </a:ext>
              </a:extLst>
            </p:cNvPr>
            <p:cNvSpPr/>
            <p:nvPr/>
          </p:nvSpPr>
          <p:spPr>
            <a:xfrm>
              <a:off x="8949890" y="2060291"/>
              <a:ext cx="1328986" cy="1054100"/>
            </a:xfrm>
            <a:prstGeom prst="homePlate">
              <a:avLst>
                <a:gd name="adj" fmla="val 2951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50" dirty="0">
                  <a:latin typeface="Meiryo UI" panose="020B0604030504040204" pitchFamily="50" charset="-128"/>
                  <a:ea typeface="Meiryo UI" panose="020B0604030504040204" pitchFamily="50" charset="-128"/>
                </a:rPr>
                <a:t>タスク出し</a:t>
              </a:r>
            </a:p>
          </p:txBody>
        </p:sp>
        <p:sp>
          <p:nvSpPr>
            <p:cNvPr id="58" name="矢印: 五方向 57">
              <a:extLst>
                <a:ext uri="{FF2B5EF4-FFF2-40B4-BE49-F238E27FC236}">
                  <a16:creationId xmlns:a16="http://schemas.microsoft.com/office/drawing/2014/main" id="{E618A80C-1FAA-A384-EF83-520A7F9A8E21}"/>
                </a:ext>
              </a:extLst>
            </p:cNvPr>
            <p:cNvSpPr/>
            <p:nvPr/>
          </p:nvSpPr>
          <p:spPr>
            <a:xfrm>
              <a:off x="10386606" y="2060291"/>
              <a:ext cx="1328986" cy="1054100"/>
            </a:xfrm>
            <a:prstGeom prst="homePlate">
              <a:avLst>
                <a:gd name="adj" fmla="val 29518"/>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50" dirty="0">
                  <a:latin typeface="Meiryo UI" panose="020B0604030504040204" pitchFamily="50" charset="-128"/>
                  <a:ea typeface="Meiryo UI" panose="020B0604030504040204" pitchFamily="50" charset="-128"/>
                </a:rPr>
                <a:t>相続人</a:t>
              </a:r>
              <a:endParaRPr kumimoji="1" lang="en-US" altLang="ja-JP" sz="1050" dirty="0">
                <a:latin typeface="Meiryo UI" panose="020B0604030504040204" pitchFamily="50" charset="-128"/>
                <a:ea typeface="Meiryo UI" panose="020B0604030504040204" pitchFamily="50" charset="-128"/>
              </a:endParaRPr>
            </a:p>
            <a:p>
              <a:pPr algn="ctr"/>
              <a:r>
                <a:rPr kumimoji="1" lang="ja-JP" altLang="en-US" sz="1050" dirty="0">
                  <a:latin typeface="Meiryo UI" panose="020B0604030504040204" pitchFamily="50" charset="-128"/>
                  <a:ea typeface="Meiryo UI" panose="020B0604030504040204" pitchFamily="50" charset="-128"/>
                </a:rPr>
                <a:t>調査</a:t>
              </a:r>
            </a:p>
          </p:txBody>
        </p:sp>
        <p:sp>
          <p:nvSpPr>
            <p:cNvPr id="59" name="テキスト ボックス 58">
              <a:extLst>
                <a:ext uri="{FF2B5EF4-FFF2-40B4-BE49-F238E27FC236}">
                  <a16:creationId xmlns:a16="http://schemas.microsoft.com/office/drawing/2014/main" id="{5C9B5C40-05E6-0F15-7286-B5623B9D3506}"/>
                </a:ext>
              </a:extLst>
            </p:cNvPr>
            <p:cNvSpPr txBox="1"/>
            <p:nvPr/>
          </p:nvSpPr>
          <p:spPr>
            <a:xfrm>
              <a:off x="10857637" y="2921588"/>
              <a:ext cx="1082940" cy="344878"/>
            </a:xfrm>
            <a:prstGeom prst="rect">
              <a:avLst/>
            </a:prstGeom>
            <a:noFill/>
          </p:spPr>
          <p:txBody>
            <a:bodyPr wrap="none" rtlCol="0">
              <a:spAutoFit/>
            </a:bodyPr>
            <a:lstStyle/>
            <a:p>
              <a:r>
                <a:rPr kumimoji="1" lang="ja-JP" altLang="en-US" sz="1200" dirty="0">
                  <a:solidFill>
                    <a:schemeClr val="bg1"/>
                  </a:solidFill>
                </a:rPr>
                <a:t>・・・</a:t>
              </a:r>
            </a:p>
          </p:txBody>
        </p:sp>
      </p:grpSp>
      <p:cxnSp>
        <p:nvCxnSpPr>
          <p:cNvPr id="64" name="直線コネクタ 63">
            <a:extLst>
              <a:ext uri="{FF2B5EF4-FFF2-40B4-BE49-F238E27FC236}">
                <a16:creationId xmlns:a16="http://schemas.microsoft.com/office/drawing/2014/main" id="{73AD28EB-63FA-1319-2F9B-3550C7DF1356}"/>
              </a:ext>
            </a:extLst>
          </p:cNvPr>
          <p:cNvCxnSpPr>
            <a:cxnSpLocks/>
          </p:cNvCxnSpPr>
          <p:nvPr/>
        </p:nvCxnSpPr>
        <p:spPr>
          <a:xfrm>
            <a:off x="474870" y="2121946"/>
            <a:ext cx="9184450" cy="0"/>
          </a:xfrm>
          <a:prstGeom prst="line">
            <a:avLst/>
          </a:prstGeom>
          <a:ln>
            <a:solidFill>
              <a:srgbClr val="FFC000"/>
            </a:solidFill>
            <a:headEnd type="oval" w="lg" len="lg"/>
            <a:tailEnd type="arrow" w="lg" len="lg"/>
          </a:ln>
        </p:spPr>
        <p:style>
          <a:lnRef idx="2">
            <a:schemeClr val="accent1"/>
          </a:lnRef>
          <a:fillRef idx="0">
            <a:schemeClr val="accent1"/>
          </a:fillRef>
          <a:effectRef idx="1">
            <a:schemeClr val="accent1"/>
          </a:effectRef>
          <a:fontRef idx="minor">
            <a:schemeClr val="tx1"/>
          </a:fontRef>
        </p:style>
      </p:cxnSp>
      <p:sp>
        <p:nvSpPr>
          <p:cNvPr id="62" name="四角形: 角を丸くする 61">
            <a:extLst>
              <a:ext uri="{FF2B5EF4-FFF2-40B4-BE49-F238E27FC236}">
                <a16:creationId xmlns:a16="http://schemas.microsoft.com/office/drawing/2014/main" id="{3156FE54-018D-CF0A-9E10-810FB0AA9088}"/>
              </a:ext>
            </a:extLst>
          </p:cNvPr>
          <p:cNvSpPr/>
          <p:nvPr/>
        </p:nvSpPr>
        <p:spPr>
          <a:xfrm>
            <a:off x="3625321" y="1896562"/>
            <a:ext cx="2012287" cy="138455"/>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US" altLang="ja-JP" sz="1100" b="1" dirty="0">
                <a:solidFill>
                  <a:sysClr val="windowText" lastClr="000000"/>
                </a:solidFill>
                <a:latin typeface="Meiryo UI" panose="020B0604030504040204" pitchFamily="50" charset="-128"/>
                <a:ea typeface="Meiryo UI" panose="020B0604030504040204" pitchFamily="50" charset="-128"/>
              </a:rPr>
              <a:t>N</a:t>
            </a:r>
            <a:r>
              <a:rPr lang="ja-JP" altLang="en-US" sz="1100" b="1" dirty="0">
                <a:solidFill>
                  <a:sysClr val="windowText" lastClr="000000"/>
                </a:solidFill>
                <a:latin typeface="Meiryo UI" panose="020B0604030504040204" pitchFamily="50" charset="-128"/>
                <a:ea typeface="Meiryo UI" panose="020B0604030504040204" pitchFamily="50" charset="-128"/>
              </a:rPr>
              <a:t>日中～</a:t>
            </a:r>
            <a:r>
              <a:rPr lang="en-US" altLang="ja-JP" sz="1100" b="1" dirty="0">
                <a:solidFill>
                  <a:sysClr val="windowText" lastClr="000000"/>
                </a:solidFill>
                <a:latin typeface="Meiryo UI" panose="020B0604030504040204" pitchFamily="50" charset="-128"/>
                <a:ea typeface="Meiryo UI" panose="020B0604030504040204" pitchFamily="50" charset="-128"/>
              </a:rPr>
              <a:t>N+1</a:t>
            </a:r>
            <a:r>
              <a:rPr lang="ja-JP" altLang="en-US" sz="1100" b="1" dirty="0">
                <a:solidFill>
                  <a:sysClr val="windowText" lastClr="000000"/>
                </a:solidFill>
                <a:latin typeface="Meiryo UI" panose="020B0604030504040204" pitchFamily="50" charset="-128"/>
                <a:ea typeface="Meiryo UI" panose="020B0604030504040204" pitchFamily="50" charset="-128"/>
              </a:rPr>
              <a:t>日</a:t>
            </a:r>
            <a:r>
              <a:rPr lang="en-US" altLang="ja-JP" sz="1100" b="1" dirty="0">
                <a:solidFill>
                  <a:sysClr val="windowText" lastClr="000000"/>
                </a:solidFill>
                <a:latin typeface="Meiryo UI" panose="020B0604030504040204" pitchFamily="50" charset="-128"/>
                <a:ea typeface="Meiryo UI" panose="020B0604030504040204" pitchFamily="50" charset="-128"/>
              </a:rPr>
              <a:t> AM10:00</a:t>
            </a:r>
            <a:endParaRPr kumimoji="1" lang="ja-JP" altLang="en-US" sz="1100" b="1" dirty="0">
              <a:solidFill>
                <a:sysClr val="windowText" lastClr="000000"/>
              </a:solidFill>
              <a:latin typeface="Meiryo UI" panose="020B0604030504040204" pitchFamily="50" charset="-128"/>
              <a:ea typeface="Meiryo UI" panose="020B0604030504040204" pitchFamily="50" charset="-128"/>
            </a:endParaRPr>
          </a:p>
        </p:txBody>
      </p:sp>
      <p:cxnSp>
        <p:nvCxnSpPr>
          <p:cNvPr id="73" name="直線コネクタ 72">
            <a:extLst>
              <a:ext uri="{FF2B5EF4-FFF2-40B4-BE49-F238E27FC236}">
                <a16:creationId xmlns:a16="http://schemas.microsoft.com/office/drawing/2014/main" id="{24AC9310-FC5D-DC99-6948-3A9F05FA00E0}"/>
              </a:ext>
            </a:extLst>
          </p:cNvPr>
          <p:cNvCxnSpPr>
            <a:cxnSpLocks/>
            <a:stCxn id="62" idx="2"/>
          </p:cNvCxnSpPr>
          <p:nvPr/>
        </p:nvCxnSpPr>
        <p:spPr>
          <a:xfrm flipH="1">
            <a:off x="4603472" y="2035017"/>
            <a:ext cx="27992"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sp>
        <p:nvSpPr>
          <p:cNvPr id="76" name="四角形: 角を丸くする 75">
            <a:extLst>
              <a:ext uri="{FF2B5EF4-FFF2-40B4-BE49-F238E27FC236}">
                <a16:creationId xmlns:a16="http://schemas.microsoft.com/office/drawing/2014/main" id="{C7095E34-274D-0525-64BB-7A17FEE12047}"/>
              </a:ext>
            </a:extLst>
          </p:cNvPr>
          <p:cNvSpPr/>
          <p:nvPr/>
        </p:nvSpPr>
        <p:spPr>
          <a:xfrm>
            <a:off x="6734416" y="1882675"/>
            <a:ext cx="849051" cy="152342"/>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b="1" dirty="0">
                <a:solidFill>
                  <a:sysClr val="windowText" lastClr="000000"/>
                </a:solidFill>
                <a:latin typeface="Meiryo UI" panose="020B0604030504040204" pitchFamily="50" charset="-128"/>
                <a:ea typeface="Meiryo UI" panose="020B0604030504040204" pitchFamily="50" charset="-128"/>
              </a:rPr>
              <a:t>N</a:t>
            </a:r>
            <a:r>
              <a:rPr lang="ja-JP" altLang="en-US" sz="1100" b="1" dirty="0">
                <a:solidFill>
                  <a:sysClr val="windowText" lastClr="000000"/>
                </a:solidFill>
                <a:latin typeface="Meiryo UI" panose="020B0604030504040204" pitchFamily="50" charset="-128"/>
                <a:ea typeface="Meiryo UI" panose="020B0604030504040204" pitchFamily="50" charset="-128"/>
              </a:rPr>
              <a:t>＋５日</a:t>
            </a:r>
          </a:p>
        </p:txBody>
      </p:sp>
      <p:cxnSp>
        <p:nvCxnSpPr>
          <p:cNvPr id="77" name="直線コネクタ 76">
            <a:extLst>
              <a:ext uri="{FF2B5EF4-FFF2-40B4-BE49-F238E27FC236}">
                <a16:creationId xmlns:a16="http://schemas.microsoft.com/office/drawing/2014/main" id="{9DB5C333-87E2-78A4-160A-AD05A6AE2B5C}"/>
              </a:ext>
            </a:extLst>
          </p:cNvPr>
          <p:cNvCxnSpPr>
            <a:cxnSpLocks/>
            <a:stCxn id="76" idx="2"/>
          </p:cNvCxnSpPr>
          <p:nvPr/>
        </p:nvCxnSpPr>
        <p:spPr>
          <a:xfrm>
            <a:off x="7158941" y="2035017"/>
            <a:ext cx="23406"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sp>
        <p:nvSpPr>
          <p:cNvPr id="81" name="四角形: 角を丸くする 80">
            <a:extLst>
              <a:ext uri="{FF2B5EF4-FFF2-40B4-BE49-F238E27FC236}">
                <a16:creationId xmlns:a16="http://schemas.microsoft.com/office/drawing/2014/main" id="{73A6F582-91CD-D231-49DC-56D602CF8B5F}"/>
              </a:ext>
            </a:extLst>
          </p:cNvPr>
          <p:cNvSpPr/>
          <p:nvPr/>
        </p:nvSpPr>
        <p:spPr>
          <a:xfrm>
            <a:off x="427335" y="1855936"/>
            <a:ext cx="791257" cy="170717"/>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b="1" dirty="0">
                <a:solidFill>
                  <a:sysClr val="windowText" lastClr="000000"/>
                </a:solidFill>
                <a:latin typeface="Meiryo UI" panose="020B0604030504040204" pitchFamily="50" charset="-128"/>
                <a:ea typeface="Meiryo UI" panose="020B0604030504040204" pitchFamily="50" charset="-128"/>
              </a:rPr>
              <a:t>N</a:t>
            </a:r>
            <a:r>
              <a:rPr lang="ja-JP" altLang="en-US" sz="1100" b="1" dirty="0">
                <a:solidFill>
                  <a:sysClr val="windowText" lastClr="000000"/>
                </a:solidFill>
                <a:latin typeface="Meiryo UI" panose="020B0604030504040204" pitchFamily="50" charset="-128"/>
                <a:ea typeface="Meiryo UI" panose="020B0604030504040204" pitchFamily="50" charset="-128"/>
              </a:rPr>
              <a:t>日</a:t>
            </a:r>
          </a:p>
        </p:txBody>
      </p:sp>
      <p:sp>
        <p:nvSpPr>
          <p:cNvPr id="87" name="四角形: 角を丸くする 86">
            <a:extLst>
              <a:ext uri="{FF2B5EF4-FFF2-40B4-BE49-F238E27FC236}">
                <a16:creationId xmlns:a16="http://schemas.microsoft.com/office/drawing/2014/main" id="{2DE6C288-1D48-AC76-53EE-B0C956969545}"/>
              </a:ext>
            </a:extLst>
          </p:cNvPr>
          <p:cNvSpPr/>
          <p:nvPr/>
        </p:nvSpPr>
        <p:spPr>
          <a:xfrm>
            <a:off x="8855771" y="1855936"/>
            <a:ext cx="849051" cy="152342"/>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b="1" dirty="0">
                <a:solidFill>
                  <a:sysClr val="windowText" lastClr="000000"/>
                </a:solidFill>
                <a:latin typeface="Meiryo UI" panose="020B0604030504040204" pitchFamily="50" charset="-128"/>
                <a:ea typeface="Meiryo UI" panose="020B0604030504040204" pitchFamily="50" charset="-128"/>
              </a:rPr>
              <a:t>N</a:t>
            </a:r>
            <a:r>
              <a:rPr lang="ja-JP" altLang="en-US" sz="1100" b="1" dirty="0">
                <a:solidFill>
                  <a:sysClr val="windowText" lastClr="000000"/>
                </a:solidFill>
                <a:latin typeface="Meiryo UI" panose="020B0604030504040204" pitchFamily="50" charset="-128"/>
                <a:ea typeface="Meiryo UI" panose="020B0604030504040204" pitchFamily="50" charset="-128"/>
              </a:rPr>
              <a:t>＋</a:t>
            </a:r>
            <a:r>
              <a:rPr lang="en-US" altLang="ja-JP" sz="1100" b="1" dirty="0">
                <a:solidFill>
                  <a:sysClr val="windowText" lastClr="000000"/>
                </a:solidFill>
                <a:latin typeface="Meiryo UI" panose="020B0604030504040204" pitchFamily="50" charset="-128"/>
                <a:ea typeface="Meiryo UI" panose="020B0604030504040204" pitchFamily="50" charset="-128"/>
              </a:rPr>
              <a:t>10</a:t>
            </a:r>
            <a:r>
              <a:rPr lang="ja-JP" altLang="en-US" sz="1100" b="1" dirty="0">
                <a:solidFill>
                  <a:sysClr val="windowText" lastClr="000000"/>
                </a:solidFill>
                <a:latin typeface="Meiryo UI" panose="020B0604030504040204" pitchFamily="50" charset="-128"/>
                <a:ea typeface="Meiryo UI" panose="020B0604030504040204" pitchFamily="50" charset="-128"/>
              </a:rPr>
              <a:t>日</a:t>
            </a:r>
          </a:p>
        </p:txBody>
      </p:sp>
      <p:cxnSp>
        <p:nvCxnSpPr>
          <p:cNvPr id="89" name="直線コネクタ 88">
            <a:extLst>
              <a:ext uri="{FF2B5EF4-FFF2-40B4-BE49-F238E27FC236}">
                <a16:creationId xmlns:a16="http://schemas.microsoft.com/office/drawing/2014/main" id="{964A04CD-F2EB-2AC7-C572-0C80275E7948}"/>
              </a:ext>
            </a:extLst>
          </p:cNvPr>
          <p:cNvCxnSpPr>
            <a:cxnSpLocks/>
          </p:cNvCxnSpPr>
          <p:nvPr/>
        </p:nvCxnSpPr>
        <p:spPr>
          <a:xfrm>
            <a:off x="9536734" y="2004433"/>
            <a:ext cx="44698" cy="4438633"/>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sp>
        <p:nvSpPr>
          <p:cNvPr id="92" name="正方形/長方形 91">
            <a:extLst>
              <a:ext uri="{FF2B5EF4-FFF2-40B4-BE49-F238E27FC236}">
                <a16:creationId xmlns:a16="http://schemas.microsoft.com/office/drawing/2014/main" id="{5E746034-F102-723E-2A31-85DCFC64822A}"/>
              </a:ext>
            </a:extLst>
          </p:cNvPr>
          <p:cNvSpPr/>
          <p:nvPr/>
        </p:nvSpPr>
        <p:spPr>
          <a:xfrm>
            <a:off x="340756" y="1685353"/>
            <a:ext cx="8001063" cy="4757714"/>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96" name="四角形: 角を丸くする 95">
            <a:extLst>
              <a:ext uri="{FF2B5EF4-FFF2-40B4-BE49-F238E27FC236}">
                <a16:creationId xmlns:a16="http://schemas.microsoft.com/office/drawing/2014/main" id="{BB124F9C-3C8D-0639-7A6E-A0DB09F57C8E}"/>
              </a:ext>
            </a:extLst>
          </p:cNvPr>
          <p:cNvSpPr/>
          <p:nvPr/>
        </p:nvSpPr>
        <p:spPr>
          <a:xfrm>
            <a:off x="284970" y="1484531"/>
            <a:ext cx="1782986" cy="276111"/>
          </a:xfrm>
          <a:prstGeom prst="roundRect">
            <a:avLst>
              <a:gd name="adj"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Meiryo UI" panose="020B0604030504040204" pitchFamily="50" charset="-128"/>
                <a:ea typeface="Meiryo UI" panose="020B0604030504040204" pitchFamily="50" charset="-128"/>
              </a:rPr>
              <a:t>受注担当の業務範囲</a:t>
            </a:r>
          </a:p>
        </p:txBody>
      </p:sp>
      <p:sp>
        <p:nvSpPr>
          <p:cNvPr id="97" name="矢印: 五方向 96">
            <a:extLst>
              <a:ext uri="{FF2B5EF4-FFF2-40B4-BE49-F238E27FC236}">
                <a16:creationId xmlns:a16="http://schemas.microsoft.com/office/drawing/2014/main" id="{50C65A2A-15C5-6E4D-A488-A5437EE19A10}"/>
              </a:ext>
            </a:extLst>
          </p:cNvPr>
          <p:cNvSpPr/>
          <p:nvPr/>
        </p:nvSpPr>
        <p:spPr>
          <a:xfrm>
            <a:off x="10668545" y="5922857"/>
            <a:ext cx="1102211" cy="386739"/>
          </a:xfrm>
          <a:prstGeom prst="homePlate">
            <a:avLst>
              <a:gd name="adj" fmla="val 29518"/>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お客様対応</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8" name="正方形/長方形 97">
            <a:extLst>
              <a:ext uri="{FF2B5EF4-FFF2-40B4-BE49-F238E27FC236}">
                <a16:creationId xmlns:a16="http://schemas.microsoft.com/office/drawing/2014/main" id="{97E51541-F51A-11AC-8C6E-06E8F0187D14}"/>
              </a:ext>
            </a:extLst>
          </p:cNvPr>
          <p:cNvSpPr/>
          <p:nvPr/>
        </p:nvSpPr>
        <p:spPr>
          <a:xfrm>
            <a:off x="10515079" y="5596953"/>
            <a:ext cx="1317500" cy="985814"/>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100" name="四角形: 角を丸くする 99">
            <a:extLst>
              <a:ext uri="{FF2B5EF4-FFF2-40B4-BE49-F238E27FC236}">
                <a16:creationId xmlns:a16="http://schemas.microsoft.com/office/drawing/2014/main" id="{633E1F90-9AAD-4CE9-260E-F0A4F7E1A6AE}"/>
              </a:ext>
            </a:extLst>
          </p:cNvPr>
          <p:cNvSpPr/>
          <p:nvPr/>
        </p:nvSpPr>
        <p:spPr>
          <a:xfrm>
            <a:off x="8278566" y="1473273"/>
            <a:ext cx="2082489" cy="234467"/>
          </a:xfrm>
          <a:prstGeom prst="roundRect">
            <a:avLst>
              <a:gd name="adj" fmla="val 50000"/>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Meiryo UI" panose="020B0604030504040204" pitchFamily="50" charset="-128"/>
                <a:ea typeface="Meiryo UI" panose="020B0604030504040204" pitchFamily="50" charset="-128"/>
              </a:rPr>
              <a:t>事務管理担当の業務範囲</a:t>
            </a:r>
          </a:p>
        </p:txBody>
      </p:sp>
      <p:sp>
        <p:nvSpPr>
          <p:cNvPr id="104" name="スライド番号プレースホルダー 103">
            <a:extLst>
              <a:ext uri="{FF2B5EF4-FFF2-40B4-BE49-F238E27FC236}">
                <a16:creationId xmlns:a16="http://schemas.microsoft.com/office/drawing/2014/main" id="{442DDBB3-FE25-F1E7-F1E0-BF46718B7694}"/>
              </a:ext>
            </a:extLst>
          </p:cNvPr>
          <p:cNvSpPr>
            <a:spLocks noGrp="1"/>
          </p:cNvSpPr>
          <p:nvPr>
            <p:ph type="sldNum" sz="quarter" idx="12"/>
          </p:nvPr>
        </p:nvSpPr>
        <p:spPr/>
        <p:txBody>
          <a:bodyPr/>
          <a:lstStyle/>
          <a:p>
            <a:fld id="{F4EC9C95-8009-4180-AAA8-5F6B382748D2}" type="slidenum">
              <a:rPr kumimoji="1" lang="ja-JP" altLang="en-US" smtClean="0"/>
              <a:t>2</a:t>
            </a:fld>
            <a:endParaRPr kumimoji="1" lang="ja-JP" altLang="en-US"/>
          </a:p>
        </p:txBody>
      </p:sp>
    </p:spTree>
    <p:extLst>
      <p:ext uri="{BB962C8B-B14F-4D97-AF65-F5344CB8AC3E}">
        <p14:creationId xmlns:p14="http://schemas.microsoft.com/office/powerpoint/2010/main" val="59955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5E24509-4FFD-7645-C6A9-D6A15B284AB0}"/>
              </a:ext>
            </a:extLst>
          </p:cNvPr>
          <p:cNvSpPr>
            <a:spLocks noGrp="1"/>
          </p:cNvSpPr>
          <p:nvPr>
            <p:ph type="sldNum" sz="quarter" idx="12"/>
          </p:nvPr>
        </p:nvSpPr>
        <p:spPr/>
        <p:txBody>
          <a:bodyPr/>
          <a:lstStyle/>
          <a:p>
            <a:fld id="{F4EC9C95-8009-4180-AAA8-5F6B382748D2}" type="slidenum">
              <a:rPr kumimoji="1" lang="ja-JP" altLang="en-US" smtClean="0"/>
              <a:t>3</a:t>
            </a:fld>
            <a:endParaRPr kumimoji="1" lang="ja-JP" altLang="en-US"/>
          </a:p>
        </p:txBody>
      </p:sp>
      <p:sp>
        <p:nvSpPr>
          <p:cNvPr id="6" name="テキスト ボックス 5">
            <a:extLst>
              <a:ext uri="{FF2B5EF4-FFF2-40B4-BE49-F238E27FC236}">
                <a16:creationId xmlns:a16="http://schemas.microsoft.com/office/drawing/2014/main" id="{E6BB6E32-1193-259B-2986-4213AB1BB3F8}"/>
              </a:ext>
            </a:extLst>
          </p:cNvPr>
          <p:cNvSpPr txBox="1"/>
          <p:nvPr/>
        </p:nvSpPr>
        <p:spPr>
          <a:xfrm>
            <a:off x="254000" y="139700"/>
            <a:ext cx="9206366"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面談し受注してから事務管理担当が作業着手するまでの条件</a:t>
            </a:r>
          </a:p>
        </p:txBody>
      </p:sp>
      <p:pic>
        <p:nvPicPr>
          <p:cNvPr id="9" name="図 8">
            <a:extLst>
              <a:ext uri="{FF2B5EF4-FFF2-40B4-BE49-F238E27FC236}">
                <a16:creationId xmlns:a16="http://schemas.microsoft.com/office/drawing/2014/main" id="{3CD6214A-B744-FF84-FFBF-FEAD1E1D0192}"/>
              </a:ext>
            </a:extLst>
          </p:cNvPr>
          <p:cNvPicPr>
            <a:picLocks noChangeAspect="1"/>
          </p:cNvPicPr>
          <p:nvPr/>
        </p:nvPicPr>
        <p:blipFill>
          <a:blip r:embed="rId2"/>
          <a:stretch>
            <a:fillRect/>
          </a:stretch>
        </p:blipFill>
        <p:spPr>
          <a:xfrm>
            <a:off x="784223" y="1895467"/>
            <a:ext cx="10623553" cy="2771361"/>
          </a:xfrm>
          <a:prstGeom prst="rect">
            <a:avLst/>
          </a:prstGeom>
        </p:spPr>
      </p:pic>
      <p:sp>
        <p:nvSpPr>
          <p:cNvPr id="11" name="正方形/長方形 10">
            <a:extLst>
              <a:ext uri="{FF2B5EF4-FFF2-40B4-BE49-F238E27FC236}">
                <a16:creationId xmlns:a16="http://schemas.microsoft.com/office/drawing/2014/main" id="{42DFDBD7-C179-7F32-0FCA-196DDDFB1187}"/>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面談し受注となった場合、事務管理担当が作業着手するために、管理担当アサイン、オーダーシート最終化、契約書類の受領、前受金請求書の発行を完了させる必要がある。</a:t>
            </a:r>
            <a:r>
              <a:rPr lang="en-US" altLang="ja-JP" sz="1400" dirty="0">
                <a:solidFill>
                  <a:schemeClr val="tx1"/>
                </a:solidFill>
                <a:latin typeface="Meiryo UI" panose="020B0604030504040204" pitchFamily="50" charset="-128"/>
                <a:ea typeface="Meiryo UI" panose="020B0604030504040204" pitchFamily="50" charset="-128"/>
              </a:rPr>
              <a:t>※</a:t>
            </a:r>
            <a:r>
              <a:rPr lang="ja-JP" altLang="en-US" sz="1400" dirty="0">
                <a:solidFill>
                  <a:schemeClr val="tx1"/>
                </a:solidFill>
                <a:latin typeface="Meiryo UI" panose="020B0604030504040204" pitchFamily="50" charset="-128"/>
                <a:ea typeface="Meiryo UI" panose="020B0604030504040204" pitchFamily="50" charset="-128"/>
              </a:rPr>
              <a:t>前受金入金状況は、システムが自動管理</a:t>
            </a:r>
            <a:endParaRPr lang="en-US" altLang="ja-JP" sz="1400" dirty="0">
              <a:solidFill>
                <a:schemeClr val="tx1"/>
              </a:solidFill>
              <a:latin typeface="Meiryo UI" panose="020B0604030504040204" pitchFamily="50" charset="-128"/>
              <a:ea typeface="Meiryo UI" panose="020B0604030504040204" pitchFamily="50" charset="-128"/>
            </a:endParaRPr>
          </a:p>
        </p:txBody>
      </p:sp>
      <p:sp>
        <p:nvSpPr>
          <p:cNvPr id="12" name="矢印: 右 11">
            <a:extLst>
              <a:ext uri="{FF2B5EF4-FFF2-40B4-BE49-F238E27FC236}">
                <a16:creationId xmlns:a16="http://schemas.microsoft.com/office/drawing/2014/main" id="{536A888D-4A11-A429-61CD-B97938487554}"/>
              </a:ext>
            </a:extLst>
          </p:cNvPr>
          <p:cNvSpPr/>
          <p:nvPr/>
        </p:nvSpPr>
        <p:spPr>
          <a:xfrm>
            <a:off x="784223" y="5562600"/>
            <a:ext cx="727077" cy="632480"/>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667FDEBC-30A1-2371-9C0E-A49FFEF3B9C0}"/>
              </a:ext>
            </a:extLst>
          </p:cNvPr>
          <p:cNvSpPr txBox="1"/>
          <p:nvPr/>
        </p:nvSpPr>
        <p:spPr>
          <a:xfrm>
            <a:off x="1511300" y="5709563"/>
            <a:ext cx="10443885" cy="338554"/>
          </a:xfrm>
          <a:prstGeom prst="rect">
            <a:avLst/>
          </a:prstGeom>
          <a:noFill/>
        </p:spPr>
        <p:txBody>
          <a:bodyPr wrap="none" rtlCol="0">
            <a:spAutoFit/>
          </a:bodyPr>
          <a:lstStyle/>
          <a:p>
            <a:pPr algn="l" fontAlgn="t"/>
            <a:r>
              <a:rPr kumimoji="1" lang="ja-JP" altLang="en-US" sz="1600" b="1" i="0" dirty="0">
                <a:solidFill>
                  <a:srgbClr val="FF0000"/>
                </a:solidFill>
                <a:effectLst/>
                <a:latin typeface="Meiryo UI" panose="020B0604030504040204" pitchFamily="50" charset="-128"/>
                <a:ea typeface="Meiryo UI" panose="020B0604030504040204" pitchFamily="50" charset="-128"/>
              </a:rPr>
              <a:t>次頁以降、面談開始後から上記の処理をすべて完了するまでの流れに沿って、システム操作、機能、業務ルールについて説明</a:t>
            </a:r>
          </a:p>
        </p:txBody>
      </p:sp>
    </p:spTree>
    <p:extLst>
      <p:ext uri="{BB962C8B-B14F-4D97-AF65-F5344CB8AC3E}">
        <p14:creationId xmlns:p14="http://schemas.microsoft.com/office/powerpoint/2010/main" val="3926403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5F184-56B8-AC18-F6D6-DFC87D8CA61F}"/>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9D03A49-4D2C-42BC-F031-2335C631770D}"/>
              </a:ext>
            </a:extLst>
          </p:cNvPr>
          <p:cNvSpPr>
            <a:spLocks noGrp="1"/>
          </p:cNvSpPr>
          <p:nvPr>
            <p:ph type="sldNum" sz="quarter" idx="12"/>
          </p:nvPr>
        </p:nvSpPr>
        <p:spPr/>
        <p:txBody>
          <a:bodyPr/>
          <a:lstStyle/>
          <a:p>
            <a:fld id="{F4EC9C95-8009-4180-AAA8-5F6B382748D2}" type="slidenum">
              <a:rPr kumimoji="1" lang="ja-JP" altLang="en-US" smtClean="0"/>
              <a:t>4</a:t>
            </a:fld>
            <a:endParaRPr kumimoji="1" lang="ja-JP" altLang="en-US"/>
          </a:p>
        </p:txBody>
      </p:sp>
      <p:sp>
        <p:nvSpPr>
          <p:cNvPr id="5" name="正方形/長方形 4">
            <a:extLst>
              <a:ext uri="{FF2B5EF4-FFF2-40B4-BE49-F238E27FC236}">
                <a16:creationId xmlns:a16="http://schemas.microsoft.com/office/drawing/2014/main" id="{A21792A8-8557-E25C-511F-0E0D6487D5D9}"/>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7C56FDC2-870B-6476-67BA-6FF9834B179F}"/>
              </a:ext>
            </a:extLst>
          </p:cNvPr>
          <p:cNvSpPr txBox="1"/>
          <p:nvPr/>
        </p:nvSpPr>
        <p:spPr>
          <a:xfrm>
            <a:off x="800100" y="2275482"/>
            <a:ext cx="3823483"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面談シート入力</a:t>
            </a:r>
          </a:p>
        </p:txBody>
      </p:sp>
      <p:sp>
        <p:nvSpPr>
          <p:cNvPr id="7" name="テキスト ボックス 6">
            <a:extLst>
              <a:ext uri="{FF2B5EF4-FFF2-40B4-BE49-F238E27FC236}">
                <a16:creationId xmlns:a16="http://schemas.microsoft.com/office/drawing/2014/main" id="{3E054810-3871-CAF9-4940-CFD9D4B5F76B}"/>
              </a:ext>
            </a:extLst>
          </p:cNvPr>
          <p:cNvSpPr txBox="1"/>
          <p:nvPr/>
        </p:nvSpPr>
        <p:spPr>
          <a:xfrm>
            <a:off x="800100" y="3131106"/>
            <a:ext cx="4261103" cy="646331"/>
          </a:xfrm>
          <a:prstGeom prst="rect">
            <a:avLst/>
          </a:prstGeom>
          <a:noFill/>
        </p:spPr>
        <p:txBody>
          <a:bodyPr wrap="none" rtlCol="0">
            <a:spAutoFit/>
          </a:bodyPr>
          <a:lstStyle/>
          <a:p>
            <a:pPr algn="l" fontAlgn="t"/>
            <a:r>
              <a:rPr lang="ja-JP" altLang="en-US" dirty="0">
                <a:solidFill>
                  <a:schemeClr val="bg1"/>
                </a:solidFill>
                <a:latin typeface="Meiryo UI" panose="020B0604030504040204" pitchFamily="50" charset="-128"/>
                <a:ea typeface="Meiryo UI" panose="020B0604030504040204" pitchFamily="50" charset="-128"/>
              </a:rPr>
              <a:t>面談メモの詳細を入力</a:t>
            </a:r>
            <a:endParaRPr lang="en-US" altLang="ja-JP" dirty="0">
              <a:solidFill>
                <a:schemeClr val="bg1"/>
              </a:solidFill>
              <a:latin typeface="Meiryo UI" panose="020B0604030504040204" pitchFamily="50" charset="-128"/>
              <a:ea typeface="Meiryo UI" panose="020B0604030504040204" pitchFamily="50" charset="-128"/>
            </a:endParaRPr>
          </a:p>
          <a:p>
            <a:pPr algn="l" fontAlgn="t"/>
            <a:r>
              <a:rPr lang="ja-JP" altLang="en-US" dirty="0">
                <a:solidFill>
                  <a:schemeClr val="bg1"/>
                </a:solidFill>
                <a:latin typeface="Meiryo UI" panose="020B0604030504040204" pitchFamily="50" charset="-128"/>
                <a:ea typeface="Meiryo UI" panose="020B0604030504040204" pitchFamily="50" charset="-128"/>
              </a:rPr>
              <a:t>（受注時にオーダーシートの元となるデータ）</a:t>
            </a:r>
            <a:endParaRPr kumimoji="1" lang="ja-JP" altLang="en-US" i="0" dirty="0">
              <a:solidFill>
                <a:schemeClr val="bg1"/>
              </a:solidFill>
              <a:effectLst/>
              <a:latin typeface="Meiryo UI" panose="020B0604030504040204" pitchFamily="50" charset="-128"/>
              <a:ea typeface="Meiryo UI" panose="020B0604030504040204" pitchFamily="50" charset="-128"/>
            </a:endParaRPr>
          </a:p>
        </p:txBody>
      </p:sp>
      <p:grpSp>
        <p:nvGrpSpPr>
          <p:cNvPr id="24" name="グループ化 23">
            <a:extLst>
              <a:ext uri="{FF2B5EF4-FFF2-40B4-BE49-F238E27FC236}">
                <a16:creationId xmlns:a16="http://schemas.microsoft.com/office/drawing/2014/main" id="{12C2657F-D3B8-F66C-4762-94D2DCD5A4D5}"/>
              </a:ext>
            </a:extLst>
          </p:cNvPr>
          <p:cNvGrpSpPr/>
          <p:nvPr/>
        </p:nvGrpSpPr>
        <p:grpSpPr>
          <a:xfrm>
            <a:off x="5626099" y="1971213"/>
            <a:ext cx="6265617" cy="3614138"/>
            <a:chOff x="3932535" y="1971213"/>
            <a:chExt cx="7959182" cy="3614138"/>
          </a:xfrm>
        </p:grpSpPr>
        <p:sp>
          <p:nvSpPr>
            <p:cNvPr id="3" name="矢印: 五方向 2">
              <a:extLst>
                <a:ext uri="{FF2B5EF4-FFF2-40B4-BE49-F238E27FC236}">
                  <a16:creationId xmlns:a16="http://schemas.microsoft.com/office/drawing/2014/main" id="{45B297EE-3A3D-53C0-FE4A-5D615A9B81D7}"/>
                </a:ext>
              </a:extLst>
            </p:cNvPr>
            <p:cNvSpPr/>
            <p:nvPr/>
          </p:nvSpPr>
          <p:spPr>
            <a:xfrm>
              <a:off x="3980070" y="2929506"/>
              <a:ext cx="1275843" cy="846632"/>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面談実施</a:t>
              </a:r>
            </a:p>
          </p:txBody>
        </p:sp>
        <p:sp>
          <p:nvSpPr>
            <p:cNvPr id="8" name="矢印: 五方向 7">
              <a:extLst>
                <a:ext uri="{FF2B5EF4-FFF2-40B4-BE49-F238E27FC236}">
                  <a16:creationId xmlns:a16="http://schemas.microsoft.com/office/drawing/2014/main" id="{FB1471DB-9828-C97E-34D5-A243D5C0FCA4}"/>
                </a:ext>
              </a:extLst>
            </p:cNvPr>
            <p:cNvSpPr/>
            <p:nvPr/>
          </p:nvSpPr>
          <p:spPr>
            <a:xfrm>
              <a:off x="5362826" y="2935021"/>
              <a:ext cx="1275843" cy="846632"/>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solidFill>
                    <a:schemeClr val="bg1"/>
                  </a:solidFill>
                  <a:latin typeface="Meiryo UI" panose="020B0604030504040204" pitchFamily="50" charset="-128"/>
                  <a:ea typeface="Meiryo UI" panose="020B0604030504040204" pitchFamily="50" charset="-128"/>
                </a:rPr>
                <a:t>面談シート作成</a:t>
              </a:r>
              <a:endParaRPr kumimoji="1" lang="en-US" altLang="ja-JP" sz="1000" dirty="0">
                <a:solidFill>
                  <a:schemeClr val="bg1"/>
                </a:solidFill>
                <a:latin typeface="Meiryo UI" panose="020B0604030504040204" pitchFamily="50" charset="-128"/>
                <a:ea typeface="Meiryo UI" panose="020B0604030504040204" pitchFamily="50" charset="-128"/>
              </a:endParaRPr>
            </a:p>
          </p:txBody>
        </p:sp>
        <p:sp>
          <p:nvSpPr>
            <p:cNvPr id="9" name="矢印: 五方向 8">
              <a:extLst>
                <a:ext uri="{FF2B5EF4-FFF2-40B4-BE49-F238E27FC236}">
                  <a16:creationId xmlns:a16="http://schemas.microsoft.com/office/drawing/2014/main" id="{22ED0C6A-25BB-BF92-F608-65EBAB0A4C79}"/>
                </a:ext>
              </a:extLst>
            </p:cNvPr>
            <p:cNvSpPr/>
            <p:nvPr/>
          </p:nvSpPr>
          <p:spPr>
            <a:xfrm>
              <a:off x="6751763" y="293502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面談結果登録</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0" name="矢印: 五方向 9">
              <a:extLst>
                <a:ext uri="{FF2B5EF4-FFF2-40B4-BE49-F238E27FC236}">
                  <a16:creationId xmlns:a16="http://schemas.microsoft.com/office/drawing/2014/main" id="{78EE39A7-DB29-136B-293A-BEF346D8DD9B}"/>
                </a:ext>
              </a:extLst>
            </p:cNvPr>
            <p:cNvSpPr/>
            <p:nvPr/>
          </p:nvSpPr>
          <p:spPr>
            <a:xfrm>
              <a:off x="8177276" y="292297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endParaRPr lang="en-US" altLang="ja-JP" sz="1000" dirty="0">
                <a:solidFill>
                  <a:schemeClr val="bg1"/>
                </a:solidFill>
                <a:latin typeface="Meiryo UI" panose="020B0604030504040204" pitchFamily="50" charset="-128"/>
                <a:ea typeface="Meiryo UI" panose="020B0604030504040204" pitchFamily="50" charset="-128"/>
              </a:endParaRPr>
            </a:p>
            <a:p>
              <a:pPr algn="ctr"/>
              <a:r>
                <a:rPr lang="ja-JP" altLang="en-US" sz="1000" dirty="0">
                  <a:solidFill>
                    <a:schemeClr val="bg1"/>
                  </a:solidFill>
                  <a:latin typeface="Meiryo UI" panose="020B0604030504040204" pitchFamily="50" charset="-128"/>
                  <a:ea typeface="Meiryo UI" panose="020B0604030504040204" pitchFamily="50" charset="-128"/>
                </a:rPr>
                <a:t>作成</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EC681A0C-8CA8-95CB-C4BF-8D88EBDC1B5E}"/>
                </a:ext>
              </a:extLst>
            </p:cNvPr>
            <p:cNvSpPr/>
            <p:nvPr/>
          </p:nvSpPr>
          <p:spPr>
            <a:xfrm>
              <a:off x="9520935" y="292297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前受け金請求書発行</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3FF43108-772D-5AA7-FCA4-E882BEC16844}"/>
                </a:ext>
              </a:extLst>
            </p:cNvPr>
            <p:cNvSpPr/>
            <p:nvPr/>
          </p:nvSpPr>
          <p:spPr>
            <a:xfrm>
              <a:off x="8163761" y="2531038"/>
              <a:ext cx="3727956" cy="296640"/>
            </a:xfrm>
            <a:prstGeom prst="homePlate">
              <a:avLst>
                <a:gd name="adj" fmla="val 29518"/>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受注</a:t>
              </a:r>
            </a:p>
          </p:txBody>
        </p:sp>
        <p:sp>
          <p:nvSpPr>
            <p:cNvPr id="13" name="矢印: 五方向 12">
              <a:extLst>
                <a:ext uri="{FF2B5EF4-FFF2-40B4-BE49-F238E27FC236}">
                  <a16:creationId xmlns:a16="http://schemas.microsoft.com/office/drawing/2014/main" id="{16103C2D-CEBE-DC0A-7394-A730C71F262A}"/>
                </a:ext>
              </a:extLst>
            </p:cNvPr>
            <p:cNvSpPr/>
            <p:nvPr/>
          </p:nvSpPr>
          <p:spPr>
            <a:xfrm>
              <a:off x="6759253" y="3930865"/>
              <a:ext cx="2566263"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管理担当</a:t>
              </a:r>
              <a:r>
                <a:rPr kumimoji="1" lang="ja-JP" altLang="en-US" sz="1000" dirty="0">
                  <a:solidFill>
                    <a:schemeClr val="bg1"/>
                  </a:solidFill>
                  <a:latin typeface="Meiryo UI" panose="020B0604030504040204" pitchFamily="50" charset="-128"/>
                  <a:ea typeface="Meiryo UI" panose="020B0604030504040204" pitchFamily="50" charset="-128"/>
                </a:rPr>
                <a:t>アサイン</a:t>
              </a:r>
            </a:p>
          </p:txBody>
        </p:sp>
        <p:sp>
          <p:nvSpPr>
            <p:cNvPr id="14" name="矢印: 五方向 13">
              <a:extLst>
                <a:ext uri="{FF2B5EF4-FFF2-40B4-BE49-F238E27FC236}">
                  <a16:creationId xmlns:a16="http://schemas.microsoft.com/office/drawing/2014/main" id="{F78D5710-DD66-7574-21AD-51BFF5483D46}"/>
                </a:ext>
              </a:extLst>
            </p:cNvPr>
            <p:cNvSpPr/>
            <p:nvPr/>
          </p:nvSpPr>
          <p:spPr>
            <a:xfrm>
              <a:off x="4090519" y="4982669"/>
              <a:ext cx="7801198"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契約書類</a:t>
              </a:r>
              <a:r>
                <a:rPr kumimoji="1" lang="ja-JP" altLang="en-US" sz="1000" dirty="0">
                  <a:solidFill>
                    <a:schemeClr val="bg1"/>
                  </a:solidFill>
                  <a:latin typeface="Meiryo UI" panose="020B0604030504040204" pitchFamily="50" charset="-128"/>
                  <a:ea typeface="Meiryo UI" panose="020B0604030504040204" pitchFamily="50" charset="-128"/>
                </a:rPr>
                <a:t>受領</a:t>
              </a:r>
            </a:p>
          </p:txBody>
        </p:sp>
        <p:sp>
          <p:nvSpPr>
            <p:cNvPr id="15" name="矢印: 五方向 14">
              <a:extLst>
                <a:ext uri="{FF2B5EF4-FFF2-40B4-BE49-F238E27FC236}">
                  <a16:creationId xmlns:a16="http://schemas.microsoft.com/office/drawing/2014/main" id="{449C1EC5-CA6A-CFD0-7BAD-EE9988F73B09}"/>
                </a:ext>
              </a:extLst>
            </p:cNvPr>
            <p:cNvSpPr/>
            <p:nvPr/>
          </p:nvSpPr>
          <p:spPr>
            <a:xfrm>
              <a:off x="8163761" y="4467553"/>
              <a:ext cx="2595151" cy="386739"/>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r>
                <a:rPr kumimoji="1" lang="ja-JP" altLang="en-US" sz="1000" dirty="0">
                  <a:solidFill>
                    <a:schemeClr val="bg1"/>
                  </a:solidFill>
                  <a:latin typeface="Meiryo UI" panose="020B0604030504040204" pitchFamily="50" charset="-128"/>
                  <a:ea typeface="Meiryo UI" panose="020B0604030504040204" pitchFamily="50" charset="-128"/>
                </a:rPr>
                <a:t>最終化</a:t>
              </a:r>
            </a:p>
          </p:txBody>
        </p:sp>
        <p:sp>
          <p:nvSpPr>
            <p:cNvPr id="16" name="矢印: 五方向 15">
              <a:extLst>
                <a:ext uri="{FF2B5EF4-FFF2-40B4-BE49-F238E27FC236}">
                  <a16:creationId xmlns:a16="http://schemas.microsoft.com/office/drawing/2014/main" id="{FEE6D82C-EB7B-B397-AFF0-FA82B64ACCA3}"/>
                </a:ext>
              </a:extLst>
            </p:cNvPr>
            <p:cNvSpPr/>
            <p:nvPr/>
          </p:nvSpPr>
          <p:spPr>
            <a:xfrm>
              <a:off x="3980070" y="2531038"/>
              <a:ext cx="4047537" cy="296640"/>
            </a:xfrm>
            <a:prstGeom prst="homePlate">
              <a:avLst>
                <a:gd name="adj" fmla="val 29518"/>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000" dirty="0">
                  <a:latin typeface="Meiryo UI" panose="020B0604030504040204" pitchFamily="50" charset="-128"/>
                  <a:ea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endParaRPr>
            </a:p>
          </p:txBody>
        </p:sp>
        <p:sp>
          <p:nvSpPr>
            <p:cNvPr id="17" name="四角形: 角を丸くする 16">
              <a:extLst>
                <a:ext uri="{FF2B5EF4-FFF2-40B4-BE49-F238E27FC236}">
                  <a16:creationId xmlns:a16="http://schemas.microsoft.com/office/drawing/2014/main" id="{45B1C874-B355-568B-6000-5EB894172A57}"/>
                </a:ext>
              </a:extLst>
            </p:cNvPr>
            <p:cNvSpPr/>
            <p:nvPr/>
          </p:nvSpPr>
          <p:spPr>
            <a:xfrm>
              <a:off x="7130521" y="2011839"/>
              <a:ext cx="2012287" cy="138455"/>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日中～</a:t>
              </a:r>
              <a:r>
                <a:rPr lang="en-US" altLang="ja-JP" sz="900" b="1" dirty="0">
                  <a:solidFill>
                    <a:sysClr val="windowText" lastClr="000000"/>
                  </a:solidFill>
                  <a:latin typeface="Meiryo UI" panose="020B0604030504040204" pitchFamily="50" charset="-128"/>
                  <a:ea typeface="Meiryo UI" panose="020B0604030504040204" pitchFamily="50" charset="-128"/>
                </a:rPr>
                <a:t>N+1</a:t>
              </a:r>
              <a:r>
                <a:rPr lang="ja-JP" altLang="en-US" sz="900" b="1" dirty="0">
                  <a:solidFill>
                    <a:sysClr val="windowText" lastClr="000000"/>
                  </a:solidFill>
                  <a:latin typeface="Meiryo UI" panose="020B0604030504040204" pitchFamily="50" charset="-128"/>
                  <a:ea typeface="Meiryo UI" panose="020B0604030504040204" pitchFamily="50" charset="-128"/>
                </a:rPr>
                <a:t>日</a:t>
              </a:r>
              <a:r>
                <a:rPr lang="en-US" altLang="ja-JP" sz="900" b="1" dirty="0">
                  <a:solidFill>
                    <a:sysClr val="windowText" lastClr="000000"/>
                  </a:solidFill>
                  <a:latin typeface="Meiryo UI" panose="020B0604030504040204" pitchFamily="50" charset="-128"/>
                  <a:ea typeface="Meiryo UI" panose="020B0604030504040204" pitchFamily="50" charset="-128"/>
                </a:rPr>
                <a:t> AM10:00</a:t>
              </a:r>
              <a:endParaRPr kumimoji="1" lang="ja-JP" altLang="en-US" sz="900" b="1" dirty="0">
                <a:solidFill>
                  <a:sysClr val="windowText" lastClr="000000"/>
                </a:solidFill>
                <a:latin typeface="Meiryo UI" panose="020B0604030504040204" pitchFamily="50" charset="-128"/>
                <a:ea typeface="Meiryo UI" panose="020B0604030504040204" pitchFamily="50" charset="-128"/>
              </a:endParaRPr>
            </a:p>
          </p:txBody>
        </p:sp>
        <p:sp>
          <p:nvSpPr>
            <p:cNvPr id="18" name="四角形: 角を丸くする 17">
              <a:extLst>
                <a:ext uri="{FF2B5EF4-FFF2-40B4-BE49-F238E27FC236}">
                  <a16:creationId xmlns:a16="http://schemas.microsoft.com/office/drawing/2014/main" id="{09837E9F-79EC-93CB-A0A4-F45ABCCBAD90}"/>
                </a:ext>
              </a:extLst>
            </p:cNvPr>
            <p:cNvSpPr/>
            <p:nvPr/>
          </p:nvSpPr>
          <p:spPr>
            <a:xfrm>
              <a:off x="10239616" y="1997952"/>
              <a:ext cx="849051" cy="152342"/>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＋５日</a:t>
              </a:r>
            </a:p>
          </p:txBody>
        </p:sp>
        <p:grpSp>
          <p:nvGrpSpPr>
            <p:cNvPr id="19" name="グループ化 18">
              <a:extLst>
                <a:ext uri="{FF2B5EF4-FFF2-40B4-BE49-F238E27FC236}">
                  <a16:creationId xmlns:a16="http://schemas.microsoft.com/office/drawing/2014/main" id="{8D3AA007-5891-B3DF-DA9F-934471670F94}"/>
                </a:ext>
              </a:extLst>
            </p:cNvPr>
            <p:cNvGrpSpPr/>
            <p:nvPr/>
          </p:nvGrpSpPr>
          <p:grpSpPr>
            <a:xfrm>
              <a:off x="8108672" y="2150295"/>
              <a:ext cx="2578875" cy="3435056"/>
              <a:chOff x="8108672" y="2180680"/>
              <a:chExt cx="2578875" cy="4340492"/>
            </a:xfrm>
          </p:grpSpPr>
          <p:cxnSp>
            <p:nvCxnSpPr>
              <p:cNvPr id="20" name="直線コネクタ 19">
                <a:extLst>
                  <a:ext uri="{FF2B5EF4-FFF2-40B4-BE49-F238E27FC236}">
                    <a16:creationId xmlns:a16="http://schemas.microsoft.com/office/drawing/2014/main" id="{21BAD687-7F45-5AEA-C691-8F8575EE8847}"/>
                  </a:ext>
                </a:extLst>
              </p:cNvPr>
              <p:cNvCxnSpPr>
                <a:cxnSpLocks/>
                <a:stCxn id="17" idx="2"/>
              </p:cNvCxnSpPr>
              <p:nvPr/>
            </p:nvCxnSpPr>
            <p:spPr>
              <a:xfrm flipH="1">
                <a:off x="8108672" y="2180680"/>
                <a:ext cx="27992"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4A48F223-C794-7A5B-8C8F-BED69D6DBAEC}"/>
                  </a:ext>
                </a:extLst>
              </p:cNvPr>
              <p:cNvCxnSpPr>
                <a:cxnSpLocks/>
                <a:stCxn id="18" idx="2"/>
              </p:cNvCxnSpPr>
              <p:nvPr/>
            </p:nvCxnSpPr>
            <p:spPr>
              <a:xfrm>
                <a:off x="10664141" y="2180680"/>
                <a:ext cx="23406"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grpSp>
        <p:sp>
          <p:nvSpPr>
            <p:cNvPr id="22" name="四角形: 角を丸くする 21">
              <a:extLst>
                <a:ext uri="{FF2B5EF4-FFF2-40B4-BE49-F238E27FC236}">
                  <a16:creationId xmlns:a16="http://schemas.microsoft.com/office/drawing/2014/main" id="{B7463FF6-DBE2-7368-F8FF-93D437ABCFA6}"/>
                </a:ext>
              </a:extLst>
            </p:cNvPr>
            <p:cNvSpPr/>
            <p:nvPr/>
          </p:nvSpPr>
          <p:spPr>
            <a:xfrm>
              <a:off x="3932535" y="1971213"/>
              <a:ext cx="791257" cy="170717"/>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a:t>
              </a:r>
            </a:p>
          </p:txBody>
        </p:sp>
        <p:cxnSp>
          <p:nvCxnSpPr>
            <p:cNvPr id="23" name="直線コネクタ 22">
              <a:extLst>
                <a:ext uri="{FF2B5EF4-FFF2-40B4-BE49-F238E27FC236}">
                  <a16:creationId xmlns:a16="http://schemas.microsoft.com/office/drawing/2014/main" id="{554A9BCA-C1F5-68E6-3B63-639E14B31EA2}"/>
                </a:ext>
              </a:extLst>
            </p:cNvPr>
            <p:cNvCxnSpPr>
              <a:cxnSpLocks/>
            </p:cNvCxnSpPr>
            <p:nvPr/>
          </p:nvCxnSpPr>
          <p:spPr>
            <a:xfrm>
              <a:off x="3980070" y="2237223"/>
              <a:ext cx="7911647" cy="0"/>
            </a:xfrm>
            <a:prstGeom prst="line">
              <a:avLst/>
            </a:prstGeom>
            <a:ln>
              <a:solidFill>
                <a:srgbClr val="FFC000"/>
              </a:solidFill>
              <a:headEnd type="oval" w="lg" len="lg"/>
              <a:tailEnd type="arrow"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22584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6BDFA6A1-98D7-B4D8-E47A-706583A26686}"/>
              </a:ext>
            </a:extLst>
          </p:cNvPr>
          <p:cNvSpPr txBox="1"/>
          <p:nvPr/>
        </p:nvSpPr>
        <p:spPr>
          <a:xfrm>
            <a:off x="254000" y="139700"/>
            <a:ext cx="5668539"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面談実施 </a:t>
            </a:r>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面談時に利用するツール</a:t>
            </a:r>
            <a:r>
              <a:rPr kumimoji="1" lang="en-US" altLang="ja-JP" sz="2800" b="1" dirty="0">
                <a:latin typeface="Meiryo UI" panose="020B0604030504040204" pitchFamily="50" charset="-128"/>
                <a:ea typeface="Meiryo UI" panose="020B0604030504040204" pitchFamily="50" charset="-128"/>
              </a:rPr>
              <a:t>-</a:t>
            </a:r>
            <a:endParaRPr kumimoji="1" lang="ja-JP" altLang="en-US" sz="2800" b="1"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5BE687BE-31FC-E14E-BC99-54FC42891DC7}"/>
              </a:ext>
            </a:extLst>
          </p:cNvPr>
          <p:cNvSpPr/>
          <p:nvPr/>
        </p:nvSpPr>
        <p:spPr>
          <a:xfrm>
            <a:off x="1201030" y="2645278"/>
            <a:ext cx="3893428" cy="2202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既存の紙パンフレット</a:t>
            </a:r>
          </a:p>
        </p:txBody>
      </p:sp>
      <p:sp>
        <p:nvSpPr>
          <p:cNvPr id="7" name="加算記号 6">
            <a:extLst>
              <a:ext uri="{FF2B5EF4-FFF2-40B4-BE49-F238E27FC236}">
                <a16:creationId xmlns:a16="http://schemas.microsoft.com/office/drawing/2014/main" id="{095159CA-F8C3-F931-31CA-C3037CCB14F2}"/>
              </a:ext>
            </a:extLst>
          </p:cNvPr>
          <p:cNvSpPr/>
          <p:nvPr/>
        </p:nvSpPr>
        <p:spPr>
          <a:xfrm>
            <a:off x="5810250" y="3221998"/>
            <a:ext cx="876300" cy="825500"/>
          </a:xfrm>
          <a:prstGeom prst="mathPlus">
            <a:avLst>
              <a:gd name="adj1" fmla="val 198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 name="グループ化 17">
            <a:extLst>
              <a:ext uri="{FF2B5EF4-FFF2-40B4-BE49-F238E27FC236}">
                <a16:creationId xmlns:a16="http://schemas.microsoft.com/office/drawing/2014/main" id="{B5B57FC4-DD55-7118-1D9F-33BDD3140AC2}"/>
              </a:ext>
            </a:extLst>
          </p:cNvPr>
          <p:cNvGrpSpPr/>
          <p:nvPr/>
        </p:nvGrpSpPr>
        <p:grpSpPr>
          <a:xfrm>
            <a:off x="7643643" y="2614035"/>
            <a:ext cx="2895598" cy="3716915"/>
            <a:chOff x="7200902" y="1045984"/>
            <a:chExt cx="4048634" cy="5020431"/>
          </a:xfrm>
        </p:grpSpPr>
        <p:pic>
          <p:nvPicPr>
            <p:cNvPr id="10" name="図 9">
              <a:extLst>
                <a:ext uri="{FF2B5EF4-FFF2-40B4-BE49-F238E27FC236}">
                  <a16:creationId xmlns:a16="http://schemas.microsoft.com/office/drawing/2014/main" id="{A06D5566-76EF-38F7-03EA-49E437BF09F3}"/>
                </a:ext>
              </a:extLst>
            </p:cNvPr>
            <p:cNvPicPr>
              <a:picLocks noChangeAspect="1"/>
            </p:cNvPicPr>
            <p:nvPr/>
          </p:nvPicPr>
          <p:blipFill>
            <a:blip r:embed="rId2">
              <a:extLst>
                <a:ext uri="{28A0092B-C50C-407E-A947-70E740481C1C}">
                  <a14:useLocalDpi xmlns:a14="http://schemas.microsoft.com/office/drawing/2010/main" val="0"/>
                </a:ext>
              </a:extLst>
            </a:blip>
            <a:srcRect l="77752" b="40039"/>
            <a:stretch>
              <a:fillRect/>
            </a:stretch>
          </p:blipFill>
          <p:spPr>
            <a:xfrm>
              <a:off x="7200902" y="1045984"/>
              <a:ext cx="4048634" cy="5020431"/>
            </a:xfrm>
            <a:prstGeom prst="rect">
              <a:avLst/>
            </a:prstGeom>
          </p:spPr>
        </p:pic>
        <p:pic>
          <p:nvPicPr>
            <p:cNvPr id="14" name="図 13">
              <a:extLst>
                <a:ext uri="{FF2B5EF4-FFF2-40B4-BE49-F238E27FC236}">
                  <a16:creationId xmlns:a16="http://schemas.microsoft.com/office/drawing/2014/main" id="{99C61081-D53B-A1D6-5788-DE0DFD5951DA}"/>
                </a:ext>
              </a:extLst>
            </p:cNvPr>
            <p:cNvPicPr>
              <a:picLocks noChangeAspect="1"/>
            </p:cNvPicPr>
            <p:nvPr/>
          </p:nvPicPr>
          <p:blipFill>
            <a:blip r:embed="rId3"/>
            <a:stretch>
              <a:fillRect/>
            </a:stretch>
          </p:blipFill>
          <p:spPr>
            <a:xfrm>
              <a:off x="7731038" y="1244679"/>
              <a:ext cx="3359323" cy="4317921"/>
            </a:xfrm>
            <a:prstGeom prst="rect">
              <a:avLst/>
            </a:prstGeom>
          </p:spPr>
        </p:pic>
      </p:grpSp>
      <p:sp>
        <p:nvSpPr>
          <p:cNvPr id="16" name="テキスト ボックス 15">
            <a:extLst>
              <a:ext uri="{FF2B5EF4-FFF2-40B4-BE49-F238E27FC236}">
                <a16:creationId xmlns:a16="http://schemas.microsoft.com/office/drawing/2014/main" id="{0705A22B-F336-06EC-E03B-D1A02CD8E79A}"/>
              </a:ext>
            </a:extLst>
          </p:cNvPr>
          <p:cNvSpPr txBox="1"/>
          <p:nvPr/>
        </p:nvSpPr>
        <p:spPr>
          <a:xfrm>
            <a:off x="1201030" y="2069621"/>
            <a:ext cx="6096000" cy="461665"/>
          </a:xfrm>
          <a:prstGeom prst="rect">
            <a:avLst/>
          </a:prstGeom>
          <a:noFill/>
        </p:spPr>
        <p:txBody>
          <a:bodyPr wrap="square">
            <a:spAutoFit/>
          </a:bodyPr>
          <a:lstStyle/>
          <a:p>
            <a:pPr marL="0" marR="0" indent="0" algn="l" fontAlgn="t">
              <a:buNone/>
            </a:pPr>
            <a:r>
              <a:rPr lang="ja-JP" altLang="en-US" sz="1200" b="1" i="0" u="sng" dirty="0">
                <a:solidFill>
                  <a:srgbClr val="0B0B0B"/>
                </a:solidFill>
                <a:effectLst/>
                <a:latin typeface="Meiryo UI" panose="020B0604030504040204" pitchFamily="50" charset="-128"/>
                <a:ea typeface="Meiryo UI" panose="020B0604030504040204" pitchFamily="50" charset="-128"/>
              </a:rPr>
              <a:t>■役割</a:t>
            </a:r>
            <a:endParaRPr lang="en-US" altLang="ja-JP" sz="1200" b="1" i="0" u="sng" dirty="0">
              <a:solidFill>
                <a:srgbClr val="0B0B0B"/>
              </a:solidFill>
              <a:effectLst/>
              <a:latin typeface="Meiryo UI" panose="020B0604030504040204" pitchFamily="50" charset="-128"/>
              <a:ea typeface="Meiryo UI" panose="020B0604030504040204" pitchFamily="50" charset="-128"/>
            </a:endParaRPr>
          </a:p>
          <a:p>
            <a:pPr marL="0" marR="0" indent="0" algn="l" fontAlgn="t">
              <a:buNone/>
            </a:pPr>
            <a:r>
              <a:rPr lang="ja-JP" altLang="ja-JP" sz="1200" b="0" i="0" dirty="0">
                <a:solidFill>
                  <a:srgbClr val="0B0B0B"/>
                </a:solidFill>
                <a:effectLst/>
                <a:latin typeface="Meiryo UI" panose="020B0604030504040204" pitchFamily="50" charset="-128"/>
                <a:ea typeface="Meiryo UI" panose="020B0604030504040204" pitchFamily="50" charset="-128"/>
              </a:rPr>
              <a:t>お客様への説明用。その場でお渡しする要約</a:t>
            </a:r>
          </a:p>
        </p:txBody>
      </p:sp>
      <p:sp>
        <p:nvSpPr>
          <p:cNvPr id="17" name="テキスト ボックス 16">
            <a:extLst>
              <a:ext uri="{FF2B5EF4-FFF2-40B4-BE49-F238E27FC236}">
                <a16:creationId xmlns:a16="http://schemas.microsoft.com/office/drawing/2014/main" id="{4909A03B-42D7-E234-57AE-A49589C17535}"/>
              </a:ext>
            </a:extLst>
          </p:cNvPr>
          <p:cNvSpPr txBox="1"/>
          <p:nvPr/>
        </p:nvSpPr>
        <p:spPr>
          <a:xfrm>
            <a:off x="7643643" y="2069621"/>
            <a:ext cx="3997837" cy="461665"/>
          </a:xfrm>
          <a:prstGeom prst="rect">
            <a:avLst/>
          </a:prstGeom>
          <a:noFill/>
        </p:spPr>
        <p:txBody>
          <a:bodyPr wrap="square">
            <a:spAutoFit/>
          </a:bodyPr>
          <a:lstStyle/>
          <a:p>
            <a:pPr fontAlgn="t"/>
            <a:r>
              <a:rPr lang="ja-JP" altLang="en-US" sz="1200" b="1" i="0" u="sng" dirty="0">
                <a:solidFill>
                  <a:srgbClr val="0B0B0B"/>
                </a:solidFill>
                <a:effectLst/>
                <a:latin typeface="Meiryo UI" panose="020B0604030504040204" pitchFamily="50" charset="-128"/>
                <a:ea typeface="Meiryo UI" panose="020B0604030504040204" pitchFamily="50" charset="-128"/>
              </a:rPr>
              <a:t>■役割</a:t>
            </a:r>
            <a:endParaRPr lang="en-US" altLang="ja-JP" sz="1200" b="1" i="0" u="sng" dirty="0">
              <a:solidFill>
                <a:srgbClr val="0B0B0B"/>
              </a:solidFill>
              <a:effectLst/>
              <a:latin typeface="Meiryo UI" panose="020B0604030504040204" pitchFamily="50" charset="-128"/>
              <a:ea typeface="Meiryo UI" panose="020B0604030504040204" pitchFamily="50" charset="-128"/>
            </a:endParaRPr>
          </a:p>
          <a:p>
            <a:pPr fontAlgn="t"/>
            <a:r>
              <a:rPr lang="ja-JP" altLang="ja-JP" sz="1200" b="0" i="0" dirty="0">
                <a:solidFill>
                  <a:srgbClr val="0B0B0B"/>
                </a:solidFill>
                <a:effectLst/>
                <a:latin typeface="Meiryo UI" panose="020B0604030504040204" pitchFamily="50" charset="-128"/>
                <a:ea typeface="Meiryo UI" panose="020B0604030504040204" pitchFamily="50" charset="-128"/>
              </a:rPr>
              <a:t>オーダーシート作成の元になる情報。パンフより詳細な</a:t>
            </a:r>
            <a:r>
              <a:rPr lang="ja-JP" altLang="en-US" sz="1200" b="0" i="0" dirty="0">
                <a:solidFill>
                  <a:srgbClr val="0B0B0B"/>
                </a:solidFill>
                <a:effectLst/>
                <a:latin typeface="Meiryo UI" panose="020B0604030504040204" pitchFamily="50" charset="-128"/>
                <a:ea typeface="Meiryo UI" panose="020B0604030504040204" pitchFamily="50" charset="-128"/>
              </a:rPr>
              <a:t>メモ</a:t>
            </a:r>
            <a:endParaRPr lang="ja-JP" altLang="ja-JP" sz="1200" b="0" i="0" dirty="0">
              <a:solidFill>
                <a:srgbClr val="0B0B0B"/>
              </a:solidFill>
              <a:effectLst/>
              <a:latin typeface="Meiryo UI" panose="020B0604030504040204" pitchFamily="50" charset="-128"/>
              <a:ea typeface="Meiryo UI" panose="020B0604030504040204" pitchFamily="50" charset="-128"/>
            </a:endParaRPr>
          </a:p>
        </p:txBody>
      </p:sp>
      <p:sp>
        <p:nvSpPr>
          <p:cNvPr id="22" name="スライド番号プレースホルダー 21">
            <a:extLst>
              <a:ext uri="{FF2B5EF4-FFF2-40B4-BE49-F238E27FC236}">
                <a16:creationId xmlns:a16="http://schemas.microsoft.com/office/drawing/2014/main" id="{FA2DD2A8-2E24-8C85-A19D-B8193F3D0C1F}"/>
              </a:ext>
            </a:extLst>
          </p:cNvPr>
          <p:cNvSpPr>
            <a:spLocks noGrp="1"/>
          </p:cNvSpPr>
          <p:nvPr>
            <p:ph type="sldNum" sz="quarter" idx="12"/>
          </p:nvPr>
        </p:nvSpPr>
        <p:spPr/>
        <p:txBody>
          <a:bodyPr/>
          <a:lstStyle/>
          <a:p>
            <a:fld id="{F4EC9C95-8009-4180-AAA8-5F6B382748D2}" type="slidenum">
              <a:rPr kumimoji="1" lang="ja-JP" altLang="en-US" smtClean="0"/>
              <a:t>5</a:t>
            </a:fld>
            <a:endParaRPr kumimoji="1" lang="ja-JP" altLang="en-US"/>
          </a:p>
        </p:txBody>
      </p:sp>
      <p:sp>
        <p:nvSpPr>
          <p:cNvPr id="24" name="正方形/長方形 23">
            <a:extLst>
              <a:ext uri="{FF2B5EF4-FFF2-40B4-BE49-F238E27FC236}">
                <a16:creationId xmlns:a16="http://schemas.microsoft.com/office/drawing/2014/main" id="{D016DA18-3F2E-D39F-A19F-4CF2C136BB01}"/>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面談では、既存の紙パンフレットと併用して、面談シートアプリにタブレットで面談情報の補足内容を入力してください。</a:t>
            </a:r>
          </a:p>
        </p:txBody>
      </p:sp>
      <p:sp>
        <p:nvSpPr>
          <p:cNvPr id="26" name="楕円 25">
            <a:extLst>
              <a:ext uri="{FF2B5EF4-FFF2-40B4-BE49-F238E27FC236}">
                <a16:creationId xmlns:a16="http://schemas.microsoft.com/office/drawing/2014/main" id="{38DBEEB7-683B-C0B7-FC8B-E8FEA7202632}"/>
              </a:ext>
            </a:extLst>
          </p:cNvPr>
          <p:cNvSpPr/>
          <p:nvPr/>
        </p:nvSpPr>
        <p:spPr>
          <a:xfrm>
            <a:off x="787400" y="1524000"/>
            <a:ext cx="520700" cy="45697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bg1"/>
                </a:solidFill>
              </a:rPr>
              <a:t>1</a:t>
            </a:r>
            <a:endParaRPr kumimoji="1" lang="ja-JP" altLang="en-US" b="1" dirty="0">
              <a:solidFill>
                <a:schemeClr val="bg1"/>
              </a:solidFill>
            </a:endParaRPr>
          </a:p>
        </p:txBody>
      </p:sp>
      <p:sp>
        <p:nvSpPr>
          <p:cNvPr id="27" name="テキスト ボックス 26">
            <a:extLst>
              <a:ext uri="{FF2B5EF4-FFF2-40B4-BE49-F238E27FC236}">
                <a16:creationId xmlns:a16="http://schemas.microsoft.com/office/drawing/2014/main" id="{ABABC399-BE42-13BC-1B85-4D8461825CC3}"/>
              </a:ext>
            </a:extLst>
          </p:cNvPr>
          <p:cNvSpPr txBox="1"/>
          <p:nvPr/>
        </p:nvSpPr>
        <p:spPr>
          <a:xfrm>
            <a:off x="1343590" y="1586297"/>
            <a:ext cx="6096000" cy="369332"/>
          </a:xfrm>
          <a:prstGeom prst="rect">
            <a:avLst/>
          </a:prstGeom>
          <a:noFill/>
        </p:spPr>
        <p:txBody>
          <a:bodyPr wrap="square">
            <a:spAutoFit/>
          </a:bodyPr>
          <a:lstStyle/>
          <a:p>
            <a:pPr marL="0" marR="0" indent="0" algn="l" fontAlgn="t">
              <a:buNone/>
            </a:pPr>
            <a:r>
              <a:rPr lang="ja-JP" altLang="en-US" b="1" u="sng" dirty="0">
                <a:solidFill>
                  <a:srgbClr val="0B0B0B"/>
                </a:solidFill>
                <a:latin typeface="Meiryo UI" panose="020B0604030504040204" pitchFamily="50" charset="-128"/>
                <a:ea typeface="Meiryo UI" panose="020B0604030504040204" pitchFamily="50" charset="-128"/>
              </a:rPr>
              <a:t>既存の</a:t>
            </a:r>
            <a:r>
              <a:rPr lang="en-US" altLang="ja-JP" b="1" u="sng" dirty="0">
                <a:solidFill>
                  <a:srgbClr val="0B0B0B"/>
                </a:solidFill>
                <a:latin typeface="Meiryo UI" panose="020B0604030504040204" pitchFamily="50" charset="-128"/>
                <a:ea typeface="Meiryo UI" panose="020B0604030504040204" pitchFamily="50" charset="-128"/>
              </a:rPr>
              <a:t>A3</a:t>
            </a:r>
            <a:r>
              <a:rPr lang="ja-JP" altLang="en-US" b="1" u="sng" dirty="0">
                <a:solidFill>
                  <a:srgbClr val="0B0B0B"/>
                </a:solidFill>
                <a:latin typeface="Meiryo UI" panose="020B0604030504040204" pitchFamily="50" charset="-128"/>
                <a:ea typeface="Meiryo UI" panose="020B0604030504040204" pitchFamily="50" charset="-128"/>
              </a:rPr>
              <a:t>パンフレット</a:t>
            </a:r>
            <a:endParaRPr lang="ja-JP" altLang="ja-JP" b="0" i="0" dirty="0">
              <a:solidFill>
                <a:srgbClr val="0B0B0B"/>
              </a:solidFill>
              <a:effectLst/>
              <a:latin typeface="Meiryo UI" panose="020B0604030504040204" pitchFamily="50" charset="-128"/>
              <a:ea typeface="Meiryo UI" panose="020B0604030504040204" pitchFamily="50" charset="-128"/>
            </a:endParaRPr>
          </a:p>
        </p:txBody>
      </p:sp>
      <p:sp>
        <p:nvSpPr>
          <p:cNvPr id="28" name="楕円 27">
            <a:extLst>
              <a:ext uri="{FF2B5EF4-FFF2-40B4-BE49-F238E27FC236}">
                <a16:creationId xmlns:a16="http://schemas.microsoft.com/office/drawing/2014/main" id="{C3B954C0-D314-4F5C-F41A-DD4D75943C0C}"/>
              </a:ext>
            </a:extLst>
          </p:cNvPr>
          <p:cNvSpPr/>
          <p:nvPr/>
        </p:nvSpPr>
        <p:spPr>
          <a:xfrm>
            <a:off x="7439590" y="1482015"/>
            <a:ext cx="520700" cy="45697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rPr>
              <a:t>２</a:t>
            </a:r>
            <a:endParaRPr kumimoji="1" lang="ja-JP" altLang="en-US" b="1" dirty="0">
              <a:solidFill>
                <a:schemeClr val="bg1"/>
              </a:solidFill>
            </a:endParaRPr>
          </a:p>
        </p:txBody>
      </p:sp>
      <p:sp>
        <p:nvSpPr>
          <p:cNvPr id="29" name="テキスト ボックス 28">
            <a:extLst>
              <a:ext uri="{FF2B5EF4-FFF2-40B4-BE49-F238E27FC236}">
                <a16:creationId xmlns:a16="http://schemas.microsoft.com/office/drawing/2014/main" id="{5BF525A1-58A5-D3D4-1A72-82402FEF22E8}"/>
              </a:ext>
            </a:extLst>
          </p:cNvPr>
          <p:cNvSpPr txBox="1"/>
          <p:nvPr/>
        </p:nvSpPr>
        <p:spPr>
          <a:xfrm>
            <a:off x="7995780" y="1544312"/>
            <a:ext cx="6096000" cy="369332"/>
          </a:xfrm>
          <a:prstGeom prst="rect">
            <a:avLst/>
          </a:prstGeom>
          <a:noFill/>
        </p:spPr>
        <p:txBody>
          <a:bodyPr wrap="square">
            <a:spAutoFit/>
          </a:bodyPr>
          <a:lstStyle/>
          <a:p>
            <a:pPr marL="0" marR="0" indent="0" algn="l" fontAlgn="t">
              <a:buNone/>
            </a:pPr>
            <a:r>
              <a:rPr lang="ja-JP" altLang="en-US" b="1" u="sng" dirty="0">
                <a:solidFill>
                  <a:srgbClr val="0B0B0B"/>
                </a:solidFill>
                <a:latin typeface="Meiryo UI" panose="020B0604030504040204" pitchFamily="50" charset="-128"/>
                <a:ea typeface="Meiryo UI" panose="020B0604030504040204" pitchFamily="50" charset="-128"/>
              </a:rPr>
              <a:t>面談登録アプリ</a:t>
            </a:r>
            <a:endParaRPr lang="ja-JP" altLang="ja-JP" b="0" i="0" dirty="0">
              <a:solidFill>
                <a:srgbClr val="0B0B0B"/>
              </a:solidFill>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78648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E2F46C1-51F6-D0C7-62E2-8969C2797C0A}"/>
              </a:ext>
            </a:extLst>
          </p:cNvPr>
          <p:cNvSpPr>
            <a:spLocks noGrp="1"/>
          </p:cNvSpPr>
          <p:nvPr>
            <p:ph type="sldNum" sz="quarter" idx="12"/>
          </p:nvPr>
        </p:nvSpPr>
        <p:spPr/>
        <p:txBody>
          <a:bodyPr/>
          <a:lstStyle/>
          <a:p>
            <a:fld id="{F4EC9C95-8009-4180-AAA8-5F6B382748D2}" type="slidenum">
              <a:rPr kumimoji="1" lang="ja-JP" altLang="en-US" smtClean="0"/>
              <a:t>6</a:t>
            </a:fld>
            <a:endParaRPr kumimoji="1" lang="ja-JP" altLang="en-US"/>
          </a:p>
        </p:txBody>
      </p:sp>
      <p:pic>
        <p:nvPicPr>
          <p:cNvPr id="6" name="図 5">
            <a:extLst>
              <a:ext uri="{FF2B5EF4-FFF2-40B4-BE49-F238E27FC236}">
                <a16:creationId xmlns:a16="http://schemas.microsoft.com/office/drawing/2014/main" id="{739F2251-DE93-F761-A84E-982363870A6A}"/>
              </a:ext>
            </a:extLst>
          </p:cNvPr>
          <p:cNvPicPr>
            <a:picLocks noChangeAspect="1"/>
          </p:cNvPicPr>
          <p:nvPr/>
        </p:nvPicPr>
        <p:blipFill>
          <a:blip r:embed="rId2"/>
          <a:stretch>
            <a:fillRect/>
          </a:stretch>
        </p:blipFill>
        <p:spPr>
          <a:xfrm>
            <a:off x="363314" y="1643115"/>
            <a:ext cx="4080416" cy="2365150"/>
          </a:xfrm>
          <a:prstGeom prst="rect">
            <a:avLst/>
          </a:prstGeom>
        </p:spPr>
      </p:pic>
      <p:pic>
        <p:nvPicPr>
          <p:cNvPr id="10" name="図 9">
            <a:extLst>
              <a:ext uri="{FF2B5EF4-FFF2-40B4-BE49-F238E27FC236}">
                <a16:creationId xmlns:a16="http://schemas.microsoft.com/office/drawing/2014/main" id="{A93E4399-DFFA-79E9-5CD0-B8E7FA3FD101}"/>
              </a:ext>
            </a:extLst>
          </p:cNvPr>
          <p:cNvPicPr>
            <a:picLocks noChangeAspect="1"/>
          </p:cNvPicPr>
          <p:nvPr/>
        </p:nvPicPr>
        <p:blipFill>
          <a:blip r:embed="rId3"/>
          <a:srcRect b="20524"/>
          <a:stretch>
            <a:fillRect/>
          </a:stretch>
        </p:blipFill>
        <p:spPr>
          <a:xfrm>
            <a:off x="363314" y="4184860"/>
            <a:ext cx="5446761" cy="2010220"/>
          </a:xfrm>
          <a:prstGeom prst="rect">
            <a:avLst/>
          </a:prstGeom>
        </p:spPr>
      </p:pic>
      <p:sp>
        <p:nvSpPr>
          <p:cNvPr id="12" name="テキスト ボックス 11">
            <a:extLst>
              <a:ext uri="{FF2B5EF4-FFF2-40B4-BE49-F238E27FC236}">
                <a16:creationId xmlns:a16="http://schemas.microsoft.com/office/drawing/2014/main" id="{1967E592-1BCA-42A6-8DD8-E0DCCDD07917}"/>
              </a:ext>
            </a:extLst>
          </p:cNvPr>
          <p:cNvSpPr txBox="1"/>
          <p:nvPr/>
        </p:nvSpPr>
        <p:spPr>
          <a:xfrm>
            <a:off x="254000" y="139700"/>
            <a:ext cx="1620957"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面談実施</a:t>
            </a:r>
          </a:p>
        </p:txBody>
      </p:sp>
      <p:sp>
        <p:nvSpPr>
          <p:cNvPr id="14" name="正方形/長方形 13">
            <a:extLst>
              <a:ext uri="{FF2B5EF4-FFF2-40B4-BE49-F238E27FC236}">
                <a16:creationId xmlns:a16="http://schemas.microsoft.com/office/drawing/2014/main" id="{61F9AB66-EAE0-DDAD-1CF2-480FB7A1D285}"/>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最初に</a:t>
            </a:r>
            <a:r>
              <a:rPr lang="en-US" altLang="ja-JP" sz="1400" b="1" dirty="0">
                <a:solidFill>
                  <a:schemeClr val="tx1"/>
                </a:solidFill>
                <a:latin typeface="Meiryo UI" panose="020B0604030504040204" pitchFamily="50" charset="-128"/>
                <a:ea typeface="Meiryo UI" panose="020B0604030504040204" pitchFamily="50" charset="-128"/>
              </a:rPr>
              <a:t>LP</a:t>
            </a:r>
            <a:r>
              <a:rPr lang="ja-JP" altLang="en-US" sz="1400" b="1" dirty="0">
                <a:solidFill>
                  <a:schemeClr val="tx1"/>
                </a:solidFill>
                <a:latin typeface="Meiryo UI" panose="020B0604030504040204" pitchFamily="50" charset="-128"/>
                <a:ea typeface="Meiryo UI" panose="020B0604030504040204" pitchFamily="50" charset="-128"/>
              </a:rPr>
              <a:t>直案件かそれ以外か選択します。</a:t>
            </a:r>
          </a:p>
        </p:txBody>
      </p:sp>
      <p:grpSp>
        <p:nvGrpSpPr>
          <p:cNvPr id="15" name="グループ化 14">
            <a:extLst>
              <a:ext uri="{FF2B5EF4-FFF2-40B4-BE49-F238E27FC236}">
                <a16:creationId xmlns:a16="http://schemas.microsoft.com/office/drawing/2014/main" id="{5CF4237D-DBA6-073E-7DDD-156C626322BF}"/>
              </a:ext>
            </a:extLst>
          </p:cNvPr>
          <p:cNvGrpSpPr/>
          <p:nvPr/>
        </p:nvGrpSpPr>
        <p:grpSpPr>
          <a:xfrm>
            <a:off x="7175499" y="1335338"/>
            <a:ext cx="4178300" cy="307777"/>
            <a:chOff x="7175500" y="1444823"/>
            <a:chExt cx="4178300" cy="307777"/>
          </a:xfrm>
        </p:grpSpPr>
        <p:cxnSp>
          <p:nvCxnSpPr>
            <p:cNvPr id="16" name="直線コネクタ 15">
              <a:extLst>
                <a:ext uri="{FF2B5EF4-FFF2-40B4-BE49-F238E27FC236}">
                  <a16:creationId xmlns:a16="http://schemas.microsoft.com/office/drawing/2014/main" id="{CB866F56-0F2D-10AC-8218-5A9FF1777B04}"/>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675DFDB2-B7A0-17D1-E611-0946B4DBB798}"/>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8" name="正方形/長方形 17">
            <a:extLst>
              <a:ext uri="{FF2B5EF4-FFF2-40B4-BE49-F238E27FC236}">
                <a16:creationId xmlns:a16="http://schemas.microsoft.com/office/drawing/2014/main" id="{37FF4C46-DF5B-4C7A-103F-706D2AED9382}"/>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実施する面談が</a:t>
            </a:r>
            <a:r>
              <a:rPr kumimoji="1" lang="en-US" altLang="ja-JP" sz="1200" dirty="0">
                <a:solidFill>
                  <a:schemeClr val="tx1"/>
                </a:solidFill>
                <a:latin typeface="Meiryo UI" panose="020B0604030504040204" pitchFamily="50" charset="-128"/>
                <a:ea typeface="Meiryo UI" panose="020B0604030504040204" pitchFamily="50" charset="-128"/>
              </a:rPr>
              <a:t>LP</a:t>
            </a:r>
            <a:r>
              <a:rPr kumimoji="1" lang="ja-JP" altLang="en-US" sz="1200" dirty="0">
                <a:solidFill>
                  <a:schemeClr val="tx1"/>
                </a:solidFill>
                <a:latin typeface="Meiryo UI" panose="020B0604030504040204" pitchFamily="50" charset="-128"/>
                <a:ea typeface="Meiryo UI" panose="020B0604030504040204" pitchFamily="50" charset="-128"/>
              </a:rPr>
              <a:t>直案件かそれ以外か選択。</a:t>
            </a:r>
            <a:br>
              <a:rPr lang="en-US" altLang="ja-JP" sz="1200" dirty="0">
                <a:solidFill>
                  <a:schemeClr val="tx1"/>
                </a:solidFill>
                <a:latin typeface="Meiryo UI" panose="020B0604030504040204" pitchFamily="50" charset="-128"/>
                <a:ea typeface="Meiryo UI" panose="020B0604030504040204" pitchFamily="50" charset="-128"/>
              </a:rPr>
            </a:br>
            <a:r>
              <a:rPr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相続ステーションから本システムに面談設定済の案件情報（紹介元パートナー情報）が連携済</a:t>
            </a:r>
          </a:p>
        </p:txBody>
      </p:sp>
      <p:sp>
        <p:nvSpPr>
          <p:cNvPr id="19" name="楕円 18">
            <a:extLst>
              <a:ext uri="{FF2B5EF4-FFF2-40B4-BE49-F238E27FC236}">
                <a16:creationId xmlns:a16="http://schemas.microsoft.com/office/drawing/2014/main" id="{492BCE67-72DA-3039-156A-904AACAAED14}"/>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0" name="正方形/長方形 19">
            <a:extLst>
              <a:ext uri="{FF2B5EF4-FFF2-40B4-BE49-F238E27FC236}">
                <a16:creationId xmlns:a16="http://schemas.microsoft.com/office/drawing/2014/main" id="{24180883-EA27-98F8-8550-6DA975DC164F}"/>
              </a:ext>
            </a:extLst>
          </p:cNvPr>
          <p:cNvSpPr/>
          <p:nvPr/>
        </p:nvSpPr>
        <p:spPr>
          <a:xfrm>
            <a:off x="7175499" y="2799736"/>
            <a:ext cx="4178300" cy="120852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en-US" altLang="ja-JP" sz="1200" dirty="0">
                <a:solidFill>
                  <a:schemeClr val="tx1"/>
                </a:solidFill>
                <a:latin typeface="Meiryo UI" panose="020B0604030504040204" pitchFamily="50" charset="-128"/>
                <a:ea typeface="Meiryo UI" panose="020B0604030504040204" pitchFamily="50" charset="-128"/>
              </a:rPr>
              <a:t>LP</a:t>
            </a:r>
            <a:r>
              <a:rPr kumimoji="1" lang="ja-JP" altLang="en-US" sz="1200" dirty="0">
                <a:solidFill>
                  <a:schemeClr val="tx1"/>
                </a:solidFill>
                <a:latin typeface="Meiryo UI" panose="020B0604030504040204" pitchFamily="50" charset="-128"/>
                <a:ea typeface="Meiryo UI" panose="020B0604030504040204" pitchFamily="50" charset="-128"/>
              </a:rPr>
              <a:t>直案件を選択すると面談設定済案件の検索画面に遷移。</a:t>
            </a:r>
            <a:r>
              <a:rPr kumimoji="1" lang="en-US" altLang="ja-JP" sz="1200" dirty="0">
                <a:solidFill>
                  <a:schemeClr val="tx1"/>
                </a:solidFill>
                <a:latin typeface="Meiryo UI" panose="020B0604030504040204" pitchFamily="50" charset="-128"/>
                <a:ea typeface="Meiryo UI" panose="020B0604030504040204" pitchFamily="50" charset="-128"/>
              </a:rPr>
              <a:t>NI</a:t>
            </a:r>
            <a:r>
              <a:rPr lang="ja-JP" altLang="en-US" sz="1200" dirty="0">
                <a:solidFill>
                  <a:schemeClr val="tx1"/>
                </a:solidFill>
                <a:latin typeface="Meiryo UI" panose="020B0604030504040204" pitchFamily="50" charset="-128"/>
                <a:ea typeface="Meiryo UI" panose="020B0604030504040204" pitchFamily="50" charset="-128"/>
              </a:rPr>
              <a:t>等に</a:t>
            </a:r>
            <a:r>
              <a:rPr lang="en-US" altLang="ja-JP" sz="1200" dirty="0">
                <a:solidFill>
                  <a:schemeClr val="tx1"/>
                </a:solidFill>
                <a:latin typeface="Meiryo UI" panose="020B0604030504040204" pitchFamily="50" charset="-128"/>
                <a:ea typeface="Meiryo UI" panose="020B0604030504040204" pitchFamily="50" charset="-128"/>
              </a:rPr>
              <a:t>LP</a:t>
            </a:r>
            <a:r>
              <a:rPr lang="ja-JP" altLang="en-US" sz="1200" dirty="0">
                <a:solidFill>
                  <a:schemeClr val="tx1"/>
                </a:solidFill>
                <a:latin typeface="Meiryo UI" panose="020B0604030504040204" pitchFamily="50" charset="-128"/>
                <a:ea typeface="Meiryo UI" panose="020B0604030504040204" pitchFamily="50" charset="-128"/>
              </a:rPr>
              <a:t>担当が記載した相続ステーションの案件管理番号の一部を入力すると、あなたが面談担当として設定された案件を検索することができます。</a:t>
            </a:r>
            <a:endParaRPr lang="en-US" altLang="ja-JP" sz="1200" dirty="0">
              <a:solidFill>
                <a:schemeClr val="tx1"/>
              </a:solidFill>
              <a:latin typeface="Meiryo UI" panose="020B0604030504040204" pitchFamily="50" charset="-128"/>
              <a:ea typeface="Meiryo UI" panose="020B0604030504040204" pitchFamily="50" charset="-128"/>
            </a:endParaRPr>
          </a:p>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検索ヒットした案件を選択し、面談シートの記入を開始</a:t>
            </a:r>
          </a:p>
        </p:txBody>
      </p:sp>
      <p:sp>
        <p:nvSpPr>
          <p:cNvPr id="21" name="楕円 20">
            <a:extLst>
              <a:ext uri="{FF2B5EF4-FFF2-40B4-BE49-F238E27FC236}">
                <a16:creationId xmlns:a16="http://schemas.microsoft.com/office/drawing/2014/main" id="{6F38BD7F-CE06-76FC-E631-C8082B332151}"/>
              </a:ext>
            </a:extLst>
          </p:cNvPr>
          <p:cNvSpPr/>
          <p:nvPr/>
        </p:nvSpPr>
        <p:spPr>
          <a:xfrm>
            <a:off x="7035798" y="2739880"/>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t>2</a:t>
            </a:r>
            <a:endParaRPr kumimoji="1" lang="ja-JP" altLang="en-US" b="1" dirty="0"/>
          </a:p>
        </p:txBody>
      </p:sp>
      <p:sp>
        <p:nvSpPr>
          <p:cNvPr id="23" name="正方形/長方形 22">
            <a:extLst>
              <a:ext uri="{FF2B5EF4-FFF2-40B4-BE49-F238E27FC236}">
                <a16:creationId xmlns:a16="http://schemas.microsoft.com/office/drawing/2014/main" id="{C132B9AA-6C82-3A58-6DE1-77F76C7BD2F3}"/>
              </a:ext>
            </a:extLst>
          </p:cNvPr>
          <p:cNvSpPr/>
          <p:nvPr/>
        </p:nvSpPr>
        <p:spPr>
          <a:xfrm>
            <a:off x="363314" y="4993514"/>
            <a:ext cx="5446761" cy="120156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CDBFD10A-D47E-28F2-F2AD-6EA6C188C1DC}"/>
              </a:ext>
            </a:extLst>
          </p:cNvPr>
          <p:cNvSpPr/>
          <p:nvPr/>
        </p:nvSpPr>
        <p:spPr>
          <a:xfrm>
            <a:off x="1430115" y="2578967"/>
            <a:ext cx="2087786" cy="92147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402BE691-DB65-5C79-5471-D5DCF02F4246}"/>
              </a:ext>
            </a:extLst>
          </p:cNvPr>
          <p:cNvSpPr/>
          <p:nvPr/>
        </p:nvSpPr>
        <p:spPr>
          <a:xfrm>
            <a:off x="1228279" y="2386789"/>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6" name="楕円 25">
            <a:extLst>
              <a:ext uri="{FF2B5EF4-FFF2-40B4-BE49-F238E27FC236}">
                <a16:creationId xmlns:a16="http://schemas.microsoft.com/office/drawing/2014/main" id="{25F3F57A-C262-0873-2FBC-6BEC7DFE25A1}"/>
              </a:ext>
            </a:extLst>
          </p:cNvPr>
          <p:cNvSpPr/>
          <p:nvPr/>
        </p:nvSpPr>
        <p:spPr>
          <a:xfrm>
            <a:off x="161478" y="4800547"/>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t>2</a:t>
            </a:r>
            <a:endParaRPr kumimoji="1" lang="ja-JP" altLang="en-US" b="1" dirty="0"/>
          </a:p>
        </p:txBody>
      </p:sp>
    </p:spTree>
    <p:extLst>
      <p:ext uri="{BB962C8B-B14F-4D97-AF65-F5344CB8AC3E}">
        <p14:creationId xmlns:p14="http://schemas.microsoft.com/office/powerpoint/2010/main" val="2870341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3761D1E7-2DDC-720D-A2C0-CBD98022B38A}"/>
              </a:ext>
            </a:extLst>
          </p:cNvPr>
          <p:cNvSpPr>
            <a:spLocks noGrp="1"/>
          </p:cNvSpPr>
          <p:nvPr>
            <p:ph type="sldNum" sz="quarter" idx="12"/>
          </p:nvPr>
        </p:nvSpPr>
        <p:spPr/>
        <p:txBody>
          <a:bodyPr/>
          <a:lstStyle/>
          <a:p>
            <a:fld id="{F4EC9C95-8009-4180-AAA8-5F6B382748D2}" type="slidenum">
              <a:rPr kumimoji="1" lang="ja-JP" altLang="en-US" smtClean="0"/>
              <a:t>7</a:t>
            </a:fld>
            <a:endParaRPr kumimoji="1" lang="ja-JP" altLang="en-US"/>
          </a:p>
        </p:txBody>
      </p:sp>
      <p:sp>
        <p:nvSpPr>
          <p:cNvPr id="6" name="テキスト ボックス 5">
            <a:extLst>
              <a:ext uri="{FF2B5EF4-FFF2-40B4-BE49-F238E27FC236}">
                <a16:creationId xmlns:a16="http://schemas.microsoft.com/office/drawing/2014/main" id="{D9E9F3E9-E8C3-AA82-00F1-5AD7F00C10E0}"/>
              </a:ext>
            </a:extLst>
          </p:cNvPr>
          <p:cNvSpPr txBox="1"/>
          <p:nvPr/>
        </p:nvSpPr>
        <p:spPr>
          <a:xfrm>
            <a:off x="254000" y="139700"/>
            <a:ext cx="1620957"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面談実施</a:t>
            </a:r>
          </a:p>
        </p:txBody>
      </p:sp>
      <p:sp>
        <p:nvSpPr>
          <p:cNvPr id="8" name="正方形/長方形 7">
            <a:extLst>
              <a:ext uri="{FF2B5EF4-FFF2-40B4-BE49-F238E27FC236}">
                <a16:creationId xmlns:a16="http://schemas.microsoft.com/office/drawing/2014/main" id="{9D1C41BE-301B-D2EA-E929-3C98EF809578}"/>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面談では、既存の紙パンフレットと併用して、面談シートアプリにタブレットで面談情報の補足内容を入力してください。</a:t>
            </a:r>
          </a:p>
        </p:txBody>
      </p:sp>
      <p:grpSp>
        <p:nvGrpSpPr>
          <p:cNvPr id="15" name="グループ化 14">
            <a:extLst>
              <a:ext uri="{FF2B5EF4-FFF2-40B4-BE49-F238E27FC236}">
                <a16:creationId xmlns:a16="http://schemas.microsoft.com/office/drawing/2014/main" id="{56055FDF-6A97-412A-6B67-B77EE4B14AA1}"/>
              </a:ext>
            </a:extLst>
          </p:cNvPr>
          <p:cNvGrpSpPr/>
          <p:nvPr/>
        </p:nvGrpSpPr>
        <p:grpSpPr>
          <a:xfrm>
            <a:off x="532549" y="1721256"/>
            <a:ext cx="5785742" cy="4473824"/>
            <a:chOff x="107058" y="-139700"/>
            <a:chExt cx="7405884" cy="6632824"/>
          </a:xfrm>
        </p:grpSpPr>
        <p:pic>
          <p:nvPicPr>
            <p:cNvPr id="12" name="図 11">
              <a:extLst>
                <a:ext uri="{FF2B5EF4-FFF2-40B4-BE49-F238E27FC236}">
                  <a16:creationId xmlns:a16="http://schemas.microsoft.com/office/drawing/2014/main" id="{8DBA8E54-6CC9-6595-B6BE-5A5428012E71}"/>
                </a:ext>
              </a:extLst>
            </p:cNvPr>
            <p:cNvPicPr>
              <a:picLocks noChangeAspect="1"/>
            </p:cNvPicPr>
            <p:nvPr/>
          </p:nvPicPr>
          <p:blipFill>
            <a:blip r:embed="rId2"/>
            <a:srcRect b="29259"/>
            <a:stretch>
              <a:fillRect/>
            </a:stretch>
          </p:blipFill>
          <p:spPr>
            <a:xfrm>
              <a:off x="107058" y="-139700"/>
              <a:ext cx="7405884" cy="4851400"/>
            </a:xfrm>
            <a:prstGeom prst="rect">
              <a:avLst/>
            </a:prstGeom>
          </p:spPr>
        </p:pic>
        <p:pic>
          <p:nvPicPr>
            <p:cNvPr id="14" name="図 13">
              <a:extLst>
                <a:ext uri="{FF2B5EF4-FFF2-40B4-BE49-F238E27FC236}">
                  <a16:creationId xmlns:a16="http://schemas.microsoft.com/office/drawing/2014/main" id="{6CD2BAFD-4B0A-B119-4E4C-10BA35AC1B8D}"/>
                </a:ext>
              </a:extLst>
            </p:cNvPr>
            <p:cNvPicPr>
              <a:picLocks noChangeAspect="1"/>
            </p:cNvPicPr>
            <p:nvPr/>
          </p:nvPicPr>
          <p:blipFill>
            <a:blip r:embed="rId3"/>
            <a:stretch>
              <a:fillRect/>
            </a:stretch>
          </p:blipFill>
          <p:spPr>
            <a:xfrm>
              <a:off x="107058" y="4711700"/>
              <a:ext cx="7325747" cy="1781424"/>
            </a:xfrm>
            <a:prstGeom prst="rect">
              <a:avLst/>
            </a:prstGeom>
          </p:spPr>
        </p:pic>
      </p:grpSp>
      <p:sp>
        <p:nvSpPr>
          <p:cNvPr id="16" name="正方形/長方形 15">
            <a:extLst>
              <a:ext uri="{FF2B5EF4-FFF2-40B4-BE49-F238E27FC236}">
                <a16:creationId xmlns:a16="http://schemas.microsoft.com/office/drawing/2014/main" id="{83F5B269-ACC9-BC49-3213-3B5B89DCD4E7}"/>
              </a:ext>
            </a:extLst>
          </p:cNvPr>
          <p:cNvSpPr/>
          <p:nvPr/>
        </p:nvSpPr>
        <p:spPr>
          <a:xfrm>
            <a:off x="626435" y="2251730"/>
            <a:ext cx="5511800" cy="18034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C0AA7B08-8CFD-DEE0-C70C-B95FF10D0DC1}"/>
              </a:ext>
            </a:extLst>
          </p:cNvPr>
          <p:cNvSpPr/>
          <p:nvPr/>
        </p:nvSpPr>
        <p:spPr>
          <a:xfrm>
            <a:off x="3712535" y="4128498"/>
            <a:ext cx="863600" cy="19333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231E9A46-4A87-611C-9D34-FE1B110F0DF5}"/>
              </a:ext>
            </a:extLst>
          </p:cNvPr>
          <p:cNvSpPr/>
          <p:nvPr/>
        </p:nvSpPr>
        <p:spPr>
          <a:xfrm>
            <a:off x="532549" y="4993514"/>
            <a:ext cx="5723136" cy="120156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曲線 19">
            <a:extLst>
              <a:ext uri="{FF2B5EF4-FFF2-40B4-BE49-F238E27FC236}">
                <a16:creationId xmlns:a16="http://schemas.microsoft.com/office/drawing/2014/main" id="{074715A0-7C71-63EE-C174-D13B166B294E}"/>
              </a:ext>
            </a:extLst>
          </p:cNvPr>
          <p:cNvCxnSpPr>
            <a:cxnSpLocks/>
            <a:stCxn id="17" idx="3"/>
            <a:endCxn id="18" idx="3"/>
          </p:cNvCxnSpPr>
          <p:nvPr/>
        </p:nvCxnSpPr>
        <p:spPr>
          <a:xfrm>
            <a:off x="4576135" y="4225164"/>
            <a:ext cx="1679550" cy="1369133"/>
          </a:xfrm>
          <a:prstGeom prst="curvedConnector3">
            <a:avLst>
              <a:gd name="adj1" fmla="val 11361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F4554975-939D-5B8B-4DE6-82B75611E1C0}"/>
              </a:ext>
            </a:extLst>
          </p:cNvPr>
          <p:cNvSpPr/>
          <p:nvPr/>
        </p:nvSpPr>
        <p:spPr>
          <a:xfrm>
            <a:off x="2645735" y="4128498"/>
            <a:ext cx="1004194" cy="19333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コネクタ: 曲線 23">
            <a:extLst>
              <a:ext uri="{FF2B5EF4-FFF2-40B4-BE49-F238E27FC236}">
                <a16:creationId xmlns:a16="http://schemas.microsoft.com/office/drawing/2014/main" id="{FB6D18E4-5AE2-F99F-3DAA-BD32405427B9}"/>
              </a:ext>
            </a:extLst>
          </p:cNvPr>
          <p:cNvCxnSpPr>
            <a:cxnSpLocks/>
            <a:stCxn id="22" idx="2"/>
          </p:cNvCxnSpPr>
          <p:nvPr/>
        </p:nvCxnSpPr>
        <p:spPr>
          <a:xfrm rot="5400000">
            <a:off x="2580746" y="4018518"/>
            <a:ext cx="263774" cy="870398"/>
          </a:xfrm>
          <a:prstGeom prst="curved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5" name="正方形/長方形 24">
            <a:extLst>
              <a:ext uri="{FF2B5EF4-FFF2-40B4-BE49-F238E27FC236}">
                <a16:creationId xmlns:a16="http://schemas.microsoft.com/office/drawing/2014/main" id="{B7D9E414-6B19-D2F6-1421-39F99BBCAE7D}"/>
              </a:ext>
            </a:extLst>
          </p:cNvPr>
          <p:cNvSpPr/>
          <p:nvPr/>
        </p:nvSpPr>
        <p:spPr>
          <a:xfrm>
            <a:off x="731615" y="4402963"/>
            <a:ext cx="1545819" cy="44019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72790026-53A3-4725-7A1B-5F51ADAF635E}"/>
              </a:ext>
            </a:extLst>
          </p:cNvPr>
          <p:cNvGrpSpPr/>
          <p:nvPr/>
        </p:nvGrpSpPr>
        <p:grpSpPr>
          <a:xfrm>
            <a:off x="7175499" y="1335338"/>
            <a:ext cx="4178300" cy="307777"/>
            <a:chOff x="7175500" y="1444823"/>
            <a:chExt cx="4178300" cy="307777"/>
          </a:xfrm>
        </p:grpSpPr>
        <p:cxnSp>
          <p:nvCxnSpPr>
            <p:cNvPr id="29" name="直線コネクタ 28">
              <a:extLst>
                <a:ext uri="{FF2B5EF4-FFF2-40B4-BE49-F238E27FC236}">
                  <a16:creationId xmlns:a16="http://schemas.microsoft.com/office/drawing/2014/main" id="{6DA19BCA-F745-8932-40D9-9267351E4453}"/>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713B8C71-EF2C-FE9E-CC45-3E9F38B2C876}"/>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31" name="楕円 30">
            <a:extLst>
              <a:ext uri="{FF2B5EF4-FFF2-40B4-BE49-F238E27FC236}">
                <a16:creationId xmlns:a16="http://schemas.microsoft.com/office/drawing/2014/main" id="{C42CD12B-621D-A491-A916-1865587B8EE7}"/>
              </a:ext>
            </a:extLst>
          </p:cNvPr>
          <p:cNvSpPr/>
          <p:nvPr/>
        </p:nvSpPr>
        <p:spPr>
          <a:xfrm>
            <a:off x="532549" y="208169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32" name="楕円 31">
            <a:extLst>
              <a:ext uri="{FF2B5EF4-FFF2-40B4-BE49-F238E27FC236}">
                <a16:creationId xmlns:a16="http://schemas.microsoft.com/office/drawing/2014/main" id="{D305B04C-081A-7756-B483-1620592F9DB4}"/>
              </a:ext>
            </a:extLst>
          </p:cNvPr>
          <p:cNvSpPr/>
          <p:nvPr/>
        </p:nvSpPr>
        <p:spPr>
          <a:xfrm>
            <a:off x="2242063" y="4030438"/>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
        <p:nvSpPr>
          <p:cNvPr id="33" name="楕円 32">
            <a:extLst>
              <a:ext uri="{FF2B5EF4-FFF2-40B4-BE49-F238E27FC236}">
                <a16:creationId xmlns:a16="http://schemas.microsoft.com/office/drawing/2014/main" id="{E85B7C06-A1DE-D843-A7B3-671B6830122A}"/>
              </a:ext>
            </a:extLst>
          </p:cNvPr>
          <p:cNvSpPr/>
          <p:nvPr/>
        </p:nvSpPr>
        <p:spPr>
          <a:xfrm>
            <a:off x="363314" y="4781497"/>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３</a:t>
            </a:r>
          </a:p>
        </p:txBody>
      </p:sp>
      <p:sp>
        <p:nvSpPr>
          <p:cNvPr id="34" name="正方形/長方形 33">
            <a:extLst>
              <a:ext uri="{FF2B5EF4-FFF2-40B4-BE49-F238E27FC236}">
                <a16:creationId xmlns:a16="http://schemas.microsoft.com/office/drawing/2014/main" id="{F5235908-2F6F-1A74-5C7E-5D16200EE0EC}"/>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面談メモアプリは、タブレットのペンで手書きもしくは、タイピングでの入力どちらも可能</a:t>
            </a:r>
          </a:p>
        </p:txBody>
      </p:sp>
      <p:sp>
        <p:nvSpPr>
          <p:cNvPr id="35" name="楕円 34">
            <a:extLst>
              <a:ext uri="{FF2B5EF4-FFF2-40B4-BE49-F238E27FC236}">
                <a16:creationId xmlns:a16="http://schemas.microsoft.com/office/drawing/2014/main" id="{19D928E8-8FF8-7119-FEEC-0F1E295896F3}"/>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36" name="正方形/長方形 35">
            <a:extLst>
              <a:ext uri="{FF2B5EF4-FFF2-40B4-BE49-F238E27FC236}">
                <a16:creationId xmlns:a16="http://schemas.microsoft.com/office/drawing/2014/main" id="{CF68A80C-E0E8-2395-36C8-49E098F5945B}"/>
              </a:ext>
            </a:extLst>
          </p:cNvPr>
          <p:cNvSpPr/>
          <p:nvPr/>
        </p:nvSpPr>
        <p:spPr>
          <a:xfrm>
            <a:off x="7175499" y="2799737"/>
            <a:ext cx="4178300" cy="64085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手書きメモは</a:t>
            </a:r>
            <a:r>
              <a:rPr lang="en-US" altLang="ja-JP" sz="1200" dirty="0">
                <a:solidFill>
                  <a:schemeClr val="tx1"/>
                </a:solidFill>
                <a:latin typeface="Meiryo UI" panose="020B0604030504040204" pitchFamily="50" charset="-128"/>
                <a:ea typeface="Meiryo UI" panose="020B0604030504040204" pitchFamily="50" charset="-128"/>
              </a:rPr>
              <a:t>AI</a:t>
            </a:r>
            <a:r>
              <a:rPr lang="ja-JP" altLang="en-US" sz="1200" dirty="0">
                <a:solidFill>
                  <a:schemeClr val="tx1"/>
                </a:solidFill>
                <a:latin typeface="Meiryo UI" panose="020B0604030504040204" pitchFamily="50" charset="-128"/>
                <a:ea typeface="Meiryo UI" panose="020B0604030504040204" pitchFamily="50" charset="-128"/>
              </a:rPr>
              <a:t>がテキスト化。また、手書きメモの画像を保存して置きあとで見返すことも可能</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7" name="楕円 36">
            <a:extLst>
              <a:ext uri="{FF2B5EF4-FFF2-40B4-BE49-F238E27FC236}">
                <a16:creationId xmlns:a16="http://schemas.microsoft.com/office/drawing/2014/main" id="{42FD6122-F700-61C3-39B4-D2FAB846DA9D}"/>
              </a:ext>
            </a:extLst>
          </p:cNvPr>
          <p:cNvSpPr/>
          <p:nvPr/>
        </p:nvSpPr>
        <p:spPr>
          <a:xfrm>
            <a:off x="7035798" y="2739880"/>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t>2</a:t>
            </a:r>
            <a:endParaRPr kumimoji="1" lang="ja-JP" altLang="en-US" b="1" dirty="0"/>
          </a:p>
        </p:txBody>
      </p:sp>
      <p:sp>
        <p:nvSpPr>
          <p:cNvPr id="38" name="正方形/長方形 37">
            <a:extLst>
              <a:ext uri="{FF2B5EF4-FFF2-40B4-BE49-F238E27FC236}">
                <a16:creationId xmlns:a16="http://schemas.microsoft.com/office/drawing/2014/main" id="{89E2A335-9F92-ACE9-FA00-8607EA0DC5B2}"/>
              </a:ext>
            </a:extLst>
          </p:cNvPr>
          <p:cNvSpPr/>
          <p:nvPr/>
        </p:nvSpPr>
        <p:spPr>
          <a:xfrm>
            <a:off x="7175499" y="3626157"/>
            <a:ext cx="4178300" cy="58278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メモは</a:t>
            </a:r>
            <a:r>
              <a:rPr lang="en-US" altLang="ja-JP" sz="1200" dirty="0">
                <a:solidFill>
                  <a:schemeClr val="tx1"/>
                </a:solidFill>
                <a:latin typeface="Meiryo UI" panose="020B0604030504040204" pitchFamily="50" charset="-128"/>
                <a:ea typeface="Meiryo UI" panose="020B0604030504040204" pitchFamily="50" charset="-128"/>
              </a:rPr>
              <a:t>AI</a:t>
            </a:r>
            <a:r>
              <a:rPr lang="ja-JP" altLang="en-US" sz="1200" dirty="0">
                <a:solidFill>
                  <a:schemeClr val="tx1"/>
                </a:solidFill>
                <a:latin typeface="Meiryo UI" panose="020B0604030504040204" pitchFamily="50" charset="-128"/>
                <a:ea typeface="Meiryo UI" panose="020B0604030504040204" pitchFamily="50" charset="-128"/>
              </a:rPr>
              <a:t>が自動で入力項目に反映し、入力の手間を削減</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9" name="楕円 38">
            <a:extLst>
              <a:ext uri="{FF2B5EF4-FFF2-40B4-BE49-F238E27FC236}">
                <a16:creationId xmlns:a16="http://schemas.microsoft.com/office/drawing/2014/main" id="{F9636475-F13C-E2B2-4216-EDD4A3D1CFA2}"/>
              </a:ext>
            </a:extLst>
          </p:cNvPr>
          <p:cNvSpPr/>
          <p:nvPr/>
        </p:nvSpPr>
        <p:spPr>
          <a:xfrm>
            <a:off x="7035798" y="3539220"/>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t>3</a:t>
            </a:r>
            <a:endParaRPr kumimoji="1" lang="ja-JP" altLang="en-US" b="1" dirty="0"/>
          </a:p>
        </p:txBody>
      </p:sp>
      <p:sp>
        <p:nvSpPr>
          <p:cNvPr id="41" name="正方形/長方形 40">
            <a:extLst>
              <a:ext uri="{FF2B5EF4-FFF2-40B4-BE49-F238E27FC236}">
                <a16:creationId xmlns:a16="http://schemas.microsoft.com/office/drawing/2014/main" id="{12BCB528-F668-A1D0-ED1C-79BEB7D47B6D}"/>
              </a:ext>
            </a:extLst>
          </p:cNvPr>
          <p:cNvSpPr/>
          <p:nvPr/>
        </p:nvSpPr>
        <p:spPr>
          <a:xfrm>
            <a:off x="7175499" y="5247567"/>
            <a:ext cx="4178300" cy="629929"/>
          </a:xfrm>
          <a:prstGeom prst="rect">
            <a:avLst/>
          </a:prstGeom>
          <a:solidFill>
            <a:srgbClr val="FCEBBC"/>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rgbClr val="C00000"/>
                </a:solidFill>
                <a:latin typeface="Meiryo UI" panose="020B0604030504040204" pitchFamily="50" charset="-128"/>
                <a:ea typeface="Meiryo UI" panose="020B0604030504040204" pitchFamily="50" charset="-128"/>
              </a:rPr>
              <a:t>面談シートは、面談結果登録と合わせて、面談当日～翌営業日</a:t>
            </a:r>
            <a:r>
              <a:rPr kumimoji="1" lang="en-US" altLang="ja-JP" sz="1200" dirty="0">
                <a:solidFill>
                  <a:srgbClr val="C00000"/>
                </a:solidFill>
                <a:latin typeface="Meiryo UI" panose="020B0604030504040204" pitchFamily="50" charset="-128"/>
                <a:ea typeface="Meiryo UI" panose="020B0604030504040204" pitchFamily="50" charset="-128"/>
              </a:rPr>
              <a:t>AM10</a:t>
            </a:r>
            <a:r>
              <a:rPr kumimoji="1" lang="ja-JP" altLang="en-US" sz="1200" dirty="0">
                <a:solidFill>
                  <a:srgbClr val="C00000"/>
                </a:solidFill>
                <a:latin typeface="Meiryo UI" panose="020B0604030504040204" pitchFamily="50" charset="-128"/>
                <a:ea typeface="Meiryo UI" panose="020B0604030504040204" pitchFamily="50" charset="-128"/>
              </a:rPr>
              <a:t>時までに記載して下さい。</a:t>
            </a:r>
          </a:p>
        </p:txBody>
      </p:sp>
      <p:grpSp>
        <p:nvGrpSpPr>
          <p:cNvPr id="43" name="グループ化 42">
            <a:extLst>
              <a:ext uri="{FF2B5EF4-FFF2-40B4-BE49-F238E27FC236}">
                <a16:creationId xmlns:a16="http://schemas.microsoft.com/office/drawing/2014/main" id="{1B66AF1E-85CB-AA34-E6C1-5FA4CD36B7A6}"/>
              </a:ext>
            </a:extLst>
          </p:cNvPr>
          <p:cNvGrpSpPr/>
          <p:nvPr/>
        </p:nvGrpSpPr>
        <p:grpSpPr>
          <a:xfrm>
            <a:off x="7175499" y="4741666"/>
            <a:ext cx="4178300" cy="307777"/>
            <a:chOff x="7175500" y="1444823"/>
            <a:chExt cx="4178300" cy="307777"/>
          </a:xfrm>
        </p:grpSpPr>
        <p:cxnSp>
          <p:nvCxnSpPr>
            <p:cNvPr id="44" name="直線コネクタ 43">
              <a:extLst>
                <a:ext uri="{FF2B5EF4-FFF2-40B4-BE49-F238E27FC236}">
                  <a16:creationId xmlns:a16="http://schemas.microsoft.com/office/drawing/2014/main" id="{E2910102-6710-DF2F-5AF7-667ED9C2482A}"/>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テキスト ボックス 44">
              <a:extLst>
                <a:ext uri="{FF2B5EF4-FFF2-40B4-BE49-F238E27FC236}">
                  <a16:creationId xmlns:a16="http://schemas.microsoft.com/office/drawing/2014/main" id="{C02BD94B-32F7-915A-D08D-407352079BA1}"/>
                </a:ext>
              </a:extLst>
            </p:cNvPr>
            <p:cNvSpPr txBox="1"/>
            <p:nvPr/>
          </p:nvSpPr>
          <p:spPr>
            <a:xfrm>
              <a:off x="8886982" y="1444823"/>
              <a:ext cx="1026243"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運用ルール</a:t>
              </a:r>
            </a:p>
          </p:txBody>
        </p:sp>
      </p:grpSp>
    </p:spTree>
    <p:extLst>
      <p:ext uri="{BB962C8B-B14F-4D97-AF65-F5344CB8AC3E}">
        <p14:creationId xmlns:p14="http://schemas.microsoft.com/office/powerpoint/2010/main" val="2445207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B57145D-350E-F2D1-C8C8-69A4CA6337F3}"/>
              </a:ext>
            </a:extLst>
          </p:cNvPr>
          <p:cNvSpPr>
            <a:spLocks noGrp="1"/>
          </p:cNvSpPr>
          <p:nvPr>
            <p:ph type="sldNum" sz="quarter" idx="12"/>
          </p:nvPr>
        </p:nvSpPr>
        <p:spPr/>
        <p:txBody>
          <a:bodyPr/>
          <a:lstStyle/>
          <a:p>
            <a:fld id="{F4EC9C95-8009-4180-AAA8-5F6B382748D2}" type="slidenum">
              <a:rPr kumimoji="1" lang="ja-JP" altLang="en-US" smtClean="0"/>
              <a:t>8</a:t>
            </a:fld>
            <a:endParaRPr kumimoji="1" lang="ja-JP" altLang="en-US"/>
          </a:p>
        </p:txBody>
      </p:sp>
      <p:pic>
        <p:nvPicPr>
          <p:cNvPr id="6" name="図 5">
            <a:extLst>
              <a:ext uri="{FF2B5EF4-FFF2-40B4-BE49-F238E27FC236}">
                <a16:creationId xmlns:a16="http://schemas.microsoft.com/office/drawing/2014/main" id="{B699A6D9-2363-E275-6BA0-51942BED33ED}"/>
              </a:ext>
            </a:extLst>
          </p:cNvPr>
          <p:cNvPicPr>
            <a:picLocks noChangeAspect="1"/>
          </p:cNvPicPr>
          <p:nvPr/>
        </p:nvPicPr>
        <p:blipFill>
          <a:blip r:embed="rId2"/>
          <a:stretch>
            <a:fillRect/>
          </a:stretch>
        </p:blipFill>
        <p:spPr>
          <a:xfrm>
            <a:off x="428100" y="1112044"/>
            <a:ext cx="5558133" cy="5009356"/>
          </a:xfrm>
          <a:prstGeom prst="rect">
            <a:avLst/>
          </a:prstGeom>
        </p:spPr>
      </p:pic>
      <p:pic>
        <p:nvPicPr>
          <p:cNvPr id="8" name="図 7">
            <a:extLst>
              <a:ext uri="{FF2B5EF4-FFF2-40B4-BE49-F238E27FC236}">
                <a16:creationId xmlns:a16="http://schemas.microsoft.com/office/drawing/2014/main" id="{83A377D3-41B3-1D67-5718-20DC4547B719}"/>
              </a:ext>
            </a:extLst>
          </p:cNvPr>
          <p:cNvPicPr>
            <a:picLocks noChangeAspect="1"/>
          </p:cNvPicPr>
          <p:nvPr/>
        </p:nvPicPr>
        <p:blipFill>
          <a:blip r:embed="rId3"/>
          <a:stretch>
            <a:fillRect/>
          </a:stretch>
        </p:blipFill>
        <p:spPr>
          <a:xfrm>
            <a:off x="6205769" y="1112044"/>
            <a:ext cx="5367567" cy="5086122"/>
          </a:xfrm>
          <a:prstGeom prst="rect">
            <a:avLst/>
          </a:prstGeom>
        </p:spPr>
      </p:pic>
      <p:sp>
        <p:nvSpPr>
          <p:cNvPr id="10" name="テキスト ボックス 9">
            <a:extLst>
              <a:ext uri="{FF2B5EF4-FFF2-40B4-BE49-F238E27FC236}">
                <a16:creationId xmlns:a16="http://schemas.microsoft.com/office/drawing/2014/main" id="{B692828F-9EFE-B7AD-FDFC-6BAFC8D9A859}"/>
              </a:ext>
            </a:extLst>
          </p:cNvPr>
          <p:cNvSpPr txBox="1"/>
          <p:nvPr/>
        </p:nvSpPr>
        <p:spPr>
          <a:xfrm>
            <a:off x="254000" y="139700"/>
            <a:ext cx="4780476" cy="523220"/>
          </a:xfrm>
          <a:prstGeom prst="rect">
            <a:avLst/>
          </a:prstGeom>
          <a:noFill/>
        </p:spPr>
        <p:txBody>
          <a:bodyPr wrap="none" rtlCol="0">
            <a:spAutoFit/>
          </a:bodyPr>
          <a:lstStyle/>
          <a:p>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参考</a:t>
            </a:r>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面談シート画面</a:t>
            </a:r>
            <a:r>
              <a:rPr lang="ja-JP" altLang="en-US" sz="2800" b="1" dirty="0">
                <a:latin typeface="Meiryo UI" panose="020B0604030504040204" pitchFamily="50" charset="-128"/>
                <a:ea typeface="Meiryo UI" panose="020B0604030504040204" pitchFamily="50" charset="-128"/>
              </a:rPr>
              <a:t>イメージ</a:t>
            </a:r>
            <a:endParaRPr kumimoji="1" lang="ja-JP" altLang="en-US" sz="2800" b="1"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C2B17DE-04C6-361C-ED37-15800E278D4A}"/>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手続内容、相続人、財産内容のメモ欄</a:t>
            </a:r>
          </a:p>
        </p:txBody>
      </p:sp>
    </p:spTree>
    <p:extLst>
      <p:ext uri="{BB962C8B-B14F-4D97-AF65-F5344CB8AC3E}">
        <p14:creationId xmlns:p14="http://schemas.microsoft.com/office/powerpoint/2010/main" val="1162754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314C1A31-7A3E-BB65-D54E-D328C03F4826}"/>
              </a:ext>
            </a:extLst>
          </p:cNvPr>
          <p:cNvSpPr>
            <a:spLocks noGrp="1"/>
          </p:cNvSpPr>
          <p:nvPr>
            <p:ph type="sldNum" sz="quarter" idx="12"/>
          </p:nvPr>
        </p:nvSpPr>
        <p:spPr/>
        <p:txBody>
          <a:bodyPr/>
          <a:lstStyle/>
          <a:p>
            <a:fld id="{F4EC9C95-8009-4180-AAA8-5F6B382748D2}" type="slidenum">
              <a:rPr kumimoji="1" lang="ja-JP" altLang="en-US" smtClean="0"/>
              <a:t>9</a:t>
            </a:fld>
            <a:endParaRPr kumimoji="1" lang="ja-JP" altLang="en-US"/>
          </a:p>
        </p:txBody>
      </p:sp>
      <p:pic>
        <p:nvPicPr>
          <p:cNvPr id="6" name="図 5">
            <a:extLst>
              <a:ext uri="{FF2B5EF4-FFF2-40B4-BE49-F238E27FC236}">
                <a16:creationId xmlns:a16="http://schemas.microsoft.com/office/drawing/2014/main" id="{91EC02A3-729C-859F-4A7C-CA4076EA9011}"/>
              </a:ext>
            </a:extLst>
          </p:cNvPr>
          <p:cNvPicPr>
            <a:picLocks noChangeAspect="1"/>
          </p:cNvPicPr>
          <p:nvPr/>
        </p:nvPicPr>
        <p:blipFill>
          <a:blip r:embed="rId2"/>
          <a:stretch>
            <a:fillRect/>
          </a:stretch>
        </p:blipFill>
        <p:spPr>
          <a:xfrm>
            <a:off x="363314" y="1231900"/>
            <a:ext cx="5675345" cy="5486400"/>
          </a:xfrm>
          <a:prstGeom prst="rect">
            <a:avLst/>
          </a:prstGeom>
        </p:spPr>
      </p:pic>
      <p:pic>
        <p:nvPicPr>
          <p:cNvPr id="8" name="図 7">
            <a:extLst>
              <a:ext uri="{FF2B5EF4-FFF2-40B4-BE49-F238E27FC236}">
                <a16:creationId xmlns:a16="http://schemas.microsoft.com/office/drawing/2014/main" id="{A44A0E88-251C-70AE-25D6-346BA1BD272D}"/>
              </a:ext>
            </a:extLst>
          </p:cNvPr>
          <p:cNvPicPr>
            <a:picLocks noChangeAspect="1"/>
          </p:cNvPicPr>
          <p:nvPr/>
        </p:nvPicPr>
        <p:blipFill>
          <a:blip r:embed="rId3"/>
          <a:stretch>
            <a:fillRect/>
          </a:stretch>
        </p:blipFill>
        <p:spPr>
          <a:xfrm>
            <a:off x="6038659" y="1253658"/>
            <a:ext cx="6015095" cy="5265083"/>
          </a:xfrm>
          <a:prstGeom prst="rect">
            <a:avLst/>
          </a:prstGeom>
        </p:spPr>
      </p:pic>
      <p:sp>
        <p:nvSpPr>
          <p:cNvPr id="10" name="テキスト ボックス 9">
            <a:extLst>
              <a:ext uri="{FF2B5EF4-FFF2-40B4-BE49-F238E27FC236}">
                <a16:creationId xmlns:a16="http://schemas.microsoft.com/office/drawing/2014/main" id="{BDFAAD30-85F5-558B-DAD1-2441E0153750}"/>
              </a:ext>
            </a:extLst>
          </p:cNvPr>
          <p:cNvSpPr txBox="1"/>
          <p:nvPr/>
        </p:nvSpPr>
        <p:spPr>
          <a:xfrm>
            <a:off x="254000" y="139700"/>
            <a:ext cx="4780476" cy="523220"/>
          </a:xfrm>
          <a:prstGeom prst="rect">
            <a:avLst/>
          </a:prstGeom>
          <a:noFill/>
        </p:spPr>
        <p:txBody>
          <a:bodyPr wrap="none" rtlCol="0">
            <a:spAutoFit/>
          </a:bodyPr>
          <a:lstStyle/>
          <a:p>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参考</a:t>
            </a:r>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面談シート画面</a:t>
            </a:r>
            <a:r>
              <a:rPr lang="ja-JP" altLang="en-US" sz="2800" b="1" dirty="0">
                <a:latin typeface="Meiryo UI" panose="020B0604030504040204" pitchFamily="50" charset="-128"/>
                <a:ea typeface="Meiryo UI" panose="020B0604030504040204" pitchFamily="50" charset="-128"/>
              </a:rPr>
              <a:t>イメージ</a:t>
            </a:r>
            <a:endParaRPr kumimoji="1" lang="ja-JP" altLang="en-US" sz="2800" b="1"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A43A492F-52FF-C1C7-7518-0209D490B357}"/>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財産内容（金融）、その他事業者の紹介、遺産分割、遺言、登記、解約等に関するメモ欄</a:t>
            </a:r>
          </a:p>
        </p:txBody>
      </p:sp>
    </p:spTree>
    <p:extLst>
      <p:ext uri="{BB962C8B-B14F-4D97-AF65-F5344CB8AC3E}">
        <p14:creationId xmlns:p14="http://schemas.microsoft.com/office/powerpoint/2010/main" val="2083597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62DD9A1-5E1C-0C17-73B9-850CECC25CD7}"/>
              </a:ext>
            </a:extLst>
          </p:cNvPr>
          <p:cNvSpPr>
            <a:spLocks noGrp="1"/>
          </p:cNvSpPr>
          <p:nvPr>
            <p:ph type="sldNum" sz="quarter" idx="12"/>
          </p:nvPr>
        </p:nvSpPr>
        <p:spPr/>
        <p:txBody>
          <a:bodyPr/>
          <a:lstStyle/>
          <a:p>
            <a:fld id="{F4EC9C95-8009-4180-AAA8-5F6B382748D2}" type="slidenum">
              <a:rPr kumimoji="1" lang="ja-JP" altLang="en-US" smtClean="0"/>
              <a:t>10</a:t>
            </a:fld>
            <a:endParaRPr kumimoji="1" lang="ja-JP" altLang="en-US"/>
          </a:p>
        </p:txBody>
      </p:sp>
      <p:pic>
        <p:nvPicPr>
          <p:cNvPr id="6" name="図 5">
            <a:extLst>
              <a:ext uri="{FF2B5EF4-FFF2-40B4-BE49-F238E27FC236}">
                <a16:creationId xmlns:a16="http://schemas.microsoft.com/office/drawing/2014/main" id="{1268FB94-13CC-C6A5-BC69-2CBDB05FB333}"/>
              </a:ext>
            </a:extLst>
          </p:cNvPr>
          <p:cNvPicPr>
            <a:picLocks noChangeAspect="1"/>
          </p:cNvPicPr>
          <p:nvPr/>
        </p:nvPicPr>
        <p:blipFill>
          <a:blip r:embed="rId2"/>
          <a:stretch>
            <a:fillRect/>
          </a:stretch>
        </p:blipFill>
        <p:spPr>
          <a:xfrm>
            <a:off x="226576" y="1421423"/>
            <a:ext cx="5869424" cy="4015153"/>
          </a:xfrm>
          <a:prstGeom prst="rect">
            <a:avLst/>
          </a:prstGeom>
        </p:spPr>
      </p:pic>
      <p:sp>
        <p:nvSpPr>
          <p:cNvPr id="8" name="テキスト ボックス 7">
            <a:extLst>
              <a:ext uri="{FF2B5EF4-FFF2-40B4-BE49-F238E27FC236}">
                <a16:creationId xmlns:a16="http://schemas.microsoft.com/office/drawing/2014/main" id="{5950FAA3-AB3D-1F27-E506-D5FC5032B08A}"/>
              </a:ext>
            </a:extLst>
          </p:cNvPr>
          <p:cNvSpPr txBox="1"/>
          <p:nvPr/>
        </p:nvSpPr>
        <p:spPr>
          <a:xfrm>
            <a:off x="254000" y="139700"/>
            <a:ext cx="4780476" cy="523220"/>
          </a:xfrm>
          <a:prstGeom prst="rect">
            <a:avLst/>
          </a:prstGeom>
          <a:noFill/>
        </p:spPr>
        <p:txBody>
          <a:bodyPr wrap="none" rtlCol="0">
            <a:spAutoFit/>
          </a:bodyPr>
          <a:lstStyle/>
          <a:p>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参考</a:t>
            </a:r>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面談シート画面</a:t>
            </a:r>
            <a:r>
              <a:rPr lang="ja-JP" altLang="en-US" sz="2800" b="1" dirty="0">
                <a:latin typeface="Meiryo UI" panose="020B0604030504040204" pitchFamily="50" charset="-128"/>
                <a:ea typeface="Meiryo UI" panose="020B0604030504040204" pitchFamily="50" charset="-128"/>
              </a:rPr>
              <a:t>イメージ</a:t>
            </a:r>
            <a:endParaRPr kumimoji="1" lang="ja-JP" altLang="en-US" sz="2800" b="1" dirty="0">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9BC20CDF-687E-F15E-B829-8AB0FB262CCB}"/>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解約やその他手続きに関するメモ欄。面談シートを保存するとそのまま、面談結果登録に移行します。</a:t>
            </a:r>
          </a:p>
        </p:txBody>
      </p:sp>
    </p:spTree>
    <p:extLst>
      <p:ext uri="{BB962C8B-B14F-4D97-AF65-F5344CB8AC3E}">
        <p14:creationId xmlns:p14="http://schemas.microsoft.com/office/powerpoint/2010/main" val="2585626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D2674-67CD-5249-61B8-C2EED17D69E8}"/>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4C8CD76E-CCD4-055F-66D3-490FFEFE7CC6}"/>
              </a:ext>
            </a:extLst>
          </p:cNvPr>
          <p:cNvSpPr>
            <a:spLocks noGrp="1"/>
          </p:cNvSpPr>
          <p:nvPr>
            <p:ph type="sldNum" sz="quarter" idx="12"/>
          </p:nvPr>
        </p:nvSpPr>
        <p:spPr/>
        <p:txBody>
          <a:bodyPr/>
          <a:lstStyle/>
          <a:p>
            <a:fld id="{F4EC9C95-8009-4180-AAA8-5F6B382748D2}" type="slidenum">
              <a:rPr kumimoji="1" lang="ja-JP" altLang="en-US" smtClean="0"/>
              <a:t>11</a:t>
            </a:fld>
            <a:endParaRPr kumimoji="1" lang="ja-JP" altLang="en-US"/>
          </a:p>
        </p:txBody>
      </p:sp>
      <p:sp>
        <p:nvSpPr>
          <p:cNvPr id="5" name="正方形/長方形 4">
            <a:extLst>
              <a:ext uri="{FF2B5EF4-FFF2-40B4-BE49-F238E27FC236}">
                <a16:creationId xmlns:a16="http://schemas.microsoft.com/office/drawing/2014/main" id="{E71951B3-685A-1444-86C6-D156C0D88FFF}"/>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8B81554-9F8F-2BE0-3A8A-4BF4C1DC821A}"/>
              </a:ext>
            </a:extLst>
          </p:cNvPr>
          <p:cNvSpPr txBox="1"/>
          <p:nvPr/>
        </p:nvSpPr>
        <p:spPr>
          <a:xfrm>
            <a:off x="800100" y="2275482"/>
            <a:ext cx="3570208"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面談結果登録</a:t>
            </a:r>
          </a:p>
        </p:txBody>
      </p:sp>
      <p:sp>
        <p:nvSpPr>
          <p:cNvPr id="7" name="テキスト ボックス 6">
            <a:extLst>
              <a:ext uri="{FF2B5EF4-FFF2-40B4-BE49-F238E27FC236}">
                <a16:creationId xmlns:a16="http://schemas.microsoft.com/office/drawing/2014/main" id="{7F515969-EF71-73D2-7831-2BAE7E71A1B0}"/>
              </a:ext>
            </a:extLst>
          </p:cNvPr>
          <p:cNvSpPr txBox="1"/>
          <p:nvPr/>
        </p:nvSpPr>
        <p:spPr>
          <a:xfrm>
            <a:off x="800100" y="3131106"/>
            <a:ext cx="2848857" cy="369332"/>
          </a:xfrm>
          <a:prstGeom prst="rect">
            <a:avLst/>
          </a:prstGeom>
          <a:noFill/>
        </p:spPr>
        <p:txBody>
          <a:bodyPr wrap="none" rtlCol="0">
            <a:spAutoFit/>
          </a:bodyPr>
          <a:lstStyle/>
          <a:p>
            <a:pPr algn="l" fontAlgn="t"/>
            <a:r>
              <a:rPr lang="ja-JP" altLang="en-US" dirty="0">
                <a:solidFill>
                  <a:schemeClr val="bg1"/>
                </a:solidFill>
                <a:latin typeface="Meiryo UI" panose="020B0604030504040204" pitchFamily="50" charset="-128"/>
                <a:ea typeface="Meiryo UI" panose="020B0604030504040204" pitchFamily="50" charset="-128"/>
              </a:rPr>
              <a:t>面談の結果を報告用に記録</a:t>
            </a:r>
            <a:endParaRPr kumimoji="1" lang="ja-JP" altLang="en-US" i="0" dirty="0">
              <a:solidFill>
                <a:schemeClr val="bg1"/>
              </a:solidFill>
              <a:effectLst/>
              <a:latin typeface="Meiryo UI" panose="020B0604030504040204" pitchFamily="50" charset="-128"/>
              <a:ea typeface="Meiryo UI" panose="020B0604030504040204" pitchFamily="50" charset="-128"/>
            </a:endParaRPr>
          </a:p>
        </p:txBody>
      </p:sp>
      <p:grpSp>
        <p:nvGrpSpPr>
          <p:cNvPr id="8" name="グループ化 7">
            <a:extLst>
              <a:ext uri="{FF2B5EF4-FFF2-40B4-BE49-F238E27FC236}">
                <a16:creationId xmlns:a16="http://schemas.microsoft.com/office/drawing/2014/main" id="{AF7E5FA4-5A49-9325-EB05-3D2790065B6E}"/>
              </a:ext>
            </a:extLst>
          </p:cNvPr>
          <p:cNvGrpSpPr/>
          <p:nvPr/>
        </p:nvGrpSpPr>
        <p:grpSpPr>
          <a:xfrm>
            <a:off x="5626099" y="1971213"/>
            <a:ext cx="6265617" cy="3614138"/>
            <a:chOff x="3932535" y="1971213"/>
            <a:chExt cx="7959182" cy="3614138"/>
          </a:xfrm>
        </p:grpSpPr>
        <p:sp>
          <p:nvSpPr>
            <p:cNvPr id="9" name="矢印: 五方向 8">
              <a:extLst>
                <a:ext uri="{FF2B5EF4-FFF2-40B4-BE49-F238E27FC236}">
                  <a16:creationId xmlns:a16="http://schemas.microsoft.com/office/drawing/2014/main" id="{E24DBBB0-3765-68A6-B0A1-26357A4866A5}"/>
                </a:ext>
              </a:extLst>
            </p:cNvPr>
            <p:cNvSpPr/>
            <p:nvPr/>
          </p:nvSpPr>
          <p:spPr>
            <a:xfrm>
              <a:off x="3980070" y="2929506"/>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面談実施</a:t>
              </a:r>
            </a:p>
          </p:txBody>
        </p:sp>
        <p:sp>
          <p:nvSpPr>
            <p:cNvPr id="10" name="矢印: 五方向 9">
              <a:extLst>
                <a:ext uri="{FF2B5EF4-FFF2-40B4-BE49-F238E27FC236}">
                  <a16:creationId xmlns:a16="http://schemas.microsoft.com/office/drawing/2014/main" id="{24DA03A9-DF52-29E5-CFEA-569D40127FB5}"/>
                </a:ext>
              </a:extLst>
            </p:cNvPr>
            <p:cNvSpPr/>
            <p:nvPr/>
          </p:nvSpPr>
          <p:spPr>
            <a:xfrm>
              <a:off x="5362826" y="293502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solidFill>
                    <a:schemeClr val="bg1"/>
                  </a:solidFill>
                  <a:latin typeface="Meiryo UI" panose="020B0604030504040204" pitchFamily="50" charset="-128"/>
                  <a:ea typeface="Meiryo UI" panose="020B0604030504040204" pitchFamily="50" charset="-128"/>
                </a:rPr>
                <a:t>面談シート作成</a:t>
              </a:r>
              <a:endParaRPr kumimoji="1" lang="en-US" altLang="ja-JP" sz="1000" dirty="0">
                <a:solidFill>
                  <a:schemeClr val="bg1"/>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C532F398-803B-AEFE-60F3-98D79B94CC56}"/>
                </a:ext>
              </a:extLst>
            </p:cNvPr>
            <p:cNvSpPr/>
            <p:nvPr/>
          </p:nvSpPr>
          <p:spPr>
            <a:xfrm>
              <a:off x="6751763" y="2935021"/>
              <a:ext cx="1275843" cy="846632"/>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面談結果登録</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66026EB7-1091-1450-03D9-DF285C29017D}"/>
                </a:ext>
              </a:extLst>
            </p:cNvPr>
            <p:cNvSpPr/>
            <p:nvPr/>
          </p:nvSpPr>
          <p:spPr>
            <a:xfrm>
              <a:off x="8177276" y="292297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endParaRPr lang="en-US" altLang="ja-JP" sz="1000" dirty="0">
                <a:solidFill>
                  <a:schemeClr val="bg1"/>
                </a:solidFill>
                <a:latin typeface="Meiryo UI" panose="020B0604030504040204" pitchFamily="50" charset="-128"/>
                <a:ea typeface="Meiryo UI" panose="020B0604030504040204" pitchFamily="50" charset="-128"/>
              </a:endParaRPr>
            </a:p>
            <a:p>
              <a:pPr algn="ctr"/>
              <a:r>
                <a:rPr lang="ja-JP" altLang="en-US" sz="1000" dirty="0">
                  <a:solidFill>
                    <a:schemeClr val="bg1"/>
                  </a:solidFill>
                  <a:latin typeface="Meiryo UI" panose="020B0604030504040204" pitchFamily="50" charset="-128"/>
                  <a:ea typeface="Meiryo UI" panose="020B0604030504040204" pitchFamily="50" charset="-128"/>
                </a:rPr>
                <a:t>作成</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3" name="矢印: 五方向 12">
              <a:extLst>
                <a:ext uri="{FF2B5EF4-FFF2-40B4-BE49-F238E27FC236}">
                  <a16:creationId xmlns:a16="http://schemas.microsoft.com/office/drawing/2014/main" id="{0077CE98-4931-5125-992C-FCAC82227F5D}"/>
                </a:ext>
              </a:extLst>
            </p:cNvPr>
            <p:cNvSpPr/>
            <p:nvPr/>
          </p:nvSpPr>
          <p:spPr>
            <a:xfrm>
              <a:off x="9520935" y="292297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前受け金請求書発行</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4" name="矢印: 五方向 13">
              <a:extLst>
                <a:ext uri="{FF2B5EF4-FFF2-40B4-BE49-F238E27FC236}">
                  <a16:creationId xmlns:a16="http://schemas.microsoft.com/office/drawing/2014/main" id="{31FBA9DF-1F99-7475-D23A-39F798B0C4A0}"/>
                </a:ext>
              </a:extLst>
            </p:cNvPr>
            <p:cNvSpPr/>
            <p:nvPr/>
          </p:nvSpPr>
          <p:spPr>
            <a:xfrm>
              <a:off x="8163761" y="2531038"/>
              <a:ext cx="3727956" cy="296640"/>
            </a:xfrm>
            <a:prstGeom prst="homePlate">
              <a:avLst>
                <a:gd name="adj" fmla="val 29518"/>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受注</a:t>
              </a:r>
            </a:p>
          </p:txBody>
        </p:sp>
        <p:sp>
          <p:nvSpPr>
            <p:cNvPr id="15" name="矢印: 五方向 14">
              <a:extLst>
                <a:ext uri="{FF2B5EF4-FFF2-40B4-BE49-F238E27FC236}">
                  <a16:creationId xmlns:a16="http://schemas.microsoft.com/office/drawing/2014/main" id="{DB0CC7C4-C125-0209-A1BC-292B3B6C4B5C}"/>
                </a:ext>
              </a:extLst>
            </p:cNvPr>
            <p:cNvSpPr/>
            <p:nvPr/>
          </p:nvSpPr>
          <p:spPr>
            <a:xfrm>
              <a:off x="6759253" y="3930865"/>
              <a:ext cx="2566263" cy="408163"/>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管理担当</a:t>
              </a:r>
              <a:r>
                <a:rPr kumimoji="1" lang="ja-JP" altLang="en-US" sz="1000" dirty="0">
                  <a:solidFill>
                    <a:schemeClr val="bg1"/>
                  </a:solidFill>
                  <a:latin typeface="Meiryo UI" panose="020B0604030504040204" pitchFamily="50" charset="-128"/>
                  <a:ea typeface="Meiryo UI" panose="020B0604030504040204" pitchFamily="50" charset="-128"/>
                </a:rPr>
                <a:t>アサイン</a:t>
              </a:r>
            </a:p>
          </p:txBody>
        </p:sp>
        <p:sp>
          <p:nvSpPr>
            <p:cNvPr id="16" name="矢印: 五方向 15">
              <a:extLst>
                <a:ext uri="{FF2B5EF4-FFF2-40B4-BE49-F238E27FC236}">
                  <a16:creationId xmlns:a16="http://schemas.microsoft.com/office/drawing/2014/main" id="{042A06E4-DDC9-0ADA-A3EF-6CA50B0B260B}"/>
                </a:ext>
              </a:extLst>
            </p:cNvPr>
            <p:cNvSpPr/>
            <p:nvPr/>
          </p:nvSpPr>
          <p:spPr>
            <a:xfrm>
              <a:off x="4090519" y="4982669"/>
              <a:ext cx="7801198"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契約書類</a:t>
              </a:r>
              <a:r>
                <a:rPr kumimoji="1" lang="ja-JP" altLang="en-US" sz="1000" dirty="0">
                  <a:solidFill>
                    <a:schemeClr val="bg1"/>
                  </a:solidFill>
                  <a:latin typeface="Meiryo UI" panose="020B0604030504040204" pitchFamily="50" charset="-128"/>
                  <a:ea typeface="Meiryo UI" panose="020B0604030504040204" pitchFamily="50" charset="-128"/>
                </a:rPr>
                <a:t>受領</a:t>
              </a:r>
            </a:p>
          </p:txBody>
        </p:sp>
        <p:sp>
          <p:nvSpPr>
            <p:cNvPr id="17" name="矢印: 五方向 16">
              <a:extLst>
                <a:ext uri="{FF2B5EF4-FFF2-40B4-BE49-F238E27FC236}">
                  <a16:creationId xmlns:a16="http://schemas.microsoft.com/office/drawing/2014/main" id="{B05B06C2-972B-18DD-F399-F69579B8DA5A}"/>
                </a:ext>
              </a:extLst>
            </p:cNvPr>
            <p:cNvSpPr/>
            <p:nvPr/>
          </p:nvSpPr>
          <p:spPr>
            <a:xfrm>
              <a:off x="8163761" y="4467553"/>
              <a:ext cx="2595151" cy="386739"/>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r>
                <a:rPr kumimoji="1" lang="ja-JP" altLang="en-US" sz="1000" dirty="0">
                  <a:solidFill>
                    <a:schemeClr val="bg1"/>
                  </a:solidFill>
                  <a:latin typeface="Meiryo UI" panose="020B0604030504040204" pitchFamily="50" charset="-128"/>
                  <a:ea typeface="Meiryo UI" panose="020B0604030504040204" pitchFamily="50" charset="-128"/>
                </a:rPr>
                <a:t>最終化</a:t>
              </a:r>
            </a:p>
          </p:txBody>
        </p:sp>
        <p:sp>
          <p:nvSpPr>
            <p:cNvPr id="18" name="矢印: 五方向 17">
              <a:extLst>
                <a:ext uri="{FF2B5EF4-FFF2-40B4-BE49-F238E27FC236}">
                  <a16:creationId xmlns:a16="http://schemas.microsoft.com/office/drawing/2014/main" id="{391DC1D2-B1BF-5E1B-4401-14FF24EEDA11}"/>
                </a:ext>
              </a:extLst>
            </p:cNvPr>
            <p:cNvSpPr/>
            <p:nvPr/>
          </p:nvSpPr>
          <p:spPr>
            <a:xfrm>
              <a:off x="3980070" y="2531038"/>
              <a:ext cx="4047537" cy="296640"/>
            </a:xfrm>
            <a:prstGeom prst="homePlate">
              <a:avLst>
                <a:gd name="adj" fmla="val 29518"/>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000" dirty="0">
                  <a:latin typeface="Meiryo UI" panose="020B0604030504040204" pitchFamily="50" charset="-128"/>
                  <a:ea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A5325D51-25EF-55E6-4679-9AF9F09FC1CC}"/>
                </a:ext>
              </a:extLst>
            </p:cNvPr>
            <p:cNvSpPr/>
            <p:nvPr/>
          </p:nvSpPr>
          <p:spPr>
            <a:xfrm>
              <a:off x="7130521" y="2011839"/>
              <a:ext cx="2012287" cy="138455"/>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日中～</a:t>
              </a:r>
              <a:r>
                <a:rPr lang="en-US" altLang="ja-JP" sz="900" b="1" dirty="0">
                  <a:solidFill>
                    <a:sysClr val="windowText" lastClr="000000"/>
                  </a:solidFill>
                  <a:latin typeface="Meiryo UI" panose="020B0604030504040204" pitchFamily="50" charset="-128"/>
                  <a:ea typeface="Meiryo UI" panose="020B0604030504040204" pitchFamily="50" charset="-128"/>
                </a:rPr>
                <a:t>N+1</a:t>
              </a:r>
              <a:r>
                <a:rPr lang="ja-JP" altLang="en-US" sz="900" b="1" dirty="0">
                  <a:solidFill>
                    <a:sysClr val="windowText" lastClr="000000"/>
                  </a:solidFill>
                  <a:latin typeface="Meiryo UI" panose="020B0604030504040204" pitchFamily="50" charset="-128"/>
                  <a:ea typeface="Meiryo UI" panose="020B0604030504040204" pitchFamily="50" charset="-128"/>
                </a:rPr>
                <a:t>日</a:t>
              </a:r>
              <a:r>
                <a:rPr lang="en-US" altLang="ja-JP" sz="900" b="1" dirty="0">
                  <a:solidFill>
                    <a:sysClr val="windowText" lastClr="000000"/>
                  </a:solidFill>
                  <a:latin typeface="Meiryo UI" panose="020B0604030504040204" pitchFamily="50" charset="-128"/>
                  <a:ea typeface="Meiryo UI" panose="020B0604030504040204" pitchFamily="50" charset="-128"/>
                </a:rPr>
                <a:t> AM10:00</a:t>
              </a:r>
              <a:endParaRPr kumimoji="1" lang="ja-JP" altLang="en-US" sz="900" b="1" dirty="0">
                <a:solidFill>
                  <a:sysClr val="windowText" lastClr="000000"/>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CD298376-42F3-63C2-BB09-60B80557307B}"/>
                </a:ext>
              </a:extLst>
            </p:cNvPr>
            <p:cNvSpPr/>
            <p:nvPr/>
          </p:nvSpPr>
          <p:spPr>
            <a:xfrm>
              <a:off x="10239616" y="1997952"/>
              <a:ext cx="849051" cy="152342"/>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＋５日</a:t>
              </a:r>
            </a:p>
          </p:txBody>
        </p:sp>
        <p:grpSp>
          <p:nvGrpSpPr>
            <p:cNvPr id="21" name="グループ化 20">
              <a:extLst>
                <a:ext uri="{FF2B5EF4-FFF2-40B4-BE49-F238E27FC236}">
                  <a16:creationId xmlns:a16="http://schemas.microsoft.com/office/drawing/2014/main" id="{39BC9A30-D829-69F8-C192-B5167DF66DAB}"/>
                </a:ext>
              </a:extLst>
            </p:cNvPr>
            <p:cNvGrpSpPr/>
            <p:nvPr/>
          </p:nvGrpSpPr>
          <p:grpSpPr>
            <a:xfrm>
              <a:off x="8108672" y="2150295"/>
              <a:ext cx="2578875" cy="3435056"/>
              <a:chOff x="8108672" y="2180680"/>
              <a:chExt cx="2578875" cy="4340492"/>
            </a:xfrm>
          </p:grpSpPr>
          <p:cxnSp>
            <p:nvCxnSpPr>
              <p:cNvPr id="24" name="直線コネクタ 23">
                <a:extLst>
                  <a:ext uri="{FF2B5EF4-FFF2-40B4-BE49-F238E27FC236}">
                    <a16:creationId xmlns:a16="http://schemas.microsoft.com/office/drawing/2014/main" id="{13C25169-D707-793C-16E4-957C2C2A88E7}"/>
                  </a:ext>
                </a:extLst>
              </p:cNvPr>
              <p:cNvCxnSpPr>
                <a:cxnSpLocks/>
                <a:stCxn id="19" idx="2"/>
              </p:cNvCxnSpPr>
              <p:nvPr/>
            </p:nvCxnSpPr>
            <p:spPr>
              <a:xfrm flipH="1">
                <a:off x="8108672" y="2180680"/>
                <a:ext cx="27992"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B0D8E87F-136F-0FB2-C88F-6A4FC6F0B5D5}"/>
                  </a:ext>
                </a:extLst>
              </p:cNvPr>
              <p:cNvCxnSpPr>
                <a:cxnSpLocks/>
                <a:stCxn id="20" idx="2"/>
              </p:cNvCxnSpPr>
              <p:nvPr/>
            </p:nvCxnSpPr>
            <p:spPr>
              <a:xfrm>
                <a:off x="10664141" y="2180680"/>
                <a:ext cx="23406"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grpSp>
        <p:sp>
          <p:nvSpPr>
            <p:cNvPr id="22" name="四角形: 角を丸くする 21">
              <a:extLst>
                <a:ext uri="{FF2B5EF4-FFF2-40B4-BE49-F238E27FC236}">
                  <a16:creationId xmlns:a16="http://schemas.microsoft.com/office/drawing/2014/main" id="{2DE3221F-0BB2-3839-B84D-0A430F2D110F}"/>
                </a:ext>
              </a:extLst>
            </p:cNvPr>
            <p:cNvSpPr/>
            <p:nvPr/>
          </p:nvSpPr>
          <p:spPr>
            <a:xfrm>
              <a:off x="3932535" y="1971213"/>
              <a:ext cx="791257" cy="170717"/>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a:t>
              </a:r>
            </a:p>
          </p:txBody>
        </p:sp>
        <p:cxnSp>
          <p:nvCxnSpPr>
            <p:cNvPr id="23" name="直線コネクタ 22">
              <a:extLst>
                <a:ext uri="{FF2B5EF4-FFF2-40B4-BE49-F238E27FC236}">
                  <a16:creationId xmlns:a16="http://schemas.microsoft.com/office/drawing/2014/main" id="{919E2595-3F62-8430-9A93-F31DCE598879}"/>
                </a:ext>
              </a:extLst>
            </p:cNvPr>
            <p:cNvCxnSpPr>
              <a:cxnSpLocks/>
            </p:cNvCxnSpPr>
            <p:nvPr/>
          </p:nvCxnSpPr>
          <p:spPr>
            <a:xfrm>
              <a:off x="3980070" y="2237223"/>
              <a:ext cx="7911647" cy="0"/>
            </a:xfrm>
            <a:prstGeom prst="line">
              <a:avLst/>
            </a:prstGeom>
            <a:ln>
              <a:solidFill>
                <a:srgbClr val="FFC000"/>
              </a:solidFill>
              <a:headEnd type="oval" w="lg" len="lg"/>
              <a:tailEnd type="arrow"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497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4DCF0D9D-6165-873C-C5B3-0488055BEFE7}"/>
              </a:ext>
            </a:extLst>
          </p:cNvPr>
          <p:cNvSpPr>
            <a:spLocks noGrp="1"/>
          </p:cNvSpPr>
          <p:nvPr>
            <p:ph type="sldNum" sz="quarter" idx="12"/>
          </p:nvPr>
        </p:nvSpPr>
        <p:spPr/>
        <p:txBody>
          <a:bodyPr/>
          <a:lstStyle/>
          <a:p>
            <a:fld id="{F4EC9C95-8009-4180-AAA8-5F6B382748D2}" type="slidenum">
              <a:rPr kumimoji="1" lang="ja-JP" altLang="en-US" smtClean="0"/>
              <a:t>12</a:t>
            </a:fld>
            <a:endParaRPr kumimoji="1" lang="ja-JP" altLang="en-US"/>
          </a:p>
        </p:txBody>
      </p:sp>
      <p:sp>
        <p:nvSpPr>
          <p:cNvPr id="6" name="テキスト ボックス 5">
            <a:extLst>
              <a:ext uri="{FF2B5EF4-FFF2-40B4-BE49-F238E27FC236}">
                <a16:creationId xmlns:a16="http://schemas.microsoft.com/office/drawing/2014/main" id="{75BAADA2-2F28-5F11-F7BF-E9FD979A1537}"/>
              </a:ext>
            </a:extLst>
          </p:cNvPr>
          <p:cNvSpPr txBox="1"/>
          <p:nvPr/>
        </p:nvSpPr>
        <p:spPr>
          <a:xfrm>
            <a:off x="254000" y="139700"/>
            <a:ext cx="2339102"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面談結果登録</a:t>
            </a:r>
          </a:p>
        </p:txBody>
      </p:sp>
      <p:sp>
        <p:nvSpPr>
          <p:cNvPr id="8" name="正方形/長方形 7">
            <a:extLst>
              <a:ext uri="{FF2B5EF4-FFF2-40B4-BE49-F238E27FC236}">
                <a16:creationId xmlns:a16="http://schemas.microsoft.com/office/drawing/2014/main" id="{15D787A7-3F9C-DFF7-72DD-A79E8B27F2CD}"/>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面談結果を端的に纏めるもの。</a:t>
            </a:r>
            <a:r>
              <a:rPr lang="en-US" altLang="ja-JP" sz="1400" b="1" dirty="0" err="1">
                <a:solidFill>
                  <a:schemeClr val="tx1"/>
                </a:solidFill>
                <a:latin typeface="Meiryo UI" panose="020B0604030504040204" pitchFamily="50" charset="-128"/>
                <a:ea typeface="Meiryo UI" panose="020B0604030504040204" pitchFamily="50" charset="-128"/>
              </a:rPr>
              <a:t>Chatwork</a:t>
            </a:r>
            <a:r>
              <a:rPr lang="ja-JP" altLang="en-US" sz="1400" b="1" dirty="0">
                <a:solidFill>
                  <a:schemeClr val="tx1"/>
                </a:solidFill>
                <a:latin typeface="Meiryo UI" panose="020B0604030504040204" pitchFamily="50" charset="-128"/>
                <a:ea typeface="Meiryo UI" panose="020B0604030504040204" pitchFamily="50" charset="-128"/>
              </a:rPr>
              <a:t>での</a:t>
            </a:r>
            <a:r>
              <a:rPr lang="en-US" altLang="ja-JP" sz="1400" b="1" dirty="0">
                <a:solidFill>
                  <a:schemeClr val="tx1"/>
                </a:solidFill>
                <a:latin typeface="Meiryo UI" panose="020B0604030504040204" pitchFamily="50" charset="-128"/>
                <a:ea typeface="Meiryo UI" panose="020B0604030504040204" pitchFamily="50" charset="-128"/>
              </a:rPr>
              <a:t>LP</a:t>
            </a:r>
            <a:r>
              <a:rPr lang="ja-JP" altLang="en-US" sz="1400" b="1" dirty="0">
                <a:solidFill>
                  <a:schemeClr val="tx1"/>
                </a:solidFill>
                <a:latin typeface="Meiryo UI" panose="020B0604030504040204" pitchFamily="50" charset="-128"/>
                <a:ea typeface="Meiryo UI" panose="020B0604030504040204" pitchFamily="50" charset="-128"/>
              </a:rPr>
              <a:t>担当への面談結果報告は今後不要となります。</a:t>
            </a:r>
          </a:p>
        </p:txBody>
      </p:sp>
      <p:pic>
        <p:nvPicPr>
          <p:cNvPr id="10" name="図 9">
            <a:extLst>
              <a:ext uri="{FF2B5EF4-FFF2-40B4-BE49-F238E27FC236}">
                <a16:creationId xmlns:a16="http://schemas.microsoft.com/office/drawing/2014/main" id="{A432676C-2150-8152-4574-54145D442E02}"/>
              </a:ext>
            </a:extLst>
          </p:cNvPr>
          <p:cNvPicPr>
            <a:picLocks noChangeAspect="1"/>
          </p:cNvPicPr>
          <p:nvPr/>
        </p:nvPicPr>
        <p:blipFill>
          <a:blip r:embed="rId2"/>
          <a:stretch>
            <a:fillRect/>
          </a:stretch>
        </p:blipFill>
        <p:spPr>
          <a:xfrm>
            <a:off x="363314" y="1356976"/>
            <a:ext cx="4742086" cy="5143836"/>
          </a:xfrm>
          <a:prstGeom prst="rect">
            <a:avLst/>
          </a:prstGeom>
        </p:spPr>
      </p:pic>
      <p:grpSp>
        <p:nvGrpSpPr>
          <p:cNvPr id="11" name="グループ化 10">
            <a:extLst>
              <a:ext uri="{FF2B5EF4-FFF2-40B4-BE49-F238E27FC236}">
                <a16:creationId xmlns:a16="http://schemas.microsoft.com/office/drawing/2014/main" id="{48B87FE8-7702-25C2-68FE-E65746AA3FA1}"/>
              </a:ext>
            </a:extLst>
          </p:cNvPr>
          <p:cNvGrpSpPr/>
          <p:nvPr/>
        </p:nvGrpSpPr>
        <p:grpSpPr>
          <a:xfrm>
            <a:off x="7175499" y="1335338"/>
            <a:ext cx="4178300" cy="307777"/>
            <a:chOff x="7175500" y="1444823"/>
            <a:chExt cx="4178300" cy="307777"/>
          </a:xfrm>
        </p:grpSpPr>
        <p:cxnSp>
          <p:nvCxnSpPr>
            <p:cNvPr id="12" name="直線コネクタ 11">
              <a:extLst>
                <a:ext uri="{FF2B5EF4-FFF2-40B4-BE49-F238E27FC236}">
                  <a16:creationId xmlns:a16="http://schemas.microsoft.com/office/drawing/2014/main" id="{E6C91D2C-BCBE-8667-4B40-CD39749C75EA}"/>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5152CBA5-428A-82E6-0B9F-509CF6C36CA4}"/>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4" name="正方形/長方形 13">
            <a:extLst>
              <a:ext uri="{FF2B5EF4-FFF2-40B4-BE49-F238E27FC236}">
                <a16:creationId xmlns:a16="http://schemas.microsoft.com/office/drawing/2014/main" id="{D5692C9D-F02A-E1AB-2202-A7CD316C3643}"/>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面談結果登録は、</a:t>
            </a:r>
            <a:r>
              <a:rPr kumimoji="1" lang="en-US" altLang="ja-JP" sz="1200" dirty="0">
                <a:solidFill>
                  <a:schemeClr val="tx1"/>
                </a:solidFill>
                <a:latin typeface="Meiryo UI" panose="020B0604030504040204" pitchFamily="50" charset="-128"/>
                <a:ea typeface="Meiryo UI" panose="020B0604030504040204" pitchFamily="50" charset="-128"/>
              </a:rPr>
              <a:t>LP</a:t>
            </a:r>
            <a:r>
              <a:rPr kumimoji="1" lang="ja-JP" altLang="en-US" sz="1200" dirty="0">
                <a:solidFill>
                  <a:schemeClr val="tx1"/>
                </a:solidFill>
                <a:latin typeface="Meiryo UI" panose="020B0604030504040204" pitchFamily="50" charset="-128"/>
                <a:ea typeface="Meiryo UI" panose="020B0604030504040204" pitchFamily="50" charset="-128"/>
              </a:rPr>
              <a:t>直案件でこれまで</a:t>
            </a:r>
            <a:r>
              <a:rPr kumimoji="1" lang="en-US" altLang="ja-JP" sz="1200" dirty="0" err="1">
                <a:solidFill>
                  <a:schemeClr val="tx1"/>
                </a:solidFill>
                <a:latin typeface="Meiryo UI" panose="020B0604030504040204" pitchFamily="50" charset="-128"/>
                <a:ea typeface="Meiryo UI" panose="020B0604030504040204" pitchFamily="50" charset="-128"/>
              </a:rPr>
              <a:t>Chatwork</a:t>
            </a:r>
            <a:r>
              <a:rPr kumimoji="1" lang="ja-JP" altLang="en-US" sz="1200" dirty="0">
                <a:solidFill>
                  <a:schemeClr val="tx1"/>
                </a:solidFill>
                <a:latin typeface="Meiryo UI" panose="020B0604030504040204" pitchFamily="50" charset="-128"/>
                <a:ea typeface="Meiryo UI" panose="020B0604030504040204" pitchFamily="50" charset="-128"/>
              </a:rPr>
              <a:t>で</a:t>
            </a:r>
            <a:r>
              <a:rPr kumimoji="1" lang="en-US" altLang="ja-JP" sz="1200" dirty="0">
                <a:solidFill>
                  <a:schemeClr val="tx1"/>
                </a:solidFill>
                <a:latin typeface="Meiryo UI" panose="020B0604030504040204" pitchFamily="50" charset="-128"/>
                <a:ea typeface="Meiryo UI" panose="020B0604030504040204" pitchFamily="50" charset="-128"/>
              </a:rPr>
              <a:t>LP</a:t>
            </a:r>
            <a:r>
              <a:rPr kumimoji="1" lang="ja-JP" altLang="en-US" sz="1200" dirty="0">
                <a:solidFill>
                  <a:schemeClr val="tx1"/>
                </a:solidFill>
                <a:latin typeface="Meiryo UI" panose="020B0604030504040204" pitchFamily="50" charset="-128"/>
                <a:ea typeface="Meiryo UI" panose="020B0604030504040204" pitchFamily="50" charset="-128"/>
              </a:rPr>
              <a:t>担当に報告をしていた内容の代わりとなるもの。本システムリリース後は</a:t>
            </a:r>
            <a:r>
              <a:rPr kumimoji="1" lang="en-US" altLang="ja-JP" sz="1200" dirty="0" err="1">
                <a:solidFill>
                  <a:schemeClr val="tx1"/>
                </a:solidFill>
                <a:latin typeface="Meiryo UI" panose="020B0604030504040204" pitchFamily="50" charset="-128"/>
                <a:ea typeface="Meiryo UI" panose="020B0604030504040204" pitchFamily="50" charset="-128"/>
              </a:rPr>
              <a:t>Chatwork</a:t>
            </a:r>
            <a:r>
              <a:rPr kumimoji="1" lang="ja-JP" altLang="en-US" sz="1200" dirty="0">
                <a:solidFill>
                  <a:schemeClr val="tx1"/>
                </a:solidFill>
                <a:latin typeface="Meiryo UI" panose="020B0604030504040204" pitchFamily="50" charset="-128"/>
                <a:ea typeface="Meiryo UI" panose="020B0604030504040204" pitchFamily="50" charset="-128"/>
              </a:rPr>
              <a:t>での報告は不要となる。</a:t>
            </a:r>
          </a:p>
        </p:txBody>
      </p:sp>
      <p:sp>
        <p:nvSpPr>
          <p:cNvPr id="15" name="楕円 14">
            <a:extLst>
              <a:ext uri="{FF2B5EF4-FFF2-40B4-BE49-F238E27FC236}">
                <a16:creationId xmlns:a16="http://schemas.microsoft.com/office/drawing/2014/main" id="{6F26FA37-5609-B738-B672-93DCB8948B8A}"/>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17" name="正方形/長方形 16">
            <a:extLst>
              <a:ext uri="{FF2B5EF4-FFF2-40B4-BE49-F238E27FC236}">
                <a16:creationId xmlns:a16="http://schemas.microsoft.com/office/drawing/2014/main" id="{7FE3258B-EBD8-C327-8486-1BB9669D74FD}"/>
              </a:ext>
            </a:extLst>
          </p:cNvPr>
          <p:cNvSpPr/>
          <p:nvPr/>
        </p:nvSpPr>
        <p:spPr>
          <a:xfrm>
            <a:off x="365569" y="1335337"/>
            <a:ext cx="4739831" cy="514383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98F61A0A-1630-D489-306E-8684B03B5079}"/>
              </a:ext>
            </a:extLst>
          </p:cNvPr>
          <p:cNvSpPr/>
          <p:nvPr/>
        </p:nvSpPr>
        <p:spPr>
          <a:xfrm>
            <a:off x="183021" y="1186140"/>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19" name="正方形/長方形 18">
            <a:extLst>
              <a:ext uri="{FF2B5EF4-FFF2-40B4-BE49-F238E27FC236}">
                <a16:creationId xmlns:a16="http://schemas.microsoft.com/office/drawing/2014/main" id="{D8A0F9F3-3EFC-F345-F8FD-CFA9C46CD0F7}"/>
              </a:ext>
            </a:extLst>
          </p:cNvPr>
          <p:cNvSpPr/>
          <p:nvPr/>
        </p:nvSpPr>
        <p:spPr>
          <a:xfrm>
            <a:off x="7175499" y="5247567"/>
            <a:ext cx="4178300" cy="629929"/>
          </a:xfrm>
          <a:prstGeom prst="rect">
            <a:avLst/>
          </a:prstGeom>
          <a:solidFill>
            <a:srgbClr val="FCEBBC"/>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rgbClr val="C00000"/>
                </a:solidFill>
                <a:latin typeface="Meiryo UI" panose="020B0604030504040204" pitchFamily="50" charset="-128"/>
                <a:ea typeface="Meiryo UI" panose="020B0604030504040204" pitchFamily="50" charset="-128"/>
              </a:rPr>
              <a:t>失注となる場合や</a:t>
            </a:r>
            <a:r>
              <a:rPr kumimoji="1" lang="en-US" altLang="ja-JP" sz="1200" dirty="0">
                <a:solidFill>
                  <a:srgbClr val="C00000"/>
                </a:solidFill>
                <a:latin typeface="Meiryo UI" panose="020B0604030504040204" pitchFamily="50" charset="-128"/>
                <a:ea typeface="Meiryo UI" panose="020B0604030504040204" pitchFamily="50" charset="-128"/>
              </a:rPr>
              <a:t>LP</a:t>
            </a:r>
            <a:r>
              <a:rPr kumimoji="1" lang="ja-JP" altLang="en-US" sz="1200" dirty="0">
                <a:solidFill>
                  <a:srgbClr val="C00000"/>
                </a:solidFill>
                <a:latin typeface="Meiryo UI" panose="020B0604030504040204" pitchFamily="50" charset="-128"/>
                <a:ea typeface="Meiryo UI" panose="020B0604030504040204" pitchFamily="50" charset="-128"/>
              </a:rPr>
              <a:t>直案件でない場合も面談結果登録は必要です。</a:t>
            </a:r>
          </a:p>
        </p:txBody>
      </p:sp>
      <p:grpSp>
        <p:nvGrpSpPr>
          <p:cNvPr id="20" name="グループ化 19">
            <a:extLst>
              <a:ext uri="{FF2B5EF4-FFF2-40B4-BE49-F238E27FC236}">
                <a16:creationId xmlns:a16="http://schemas.microsoft.com/office/drawing/2014/main" id="{7DEC0147-5B90-5092-169D-42E3948DF4A3}"/>
              </a:ext>
            </a:extLst>
          </p:cNvPr>
          <p:cNvGrpSpPr/>
          <p:nvPr/>
        </p:nvGrpSpPr>
        <p:grpSpPr>
          <a:xfrm>
            <a:off x="7175499" y="4741666"/>
            <a:ext cx="4178300" cy="307777"/>
            <a:chOff x="7175500" y="1444823"/>
            <a:chExt cx="4178300" cy="307777"/>
          </a:xfrm>
        </p:grpSpPr>
        <p:cxnSp>
          <p:nvCxnSpPr>
            <p:cNvPr id="21" name="直線コネクタ 20">
              <a:extLst>
                <a:ext uri="{FF2B5EF4-FFF2-40B4-BE49-F238E27FC236}">
                  <a16:creationId xmlns:a16="http://schemas.microsoft.com/office/drawing/2014/main" id="{FF12E876-A59A-98D5-5757-46FEA8E49175}"/>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AA2140DC-4418-3467-61A2-F5A8BACBE709}"/>
                </a:ext>
              </a:extLst>
            </p:cNvPr>
            <p:cNvSpPr txBox="1"/>
            <p:nvPr/>
          </p:nvSpPr>
          <p:spPr>
            <a:xfrm>
              <a:off x="8886982" y="1444823"/>
              <a:ext cx="1026243"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運用ルール</a:t>
              </a:r>
            </a:p>
          </p:txBody>
        </p:sp>
      </p:grpSp>
    </p:spTree>
    <p:extLst>
      <p:ext uri="{BB962C8B-B14F-4D97-AF65-F5344CB8AC3E}">
        <p14:creationId xmlns:p14="http://schemas.microsoft.com/office/powerpoint/2010/main" val="1998137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5F601-D233-D8C9-ACC8-0CA20E82B35A}"/>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77FDA0E-1080-FB8E-7D52-24261142147E}"/>
              </a:ext>
            </a:extLst>
          </p:cNvPr>
          <p:cNvSpPr>
            <a:spLocks noGrp="1"/>
          </p:cNvSpPr>
          <p:nvPr>
            <p:ph type="sldNum" sz="quarter" idx="12"/>
          </p:nvPr>
        </p:nvSpPr>
        <p:spPr/>
        <p:txBody>
          <a:bodyPr/>
          <a:lstStyle/>
          <a:p>
            <a:fld id="{F4EC9C95-8009-4180-AAA8-5F6B382748D2}" type="slidenum">
              <a:rPr kumimoji="1" lang="ja-JP" altLang="en-US" smtClean="0"/>
              <a:t>13</a:t>
            </a:fld>
            <a:endParaRPr kumimoji="1" lang="ja-JP" altLang="en-US"/>
          </a:p>
        </p:txBody>
      </p:sp>
      <p:sp>
        <p:nvSpPr>
          <p:cNvPr id="6" name="テキスト ボックス 5">
            <a:extLst>
              <a:ext uri="{FF2B5EF4-FFF2-40B4-BE49-F238E27FC236}">
                <a16:creationId xmlns:a16="http://schemas.microsoft.com/office/drawing/2014/main" id="{FCE0902B-D638-0C3C-121D-067980A9FB00}"/>
              </a:ext>
            </a:extLst>
          </p:cNvPr>
          <p:cNvSpPr txBox="1"/>
          <p:nvPr/>
        </p:nvSpPr>
        <p:spPr>
          <a:xfrm>
            <a:off x="254000" y="139700"/>
            <a:ext cx="5434501" cy="523220"/>
          </a:xfrm>
          <a:prstGeom prst="rect">
            <a:avLst/>
          </a:prstGeom>
          <a:noFill/>
        </p:spPr>
        <p:txBody>
          <a:bodyPr wrap="none" rtlCol="0">
            <a:spAutoFit/>
          </a:bodyPr>
          <a:lstStyle/>
          <a:p>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参考</a:t>
            </a:r>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面談結果登録画面イメージ</a:t>
            </a:r>
          </a:p>
        </p:txBody>
      </p:sp>
      <p:sp>
        <p:nvSpPr>
          <p:cNvPr id="8" name="正方形/長方形 7">
            <a:extLst>
              <a:ext uri="{FF2B5EF4-FFF2-40B4-BE49-F238E27FC236}">
                <a16:creationId xmlns:a16="http://schemas.microsoft.com/office/drawing/2014/main" id="{3226EBD6-844C-36AF-F99F-700A9B45D660}"/>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面談ルート選択、依頼者名、面談結果、検討期間等を入力</a:t>
            </a:r>
          </a:p>
        </p:txBody>
      </p:sp>
      <p:pic>
        <p:nvPicPr>
          <p:cNvPr id="3" name="図 2">
            <a:extLst>
              <a:ext uri="{FF2B5EF4-FFF2-40B4-BE49-F238E27FC236}">
                <a16:creationId xmlns:a16="http://schemas.microsoft.com/office/drawing/2014/main" id="{EEB41FE9-F30F-8B1C-C686-9A218AD7D09F}"/>
              </a:ext>
            </a:extLst>
          </p:cNvPr>
          <p:cNvPicPr>
            <a:picLocks noChangeAspect="1"/>
          </p:cNvPicPr>
          <p:nvPr/>
        </p:nvPicPr>
        <p:blipFill>
          <a:blip r:embed="rId2"/>
          <a:stretch>
            <a:fillRect/>
          </a:stretch>
        </p:blipFill>
        <p:spPr>
          <a:xfrm>
            <a:off x="432949" y="1470610"/>
            <a:ext cx="4672451" cy="5068301"/>
          </a:xfrm>
          <a:prstGeom prst="rect">
            <a:avLst/>
          </a:prstGeom>
        </p:spPr>
      </p:pic>
      <p:sp>
        <p:nvSpPr>
          <p:cNvPr id="25" name="正方形/長方形 24">
            <a:extLst>
              <a:ext uri="{FF2B5EF4-FFF2-40B4-BE49-F238E27FC236}">
                <a16:creationId xmlns:a16="http://schemas.microsoft.com/office/drawing/2014/main" id="{107D128A-542B-B424-6241-D1C3063A9245}"/>
              </a:ext>
            </a:extLst>
          </p:cNvPr>
          <p:cNvSpPr/>
          <p:nvPr/>
        </p:nvSpPr>
        <p:spPr>
          <a:xfrm>
            <a:off x="673674" y="2418616"/>
            <a:ext cx="4241226" cy="87068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3910FD3C-529C-3AB8-A1FE-99868409A6AA}"/>
              </a:ext>
            </a:extLst>
          </p:cNvPr>
          <p:cNvGrpSpPr/>
          <p:nvPr/>
        </p:nvGrpSpPr>
        <p:grpSpPr>
          <a:xfrm>
            <a:off x="7175499" y="1335338"/>
            <a:ext cx="4178300" cy="307777"/>
            <a:chOff x="7175500" y="1444823"/>
            <a:chExt cx="4178300" cy="307777"/>
          </a:xfrm>
        </p:grpSpPr>
        <p:cxnSp>
          <p:nvCxnSpPr>
            <p:cNvPr id="27" name="直線コネクタ 26">
              <a:extLst>
                <a:ext uri="{FF2B5EF4-FFF2-40B4-BE49-F238E27FC236}">
                  <a16:creationId xmlns:a16="http://schemas.microsoft.com/office/drawing/2014/main" id="{B077768D-005C-3D79-1DED-F35C2DB61D72}"/>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02E018BE-034F-279A-F0A0-CD00A188360D}"/>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29" name="正方形/長方形 28">
            <a:extLst>
              <a:ext uri="{FF2B5EF4-FFF2-40B4-BE49-F238E27FC236}">
                <a16:creationId xmlns:a16="http://schemas.microsoft.com/office/drawing/2014/main" id="{F7CB6BB5-5A9C-2787-7B72-F51CDC4F8F56}"/>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相続ステーションと連携しているため、</a:t>
            </a:r>
            <a:r>
              <a:rPr kumimoji="1" lang="en-US" altLang="ja-JP" sz="1200" dirty="0">
                <a:solidFill>
                  <a:schemeClr val="tx1"/>
                </a:solidFill>
                <a:latin typeface="Meiryo UI" panose="020B0604030504040204" pitchFamily="50" charset="-128"/>
                <a:ea typeface="Meiryo UI" panose="020B0604030504040204" pitchFamily="50" charset="-128"/>
              </a:rPr>
              <a:t>LP</a:t>
            </a:r>
            <a:r>
              <a:rPr kumimoji="1" lang="ja-JP" altLang="en-US" sz="1200" dirty="0">
                <a:solidFill>
                  <a:schemeClr val="tx1"/>
                </a:solidFill>
                <a:latin typeface="Meiryo UI" panose="020B0604030504040204" pitchFamily="50" charset="-128"/>
                <a:ea typeface="Meiryo UI" panose="020B0604030504040204" pitchFamily="50" charset="-128"/>
              </a:rPr>
              <a:t>直案件の場合は、面談ルートの選択は不要。（自動反映される）</a:t>
            </a:r>
          </a:p>
        </p:txBody>
      </p:sp>
      <p:sp>
        <p:nvSpPr>
          <p:cNvPr id="30" name="楕円 29">
            <a:extLst>
              <a:ext uri="{FF2B5EF4-FFF2-40B4-BE49-F238E27FC236}">
                <a16:creationId xmlns:a16="http://schemas.microsoft.com/office/drawing/2014/main" id="{FD393EF3-A852-8752-345D-5283CD28C40C}"/>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31" name="楕円 30">
            <a:extLst>
              <a:ext uri="{FF2B5EF4-FFF2-40B4-BE49-F238E27FC236}">
                <a16:creationId xmlns:a16="http://schemas.microsoft.com/office/drawing/2014/main" id="{ACD24B84-7E77-5D6B-1012-865503B046D0}"/>
              </a:ext>
            </a:extLst>
          </p:cNvPr>
          <p:cNvSpPr/>
          <p:nvPr/>
        </p:nvSpPr>
        <p:spPr>
          <a:xfrm>
            <a:off x="368298" y="2165800"/>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32" name="正方形/長方形 31">
            <a:extLst>
              <a:ext uri="{FF2B5EF4-FFF2-40B4-BE49-F238E27FC236}">
                <a16:creationId xmlns:a16="http://schemas.microsoft.com/office/drawing/2014/main" id="{2C5FE973-B50E-9D1E-088A-A1F9E1DB6776}"/>
              </a:ext>
            </a:extLst>
          </p:cNvPr>
          <p:cNvSpPr/>
          <p:nvPr/>
        </p:nvSpPr>
        <p:spPr>
          <a:xfrm>
            <a:off x="698787" y="3429000"/>
            <a:ext cx="4241226" cy="54351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6D086593-FABF-EBFD-4AE6-5CFF5D9C7EFC}"/>
              </a:ext>
            </a:extLst>
          </p:cNvPr>
          <p:cNvSpPr/>
          <p:nvPr/>
        </p:nvSpPr>
        <p:spPr>
          <a:xfrm>
            <a:off x="368298" y="3349148"/>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
        <p:nvSpPr>
          <p:cNvPr id="36" name="正方形/長方形 35">
            <a:extLst>
              <a:ext uri="{FF2B5EF4-FFF2-40B4-BE49-F238E27FC236}">
                <a16:creationId xmlns:a16="http://schemas.microsoft.com/office/drawing/2014/main" id="{879AF8C7-5FF3-AFF5-1738-3961E1B2E55F}"/>
              </a:ext>
            </a:extLst>
          </p:cNvPr>
          <p:cNvSpPr/>
          <p:nvPr/>
        </p:nvSpPr>
        <p:spPr>
          <a:xfrm>
            <a:off x="7181847" y="3070172"/>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依頼者名や手続き内容等、面談シートと重複する内容は面談シートから自動反映されるため重複入力不要</a:t>
            </a:r>
          </a:p>
        </p:txBody>
      </p:sp>
      <p:sp>
        <p:nvSpPr>
          <p:cNvPr id="37" name="楕円 36">
            <a:extLst>
              <a:ext uri="{FF2B5EF4-FFF2-40B4-BE49-F238E27FC236}">
                <a16:creationId xmlns:a16="http://schemas.microsoft.com/office/drawing/2014/main" id="{5A02E3C2-B5A6-40CC-B3EE-94D4FB566741}"/>
              </a:ext>
            </a:extLst>
          </p:cNvPr>
          <p:cNvSpPr/>
          <p:nvPr/>
        </p:nvSpPr>
        <p:spPr>
          <a:xfrm>
            <a:off x="7042146" y="3000192"/>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pic>
        <p:nvPicPr>
          <p:cNvPr id="39" name="図 38">
            <a:extLst>
              <a:ext uri="{FF2B5EF4-FFF2-40B4-BE49-F238E27FC236}">
                <a16:creationId xmlns:a16="http://schemas.microsoft.com/office/drawing/2014/main" id="{EF481154-654C-04F5-7478-C91E76B258B8}"/>
              </a:ext>
            </a:extLst>
          </p:cNvPr>
          <p:cNvPicPr>
            <a:picLocks noChangeAspect="1"/>
          </p:cNvPicPr>
          <p:nvPr/>
        </p:nvPicPr>
        <p:blipFill>
          <a:blip r:embed="rId3"/>
          <a:stretch>
            <a:fillRect/>
          </a:stretch>
        </p:blipFill>
        <p:spPr>
          <a:xfrm>
            <a:off x="3775028" y="3467784"/>
            <a:ext cx="2292508" cy="1914554"/>
          </a:xfrm>
          <a:prstGeom prst="rect">
            <a:avLst/>
          </a:prstGeom>
        </p:spPr>
      </p:pic>
      <p:sp>
        <p:nvSpPr>
          <p:cNvPr id="40" name="正方形/長方形 39">
            <a:extLst>
              <a:ext uri="{FF2B5EF4-FFF2-40B4-BE49-F238E27FC236}">
                <a16:creationId xmlns:a16="http://schemas.microsoft.com/office/drawing/2014/main" id="{1AA963B2-EE2E-D157-089A-674DC2BF3997}"/>
              </a:ext>
            </a:extLst>
          </p:cNvPr>
          <p:cNvSpPr/>
          <p:nvPr/>
        </p:nvSpPr>
        <p:spPr>
          <a:xfrm>
            <a:off x="7175499" y="4109748"/>
            <a:ext cx="4178300" cy="96959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面談結果で、依頼確定待ちや、即受注といった受注状態のステータスを選択した時点で、面談結果登録時に管理担当の割振り依頼のポップアップが開く。割振り依頼が不要の場合は、“あとで”等を選択する</a:t>
            </a:r>
          </a:p>
        </p:txBody>
      </p:sp>
      <p:sp>
        <p:nvSpPr>
          <p:cNvPr id="41" name="楕円 40">
            <a:extLst>
              <a:ext uri="{FF2B5EF4-FFF2-40B4-BE49-F238E27FC236}">
                <a16:creationId xmlns:a16="http://schemas.microsoft.com/office/drawing/2014/main" id="{44653200-5CE9-B843-D1C0-6467CC3BA244}"/>
              </a:ext>
            </a:extLst>
          </p:cNvPr>
          <p:cNvSpPr/>
          <p:nvPr/>
        </p:nvSpPr>
        <p:spPr>
          <a:xfrm>
            <a:off x="7035798" y="4039768"/>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３</a:t>
            </a:r>
          </a:p>
        </p:txBody>
      </p:sp>
      <p:sp>
        <p:nvSpPr>
          <p:cNvPr id="42" name="正方形/長方形 41">
            <a:extLst>
              <a:ext uri="{FF2B5EF4-FFF2-40B4-BE49-F238E27FC236}">
                <a16:creationId xmlns:a16="http://schemas.microsoft.com/office/drawing/2014/main" id="{E34F9629-5909-4720-8738-2417BA86241D}"/>
              </a:ext>
            </a:extLst>
          </p:cNvPr>
          <p:cNvSpPr/>
          <p:nvPr/>
        </p:nvSpPr>
        <p:spPr>
          <a:xfrm>
            <a:off x="698787" y="5382338"/>
            <a:ext cx="2196813" cy="54351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楕円 42">
            <a:extLst>
              <a:ext uri="{FF2B5EF4-FFF2-40B4-BE49-F238E27FC236}">
                <a16:creationId xmlns:a16="http://schemas.microsoft.com/office/drawing/2014/main" id="{8D2D593A-5690-2AB9-EBFA-322596B2E7C7}"/>
              </a:ext>
            </a:extLst>
          </p:cNvPr>
          <p:cNvSpPr/>
          <p:nvPr/>
        </p:nvSpPr>
        <p:spPr>
          <a:xfrm>
            <a:off x="471838" y="514894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t>3</a:t>
            </a:r>
            <a:endParaRPr kumimoji="1" lang="ja-JP" altLang="en-US" b="1" dirty="0"/>
          </a:p>
        </p:txBody>
      </p:sp>
      <p:cxnSp>
        <p:nvCxnSpPr>
          <p:cNvPr id="44" name="コネクタ: 曲線 43">
            <a:extLst>
              <a:ext uri="{FF2B5EF4-FFF2-40B4-BE49-F238E27FC236}">
                <a16:creationId xmlns:a16="http://schemas.microsoft.com/office/drawing/2014/main" id="{A32AC1C8-2544-2565-9E51-96F8A1773E50}"/>
              </a:ext>
            </a:extLst>
          </p:cNvPr>
          <p:cNvCxnSpPr>
            <a:cxnSpLocks/>
            <a:stCxn id="42" idx="3"/>
            <a:endCxn id="39" idx="1"/>
          </p:cNvCxnSpPr>
          <p:nvPr/>
        </p:nvCxnSpPr>
        <p:spPr>
          <a:xfrm flipV="1">
            <a:off x="2895600" y="4425061"/>
            <a:ext cx="879428" cy="1229033"/>
          </a:xfrm>
          <a:prstGeom prst="curved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9" name="正方形/長方形 48">
            <a:extLst>
              <a:ext uri="{FF2B5EF4-FFF2-40B4-BE49-F238E27FC236}">
                <a16:creationId xmlns:a16="http://schemas.microsoft.com/office/drawing/2014/main" id="{32A0942F-9251-0B45-1DB0-EB841B6D0CD5}"/>
              </a:ext>
            </a:extLst>
          </p:cNvPr>
          <p:cNvSpPr/>
          <p:nvPr/>
        </p:nvSpPr>
        <p:spPr>
          <a:xfrm>
            <a:off x="7175499" y="5386754"/>
            <a:ext cx="4178300" cy="96959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検討中を選択した際、お客様回答予定日を日付指定すると、回答予定日の前日等にシステムからお客様回答の確認リマインド通知を出す。</a:t>
            </a:r>
          </a:p>
        </p:txBody>
      </p:sp>
      <p:sp>
        <p:nvSpPr>
          <p:cNvPr id="50" name="楕円 49">
            <a:extLst>
              <a:ext uri="{FF2B5EF4-FFF2-40B4-BE49-F238E27FC236}">
                <a16:creationId xmlns:a16="http://schemas.microsoft.com/office/drawing/2014/main" id="{2D079C47-8F53-8ED9-E6B1-9BFF16B44CE3}"/>
              </a:ext>
            </a:extLst>
          </p:cNvPr>
          <p:cNvSpPr/>
          <p:nvPr/>
        </p:nvSpPr>
        <p:spPr>
          <a:xfrm>
            <a:off x="7035798" y="5316774"/>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４</a:t>
            </a:r>
            <a:endParaRPr kumimoji="1" lang="ja-JP" altLang="en-US" b="1" dirty="0"/>
          </a:p>
        </p:txBody>
      </p:sp>
      <p:sp>
        <p:nvSpPr>
          <p:cNvPr id="51" name="正方形/長方形 50">
            <a:extLst>
              <a:ext uri="{FF2B5EF4-FFF2-40B4-BE49-F238E27FC236}">
                <a16:creationId xmlns:a16="http://schemas.microsoft.com/office/drawing/2014/main" id="{39FC6D5A-CD76-9767-6CDA-418F9D437D87}"/>
              </a:ext>
            </a:extLst>
          </p:cNvPr>
          <p:cNvSpPr/>
          <p:nvPr/>
        </p:nvSpPr>
        <p:spPr>
          <a:xfrm>
            <a:off x="699074" y="6021266"/>
            <a:ext cx="2196813" cy="54351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950D9A32-4795-CA4A-08D4-4782CC231133}"/>
              </a:ext>
            </a:extLst>
          </p:cNvPr>
          <p:cNvSpPr/>
          <p:nvPr/>
        </p:nvSpPr>
        <p:spPr>
          <a:xfrm>
            <a:off x="360584" y="5925849"/>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t>4</a:t>
            </a:r>
          </a:p>
        </p:txBody>
      </p:sp>
    </p:spTree>
    <p:extLst>
      <p:ext uri="{BB962C8B-B14F-4D97-AF65-F5344CB8AC3E}">
        <p14:creationId xmlns:p14="http://schemas.microsoft.com/office/powerpoint/2010/main" val="1968289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7BC8BA0-27C4-1030-9317-6C16335FDDB7}"/>
              </a:ext>
            </a:extLst>
          </p:cNvPr>
          <p:cNvSpPr>
            <a:spLocks noGrp="1"/>
          </p:cNvSpPr>
          <p:nvPr>
            <p:ph type="sldNum" sz="quarter" idx="12"/>
          </p:nvPr>
        </p:nvSpPr>
        <p:spPr/>
        <p:txBody>
          <a:bodyPr/>
          <a:lstStyle/>
          <a:p>
            <a:fld id="{F4EC9C95-8009-4180-AAA8-5F6B382748D2}" type="slidenum">
              <a:rPr kumimoji="1" lang="ja-JP" altLang="en-US" smtClean="0"/>
              <a:t>14</a:t>
            </a:fld>
            <a:endParaRPr kumimoji="1" lang="ja-JP" altLang="en-US"/>
          </a:p>
        </p:txBody>
      </p:sp>
      <p:sp>
        <p:nvSpPr>
          <p:cNvPr id="6" name="テキスト ボックス 5">
            <a:extLst>
              <a:ext uri="{FF2B5EF4-FFF2-40B4-BE49-F238E27FC236}">
                <a16:creationId xmlns:a16="http://schemas.microsoft.com/office/drawing/2014/main" id="{0AF67366-7073-F1D3-A3EF-66DFEE93650C}"/>
              </a:ext>
            </a:extLst>
          </p:cNvPr>
          <p:cNvSpPr txBox="1"/>
          <p:nvPr/>
        </p:nvSpPr>
        <p:spPr>
          <a:xfrm>
            <a:off x="254000" y="139700"/>
            <a:ext cx="5434501" cy="523220"/>
          </a:xfrm>
          <a:prstGeom prst="rect">
            <a:avLst/>
          </a:prstGeom>
          <a:noFill/>
        </p:spPr>
        <p:txBody>
          <a:bodyPr wrap="none" rtlCol="0">
            <a:spAutoFit/>
          </a:bodyPr>
          <a:lstStyle/>
          <a:p>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参考</a:t>
            </a:r>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面談結果登録画面イメージ</a:t>
            </a:r>
          </a:p>
        </p:txBody>
      </p:sp>
      <p:sp>
        <p:nvSpPr>
          <p:cNvPr id="8" name="正方形/長方形 7">
            <a:extLst>
              <a:ext uri="{FF2B5EF4-FFF2-40B4-BE49-F238E27FC236}">
                <a16:creationId xmlns:a16="http://schemas.microsoft.com/office/drawing/2014/main" id="{D220CBE5-F301-CB37-9B13-2A33BF30522E}"/>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見込み度合い、検討中理由の詳細、提案内容、提案金額</a:t>
            </a:r>
          </a:p>
        </p:txBody>
      </p:sp>
      <p:pic>
        <p:nvPicPr>
          <p:cNvPr id="10" name="図 9">
            <a:extLst>
              <a:ext uri="{FF2B5EF4-FFF2-40B4-BE49-F238E27FC236}">
                <a16:creationId xmlns:a16="http://schemas.microsoft.com/office/drawing/2014/main" id="{B10DCBF0-AA86-9667-2233-315B077A9743}"/>
              </a:ext>
            </a:extLst>
          </p:cNvPr>
          <p:cNvPicPr>
            <a:picLocks noChangeAspect="1"/>
          </p:cNvPicPr>
          <p:nvPr/>
        </p:nvPicPr>
        <p:blipFill>
          <a:blip r:embed="rId2"/>
          <a:stretch>
            <a:fillRect/>
          </a:stretch>
        </p:blipFill>
        <p:spPr>
          <a:xfrm>
            <a:off x="363314" y="1308361"/>
            <a:ext cx="4437286" cy="5409939"/>
          </a:xfrm>
          <a:prstGeom prst="rect">
            <a:avLst/>
          </a:prstGeom>
        </p:spPr>
      </p:pic>
    </p:spTree>
    <p:extLst>
      <p:ext uri="{BB962C8B-B14F-4D97-AF65-F5344CB8AC3E}">
        <p14:creationId xmlns:p14="http://schemas.microsoft.com/office/powerpoint/2010/main" val="786666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2C0473C-C18C-2249-9A80-60A7718B258E}"/>
              </a:ext>
            </a:extLst>
          </p:cNvPr>
          <p:cNvSpPr>
            <a:spLocks noGrp="1"/>
          </p:cNvSpPr>
          <p:nvPr>
            <p:ph type="sldNum" sz="quarter" idx="12"/>
          </p:nvPr>
        </p:nvSpPr>
        <p:spPr/>
        <p:txBody>
          <a:bodyPr/>
          <a:lstStyle/>
          <a:p>
            <a:fld id="{F4EC9C95-8009-4180-AAA8-5F6B382748D2}" type="slidenum">
              <a:rPr kumimoji="1" lang="ja-JP" altLang="en-US" smtClean="0"/>
              <a:t>15</a:t>
            </a:fld>
            <a:endParaRPr kumimoji="1" lang="ja-JP" altLang="en-US"/>
          </a:p>
        </p:txBody>
      </p:sp>
      <p:sp>
        <p:nvSpPr>
          <p:cNvPr id="6" name="テキスト ボックス 5">
            <a:extLst>
              <a:ext uri="{FF2B5EF4-FFF2-40B4-BE49-F238E27FC236}">
                <a16:creationId xmlns:a16="http://schemas.microsoft.com/office/drawing/2014/main" id="{0FD6DE06-575F-ABDA-70C4-FFE859A11CB6}"/>
              </a:ext>
            </a:extLst>
          </p:cNvPr>
          <p:cNvSpPr txBox="1"/>
          <p:nvPr/>
        </p:nvSpPr>
        <p:spPr>
          <a:xfrm>
            <a:off x="254000" y="139700"/>
            <a:ext cx="5434501" cy="523220"/>
          </a:xfrm>
          <a:prstGeom prst="rect">
            <a:avLst/>
          </a:prstGeom>
          <a:noFill/>
        </p:spPr>
        <p:txBody>
          <a:bodyPr wrap="none" rtlCol="0">
            <a:spAutoFit/>
          </a:bodyPr>
          <a:lstStyle/>
          <a:p>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参考</a:t>
            </a:r>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面談結果登録画面イメージ</a:t>
            </a:r>
          </a:p>
        </p:txBody>
      </p:sp>
      <p:sp>
        <p:nvSpPr>
          <p:cNvPr id="8" name="正方形/長方形 7">
            <a:extLst>
              <a:ext uri="{FF2B5EF4-FFF2-40B4-BE49-F238E27FC236}">
                <a16:creationId xmlns:a16="http://schemas.microsoft.com/office/drawing/2014/main" id="{6F8172DA-87FF-4C7E-A8B9-08F932008A60}"/>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不動産査定、税理士紹介等、その他申し送り事項を入力して完了。保存したら、そのままオーダーシート作成に進むことも可能</a:t>
            </a:r>
          </a:p>
        </p:txBody>
      </p:sp>
      <p:pic>
        <p:nvPicPr>
          <p:cNvPr id="10" name="図 9">
            <a:extLst>
              <a:ext uri="{FF2B5EF4-FFF2-40B4-BE49-F238E27FC236}">
                <a16:creationId xmlns:a16="http://schemas.microsoft.com/office/drawing/2014/main" id="{D02E4F11-1F43-9405-1C6B-A0244196B574}"/>
              </a:ext>
            </a:extLst>
          </p:cNvPr>
          <p:cNvPicPr>
            <a:picLocks noChangeAspect="1"/>
          </p:cNvPicPr>
          <p:nvPr/>
        </p:nvPicPr>
        <p:blipFill>
          <a:blip r:embed="rId2"/>
          <a:stretch>
            <a:fillRect/>
          </a:stretch>
        </p:blipFill>
        <p:spPr>
          <a:xfrm>
            <a:off x="254000" y="1481845"/>
            <a:ext cx="4636722" cy="4713235"/>
          </a:xfrm>
          <a:prstGeom prst="rect">
            <a:avLst/>
          </a:prstGeom>
        </p:spPr>
      </p:pic>
      <p:pic>
        <p:nvPicPr>
          <p:cNvPr id="12" name="図 11">
            <a:extLst>
              <a:ext uri="{FF2B5EF4-FFF2-40B4-BE49-F238E27FC236}">
                <a16:creationId xmlns:a16="http://schemas.microsoft.com/office/drawing/2014/main" id="{6EE6732C-B7AF-A425-BAB8-46CCFF8BA562}"/>
              </a:ext>
            </a:extLst>
          </p:cNvPr>
          <p:cNvPicPr>
            <a:picLocks noChangeAspect="1"/>
          </p:cNvPicPr>
          <p:nvPr/>
        </p:nvPicPr>
        <p:blipFill>
          <a:blip r:embed="rId3"/>
          <a:stretch>
            <a:fillRect/>
          </a:stretch>
        </p:blipFill>
        <p:spPr>
          <a:xfrm>
            <a:off x="4311946" y="4030612"/>
            <a:ext cx="2753109" cy="1857634"/>
          </a:xfrm>
          <a:prstGeom prst="rect">
            <a:avLst/>
          </a:prstGeom>
        </p:spPr>
      </p:pic>
      <p:grpSp>
        <p:nvGrpSpPr>
          <p:cNvPr id="13" name="グループ化 12">
            <a:extLst>
              <a:ext uri="{FF2B5EF4-FFF2-40B4-BE49-F238E27FC236}">
                <a16:creationId xmlns:a16="http://schemas.microsoft.com/office/drawing/2014/main" id="{A6CBB11F-9287-EF01-125F-5BA326E8018A}"/>
              </a:ext>
            </a:extLst>
          </p:cNvPr>
          <p:cNvGrpSpPr/>
          <p:nvPr/>
        </p:nvGrpSpPr>
        <p:grpSpPr>
          <a:xfrm>
            <a:off x="7175499" y="1335338"/>
            <a:ext cx="4178300" cy="307777"/>
            <a:chOff x="7175500" y="1444823"/>
            <a:chExt cx="4178300" cy="307777"/>
          </a:xfrm>
        </p:grpSpPr>
        <p:cxnSp>
          <p:nvCxnSpPr>
            <p:cNvPr id="14" name="直線コネクタ 13">
              <a:extLst>
                <a:ext uri="{FF2B5EF4-FFF2-40B4-BE49-F238E27FC236}">
                  <a16:creationId xmlns:a16="http://schemas.microsoft.com/office/drawing/2014/main" id="{B061AE31-F392-679B-74C2-E4A09DEF22FA}"/>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00456344-B2E7-46C2-60B1-9B5E73AEA1A8}"/>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6" name="正方形/長方形 15">
            <a:extLst>
              <a:ext uri="{FF2B5EF4-FFF2-40B4-BE49-F238E27FC236}">
                <a16:creationId xmlns:a16="http://schemas.microsoft.com/office/drawing/2014/main" id="{567FD8C1-1D65-2457-FF28-D2C18C53FFAC}"/>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面談結果を保存したらそのまま、オーダーシートの作成に進むことも可能。</a:t>
            </a:r>
          </a:p>
        </p:txBody>
      </p:sp>
      <p:sp>
        <p:nvSpPr>
          <p:cNvPr id="17" name="楕円 16">
            <a:extLst>
              <a:ext uri="{FF2B5EF4-FFF2-40B4-BE49-F238E27FC236}">
                <a16:creationId xmlns:a16="http://schemas.microsoft.com/office/drawing/2014/main" id="{F4244701-DBE1-B519-97CE-5819344B63A6}"/>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19" name="正方形/長方形 18">
            <a:extLst>
              <a:ext uri="{FF2B5EF4-FFF2-40B4-BE49-F238E27FC236}">
                <a16:creationId xmlns:a16="http://schemas.microsoft.com/office/drawing/2014/main" id="{BD4A05F4-C803-67B7-516F-EFF1D16AEB3F}"/>
              </a:ext>
            </a:extLst>
          </p:cNvPr>
          <p:cNvSpPr/>
          <p:nvPr/>
        </p:nvSpPr>
        <p:spPr>
          <a:xfrm>
            <a:off x="2725191" y="5626169"/>
            <a:ext cx="1019129" cy="54351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曲線 19">
            <a:extLst>
              <a:ext uri="{FF2B5EF4-FFF2-40B4-BE49-F238E27FC236}">
                <a16:creationId xmlns:a16="http://schemas.microsoft.com/office/drawing/2014/main" id="{D1853D0C-9204-DE02-26FD-3A051AF98DD3}"/>
              </a:ext>
            </a:extLst>
          </p:cNvPr>
          <p:cNvCxnSpPr>
            <a:cxnSpLocks/>
            <a:stCxn id="19" idx="0"/>
          </p:cNvCxnSpPr>
          <p:nvPr/>
        </p:nvCxnSpPr>
        <p:spPr>
          <a:xfrm rot="5400000" flipH="1" flipV="1">
            <a:off x="3488861" y="4815784"/>
            <a:ext cx="556280" cy="1064490"/>
          </a:xfrm>
          <a:prstGeom prst="curved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1" name="正方形/長方形 20">
            <a:extLst>
              <a:ext uri="{FF2B5EF4-FFF2-40B4-BE49-F238E27FC236}">
                <a16:creationId xmlns:a16="http://schemas.microsoft.com/office/drawing/2014/main" id="{46E5C85C-D3A2-9668-6C00-7806B4CC1B0D}"/>
              </a:ext>
            </a:extLst>
          </p:cNvPr>
          <p:cNvSpPr/>
          <p:nvPr/>
        </p:nvSpPr>
        <p:spPr>
          <a:xfrm>
            <a:off x="4268811" y="4024262"/>
            <a:ext cx="2796244" cy="185763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B9AEDF67-650F-9488-032D-EAD301AEE85C}"/>
              </a:ext>
            </a:extLst>
          </p:cNvPr>
          <p:cNvSpPr/>
          <p:nvPr/>
        </p:nvSpPr>
        <p:spPr>
          <a:xfrm>
            <a:off x="4066975" y="3818690"/>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Tree>
    <p:extLst>
      <p:ext uri="{BB962C8B-B14F-4D97-AF65-F5344CB8AC3E}">
        <p14:creationId xmlns:p14="http://schemas.microsoft.com/office/powerpoint/2010/main" val="2002526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59DDA52-46BA-F222-D7E9-A91BD423C19B}"/>
              </a:ext>
            </a:extLst>
          </p:cNvPr>
          <p:cNvSpPr>
            <a:spLocks noGrp="1"/>
          </p:cNvSpPr>
          <p:nvPr>
            <p:ph type="sldNum" sz="quarter" idx="12"/>
          </p:nvPr>
        </p:nvSpPr>
        <p:spPr/>
        <p:txBody>
          <a:bodyPr/>
          <a:lstStyle/>
          <a:p>
            <a:fld id="{F4EC9C95-8009-4180-AAA8-5F6B382748D2}" type="slidenum">
              <a:rPr kumimoji="1" lang="ja-JP" altLang="en-US" smtClean="0"/>
              <a:t>16</a:t>
            </a:fld>
            <a:endParaRPr kumimoji="1" lang="ja-JP" altLang="en-US"/>
          </a:p>
        </p:txBody>
      </p:sp>
      <p:sp>
        <p:nvSpPr>
          <p:cNvPr id="6" name="テキスト ボックス 5">
            <a:extLst>
              <a:ext uri="{FF2B5EF4-FFF2-40B4-BE49-F238E27FC236}">
                <a16:creationId xmlns:a16="http://schemas.microsoft.com/office/drawing/2014/main" id="{F17CD636-9E1E-C9BC-9C41-9223DC0B37E9}"/>
              </a:ext>
            </a:extLst>
          </p:cNvPr>
          <p:cNvSpPr txBox="1"/>
          <p:nvPr/>
        </p:nvSpPr>
        <p:spPr>
          <a:xfrm>
            <a:off x="254000" y="139700"/>
            <a:ext cx="6005170" cy="523220"/>
          </a:xfrm>
          <a:prstGeom prst="rect">
            <a:avLst/>
          </a:prstGeom>
          <a:noFill/>
        </p:spPr>
        <p:txBody>
          <a:bodyPr wrap="none" rtlCol="0">
            <a:spAutoFit/>
          </a:bodyPr>
          <a:lstStyle/>
          <a:p>
            <a:r>
              <a:rPr kumimoji="1" lang="en-US" altLang="ja-JP" sz="2800" b="1" dirty="0">
                <a:latin typeface="Meiryo UI" panose="020B0604030504040204" pitchFamily="50" charset="-128"/>
                <a:ea typeface="Meiryo UI" panose="020B0604030504040204" pitchFamily="50" charset="-128"/>
              </a:rPr>
              <a:t>【</a:t>
            </a:r>
            <a:r>
              <a:rPr kumimoji="1" lang="ja-JP" altLang="en-US" sz="2800" b="1" dirty="0">
                <a:latin typeface="Meiryo UI" panose="020B0604030504040204" pitchFamily="50" charset="-128"/>
                <a:ea typeface="Meiryo UI" panose="020B0604030504040204" pitchFamily="50" charset="-128"/>
              </a:rPr>
              <a:t>参考</a:t>
            </a:r>
            <a:r>
              <a:rPr kumimoji="1" lang="en-US" altLang="ja-JP" sz="2800" b="1" dirty="0">
                <a:latin typeface="Meiryo UI" panose="020B0604030504040204" pitchFamily="50" charset="-128"/>
                <a:ea typeface="Meiryo UI" panose="020B0604030504040204" pitchFamily="50" charset="-128"/>
              </a:rPr>
              <a:t>】LP</a:t>
            </a:r>
            <a:r>
              <a:rPr kumimoji="1" lang="ja-JP" altLang="en-US" sz="2800" b="1" dirty="0">
                <a:latin typeface="Meiryo UI" panose="020B0604030504040204" pitchFamily="50" charset="-128"/>
                <a:ea typeface="Meiryo UI" panose="020B0604030504040204" pitchFamily="50" charset="-128"/>
              </a:rPr>
              <a:t>直案件の面談結果一覧画面</a:t>
            </a:r>
          </a:p>
        </p:txBody>
      </p:sp>
      <p:sp>
        <p:nvSpPr>
          <p:cNvPr id="8" name="正方形/長方形 7">
            <a:extLst>
              <a:ext uri="{FF2B5EF4-FFF2-40B4-BE49-F238E27FC236}">
                <a16:creationId xmlns:a16="http://schemas.microsoft.com/office/drawing/2014/main" id="{E45BECF9-0781-DB08-3DD6-A36CEA7AC5B4}"/>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登録した面談結果は、案件一覧画面の</a:t>
            </a:r>
            <a:r>
              <a:rPr lang="en-US" altLang="ja-JP" sz="1400" b="1" dirty="0">
                <a:solidFill>
                  <a:schemeClr val="tx1"/>
                </a:solidFill>
                <a:latin typeface="Meiryo UI" panose="020B0604030504040204" pitchFamily="50" charset="-128"/>
                <a:ea typeface="Meiryo UI" panose="020B0604030504040204" pitchFamily="50" charset="-128"/>
              </a:rPr>
              <a:t>LP</a:t>
            </a:r>
            <a:r>
              <a:rPr lang="ja-JP" altLang="en-US" sz="1400" b="1" dirty="0">
                <a:solidFill>
                  <a:schemeClr val="tx1"/>
                </a:solidFill>
                <a:latin typeface="Meiryo UI" panose="020B0604030504040204" pitchFamily="50" charset="-128"/>
                <a:ea typeface="Meiryo UI" panose="020B0604030504040204" pitchFamily="50" charset="-128"/>
              </a:rPr>
              <a:t>案件一覧タブに表示されます。（</a:t>
            </a:r>
            <a:r>
              <a:rPr lang="en-US" altLang="ja-JP" sz="1400" b="1" dirty="0">
                <a:solidFill>
                  <a:schemeClr val="tx1"/>
                </a:solidFill>
                <a:latin typeface="Meiryo UI" panose="020B0604030504040204" pitchFamily="50" charset="-128"/>
                <a:ea typeface="Meiryo UI" panose="020B0604030504040204" pitchFamily="50" charset="-128"/>
              </a:rPr>
              <a:t>LP</a:t>
            </a:r>
            <a:r>
              <a:rPr lang="ja-JP" altLang="en-US" sz="1400" b="1" dirty="0">
                <a:solidFill>
                  <a:schemeClr val="tx1"/>
                </a:solidFill>
                <a:latin typeface="Meiryo UI" panose="020B0604030504040204" pitchFamily="50" charset="-128"/>
                <a:ea typeface="Meiryo UI" panose="020B0604030504040204" pitchFamily="50" charset="-128"/>
              </a:rPr>
              <a:t>直案件のみ）</a:t>
            </a:r>
          </a:p>
        </p:txBody>
      </p:sp>
      <p:pic>
        <p:nvPicPr>
          <p:cNvPr id="10" name="図 9">
            <a:extLst>
              <a:ext uri="{FF2B5EF4-FFF2-40B4-BE49-F238E27FC236}">
                <a16:creationId xmlns:a16="http://schemas.microsoft.com/office/drawing/2014/main" id="{B720B32C-1022-4439-E6BB-FA4E2CC84CA6}"/>
              </a:ext>
            </a:extLst>
          </p:cNvPr>
          <p:cNvPicPr>
            <a:picLocks noChangeAspect="1"/>
          </p:cNvPicPr>
          <p:nvPr/>
        </p:nvPicPr>
        <p:blipFill>
          <a:blip r:embed="rId2"/>
          <a:srcRect r="22786"/>
          <a:stretch>
            <a:fillRect/>
          </a:stretch>
        </p:blipFill>
        <p:spPr>
          <a:xfrm>
            <a:off x="2547092" y="1584337"/>
            <a:ext cx="9363832" cy="4610743"/>
          </a:xfrm>
          <a:prstGeom prst="rect">
            <a:avLst/>
          </a:prstGeom>
        </p:spPr>
      </p:pic>
      <p:pic>
        <p:nvPicPr>
          <p:cNvPr id="12" name="図 11">
            <a:extLst>
              <a:ext uri="{FF2B5EF4-FFF2-40B4-BE49-F238E27FC236}">
                <a16:creationId xmlns:a16="http://schemas.microsoft.com/office/drawing/2014/main" id="{E6686B7F-A97B-6AF8-E39D-5CFC0114A1D7}"/>
              </a:ext>
            </a:extLst>
          </p:cNvPr>
          <p:cNvPicPr>
            <a:picLocks noChangeAspect="1"/>
          </p:cNvPicPr>
          <p:nvPr/>
        </p:nvPicPr>
        <p:blipFill>
          <a:blip r:embed="rId3"/>
          <a:stretch>
            <a:fillRect/>
          </a:stretch>
        </p:blipFill>
        <p:spPr>
          <a:xfrm>
            <a:off x="363314" y="1643115"/>
            <a:ext cx="2066193" cy="2839505"/>
          </a:xfrm>
          <a:prstGeom prst="rect">
            <a:avLst/>
          </a:prstGeom>
        </p:spPr>
      </p:pic>
      <p:sp>
        <p:nvSpPr>
          <p:cNvPr id="14" name="正方形/長方形 13">
            <a:extLst>
              <a:ext uri="{FF2B5EF4-FFF2-40B4-BE49-F238E27FC236}">
                <a16:creationId xmlns:a16="http://schemas.microsoft.com/office/drawing/2014/main" id="{BDF22E95-CAAD-CB07-E8F8-1BFB3F2DF5D6}"/>
              </a:ext>
            </a:extLst>
          </p:cNvPr>
          <p:cNvSpPr/>
          <p:nvPr/>
        </p:nvSpPr>
        <p:spPr>
          <a:xfrm>
            <a:off x="363314" y="3346197"/>
            <a:ext cx="1935386" cy="34950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3B3A480F-6668-6838-3D11-69C4CBBBD466}"/>
              </a:ext>
            </a:extLst>
          </p:cNvPr>
          <p:cNvSpPr/>
          <p:nvPr/>
        </p:nvSpPr>
        <p:spPr>
          <a:xfrm>
            <a:off x="7386414" y="2431797"/>
            <a:ext cx="1033686" cy="27330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78459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24D12-BDA4-31E7-B847-62D7C0D31685}"/>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25B083D6-10BF-6576-AB20-5C241C594600}"/>
              </a:ext>
            </a:extLst>
          </p:cNvPr>
          <p:cNvSpPr>
            <a:spLocks noGrp="1"/>
          </p:cNvSpPr>
          <p:nvPr>
            <p:ph type="sldNum" sz="quarter" idx="12"/>
          </p:nvPr>
        </p:nvSpPr>
        <p:spPr/>
        <p:txBody>
          <a:bodyPr/>
          <a:lstStyle/>
          <a:p>
            <a:fld id="{F4EC9C95-8009-4180-AAA8-5F6B382748D2}" type="slidenum">
              <a:rPr kumimoji="1" lang="ja-JP" altLang="en-US" smtClean="0"/>
              <a:t>17</a:t>
            </a:fld>
            <a:endParaRPr kumimoji="1" lang="ja-JP" altLang="en-US"/>
          </a:p>
        </p:txBody>
      </p:sp>
      <p:sp>
        <p:nvSpPr>
          <p:cNvPr id="5" name="正方形/長方形 4">
            <a:extLst>
              <a:ext uri="{FF2B5EF4-FFF2-40B4-BE49-F238E27FC236}">
                <a16:creationId xmlns:a16="http://schemas.microsoft.com/office/drawing/2014/main" id="{0A4FBB56-5071-6394-E444-12628197C81B}"/>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71EAC55-C856-33A5-508A-CB85F8B35AB3}"/>
              </a:ext>
            </a:extLst>
          </p:cNvPr>
          <p:cNvSpPr txBox="1"/>
          <p:nvPr/>
        </p:nvSpPr>
        <p:spPr>
          <a:xfrm>
            <a:off x="800100" y="2275482"/>
            <a:ext cx="4597734"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オーダーシート作成</a:t>
            </a:r>
          </a:p>
        </p:txBody>
      </p:sp>
      <p:sp>
        <p:nvSpPr>
          <p:cNvPr id="7" name="テキスト ボックス 6">
            <a:extLst>
              <a:ext uri="{FF2B5EF4-FFF2-40B4-BE49-F238E27FC236}">
                <a16:creationId xmlns:a16="http://schemas.microsoft.com/office/drawing/2014/main" id="{039B020D-D4A8-AE2B-2EAF-ED8878B05EA9}"/>
              </a:ext>
            </a:extLst>
          </p:cNvPr>
          <p:cNvSpPr txBox="1"/>
          <p:nvPr/>
        </p:nvSpPr>
        <p:spPr>
          <a:xfrm>
            <a:off x="800100" y="3131106"/>
            <a:ext cx="3898824" cy="369332"/>
          </a:xfrm>
          <a:prstGeom prst="rect">
            <a:avLst/>
          </a:prstGeom>
          <a:noFill/>
        </p:spPr>
        <p:txBody>
          <a:bodyPr wrap="none" rtlCol="0">
            <a:spAutoFit/>
          </a:bodyPr>
          <a:lstStyle/>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アラートやタスク、担当案件の一括管理</a:t>
            </a:r>
          </a:p>
        </p:txBody>
      </p:sp>
      <p:grpSp>
        <p:nvGrpSpPr>
          <p:cNvPr id="8" name="グループ化 7">
            <a:extLst>
              <a:ext uri="{FF2B5EF4-FFF2-40B4-BE49-F238E27FC236}">
                <a16:creationId xmlns:a16="http://schemas.microsoft.com/office/drawing/2014/main" id="{D501C46B-6094-8998-C5FB-0F92AEB49F93}"/>
              </a:ext>
            </a:extLst>
          </p:cNvPr>
          <p:cNvGrpSpPr/>
          <p:nvPr/>
        </p:nvGrpSpPr>
        <p:grpSpPr>
          <a:xfrm>
            <a:off x="5626099" y="1971213"/>
            <a:ext cx="6265617" cy="3614138"/>
            <a:chOff x="3932535" y="1971213"/>
            <a:chExt cx="7959182" cy="3614138"/>
          </a:xfrm>
        </p:grpSpPr>
        <p:sp>
          <p:nvSpPr>
            <p:cNvPr id="9" name="矢印: 五方向 8">
              <a:extLst>
                <a:ext uri="{FF2B5EF4-FFF2-40B4-BE49-F238E27FC236}">
                  <a16:creationId xmlns:a16="http://schemas.microsoft.com/office/drawing/2014/main" id="{32057B6B-07B2-DF08-6E47-2E8165B77A63}"/>
                </a:ext>
              </a:extLst>
            </p:cNvPr>
            <p:cNvSpPr/>
            <p:nvPr/>
          </p:nvSpPr>
          <p:spPr>
            <a:xfrm>
              <a:off x="3980070" y="2929506"/>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面談実施</a:t>
              </a:r>
            </a:p>
          </p:txBody>
        </p:sp>
        <p:sp>
          <p:nvSpPr>
            <p:cNvPr id="10" name="矢印: 五方向 9">
              <a:extLst>
                <a:ext uri="{FF2B5EF4-FFF2-40B4-BE49-F238E27FC236}">
                  <a16:creationId xmlns:a16="http://schemas.microsoft.com/office/drawing/2014/main" id="{9F8E267D-AB00-DCE5-0835-4596C93E0D26}"/>
                </a:ext>
              </a:extLst>
            </p:cNvPr>
            <p:cNvSpPr/>
            <p:nvPr/>
          </p:nvSpPr>
          <p:spPr>
            <a:xfrm>
              <a:off x="5362826" y="293502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solidFill>
                    <a:schemeClr val="bg1"/>
                  </a:solidFill>
                  <a:latin typeface="Meiryo UI" panose="020B0604030504040204" pitchFamily="50" charset="-128"/>
                  <a:ea typeface="Meiryo UI" panose="020B0604030504040204" pitchFamily="50" charset="-128"/>
                </a:rPr>
                <a:t>面談シート作成</a:t>
              </a:r>
              <a:endParaRPr kumimoji="1" lang="en-US" altLang="ja-JP" sz="1000" dirty="0">
                <a:solidFill>
                  <a:schemeClr val="bg1"/>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079A33C5-6BFD-742A-E002-51372D1A7D99}"/>
                </a:ext>
              </a:extLst>
            </p:cNvPr>
            <p:cNvSpPr/>
            <p:nvPr/>
          </p:nvSpPr>
          <p:spPr>
            <a:xfrm>
              <a:off x="6751763" y="2935021"/>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面談結果登録</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5395792A-069B-B3A0-A576-FE27ED474841}"/>
                </a:ext>
              </a:extLst>
            </p:cNvPr>
            <p:cNvSpPr/>
            <p:nvPr/>
          </p:nvSpPr>
          <p:spPr>
            <a:xfrm>
              <a:off x="8177276" y="2922971"/>
              <a:ext cx="1275843" cy="846632"/>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endParaRPr lang="en-US" altLang="ja-JP" sz="1000" dirty="0">
                <a:solidFill>
                  <a:schemeClr val="bg1"/>
                </a:solidFill>
                <a:latin typeface="Meiryo UI" panose="020B0604030504040204" pitchFamily="50" charset="-128"/>
                <a:ea typeface="Meiryo UI" panose="020B0604030504040204" pitchFamily="50" charset="-128"/>
              </a:endParaRPr>
            </a:p>
            <a:p>
              <a:pPr algn="ctr"/>
              <a:r>
                <a:rPr lang="ja-JP" altLang="en-US" sz="1000" dirty="0">
                  <a:solidFill>
                    <a:schemeClr val="bg1"/>
                  </a:solidFill>
                  <a:latin typeface="Meiryo UI" panose="020B0604030504040204" pitchFamily="50" charset="-128"/>
                  <a:ea typeface="Meiryo UI" panose="020B0604030504040204" pitchFamily="50" charset="-128"/>
                </a:rPr>
                <a:t>作成</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3" name="矢印: 五方向 12">
              <a:extLst>
                <a:ext uri="{FF2B5EF4-FFF2-40B4-BE49-F238E27FC236}">
                  <a16:creationId xmlns:a16="http://schemas.microsoft.com/office/drawing/2014/main" id="{06F9B4DF-74AD-837E-3508-89074DC82B54}"/>
                </a:ext>
              </a:extLst>
            </p:cNvPr>
            <p:cNvSpPr/>
            <p:nvPr/>
          </p:nvSpPr>
          <p:spPr>
            <a:xfrm>
              <a:off x="9520935" y="292297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前受け金請求書発行</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4" name="矢印: 五方向 13">
              <a:extLst>
                <a:ext uri="{FF2B5EF4-FFF2-40B4-BE49-F238E27FC236}">
                  <a16:creationId xmlns:a16="http://schemas.microsoft.com/office/drawing/2014/main" id="{AF9ADD9B-BF65-EDB2-EAD6-FA2C1A29FBD9}"/>
                </a:ext>
              </a:extLst>
            </p:cNvPr>
            <p:cNvSpPr/>
            <p:nvPr/>
          </p:nvSpPr>
          <p:spPr>
            <a:xfrm>
              <a:off x="8163761" y="2531038"/>
              <a:ext cx="3727956" cy="296640"/>
            </a:xfrm>
            <a:prstGeom prst="homePlate">
              <a:avLst>
                <a:gd name="adj" fmla="val 29518"/>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受注</a:t>
              </a:r>
            </a:p>
          </p:txBody>
        </p:sp>
        <p:sp>
          <p:nvSpPr>
            <p:cNvPr id="15" name="矢印: 五方向 14">
              <a:extLst>
                <a:ext uri="{FF2B5EF4-FFF2-40B4-BE49-F238E27FC236}">
                  <a16:creationId xmlns:a16="http://schemas.microsoft.com/office/drawing/2014/main" id="{5EFC6571-33E0-F800-1076-9530AE3A3E9C}"/>
                </a:ext>
              </a:extLst>
            </p:cNvPr>
            <p:cNvSpPr/>
            <p:nvPr/>
          </p:nvSpPr>
          <p:spPr>
            <a:xfrm>
              <a:off x="6759253" y="3930865"/>
              <a:ext cx="2566263"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管理担当</a:t>
              </a:r>
              <a:r>
                <a:rPr kumimoji="1" lang="ja-JP" altLang="en-US" sz="1000" dirty="0">
                  <a:solidFill>
                    <a:schemeClr val="bg1"/>
                  </a:solidFill>
                  <a:latin typeface="Meiryo UI" panose="020B0604030504040204" pitchFamily="50" charset="-128"/>
                  <a:ea typeface="Meiryo UI" panose="020B0604030504040204" pitchFamily="50" charset="-128"/>
                </a:rPr>
                <a:t>アサイン</a:t>
              </a:r>
            </a:p>
          </p:txBody>
        </p:sp>
        <p:sp>
          <p:nvSpPr>
            <p:cNvPr id="16" name="矢印: 五方向 15">
              <a:extLst>
                <a:ext uri="{FF2B5EF4-FFF2-40B4-BE49-F238E27FC236}">
                  <a16:creationId xmlns:a16="http://schemas.microsoft.com/office/drawing/2014/main" id="{8E7F49B3-51EB-72AE-D04A-CAA951716A79}"/>
                </a:ext>
              </a:extLst>
            </p:cNvPr>
            <p:cNvSpPr/>
            <p:nvPr/>
          </p:nvSpPr>
          <p:spPr>
            <a:xfrm>
              <a:off x="4090519" y="4982669"/>
              <a:ext cx="7801198"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契約書類</a:t>
              </a:r>
              <a:r>
                <a:rPr kumimoji="1" lang="ja-JP" altLang="en-US" sz="1000" dirty="0">
                  <a:solidFill>
                    <a:schemeClr val="bg1"/>
                  </a:solidFill>
                  <a:latin typeface="Meiryo UI" panose="020B0604030504040204" pitchFamily="50" charset="-128"/>
                  <a:ea typeface="Meiryo UI" panose="020B0604030504040204" pitchFamily="50" charset="-128"/>
                </a:rPr>
                <a:t>受領</a:t>
              </a:r>
            </a:p>
          </p:txBody>
        </p:sp>
        <p:sp>
          <p:nvSpPr>
            <p:cNvPr id="17" name="矢印: 五方向 16">
              <a:extLst>
                <a:ext uri="{FF2B5EF4-FFF2-40B4-BE49-F238E27FC236}">
                  <a16:creationId xmlns:a16="http://schemas.microsoft.com/office/drawing/2014/main" id="{EC53EC73-4457-645F-75AD-D9830E512DDD}"/>
                </a:ext>
              </a:extLst>
            </p:cNvPr>
            <p:cNvSpPr/>
            <p:nvPr/>
          </p:nvSpPr>
          <p:spPr>
            <a:xfrm>
              <a:off x="8163761" y="4467553"/>
              <a:ext cx="2595151" cy="386739"/>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r>
                <a:rPr kumimoji="1" lang="ja-JP" altLang="en-US" sz="1000" dirty="0">
                  <a:solidFill>
                    <a:schemeClr val="bg1"/>
                  </a:solidFill>
                  <a:latin typeface="Meiryo UI" panose="020B0604030504040204" pitchFamily="50" charset="-128"/>
                  <a:ea typeface="Meiryo UI" panose="020B0604030504040204" pitchFamily="50" charset="-128"/>
                </a:rPr>
                <a:t>最終化</a:t>
              </a:r>
            </a:p>
          </p:txBody>
        </p:sp>
        <p:sp>
          <p:nvSpPr>
            <p:cNvPr id="18" name="矢印: 五方向 17">
              <a:extLst>
                <a:ext uri="{FF2B5EF4-FFF2-40B4-BE49-F238E27FC236}">
                  <a16:creationId xmlns:a16="http://schemas.microsoft.com/office/drawing/2014/main" id="{A8B8DE2C-EA4E-8E00-FCDE-214F13292003}"/>
                </a:ext>
              </a:extLst>
            </p:cNvPr>
            <p:cNvSpPr/>
            <p:nvPr/>
          </p:nvSpPr>
          <p:spPr>
            <a:xfrm>
              <a:off x="3980070" y="2531038"/>
              <a:ext cx="4047537" cy="296640"/>
            </a:xfrm>
            <a:prstGeom prst="homePlate">
              <a:avLst>
                <a:gd name="adj" fmla="val 29518"/>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000" dirty="0">
                  <a:latin typeface="Meiryo UI" panose="020B0604030504040204" pitchFamily="50" charset="-128"/>
                  <a:ea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6FAC476E-7A43-94DC-5C81-25BAA6279ED4}"/>
                </a:ext>
              </a:extLst>
            </p:cNvPr>
            <p:cNvSpPr/>
            <p:nvPr/>
          </p:nvSpPr>
          <p:spPr>
            <a:xfrm>
              <a:off x="7130521" y="2011839"/>
              <a:ext cx="2012287" cy="138455"/>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日中～</a:t>
              </a:r>
              <a:r>
                <a:rPr lang="en-US" altLang="ja-JP" sz="900" b="1" dirty="0">
                  <a:solidFill>
                    <a:sysClr val="windowText" lastClr="000000"/>
                  </a:solidFill>
                  <a:latin typeface="Meiryo UI" panose="020B0604030504040204" pitchFamily="50" charset="-128"/>
                  <a:ea typeface="Meiryo UI" panose="020B0604030504040204" pitchFamily="50" charset="-128"/>
                </a:rPr>
                <a:t>N+1</a:t>
              </a:r>
              <a:r>
                <a:rPr lang="ja-JP" altLang="en-US" sz="900" b="1" dirty="0">
                  <a:solidFill>
                    <a:sysClr val="windowText" lastClr="000000"/>
                  </a:solidFill>
                  <a:latin typeface="Meiryo UI" panose="020B0604030504040204" pitchFamily="50" charset="-128"/>
                  <a:ea typeface="Meiryo UI" panose="020B0604030504040204" pitchFamily="50" charset="-128"/>
                </a:rPr>
                <a:t>日</a:t>
              </a:r>
              <a:r>
                <a:rPr lang="en-US" altLang="ja-JP" sz="900" b="1" dirty="0">
                  <a:solidFill>
                    <a:sysClr val="windowText" lastClr="000000"/>
                  </a:solidFill>
                  <a:latin typeface="Meiryo UI" panose="020B0604030504040204" pitchFamily="50" charset="-128"/>
                  <a:ea typeface="Meiryo UI" panose="020B0604030504040204" pitchFamily="50" charset="-128"/>
                </a:rPr>
                <a:t> AM10:00</a:t>
              </a:r>
              <a:endParaRPr kumimoji="1" lang="ja-JP" altLang="en-US" sz="900" b="1" dirty="0">
                <a:solidFill>
                  <a:sysClr val="windowText" lastClr="000000"/>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C7F47040-95F4-6BE4-809E-242D70719972}"/>
                </a:ext>
              </a:extLst>
            </p:cNvPr>
            <p:cNvSpPr/>
            <p:nvPr/>
          </p:nvSpPr>
          <p:spPr>
            <a:xfrm>
              <a:off x="10239616" y="1997952"/>
              <a:ext cx="849051" cy="152342"/>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＋５日</a:t>
              </a:r>
            </a:p>
          </p:txBody>
        </p:sp>
        <p:grpSp>
          <p:nvGrpSpPr>
            <p:cNvPr id="21" name="グループ化 20">
              <a:extLst>
                <a:ext uri="{FF2B5EF4-FFF2-40B4-BE49-F238E27FC236}">
                  <a16:creationId xmlns:a16="http://schemas.microsoft.com/office/drawing/2014/main" id="{1125295D-7696-4367-8E49-42FFEA2D9AA8}"/>
                </a:ext>
              </a:extLst>
            </p:cNvPr>
            <p:cNvGrpSpPr/>
            <p:nvPr/>
          </p:nvGrpSpPr>
          <p:grpSpPr>
            <a:xfrm>
              <a:off x="8108672" y="2150295"/>
              <a:ext cx="2578875" cy="3435056"/>
              <a:chOff x="8108672" y="2180680"/>
              <a:chExt cx="2578875" cy="4340492"/>
            </a:xfrm>
          </p:grpSpPr>
          <p:cxnSp>
            <p:nvCxnSpPr>
              <p:cNvPr id="24" name="直線コネクタ 23">
                <a:extLst>
                  <a:ext uri="{FF2B5EF4-FFF2-40B4-BE49-F238E27FC236}">
                    <a16:creationId xmlns:a16="http://schemas.microsoft.com/office/drawing/2014/main" id="{17B3D2BE-07CA-95D1-5587-6A643703114C}"/>
                  </a:ext>
                </a:extLst>
              </p:cNvPr>
              <p:cNvCxnSpPr>
                <a:cxnSpLocks/>
                <a:stCxn id="19" idx="2"/>
              </p:cNvCxnSpPr>
              <p:nvPr/>
            </p:nvCxnSpPr>
            <p:spPr>
              <a:xfrm flipH="1">
                <a:off x="8108672" y="2180680"/>
                <a:ext cx="27992"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2A702CAB-0933-B8DE-76D1-29ADE74B547B}"/>
                  </a:ext>
                </a:extLst>
              </p:cNvPr>
              <p:cNvCxnSpPr>
                <a:cxnSpLocks/>
                <a:stCxn id="20" idx="2"/>
              </p:cNvCxnSpPr>
              <p:nvPr/>
            </p:nvCxnSpPr>
            <p:spPr>
              <a:xfrm>
                <a:off x="10664141" y="2180680"/>
                <a:ext cx="23406"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grpSp>
        <p:sp>
          <p:nvSpPr>
            <p:cNvPr id="22" name="四角形: 角を丸くする 21">
              <a:extLst>
                <a:ext uri="{FF2B5EF4-FFF2-40B4-BE49-F238E27FC236}">
                  <a16:creationId xmlns:a16="http://schemas.microsoft.com/office/drawing/2014/main" id="{A0679107-722A-5BD4-9E96-E82019A76565}"/>
                </a:ext>
              </a:extLst>
            </p:cNvPr>
            <p:cNvSpPr/>
            <p:nvPr/>
          </p:nvSpPr>
          <p:spPr>
            <a:xfrm>
              <a:off x="3932535" y="1971213"/>
              <a:ext cx="791257" cy="170717"/>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a:t>
              </a:r>
            </a:p>
          </p:txBody>
        </p:sp>
        <p:cxnSp>
          <p:nvCxnSpPr>
            <p:cNvPr id="23" name="直線コネクタ 22">
              <a:extLst>
                <a:ext uri="{FF2B5EF4-FFF2-40B4-BE49-F238E27FC236}">
                  <a16:creationId xmlns:a16="http://schemas.microsoft.com/office/drawing/2014/main" id="{366FC0A1-5F0A-0D03-2CE3-DF558DBB8C64}"/>
                </a:ext>
              </a:extLst>
            </p:cNvPr>
            <p:cNvCxnSpPr>
              <a:cxnSpLocks/>
            </p:cNvCxnSpPr>
            <p:nvPr/>
          </p:nvCxnSpPr>
          <p:spPr>
            <a:xfrm>
              <a:off x="3980070" y="2237223"/>
              <a:ext cx="7911647" cy="0"/>
            </a:xfrm>
            <a:prstGeom prst="line">
              <a:avLst/>
            </a:prstGeom>
            <a:ln>
              <a:solidFill>
                <a:srgbClr val="FFC000"/>
              </a:solidFill>
              <a:headEnd type="oval" w="lg" len="lg"/>
              <a:tailEnd type="arrow"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25842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A27674C-473A-D41B-0E81-AAF0D4552AD7}"/>
              </a:ext>
            </a:extLst>
          </p:cNvPr>
          <p:cNvSpPr>
            <a:spLocks noGrp="1"/>
          </p:cNvSpPr>
          <p:nvPr>
            <p:ph type="sldNum" sz="quarter" idx="12"/>
          </p:nvPr>
        </p:nvSpPr>
        <p:spPr/>
        <p:txBody>
          <a:bodyPr/>
          <a:lstStyle/>
          <a:p>
            <a:fld id="{F4EC9C95-8009-4180-AAA8-5F6B382748D2}" type="slidenum">
              <a:rPr kumimoji="1" lang="ja-JP" altLang="en-US" smtClean="0"/>
              <a:t>18</a:t>
            </a:fld>
            <a:endParaRPr kumimoji="1" lang="ja-JP" altLang="en-US"/>
          </a:p>
        </p:txBody>
      </p:sp>
      <p:pic>
        <p:nvPicPr>
          <p:cNvPr id="6" name="図 5">
            <a:extLst>
              <a:ext uri="{FF2B5EF4-FFF2-40B4-BE49-F238E27FC236}">
                <a16:creationId xmlns:a16="http://schemas.microsoft.com/office/drawing/2014/main" id="{AA89C4AE-EB15-11F8-BEC3-7307970108F0}"/>
              </a:ext>
            </a:extLst>
          </p:cNvPr>
          <p:cNvPicPr>
            <a:picLocks noChangeAspect="1"/>
          </p:cNvPicPr>
          <p:nvPr/>
        </p:nvPicPr>
        <p:blipFill>
          <a:blip r:embed="rId2"/>
          <a:stretch>
            <a:fillRect/>
          </a:stretch>
        </p:blipFill>
        <p:spPr>
          <a:xfrm>
            <a:off x="482364" y="1501577"/>
            <a:ext cx="5950141" cy="4838700"/>
          </a:xfrm>
          <a:prstGeom prst="rect">
            <a:avLst/>
          </a:prstGeom>
        </p:spPr>
      </p:pic>
      <p:grpSp>
        <p:nvGrpSpPr>
          <p:cNvPr id="7" name="グループ化 6">
            <a:extLst>
              <a:ext uri="{FF2B5EF4-FFF2-40B4-BE49-F238E27FC236}">
                <a16:creationId xmlns:a16="http://schemas.microsoft.com/office/drawing/2014/main" id="{42694D8C-0CC8-8C62-285A-90882741B0DE}"/>
              </a:ext>
            </a:extLst>
          </p:cNvPr>
          <p:cNvGrpSpPr/>
          <p:nvPr/>
        </p:nvGrpSpPr>
        <p:grpSpPr>
          <a:xfrm>
            <a:off x="7175499" y="1335338"/>
            <a:ext cx="4178300" cy="307777"/>
            <a:chOff x="7175500" y="1444823"/>
            <a:chExt cx="4178300" cy="307777"/>
          </a:xfrm>
        </p:grpSpPr>
        <p:cxnSp>
          <p:nvCxnSpPr>
            <p:cNvPr id="8" name="直線コネクタ 7">
              <a:extLst>
                <a:ext uri="{FF2B5EF4-FFF2-40B4-BE49-F238E27FC236}">
                  <a16:creationId xmlns:a16="http://schemas.microsoft.com/office/drawing/2014/main" id="{F06E7DA0-1974-D2EC-6640-41EBC8B8144E}"/>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84A67F6C-750A-FDE9-BBE4-F45BE6BCB2E6}"/>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0" name="正方形/長方形 9">
            <a:extLst>
              <a:ext uri="{FF2B5EF4-FFF2-40B4-BE49-F238E27FC236}">
                <a16:creationId xmlns:a16="http://schemas.microsoft.com/office/drawing/2014/main" id="{3209CF2E-287B-9117-A3DE-5BCAC8E9D56F}"/>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面談シートで入力したメモや情報が引き継がれている。</a:t>
            </a:r>
          </a:p>
        </p:txBody>
      </p:sp>
      <p:sp>
        <p:nvSpPr>
          <p:cNvPr id="11" name="楕円 10">
            <a:extLst>
              <a:ext uri="{FF2B5EF4-FFF2-40B4-BE49-F238E27FC236}">
                <a16:creationId xmlns:a16="http://schemas.microsoft.com/office/drawing/2014/main" id="{5486086B-2FDE-FF8E-9821-F48AE934EF88}"/>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12" name="正方形/長方形 11">
            <a:extLst>
              <a:ext uri="{FF2B5EF4-FFF2-40B4-BE49-F238E27FC236}">
                <a16:creationId xmlns:a16="http://schemas.microsoft.com/office/drawing/2014/main" id="{F4DD7488-B264-73B6-3EDC-BB69257309C6}"/>
              </a:ext>
            </a:extLst>
          </p:cNvPr>
          <p:cNvSpPr/>
          <p:nvPr/>
        </p:nvSpPr>
        <p:spPr>
          <a:xfrm>
            <a:off x="570856" y="2520178"/>
            <a:ext cx="5702944" cy="382009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41F0C55-350A-472A-A807-947ECCC0A947}"/>
              </a:ext>
            </a:extLst>
          </p:cNvPr>
          <p:cNvSpPr txBox="1"/>
          <p:nvPr/>
        </p:nvSpPr>
        <p:spPr>
          <a:xfrm>
            <a:off x="254000" y="139700"/>
            <a:ext cx="2997937"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オーダーシート入力</a:t>
            </a:r>
          </a:p>
        </p:txBody>
      </p:sp>
      <p:sp>
        <p:nvSpPr>
          <p:cNvPr id="17" name="正方形/長方形 16">
            <a:extLst>
              <a:ext uri="{FF2B5EF4-FFF2-40B4-BE49-F238E27FC236}">
                <a16:creationId xmlns:a16="http://schemas.microsoft.com/office/drawing/2014/main" id="{7B2BE964-ED4B-D28F-45EA-EF8947797081}"/>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オーダーシートはすでに入力した面談シートの内容が引き継がれており、戸籍請求先等の具体的な作業指示内容を追加する作業になります。</a:t>
            </a:r>
          </a:p>
        </p:txBody>
      </p:sp>
    </p:spTree>
    <p:extLst>
      <p:ext uri="{BB962C8B-B14F-4D97-AF65-F5344CB8AC3E}">
        <p14:creationId xmlns:p14="http://schemas.microsoft.com/office/powerpoint/2010/main" val="713343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D6CF39F5-F89A-D11C-DD16-C2688FD865A2}"/>
              </a:ext>
            </a:extLst>
          </p:cNvPr>
          <p:cNvSpPr>
            <a:spLocks noGrp="1"/>
          </p:cNvSpPr>
          <p:nvPr>
            <p:ph type="sldNum" sz="quarter" idx="12"/>
          </p:nvPr>
        </p:nvSpPr>
        <p:spPr/>
        <p:txBody>
          <a:bodyPr/>
          <a:lstStyle/>
          <a:p>
            <a:fld id="{F4EC9C95-8009-4180-AAA8-5F6B382748D2}" type="slidenum">
              <a:rPr kumimoji="1" lang="ja-JP" altLang="en-US" smtClean="0"/>
              <a:t>19</a:t>
            </a:fld>
            <a:endParaRPr kumimoji="1" lang="ja-JP" altLang="en-US"/>
          </a:p>
        </p:txBody>
      </p:sp>
      <p:grpSp>
        <p:nvGrpSpPr>
          <p:cNvPr id="7" name="グループ化 6">
            <a:extLst>
              <a:ext uri="{FF2B5EF4-FFF2-40B4-BE49-F238E27FC236}">
                <a16:creationId xmlns:a16="http://schemas.microsoft.com/office/drawing/2014/main" id="{F86C8FDE-9334-BC19-363F-B4D3E1F5D5FD}"/>
              </a:ext>
            </a:extLst>
          </p:cNvPr>
          <p:cNvGrpSpPr/>
          <p:nvPr/>
        </p:nvGrpSpPr>
        <p:grpSpPr>
          <a:xfrm>
            <a:off x="7175499" y="1335338"/>
            <a:ext cx="4178300" cy="307777"/>
            <a:chOff x="7175500" y="1444823"/>
            <a:chExt cx="4178300" cy="307777"/>
          </a:xfrm>
        </p:grpSpPr>
        <p:cxnSp>
          <p:nvCxnSpPr>
            <p:cNvPr id="8" name="直線コネクタ 7">
              <a:extLst>
                <a:ext uri="{FF2B5EF4-FFF2-40B4-BE49-F238E27FC236}">
                  <a16:creationId xmlns:a16="http://schemas.microsoft.com/office/drawing/2014/main" id="{8AC50DC4-7A28-D8B4-BF52-7C2CBDC169DD}"/>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0F16979F-8978-9CD2-B452-53B11BB119FD}"/>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0" name="正方形/長方形 9">
            <a:extLst>
              <a:ext uri="{FF2B5EF4-FFF2-40B4-BE49-F238E27FC236}">
                <a16:creationId xmlns:a16="http://schemas.microsoft.com/office/drawing/2014/main" id="{7E8446A4-D561-C8EA-CE4F-E8500CFE015B}"/>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案件詳細画面に遷移し、案件詳細画面でも引き続きオーダーシートの修正変更は可能</a:t>
            </a:r>
          </a:p>
        </p:txBody>
      </p:sp>
      <p:sp>
        <p:nvSpPr>
          <p:cNvPr id="11" name="楕円 10">
            <a:extLst>
              <a:ext uri="{FF2B5EF4-FFF2-40B4-BE49-F238E27FC236}">
                <a16:creationId xmlns:a16="http://schemas.microsoft.com/office/drawing/2014/main" id="{B3C755C9-7037-18F6-2655-5436ADD98C13}"/>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12" name="テキスト ボックス 11">
            <a:extLst>
              <a:ext uri="{FF2B5EF4-FFF2-40B4-BE49-F238E27FC236}">
                <a16:creationId xmlns:a16="http://schemas.microsoft.com/office/drawing/2014/main" id="{0BD71868-F426-C593-52B1-10A98836B6BD}"/>
              </a:ext>
            </a:extLst>
          </p:cNvPr>
          <p:cNvSpPr txBox="1"/>
          <p:nvPr/>
        </p:nvSpPr>
        <p:spPr>
          <a:xfrm>
            <a:off x="254000" y="139700"/>
            <a:ext cx="3328155"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オーダーシートの保存</a:t>
            </a:r>
          </a:p>
        </p:txBody>
      </p:sp>
      <p:sp>
        <p:nvSpPr>
          <p:cNvPr id="13" name="正方形/長方形 12">
            <a:extLst>
              <a:ext uri="{FF2B5EF4-FFF2-40B4-BE49-F238E27FC236}">
                <a16:creationId xmlns:a16="http://schemas.microsoft.com/office/drawing/2014/main" id="{40A55D55-60F1-E22E-5A1F-4AC01DA2EE4D}"/>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必要な項目を入力し、保存ボタンを押下すると、完了画面が表示されます。案件詳細を開くボタンを押すとそのまま案件詳細画面へ遷移できます。</a:t>
            </a:r>
          </a:p>
        </p:txBody>
      </p:sp>
      <p:grpSp>
        <p:nvGrpSpPr>
          <p:cNvPr id="16" name="グループ化 15">
            <a:extLst>
              <a:ext uri="{FF2B5EF4-FFF2-40B4-BE49-F238E27FC236}">
                <a16:creationId xmlns:a16="http://schemas.microsoft.com/office/drawing/2014/main" id="{C7EBB7E0-00AC-63D1-8EBA-A4F4FD6E6601}"/>
              </a:ext>
            </a:extLst>
          </p:cNvPr>
          <p:cNvGrpSpPr/>
          <p:nvPr/>
        </p:nvGrpSpPr>
        <p:grpSpPr>
          <a:xfrm>
            <a:off x="229818" y="1335338"/>
            <a:ext cx="4059960" cy="2133600"/>
            <a:chOff x="359640" y="1778000"/>
            <a:chExt cx="6549733" cy="4000941"/>
          </a:xfrm>
        </p:grpSpPr>
        <p:pic>
          <p:nvPicPr>
            <p:cNvPr id="6" name="図 5">
              <a:extLst>
                <a:ext uri="{FF2B5EF4-FFF2-40B4-BE49-F238E27FC236}">
                  <a16:creationId xmlns:a16="http://schemas.microsoft.com/office/drawing/2014/main" id="{EB9C17DC-4A83-43F5-EDA6-1DA86C380388}"/>
                </a:ext>
              </a:extLst>
            </p:cNvPr>
            <p:cNvPicPr>
              <a:picLocks noChangeAspect="1"/>
            </p:cNvPicPr>
            <p:nvPr/>
          </p:nvPicPr>
          <p:blipFill>
            <a:blip r:embed="rId2"/>
            <a:stretch>
              <a:fillRect/>
            </a:stretch>
          </p:blipFill>
          <p:spPr>
            <a:xfrm>
              <a:off x="359640" y="1778000"/>
              <a:ext cx="6549733" cy="4000941"/>
            </a:xfrm>
            <a:prstGeom prst="rect">
              <a:avLst/>
            </a:prstGeom>
          </p:spPr>
        </p:pic>
        <p:sp>
          <p:nvSpPr>
            <p:cNvPr id="15" name="正方形/長方形 14">
              <a:extLst>
                <a:ext uri="{FF2B5EF4-FFF2-40B4-BE49-F238E27FC236}">
                  <a16:creationId xmlns:a16="http://schemas.microsoft.com/office/drawing/2014/main" id="{213AE6B8-4B26-8E42-137A-D8056E9357B0}"/>
                </a:ext>
              </a:extLst>
            </p:cNvPr>
            <p:cNvSpPr/>
            <p:nvPr/>
          </p:nvSpPr>
          <p:spPr>
            <a:xfrm>
              <a:off x="2286000" y="3873500"/>
              <a:ext cx="2463800" cy="25400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8" name="図 17">
            <a:extLst>
              <a:ext uri="{FF2B5EF4-FFF2-40B4-BE49-F238E27FC236}">
                <a16:creationId xmlns:a16="http://schemas.microsoft.com/office/drawing/2014/main" id="{2F213CD3-86FD-D718-FDE7-520A2B279631}"/>
              </a:ext>
            </a:extLst>
          </p:cNvPr>
          <p:cNvPicPr>
            <a:picLocks noChangeAspect="1"/>
          </p:cNvPicPr>
          <p:nvPr/>
        </p:nvPicPr>
        <p:blipFill>
          <a:blip r:embed="rId3"/>
          <a:stretch>
            <a:fillRect/>
          </a:stretch>
        </p:blipFill>
        <p:spPr>
          <a:xfrm>
            <a:off x="254000" y="3443455"/>
            <a:ext cx="6477000" cy="3166453"/>
          </a:xfrm>
          <a:prstGeom prst="rect">
            <a:avLst/>
          </a:prstGeom>
        </p:spPr>
      </p:pic>
      <p:sp>
        <p:nvSpPr>
          <p:cNvPr id="19" name="正方形/長方形 18">
            <a:extLst>
              <a:ext uri="{FF2B5EF4-FFF2-40B4-BE49-F238E27FC236}">
                <a16:creationId xmlns:a16="http://schemas.microsoft.com/office/drawing/2014/main" id="{E7470158-63E8-D3D9-D49A-0E79E4D4F814}"/>
              </a:ext>
            </a:extLst>
          </p:cNvPr>
          <p:cNvSpPr/>
          <p:nvPr/>
        </p:nvSpPr>
        <p:spPr>
          <a:xfrm>
            <a:off x="254001" y="4324126"/>
            <a:ext cx="660400" cy="24460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曲線 19">
            <a:extLst>
              <a:ext uri="{FF2B5EF4-FFF2-40B4-BE49-F238E27FC236}">
                <a16:creationId xmlns:a16="http://schemas.microsoft.com/office/drawing/2014/main" id="{426D347B-9411-5177-8FF1-BF9315294DD8}"/>
              </a:ext>
            </a:extLst>
          </p:cNvPr>
          <p:cNvCxnSpPr>
            <a:cxnSpLocks/>
            <a:stCxn id="15" idx="2"/>
          </p:cNvCxnSpPr>
          <p:nvPr/>
        </p:nvCxnSpPr>
        <p:spPr>
          <a:xfrm rot="5400000">
            <a:off x="519726" y="2601941"/>
            <a:ext cx="1681467" cy="1654118"/>
          </a:xfrm>
          <a:prstGeom prst="curved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3" name="楕円 22">
            <a:extLst>
              <a:ext uri="{FF2B5EF4-FFF2-40B4-BE49-F238E27FC236}">
                <a16:creationId xmlns:a16="http://schemas.microsoft.com/office/drawing/2014/main" id="{D0CB78D6-FAC4-A988-0C34-B827A43C293D}"/>
              </a:ext>
            </a:extLst>
          </p:cNvPr>
          <p:cNvSpPr/>
          <p:nvPr/>
        </p:nvSpPr>
        <p:spPr>
          <a:xfrm>
            <a:off x="1222068" y="2209171"/>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Tree>
    <p:extLst>
      <p:ext uri="{BB962C8B-B14F-4D97-AF65-F5344CB8AC3E}">
        <p14:creationId xmlns:p14="http://schemas.microsoft.com/office/powerpoint/2010/main" val="3431034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E51E48ED-678F-08B3-9359-70408874A1AC}"/>
              </a:ext>
            </a:extLst>
          </p:cNvPr>
          <p:cNvSpPr>
            <a:spLocks noGrp="1"/>
          </p:cNvSpPr>
          <p:nvPr>
            <p:ph type="sldNum" sz="quarter" idx="12"/>
          </p:nvPr>
        </p:nvSpPr>
        <p:spPr/>
        <p:txBody>
          <a:bodyPr/>
          <a:lstStyle/>
          <a:p>
            <a:fld id="{F4EC9C95-8009-4180-AAA8-5F6B382748D2}" type="slidenum">
              <a:rPr kumimoji="1" lang="ja-JP" altLang="en-US" smtClean="0"/>
              <a:t>20</a:t>
            </a:fld>
            <a:endParaRPr kumimoji="1" lang="ja-JP" altLang="en-US"/>
          </a:p>
        </p:txBody>
      </p:sp>
      <p:pic>
        <p:nvPicPr>
          <p:cNvPr id="6" name="図 5">
            <a:extLst>
              <a:ext uri="{FF2B5EF4-FFF2-40B4-BE49-F238E27FC236}">
                <a16:creationId xmlns:a16="http://schemas.microsoft.com/office/drawing/2014/main" id="{48FED996-3875-48D2-9691-F3345E195CAA}"/>
              </a:ext>
            </a:extLst>
          </p:cNvPr>
          <p:cNvPicPr>
            <a:picLocks noChangeAspect="1"/>
          </p:cNvPicPr>
          <p:nvPr/>
        </p:nvPicPr>
        <p:blipFill>
          <a:blip r:embed="rId2"/>
          <a:stretch>
            <a:fillRect/>
          </a:stretch>
        </p:blipFill>
        <p:spPr>
          <a:xfrm>
            <a:off x="184150" y="1198714"/>
            <a:ext cx="11823700" cy="5157636"/>
          </a:xfrm>
          <a:prstGeom prst="rect">
            <a:avLst/>
          </a:prstGeom>
        </p:spPr>
      </p:pic>
      <p:sp>
        <p:nvSpPr>
          <p:cNvPr id="12" name="正方形/長方形 11">
            <a:extLst>
              <a:ext uri="{FF2B5EF4-FFF2-40B4-BE49-F238E27FC236}">
                <a16:creationId xmlns:a16="http://schemas.microsoft.com/office/drawing/2014/main" id="{6BE7AB5B-ECB3-A568-4E6A-C33F8B267809}"/>
              </a:ext>
            </a:extLst>
          </p:cNvPr>
          <p:cNvSpPr/>
          <p:nvPr/>
        </p:nvSpPr>
        <p:spPr>
          <a:xfrm>
            <a:off x="9905999" y="2625527"/>
            <a:ext cx="2004923" cy="3175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AA93DEEB-D09A-D4D6-77B6-42AEE8E50D09}"/>
              </a:ext>
            </a:extLst>
          </p:cNvPr>
          <p:cNvSpPr txBox="1"/>
          <p:nvPr/>
        </p:nvSpPr>
        <p:spPr>
          <a:xfrm>
            <a:off x="254000" y="139700"/>
            <a:ext cx="2997937"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オーダーシート入力</a:t>
            </a:r>
          </a:p>
        </p:txBody>
      </p:sp>
      <p:sp>
        <p:nvSpPr>
          <p:cNvPr id="14" name="正方形/長方形 13">
            <a:extLst>
              <a:ext uri="{FF2B5EF4-FFF2-40B4-BE49-F238E27FC236}">
                <a16:creationId xmlns:a16="http://schemas.microsoft.com/office/drawing/2014/main" id="{5C308F6D-DC44-4521-EF7E-09300DD95961}"/>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オーダーシートを最終確定させるためには、案件詳細画面のオーダーシートタブの右上の“これえ</a:t>
            </a:r>
            <a:r>
              <a:rPr lang="en-US" altLang="ja-JP" sz="1400" b="1" dirty="0">
                <a:solidFill>
                  <a:schemeClr val="tx1"/>
                </a:solidFill>
                <a:latin typeface="Meiryo UI" panose="020B0604030504040204" pitchFamily="50" charset="-128"/>
                <a:ea typeface="Meiryo UI" panose="020B0604030504040204" pitchFamily="50" charset="-128"/>
              </a:rPr>
              <a:t>GO”</a:t>
            </a:r>
            <a:r>
              <a:rPr lang="ja-JP" altLang="en-US" sz="1400" b="1" dirty="0">
                <a:solidFill>
                  <a:schemeClr val="tx1"/>
                </a:solidFill>
                <a:latin typeface="Meiryo UI" panose="020B0604030504040204" pitchFamily="50" charset="-128"/>
                <a:ea typeface="Meiryo UI" panose="020B0604030504040204" pitchFamily="50" charset="-128"/>
              </a:rPr>
              <a:t>ボタンを押下してください。</a:t>
            </a:r>
          </a:p>
        </p:txBody>
      </p:sp>
      <p:sp>
        <p:nvSpPr>
          <p:cNvPr id="15" name="正方形/長方形 14">
            <a:extLst>
              <a:ext uri="{FF2B5EF4-FFF2-40B4-BE49-F238E27FC236}">
                <a16:creationId xmlns:a16="http://schemas.microsoft.com/office/drawing/2014/main" id="{2A057400-15D3-8851-C3B9-99FA18DFAF0F}"/>
              </a:ext>
            </a:extLst>
          </p:cNvPr>
          <p:cNvSpPr/>
          <p:nvPr/>
        </p:nvSpPr>
        <p:spPr>
          <a:xfrm>
            <a:off x="281078" y="2943027"/>
            <a:ext cx="5537200" cy="3492142"/>
          </a:xfrm>
          <a:prstGeom prst="rect">
            <a:avLst/>
          </a:prstGeom>
          <a:solidFill>
            <a:srgbClr val="F2F2F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9E5C2494-8012-80C6-52D7-B6E20B37F696}"/>
              </a:ext>
            </a:extLst>
          </p:cNvPr>
          <p:cNvGrpSpPr/>
          <p:nvPr/>
        </p:nvGrpSpPr>
        <p:grpSpPr>
          <a:xfrm>
            <a:off x="826339" y="3060722"/>
            <a:ext cx="4178300" cy="307777"/>
            <a:chOff x="7175500" y="1444823"/>
            <a:chExt cx="4178300" cy="307777"/>
          </a:xfrm>
        </p:grpSpPr>
        <p:cxnSp>
          <p:nvCxnSpPr>
            <p:cNvPr id="8" name="直線コネクタ 7">
              <a:extLst>
                <a:ext uri="{FF2B5EF4-FFF2-40B4-BE49-F238E27FC236}">
                  <a16:creationId xmlns:a16="http://schemas.microsoft.com/office/drawing/2014/main" id="{7F9DBF3E-4693-16F2-0E49-C7482F9C5E79}"/>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C4FD0970-92E8-3D19-9394-3EB00CF05210}"/>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0" name="正方形/長方形 9">
            <a:extLst>
              <a:ext uri="{FF2B5EF4-FFF2-40B4-BE49-F238E27FC236}">
                <a16:creationId xmlns:a16="http://schemas.microsoft.com/office/drawing/2014/main" id="{0D478291-2412-3271-C3B8-E1C492198904}"/>
              </a:ext>
            </a:extLst>
          </p:cNvPr>
          <p:cNvSpPr/>
          <p:nvPr/>
        </p:nvSpPr>
        <p:spPr>
          <a:xfrm>
            <a:off x="826339" y="36497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一度作成したオーダーシートを確定させるために、案件詳細画面のオーダーシートタブにある“これで</a:t>
            </a:r>
            <a:r>
              <a:rPr lang="en-US" altLang="ja-JP" sz="1200" dirty="0">
                <a:solidFill>
                  <a:schemeClr val="tx1"/>
                </a:solidFill>
                <a:latin typeface="Meiryo UI" panose="020B0604030504040204" pitchFamily="50" charset="-128"/>
                <a:ea typeface="Meiryo UI" panose="020B0604030504040204" pitchFamily="50" charset="-128"/>
              </a:rPr>
              <a:t>GO</a:t>
            </a:r>
            <a:r>
              <a:rPr lang="ja-JP" altLang="en-US" sz="1200" dirty="0">
                <a:solidFill>
                  <a:schemeClr val="tx1"/>
                </a:solidFill>
                <a:latin typeface="Meiryo UI" panose="020B0604030504040204" pitchFamily="50" charset="-128"/>
                <a:ea typeface="Meiryo UI" panose="020B0604030504040204" pitchFamily="50" charset="-128"/>
              </a:rPr>
              <a:t>”ボタンを押下してください。このボタンを押下すると</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1" name="楕円 10">
            <a:extLst>
              <a:ext uri="{FF2B5EF4-FFF2-40B4-BE49-F238E27FC236}">
                <a16:creationId xmlns:a16="http://schemas.microsoft.com/office/drawing/2014/main" id="{68886B8F-BA80-6143-E8D9-09B87C4C70B8}"/>
              </a:ext>
            </a:extLst>
          </p:cNvPr>
          <p:cNvSpPr/>
          <p:nvPr/>
        </p:nvSpPr>
        <p:spPr>
          <a:xfrm>
            <a:off x="686638" y="35797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pic>
        <p:nvPicPr>
          <p:cNvPr id="18" name="図 17">
            <a:extLst>
              <a:ext uri="{FF2B5EF4-FFF2-40B4-BE49-F238E27FC236}">
                <a16:creationId xmlns:a16="http://schemas.microsoft.com/office/drawing/2014/main" id="{164D482E-1118-12D3-92A8-594DF9A69024}"/>
              </a:ext>
            </a:extLst>
          </p:cNvPr>
          <p:cNvPicPr>
            <a:picLocks noChangeAspect="1"/>
          </p:cNvPicPr>
          <p:nvPr/>
        </p:nvPicPr>
        <p:blipFill>
          <a:blip r:embed="rId3"/>
          <a:stretch>
            <a:fillRect/>
          </a:stretch>
        </p:blipFill>
        <p:spPr>
          <a:xfrm>
            <a:off x="8133005" y="3500438"/>
            <a:ext cx="3888006" cy="1842451"/>
          </a:xfrm>
          <a:prstGeom prst="rect">
            <a:avLst/>
          </a:prstGeom>
        </p:spPr>
      </p:pic>
      <p:sp>
        <p:nvSpPr>
          <p:cNvPr id="19" name="正方形/長方形 18">
            <a:extLst>
              <a:ext uri="{FF2B5EF4-FFF2-40B4-BE49-F238E27FC236}">
                <a16:creationId xmlns:a16="http://schemas.microsoft.com/office/drawing/2014/main" id="{FB698B98-8DE8-03BE-D11A-54AF3D401191}"/>
              </a:ext>
            </a:extLst>
          </p:cNvPr>
          <p:cNvSpPr/>
          <p:nvPr/>
        </p:nvSpPr>
        <p:spPr>
          <a:xfrm>
            <a:off x="8133005" y="3772703"/>
            <a:ext cx="3652595" cy="147204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B463A282-8879-C20B-75FA-8DFF9901D17E}"/>
              </a:ext>
            </a:extLst>
          </p:cNvPr>
          <p:cNvSpPr/>
          <p:nvPr/>
        </p:nvSpPr>
        <p:spPr>
          <a:xfrm>
            <a:off x="826339" y="4689067"/>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一度確定させたオーダーシートを再編集したい場合は、“これで</a:t>
            </a:r>
            <a:r>
              <a:rPr lang="en-US" altLang="ja-JP" sz="1200" dirty="0">
                <a:solidFill>
                  <a:schemeClr val="tx1"/>
                </a:solidFill>
                <a:latin typeface="Meiryo UI" panose="020B0604030504040204" pitchFamily="50" charset="-128"/>
                <a:ea typeface="Meiryo UI" panose="020B0604030504040204" pitchFamily="50" charset="-128"/>
              </a:rPr>
              <a:t>GO</a:t>
            </a:r>
            <a:r>
              <a:rPr lang="ja-JP" altLang="en-US" sz="1200" dirty="0">
                <a:solidFill>
                  <a:schemeClr val="tx1"/>
                </a:solidFill>
                <a:latin typeface="Meiryo UI" panose="020B0604030504040204" pitchFamily="50" charset="-128"/>
                <a:ea typeface="Meiryo UI" panose="020B0604030504040204" pitchFamily="50" charset="-128"/>
              </a:rPr>
              <a:t>”ボタンを押下した後に表示されるハンコの取り消しボタンを押下してください。</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1" name="楕円 20">
            <a:extLst>
              <a:ext uri="{FF2B5EF4-FFF2-40B4-BE49-F238E27FC236}">
                <a16:creationId xmlns:a16="http://schemas.microsoft.com/office/drawing/2014/main" id="{7F5E193C-0854-F120-4B43-C50A76236C25}"/>
              </a:ext>
            </a:extLst>
          </p:cNvPr>
          <p:cNvSpPr/>
          <p:nvPr/>
        </p:nvSpPr>
        <p:spPr>
          <a:xfrm>
            <a:off x="686638" y="4619087"/>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
        <p:nvSpPr>
          <p:cNvPr id="22" name="楕円 21">
            <a:extLst>
              <a:ext uri="{FF2B5EF4-FFF2-40B4-BE49-F238E27FC236}">
                <a16:creationId xmlns:a16="http://schemas.microsoft.com/office/drawing/2014/main" id="{12EEEE00-3C42-16FF-9963-C803B40A30AA}"/>
              </a:ext>
            </a:extLst>
          </p:cNvPr>
          <p:cNvSpPr/>
          <p:nvPr/>
        </p:nvSpPr>
        <p:spPr>
          <a:xfrm>
            <a:off x="9691002" y="2417398"/>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3" name="楕円 22">
            <a:extLst>
              <a:ext uri="{FF2B5EF4-FFF2-40B4-BE49-F238E27FC236}">
                <a16:creationId xmlns:a16="http://schemas.microsoft.com/office/drawing/2014/main" id="{4C266672-878C-F857-E331-A4E09041BF1A}"/>
              </a:ext>
            </a:extLst>
          </p:cNvPr>
          <p:cNvSpPr/>
          <p:nvPr/>
        </p:nvSpPr>
        <p:spPr>
          <a:xfrm>
            <a:off x="7980426" y="3628581"/>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Tree>
    <p:extLst>
      <p:ext uri="{BB962C8B-B14F-4D97-AF65-F5344CB8AC3E}">
        <p14:creationId xmlns:p14="http://schemas.microsoft.com/office/powerpoint/2010/main" val="887245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9A941AC6-4DE5-00B7-3049-9BAE072F7916}"/>
              </a:ext>
            </a:extLst>
          </p:cNvPr>
          <p:cNvSpPr txBox="1"/>
          <p:nvPr/>
        </p:nvSpPr>
        <p:spPr>
          <a:xfrm>
            <a:off x="254000" y="139700"/>
            <a:ext cx="2669320"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各種記録の役割</a:t>
            </a:r>
          </a:p>
        </p:txBody>
      </p:sp>
      <p:graphicFrame>
        <p:nvGraphicFramePr>
          <p:cNvPr id="10" name="表 9">
            <a:extLst>
              <a:ext uri="{FF2B5EF4-FFF2-40B4-BE49-F238E27FC236}">
                <a16:creationId xmlns:a16="http://schemas.microsoft.com/office/drawing/2014/main" id="{D777DE13-87BE-CF23-0C0A-30DFC140651C}"/>
              </a:ext>
            </a:extLst>
          </p:cNvPr>
          <p:cNvGraphicFramePr>
            <a:graphicFrameLocks noGrp="1"/>
          </p:cNvGraphicFramePr>
          <p:nvPr/>
        </p:nvGraphicFramePr>
        <p:xfrm>
          <a:off x="1841500" y="1524000"/>
          <a:ext cx="8978900" cy="4648200"/>
        </p:xfrm>
        <a:graphic>
          <a:graphicData uri="http://schemas.openxmlformats.org/drawingml/2006/table">
            <a:tbl>
              <a:tblPr/>
              <a:tblGrid>
                <a:gridCol w="2244725">
                  <a:extLst>
                    <a:ext uri="{9D8B030D-6E8A-4147-A177-3AD203B41FA5}">
                      <a16:colId xmlns:a16="http://schemas.microsoft.com/office/drawing/2014/main" val="3263006434"/>
                    </a:ext>
                  </a:extLst>
                </a:gridCol>
                <a:gridCol w="2244725">
                  <a:extLst>
                    <a:ext uri="{9D8B030D-6E8A-4147-A177-3AD203B41FA5}">
                      <a16:colId xmlns:a16="http://schemas.microsoft.com/office/drawing/2014/main" val="1182197973"/>
                    </a:ext>
                  </a:extLst>
                </a:gridCol>
                <a:gridCol w="2244725">
                  <a:extLst>
                    <a:ext uri="{9D8B030D-6E8A-4147-A177-3AD203B41FA5}">
                      <a16:colId xmlns:a16="http://schemas.microsoft.com/office/drawing/2014/main" val="2467637552"/>
                    </a:ext>
                  </a:extLst>
                </a:gridCol>
                <a:gridCol w="2244725">
                  <a:extLst>
                    <a:ext uri="{9D8B030D-6E8A-4147-A177-3AD203B41FA5}">
                      <a16:colId xmlns:a16="http://schemas.microsoft.com/office/drawing/2014/main" val="1712324745"/>
                    </a:ext>
                  </a:extLst>
                </a:gridCol>
              </a:tblGrid>
              <a:tr h="554208">
                <a:tc>
                  <a:txBody>
                    <a:bodyPr/>
                    <a:lstStyle/>
                    <a:p>
                      <a:pPr marL="0" marR="0" indent="0" algn="ctr" fontAlgn="t">
                        <a:buNone/>
                      </a:pPr>
                      <a:r>
                        <a:rPr lang="ja-JP" sz="1200" b="0" i="0">
                          <a:solidFill>
                            <a:schemeClr val="bg1"/>
                          </a:solidFill>
                          <a:effectLst/>
                          <a:latin typeface="Meiryo UI" panose="020B0604030504040204" pitchFamily="50" charset="-128"/>
                          <a:ea typeface="Meiryo UI" panose="020B0604030504040204" pitchFamily="50" charset="-128"/>
                        </a:rPr>
                        <a:t>成果物</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fontAlgn="t">
                        <a:buNone/>
                      </a:pPr>
                      <a:r>
                        <a:rPr lang="ja-JP" sz="1200" b="0" i="0" dirty="0">
                          <a:solidFill>
                            <a:schemeClr val="bg1"/>
                          </a:solidFill>
                          <a:effectLst/>
                          <a:latin typeface="Meiryo UI" panose="020B0604030504040204" pitchFamily="50" charset="-128"/>
                          <a:ea typeface="Meiryo UI" panose="020B0604030504040204" pitchFamily="50" charset="-128"/>
                        </a:rPr>
                        <a:t>目的（何のため）</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fontAlgn="t">
                        <a:buNone/>
                      </a:pPr>
                      <a:r>
                        <a:rPr lang="ja-JP" sz="1200" b="0" i="0">
                          <a:solidFill>
                            <a:schemeClr val="bg1"/>
                          </a:solidFill>
                          <a:effectLst/>
                          <a:latin typeface="Meiryo UI" panose="020B0604030504040204" pitchFamily="50" charset="-128"/>
                          <a:ea typeface="Meiryo UI" panose="020B0604030504040204" pitchFamily="50" charset="-128"/>
                        </a:rPr>
                        <a:t>場面（誰が・いつ）</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fontAlgn="t">
                        <a:buNone/>
                      </a:pPr>
                      <a:r>
                        <a:rPr lang="ja-JP" sz="1200" b="0" i="0" dirty="0">
                          <a:solidFill>
                            <a:schemeClr val="bg1"/>
                          </a:solidFill>
                          <a:effectLst/>
                          <a:latin typeface="Meiryo UI" panose="020B0604030504040204" pitchFamily="50" charset="-128"/>
                          <a:ea typeface="Meiryo UI" panose="020B0604030504040204" pitchFamily="50" charset="-128"/>
                        </a:rPr>
                        <a:t>期日</a:t>
                      </a: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06191566"/>
                  </a:ext>
                </a:extLst>
              </a:tr>
              <a:tr h="92964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（前提）手書きパンフメモ</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お客様への説明用。その場でお渡しする要約</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受注担当が面談中に手書き</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面談中（その場でお客様へ）</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8818296"/>
                  </a:ext>
                </a:extLst>
              </a:tr>
              <a:tr h="1305072">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① 面談シート〈集める〉</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オーダーシート作成の元になる情報。パンフより詳細な"面談メモ"（社内用）</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受注担当。面談中＝パンフ記載＋補足をアプリへ／面談後＝移動中などに備忘の面談メモを追記</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面談中〜当日、遅くとも翌営業日 朝10:00まで</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2163604"/>
                  </a:ext>
                </a:extLst>
              </a:tr>
              <a:tr h="92964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② 面談結果登録〈確定する〉</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面談の結果を確定し、LP報告用に記載</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受注担当。面談後（移動中など）</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当日、遅くとも翌営業日 朝10:00まで</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0862601"/>
                  </a:ext>
                </a:extLst>
              </a:tr>
              <a:tr h="92964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③ オーダーシート〈設計する〉</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面談シートに作業指示を肉付けした"作業指示書＝骨子"</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受注担当がざっくり → 管理担当が詳細化</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ステータスが受注系になってから3営業日以内</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571846"/>
                  </a:ext>
                </a:extLst>
              </a:tr>
            </a:tbl>
          </a:graphicData>
        </a:graphic>
      </p:graphicFrame>
      <p:sp>
        <p:nvSpPr>
          <p:cNvPr id="12" name="スライド番号プレースホルダー 11">
            <a:extLst>
              <a:ext uri="{FF2B5EF4-FFF2-40B4-BE49-F238E27FC236}">
                <a16:creationId xmlns:a16="http://schemas.microsoft.com/office/drawing/2014/main" id="{C3671543-335B-87F7-1087-2C7B30854F63}"/>
              </a:ext>
            </a:extLst>
          </p:cNvPr>
          <p:cNvSpPr>
            <a:spLocks noGrp="1"/>
          </p:cNvSpPr>
          <p:nvPr>
            <p:ph type="sldNum" sz="quarter" idx="12"/>
          </p:nvPr>
        </p:nvSpPr>
        <p:spPr/>
        <p:txBody>
          <a:bodyPr/>
          <a:lstStyle/>
          <a:p>
            <a:fld id="{F4EC9C95-8009-4180-AAA8-5F6B382748D2}" type="slidenum">
              <a:rPr kumimoji="1" lang="ja-JP" altLang="en-US" smtClean="0"/>
              <a:t>21</a:t>
            </a:fld>
            <a:endParaRPr kumimoji="1" lang="ja-JP" altLang="en-US"/>
          </a:p>
        </p:txBody>
      </p:sp>
      <p:sp>
        <p:nvSpPr>
          <p:cNvPr id="3" name="正方形/長方形 2">
            <a:extLst>
              <a:ext uri="{FF2B5EF4-FFF2-40B4-BE49-F238E27FC236}">
                <a16:creationId xmlns:a16="http://schemas.microsoft.com/office/drawing/2014/main" id="{3D0BEE67-8657-B586-7E05-F01A6D619C24}"/>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手書きパンフ、面談シート、面談結果、オーダーシートのそれぞれの役割は下記の通り。</a:t>
            </a:r>
          </a:p>
        </p:txBody>
      </p:sp>
    </p:spTree>
    <p:extLst>
      <p:ext uri="{BB962C8B-B14F-4D97-AF65-F5344CB8AC3E}">
        <p14:creationId xmlns:p14="http://schemas.microsoft.com/office/powerpoint/2010/main" val="4013160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7CAD9-83A5-DC13-5BB2-FCDA70DC72C4}"/>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86A2456-4ADC-0BC1-AF4D-3139DE18ACD3}"/>
              </a:ext>
            </a:extLst>
          </p:cNvPr>
          <p:cNvSpPr>
            <a:spLocks noGrp="1"/>
          </p:cNvSpPr>
          <p:nvPr>
            <p:ph type="sldNum" sz="quarter" idx="12"/>
          </p:nvPr>
        </p:nvSpPr>
        <p:spPr/>
        <p:txBody>
          <a:bodyPr/>
          <a:lstStyle/>
          <a:p>
            <a:fld id="{F4EC9C95-8009-4180-AAA8-5F6B382748D2}" type="slidenum">
              <a:rPr kumimoji="1" lang="ja-JP" altLang="en-US" smtClean="0"/>
              <a:t>22</a:t>
            </a:fld>
            <a:endParaRPr kumimoji="1" lang="ja-JP" altLang="en-US"/>
          </a:p>
        </p:txBody>
      </p:sp>
      <p:sp>
        <p:nvSpPr>
          <p:cNvPr id="5" name="正方形/長方形 4">
            <a:extLst>
              <a:ext uri="{FF2B5EF4-FFF2-40B4-BE49-F238E27FC236}">
                <a16:creationId xmlns:a16="http://schemas.microsoft.com/office/drawing/2014/main" id="{7CE9D3EC-A15B-AE5C-D10D-C67AEAA6851C}"/>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87923540-4919-4DF6-6F9D-7C00B2E7F9CB}"/>
              </a:ext>
            </a:extLst>
          </p:cNvPr>
          <p:cNvSpPr txBox="1"/>
          <p:nvPr/>
        </p:nvSpPr>
        <p:spPr>
          <a:xfrm>
            <a:off x="800100" y="2275482"/>
            <a:ext cx="4698722"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前受金請求書発行</a:t>
            </a:r>
          </a:p>
        </p:txBody>
      </p:sp>
      <p:sp>
        <p:nvSpPr>
          <p:cNvPr id="7" name="テキスト ボックス 6">
            <a:extLst>
              <a:ext uri="{FF2B5EF4-FFF2-40B4-BE49-F238E27FC236}">
                <a16:creationId xmlns:a16="http://schemas.microsoft.com/office/drawing/2014/main" id="{61D3CB06-A554-30D8-BFC0-A91B3D98D91A}"/>
              </a:ext>
            </a:extLst>
          </p:cNvPr>
          <p:cNvSpPr txBox="1"/>
          <p:nvPr/>
        </p:nvSpPr>
        <p:spPr>
          <a:xfrm>
            <a:off x="800100" y="3131106"/>
            <a:ext cx="3898824" cy="369332"/>
          </a:xfrm>
          <a:prstGeom prst="rect">
            <a:avLst/>
          </a:prstGeom>
          <a:noFill/>
        </p:spPr>
        <p:txBody>
          <a:bodyPr wrap="none" rtlCol="0">
            <a:spAutoFit/>
          </a:bodyPr>
          <a:lstStyle/>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アラートやタスク、担当案件の一括管理</a:t>
            </a:r>
          </a:p>
        </p:txBody>
      </p:sp>
      <p:grpSp>
        <p:nvGrpSpPr>
          <p:cNvPr id="8" name="グループ化 7">
            <a:extLst>
              <a:ext uri="{FF2B5EF4-FFF2-40B4-BE49-F238E27FC236}">
                <a16:creationId xmlns:a16="http://schemas.microsoft.com/office/drawing/2014/main" id="{97FA7C65-3BEF-8636-6BAF-3A056CD2E437}"/>
              </a:ext>
            </a:extLst>
          </p:cNvPr>
          <p:cNvGrpSpPr/>
          <p:nvPr/>
        </p:nvGrpSpPr>
        <p:grpSpPr>
          <a:xfrm>
            <a:off x="5626099" y="1971213"/>
            <a:ext cx="6265617" cy="3614138"/>
            <a:chOff x="3932535" y="1971213"/>
            <a:chExt cx="7959182" cy="3614138"/>
          </a:xfrm>
        </p:grpSpPr>
        <p:sp>
          <p:nvSpPr>
            <p:cNvPr id="9" name="矢印: 五方向 8">
              <a:extLst>
                <a:ext uri="{FF2B5EF4-FFF2-40B4-BE49-F238E27FC236}">
                  <a16:creationId xmlns:a16="http://schemas.microsoft.com/office/drawing/2014/main" id="{AC6A7BD9-491C-1970-713D-AB8F0D83B999}"/>
                </a:ext>
              </a:extLst>
            </p:cNvPr>
            <p:cNvSpPr/>
            <p:nvPr/>
          </p:nvSpPr>
          <p:spPr>
            <a:xfrm>
              <a:off x="3980070" y="2929506"/>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面談実施</a:t>
              </a:r>
            </a:p>
          </p:txBody>
        </p:sp>
        <p:sp>
          <p:nvSpPr>
            <p:cNvPr id="10" name="矢印: 五方向 9">
              <a:extLst>
                <a:ext uri="{FF2B5EF4-FFF2-40B4-BE49-F238E27FC236}">
                  <a16:creationId xmlns:a16="http://schemas.microsoft.com/office/drawing/2014/main" id="{ABAA596B-9F69-F51B-CAA5-E09056A80AE4}"/>
                </a:ext>
              </a:extLst>
            </p:cNvPr>
            <p:cNvSpPr/>
            <p:nvPr/>
          </p:nvSpPr>
          <p:spPr>
            <a:xfrm>
              <a:off x="5362826" y="293502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solidFill>
                    <a:schemeClr val="bg1"/>
                  </a:solidFill>
                  <a:latin typeface="Meiryo UI" panose="020B0604030504040204" pitchFamily="50" charset="-128"/>
                  <a:ea typeface="Meiryo UI" panose="020B0604030504040204" pitchFamily="50" charset="-128"/>
                </a:rPr>
                <a:t>面談シート作成</a:t>
              </a:r>
              <a:endParaRPr kumimoji="1" lang="en-US" altLang="ja-JP" sz="1000" dirty="0">
                <a:solidFill>
                  <a:schemeClr val="bg1"/>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85029544-D2F7-3733-473A-A7E32CF5DC2A}"/>
                </a:ext>
              </a:extLst>
            </p:cNvPr>
            <p:cNvSpPr/>
            <p:nvPr/>
          </p:nvSpPr>
          <p:spPr>
            <a:xfrm>
              <a:off x="6751763" y="2935021"/>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面談結果登録</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79090331-8D36-C300-FAA0-EACBC63C30EB}"/>
                </a:ext>
              </a:extLst>
            </p:cNvPr>
            <p:cNvSpPr/>
            <p:nvPr/>
          </p:nvSpPr>
          <p:spPr>
            <a:xfrm>
              <a:off x="8177276" y="2922971"/>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endParaRPr lang="en-US" altLang="ja-JP" sz="1000" dirty="0">
                <a:solidFill>
                  <a:schemeClr val="bg1"/>
                </a:solidFill>
                <a:latin typeface="Meiryo UI" panose="020B0604030504040204" pitchFamily="50" charset="-128"/>
                <a:ea typeface="Meiryo UI" panose="020B0604030504040204" pitchFamily="50" charset="-128"/>
              </a:endParaRPr>
            </a:p>
            <a:p>
              <a:pPr algn="ctr"/>
              <a:r>
                <a:rPr lang="ja-JP" altLang="en-US" sz="1000" dirty="0">
                  <a:solidFill>
                    <a:schemeClr val="bg1"/>
                  </a:solidFill>
                  <a:latin typeface="Meiryo UI" panose="020B0604030504040204" pitchFamily="50" charset="-128"/>
                  <a:ea typeface="Meiryo UI" panose="020B0604030504040204" pitchFamily="50" charset="-128"/>
                </a:rPr>
                <a:t>作成</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3" name="矢印: 五方向 12">
              <a:extLst>
                <a:ext uri="{FF2B5EF4-FFF2-40B4-BE49-F238E27FC236}">
                  <a16:creationId xmlns:a16="http://schemas.microsoft.com/office/drawing/2014/main" id="{F24ECA4D-A5FA-41C7-47E0-55FDE730A6BE}"/>
                </a:ext>
              </a:extLst>
            </p:cNvPr>
            <p:cNvSpPr/>
            <p:nvPr/>
          </p:nvSpPr>
          <p:spPr>
            <a:xfrm>
              <a:off x="9520935" y="2922971"/>
              <a:ext cx="1275843" cy="846632"/>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前受け金請求書発行</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4" name="矢印: 五方向 13">
              <a:extLst>
                <a:ext uri="{FF2B5EF4-FFF2-40B4-BE49-F238E27FC236}">
                  <a16:creationId xmlns:a16="http://schemas.microsoft.com/office/drawing/2014/main" id="{95A02B1B-F16A-55B8-605D-8430013E291D}"/>
                </a:ext>
              </a:extLst>
            </p:cNvPr>
            <p:cNvSpPr/>
            <p:nvPr/>
          </p:nvSpPr>
          <p:spPr>
            <a:xfrm>
              <a:off x="8163761" y="2531038"/>
              <a:ext cx="3727956" cy="296640"/>
            </a:xfrm>
            <a:prstGeom prst="homePlate">
              <a:avLst>
                <a:gd name="adj" fmla="val 29518"/>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受注</a:t>
              </a:r>
            </a:p>
          </p:txBody>
        </p:sp>
        <p:sp>
          <p:nvSpPr>
            <p:cNvPr id="15" name="矢印: 五方向 14">
              <a:extLst>
                <a:ext uri="{FF2B5EF4-FFF2-40B4-BE49-F238E27FC236}">
                  <a16:creationId xmlns:a16="http://schemas.microsoft.com/office/drawing/2014/main" id="{806A6D03-D955-FB68-6C62-6E6454C68059}"/>
                </a:ext>
              </a:extLst>
            </p:cNvPr>
            <p:cNvSpPr/>
            <p:nvPr/>
          </p:nvSpPr>
          <p:spPr>
            <a:xfrm>
              <a:off x="6759253" y="3930865"/>
              <a:ext cx="2566263"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管理担当</a:t>
              </a:r>
              <a:r>
                <a:rPr kumimoji="1" lang="ja-JP" altLang="en-US" sz="1000" dirty="0">
                  <a:solidFill>
                    <a:schemeClr val="bg1"/>
                  </a:solidFill>
                  <a:latin typeface="Meiryo UI" panose="020B0604030504040204" pitchFamily="50" charset="-128"/>
                  <a:ea typeface="Meiryo UI" panose="020B0604030504040204" pitchFamily="50" charset="-128"/>
                </a:rPr>
                <a:t>アサイン</a:t>
              </a:r>
            </a:p>
          </p:txBody>
        </p:sp>
        <p:sp>
          <p:nvSpPr>
            <p:cNvPr id="16" name="矢印: 五方向 15">
              <a:extLst>
                <a:ext uri="{FF2B5EF4-FFF2-40B4-BE49-F238E27FC236}">
                  <a16:creationId xmlns:a16="http://schemas.microsoft.com/office/drawing/2014/main" id="{B4AC1513-3D2C-926B-DEAC-5B509032AAC2}"/>
                </a:ext>
              </a:extLst>
            </p:cNvPr>
            <p:cNvSpPr/>
            <p:nvPr/>
          </p:nvSpPr>
          <p:spPr>
            <a:xfrm>
              <a:off x="4090519" y="4982669"/>
              <a:ext cx="7801198"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契約書類</a:t>
              </a:r>
              <a:r>
                <a:rPr kumimoji="1" lang="ja-JP" altLang="en-US" sz="1000" dirty="0">
                  <a:solidFill>
                    <a:schemeClr val="bg1"/>
                  </a:solidFill>
                  <a:latin typeface="Meiryo UI" panose="020B0604030504040204" pitchFamily="50" charset="-128"/>
                  <a:ea typeface="Meiryo UI" panose="020B0604030504040204" pitchFamily="50" charset="-128"/>
                </a:rPr>
                <a:t>受領</a:t>
              </a:r>
            </a:p>
          </p:txBody>
        </p:sp>
        <p:sp>
          <p:nvSpPr>
            <p:cNvPr id="17" name="矢印: 五方向 16">
              <a:extLst>
                <a:ext uri="{FF2B5EF4-FFF2-40B4-BE49-F238E27FC236}">
                  <a16:creationId xmlns:a16="http://schemas.microsoft.com/office/drawing/2014/main" id="{6C997C4C-CD89-1981-C69B-3C6382A0166A}"/>
                </a:ext>
              </a:extLst>
            </p:cNvPr>
            <p:cNvSpPr/>
            <p:nvPr/>
          </p:nvSpPr>
          <p:spPr>
            <a:xfrm>
              <a:off x="8163761" y="4467553"/>
              <a:ext cx="2595151" cy="386739"/>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r>
                <a:rPr kumimoji="1" lang="ja-JP" altLang="en-US" sz="1000" dirty="0">
                  <a:solidFill>
                    <a:schemeClr val="bg1"/>
                  </a:solidFill>
                  <a:latin typeface="Meiryo UI" panose="020B0604030504040204" pitchFamily="50" charset="-128"/>
                  <a:ea typeface="Meiryo UI" panose="020B0604030504040204" pitchFamily="50" charset="-128"/>
                </a:rPr>
                <a:t>最終化</a:t>
              </a:r>
            </a:p>
          </p:txBody>
        </p:sp>
        <p:sp>
          <p:nvSpPr>
            <p:cNvPr id="18" name="矢印: 五方向 17">
              <a:extLst>
                <a:ext uri="{FF2B5EF4-FFF2-40B4-BE49-F238E27FC236}">
                  <a16:creationId xmlns:a16="http://schemas.microsoft.com/office/drawing/2014/main" id="{D8C9AFA0-46CC-9AE2-4B52-0B0FA8C02BAF}"/>
                </a:ext>
              </a:extLst>
            </p:cNvPr>
            <p:cNvSpPr/>
            <p:nvPr/>
          </p:nvSpPr>
          <p:spPr>
            <a:xfrm>
              <a:off x="3980070" y="2531038"/>
              <a:ext cx="4047537" cy="296640"/>
            </a:xfrm>
            <a:prstGeom prst="homePlate">
              <a:avLst>
                <a:gd name="adj" fmla="val 29518"/>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000" dirty="0">
                  <a:latin typeface="Meiryo UI" panose="020B0604030504040204" pitchFamily="50" charset="-128"/>
                  <a:ea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F74E1E95-4FEC-15D7-EA13-78F69D2ED861}"/>
                </a:ext>
              </a:extLst>
            </p:cNvPr>
            <p:cNvSpPr/>
            <p:nvPr/>
          </p:nvSpPr>
          <p:spPr>
            <a:xfrm>
              <a:off x="7130521" y="2011839"/>
              <a:ext cx="2012287" cy="138455"/>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日中～</a:t>
              </a:r>
              <a:r>
                <a:rPr lang="en-US" altLang="ja-JP" sz="900" b="1" dirty="0">
                  <a:solidFill>
                    <a:sysClr val="windowText" lastClr="000000"/>
                  </a:solidFill>
                  <a:latin typeface="Meiryo UI" panose="020B0604030504040204" pitchFamily="50" charset="-128"/>
                  <a:ea typeface="Meiryo UI" panose="020B0604030504040204" pitchFamily="50" charset="-128"/>
                </a:rPr>
                <a:t>N+1</a:t>
              </a:r>
              <a:r>
                <a:rPr lang="ja-JP" altLang="en-US" sz="900" b="1" dirty="0">
                  <a:solidFill>
                    <a:sysClr val="windowText" lastClr="000000"/>
                  </a:solidFill>
                  <a:latin typeface="Meiryo UI" panose="020B0604030504040204" pitchFamily="50" charset="-128"/>
                  <a:ea typeface="Meiryo UI" panose="020B0604030504040204" pitchFamily="50" charset="-128"/>
                </a:rPr>
                <a:t>日</a:t>
              </a:r>
              <a:r>
                <a:rPr lang="en-US" altLang="ja-JP" sz="900" b="1" dirty="0">
                  <a:solidFill>
                    <a:sysClr val="windowText" lastClr="000000"/>
                  </a:solidFill>
                  <a:latin typeface="Meiryo UI" panose="020B0604030504040204" pitchFamily="50" charset="-128"/>
                  <a:ea typeface="Meiryo UI" panose="020B0604030504040204" pitchFamily="50" charset="-128"/>
                </a:rPr>
                <a:t> AM10:00</a:t>
              </a:r>
              <a:endParaRPr kumimoji="1" lang="ja-JP" altLang="en-US" sz="900" b="1" dirty="0">
                <a:solidFill>
                  <a:sysClr val="windowText" lastClr="000000"/>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5AD8B2E5-BF37-BF17-7EB8-BDFFC6E6E8A4}"/>
                </a:ext>
              </a:extLst>
            </p:cNvPr>
            <p:cNvSpPr/>
            <p:nvPr/>
          </p:nvSpPr>
          <p:spPr>
            <a:xfrm>
              <a:off x="10239616" y="1997952"/>
              <a:ext cx="849051" cy="152342"/>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＋５日</a:t>
              </a:r>
            </a:p>
          </p:txBody>
        </p:sp>
        <p:grpSp>
          <p:nvGrpSpPr>
            <p:cNvPr id="21" name="グループ化 20">
              <a:extLst>
                <a:ext uri="{FF2B5EF4-FFF2-40B4-BE49-F238E27FC236}">
                  <a16:creationId xmlns:a16="http://schemas.microsoft.com/office/drawing/2014/main" id="{95E51391-5F74-10D5-B43D-68F20E23087A}"/>
                </a:ext>
              </a:extLst>
            </p:cNvPr>
            <p:cNvGrpSpPr/>
            <p:nvPr/>
          </p:nvGrpSpPr>
          <p:grpSpPr>
            <a:xfrm>
              <a:off x="8108672" y="2150295"/>
              <a:ext cx="2578875" cy="3435056"/>
              <a:chOff x="8108672" y="2180680"/>
              <a:chExt cx="2578875" cy="4340492"/>
            </a:xfrm>
          </p:grpSpPr>
          <p:cxnSp>
            <p:nvCxnSpPr>
              <p:cNvPr id="24" name="直線コネクタ 23">
                <a:extLst>
                  <a:ext uri="{FF2B5EF4-FFF2-40B4-BE49-F238E27FC236}">
                    <a16:creationId xmlns:a16="http://schemas.microsoft.com/office/drawing/2014/main" id="{61D5A18E-0F08-1886-B83E-1B306AEBBBD7}"/>
                  </a:ext>
                </a:extLst>
              </p:cNvPr>
              <p:cNvCxnSpPr>
                <a:cxnSpLocks/>
                <a:stCxn id="19" idx="2"/>
              </p:cNvCxnSpPr>
              <p:nvPr/>
            </p:nvCxnSpPr>
            <p:spPr>
              <a:xfrm flipH="1">
                <a:off x="8108672" y="2180680"/>
                <a:ext cx="27992"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E18F62EA-E55E-ADD6-62A3-0699F17EA17A}"/>
                  </a:ext>
                </a:extLst>
              </p:cNvPr>
              <p:cNvCxnSpPr>
                <a:cxnSpLocks/>
                <a:stCxn id="20" idx="2"/>
              </p:cNvCxnSpPr>
              <p:nvPr/>
            </p:nvCxnSpPr>
            <p:spPr>
              <a:xfrm>
                <a:off x="10664141" y="2180680"/>
                <a:ext cx="23406"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grpSp>
        <p:sp>
          <p:nvSpPr>
            <p:cNvPr id="22" name="四角形: 角を丸くする 21">
              <a:extLst>
                <a:ext uri="{FF2B5EF4-FFF2-40B4-BE49-F238E27FC236}">
                  <a16:creationId xmlns:a16="http://schemas.microsoft.com/office/drawing/2014/main" id="{5F7FFA8F-BC4F-2505-6951-5469CDC3C5CB}"/>
                </a:ext>
              </a:extLst>
            </p:cNvPr>
            <p:cNvSpPr/>
            <p:nvPr/>
          </p:nvSpPr>
          <p:spPr>
            <a:xfrm>
              <a:off x="3932535" y="1971213"/>
              <a:ext cx="791257" cy="170717"/>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a:t>
              </a:r>
            </a:p>
          </p:txBody>
        </p:sp>
        <p:cxnSp>
          <p:nvCxnSpPr>
            <p:cNvPr id="23" name="直線コネクタ 22">
              <a:extLst>
                <a:ext uri="{FF2B5EF4-FFF2-40B4-BE49-F238E27FC236}">
                  <a16:creationId xmlns:a16="http://schemas.microsoft.com/office/drawing/2014/main" id="{31C1477F-38F9-FC1E-5E39-9B3264483BEB}"/>
                </a:ext>
              </a:extLst>
            </p:cNvPr>
            <p:cNvCxnSpPr>
              <a:cxnSpLocks/>
            </p:cNvCxnSpPr>
            <p:nvPr/>
          </p:nvCxnSpPr>
          <p:spPr>
            <a:xfrm>
              <a:off x="3980070" y="2237223"/>
              <a:ext cx="7911647" cy="0"/>
            </a:xfrm>
            <a:prstGeom prst="line">
              <a:avLst/>
            </a:prstGeom>
            <a:ln>
              <a:solidFill>
                <a:srgbClr val="FFC000"/>
              </a:solidFill>
              <a:headEnd type="oval" w="lg" len="lg"/>
              <a:tailEnd type="arrow"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96771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15EA228-793B-CDA4-E04B-544DABCD7DCC}"/>
              </a:ext>
            </a:extLst>
          </p:cNvPr>
          <p:cNvSpPr>
            <a:spLocks noGrp="1"/>
          </p:cNvSpPr>
          <p:nvPr>
            <p:ph type="sldNum" sz="quarter" idx="12"/>
          </p:nvPr>
        </p:nvSpPr>
        <p:spPr/>
        <p:txBody>
          <a:bodyPr/>
          <a:lstStyle/>
          <a:p>
            <a:fld id="{F4EC9C95-8009-4180-AAA8-5F6B382748D2}" type="slidenum">
              <a:rPr kumimoji="1" lang="ja-JP" altLang="en-US" smtClean="0"/>
              <a:t>23</a:t>
            </a:fld>
            <a:endParaRPr kumimoji="1" lang="ja-JP" altLang="en-US"/>
          </a:p>
        </p:txBody>
      </p:sp>
      <p:pic>
        <p:nvPicPr>
          <p:cNvPr id="6" name="図 5">
            <a:extLst>
              <a:ext uri="{FF2B5EF4-FFF2-40B4-BE49-F238E27FC236}">
                <a16:creationId xmlns:a16="http://schemas.microsoft.com/office/drawing/2014/main" id="{03C77737-9B51-018F-DDF1-DED0BFA14AB1}"/>
              </a:ext>
            </a:extLst>
          </p:cNvPr>
          <p:cNvPicPr>
            <a:picLocks noChangeAspect="1"/>
          </p:cNvPicPr>
          <p:nvPr/>
        </p:nvPicPr>
        <p:blipFill>
          <a:blip r:embed="rId2"/>
          <a:stretch>
            <a:fillRect/>
          </a:stretch>
        </p:blipFill>
        <p:spPr>
          <a:xfrm>
            <a:off x="383541" y="1531644"/>
            <a:ext cx="9088118" cy="4201111"/>
          </a:xfrm>
          <a:prstGeom prst="rect">
            <a:avLst/>
          </a:prstGeom>
        </p:spPr>
      </p:pic>
      <p:sp>
        <p:nvSpPr>
          <p:cNvPr id="13" name="テキスト ボックス 12">
            <a:extLst>
              <a:ext uri="{FF2B5EF4-FFF2-40B4-BE49-F238E27FC236}">
                <a16:creationId xmlns:a16="http://schemas.microsoft.com/office/drawing/2014/main" id="{32480473-EE53-341D-8BF6-F18BE1427485}"/>
              </a:ext>
            </a:extLst>
          </p:cNvPr>
          <p:cNvSpPr txBox="1"/>
          <p:nvPr/>
        </p:nvSpPr>
        <p:spPr>
          <a:xfrm>
            <a:off x="254000" y="139700"/>
            <a:ext cx="3057247"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前受金請求書発行</a:t>
            </a:r>
          </a:p>
        </p:txBody>
      </p:sp>
      <p:sp>
        <p:nvSpPr>
          <p:cNvPr id="15" name="正方形/長方形 14">
            <a:extLst>
              <a:ext uri="{FF2B5EF4-FFF2-40B4-BE49-F238E27FC236}">
                <a16:creationId xmlns:a16="http://schemas.microsoft.com/office/drawing/2014/main" id="{DF6420C2-81E6-B7A2-022E-F204898D36AC}"/>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案件詳細画面の請求タブから前受金請求書を発行可能です。</a:t>
            </a:r>
          </a:p>
        </p:txBody>
      </p:sp>
      <p:sp>
        <p:nvSpPr>
          <p:cNvPr id="17" name="正方形/長方形 16">
            <a:extLst>
              <a:ext uri="{FF2B5EF4-FFF2-40B4-BE49-F238E27FC236}">
                <a16:creationId xmlns:a16="http://schemas.microsoft.com/office/drawing/2014/main" id="{6768948C-8189-728A-296A-2F94A3C8CB88}"/>
              </a:ext>
            </a:extLst>
          </p:cNvPr>
          <p:cNvSpPr/>
          <p:nvPr/>
        </p:nvSpPr>
        <p:spPr>
          <a:xfrm>
            <a:off x="2922677" y="4047927"/>
            <a:ext cx="988923" cy="3175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12057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8B65B-D12A-5E37-6F73-3206C65387CF}"/>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C92BED1-0F33-DB91-B205-B02D8BE237CE}"/>
              </a:ext>
            </a:extLst>
          </p:cNvPr>
          <p:cNvSpPr>
            <a:spLocks noGrp="1"/>
          </p:cNvSpPr>
          <p:nvPr>
            <p:ph type="sldNum" sz="quarter" idx="12"/>
          </p:nvPr>
        </p:nvSpPr>
        <p:spPr/>
        <p:txBody>
          <a:bodyPr/>
          <a:lstStyle/>
          <a:p>
            <a:fld id="{F4EC9C95-8009-4180-AAA8-5F6B382748D2}" type="slidenum">
              <a:rPr kumimoji="1" lang="ja-JP" altLang="en-US" smtClean="0"/>
              <a:t>24</a:t>
            </a:fld>
            <a:endParaRPr kumimoji="1" lang="ja-JP" altLang="en-US"/>
          </a:p>
        </p:txBody>
      </p:sp>
      <p:sp>
        <p:nvSpPr>
          <p:cNvPr id="13" name="テキスト ボックス 12">
            <a:extLst>
              <a:ext uri="{FF2B5EF4-FFF2-40B4-BE49-F238E27FC236}">
                <a16:creationId xmlns:a16="http://schemas.microsoft.com/office/drawing/2014/main" id="{7502386F-3149-F481-8701-E16081A27B11}"/>
              </a:ext>
            </a:extLst>
          </p:cNvPr>
          <p:cNvSpPr txBox="1"/>
          <p:nvPr/>
        </p:nvSpPr>
        <p:spPr>
          <a:xfrm>
            <a:off x="254000" y="139700"/>
            <a:ext cx="6327373"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前受金請求書発行　報酬・前受金の入力</a:t>
            </a:r>
          </a:p>
        </p:txBody>
      </p:sp>
      <p:sp>
        <p:nvSpPr>
          <p:cNvPr id="15" name="正方形/長方形 14">
            <a:extLst>
              <a:ext uri="{FF2B5EF4-FFF2-40B4-BE49-F238E27FC236}">
                <a16:creationId xmlns:a16="http://schemas.microsoft.com/office/drawing/2014/main" id="{FBD98C93-CD3D-152C-C932-EF6874DAACB3}"/>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案件の請求パターンを選択後、行司それぞれの報酬および、前受金金額を入力してください。</a:t>
            </a:r>
          </a:p>
        </p:txBody>
      </p:sp>
      <p:sp>
        <p:nvSpPr>
          <p:cNvPr id="17" name="正方形/長方形 16">
            <a:extLst>
              <a:ext uri="{FF2B5EF4-FFF2-40B4-BE49-F238E27FC236}">
                <a16:creationId xmlns:a16="http://schemas.microsoft.com/office/drawing/2014/main" id="{86797B9C-60FF-C9A0-FA00-DEADDFB2033A}"/>
              </a:ext>
            </a:extLst>
          </p:cNvPr>
          <p:cNvSpPr/>
          <p:nvPr/>
        </p:nvSpPr>
        <p:spPr>
          <a:xfrm>
            <a:off x="2922677" y="4047927"/>
            <a:ext cx="988923" cy="3175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a:extLst>
              <a:ext uri="{FF2B5EF4-FFF2-40B4-BE49-F238E27FC236}">
                <a16:creationId xmlns:a16="http://schemas.microsoft.com/office/drawing/2014/main" id="{96CFA2C0-03D5-DEFA-C838-18ABA62CF422}"/>
              </a:ext>
            </a:extLst>
          </p:cNvPr>
          <p:cNvPicPr>
            <a:picLocks noChangeAspect="1"/>
          </p:cNvPicPr>
          <p:nvPr/>
        </p:nvPicPr>
        <p:blipFill>
          <a:blip r:embed="rId2"/>
          <a:stretch>
            <a:fillRect/>
          </a:stretch>
        </p:blipFill>
        <p:spPr>
          <a:xfrm>
            <a:off x="41118" y="2109136"/>
            <a:ext cx="12192000" cy="3257973"/>
          </a:xfrm>
          <a:prstGeom prst="rect">
            <a:avLst/>
          </a:prstGeom>
        </p:spPr>
      </p:pic>
      <p:sp>
        <p:nvSpPr>
          <p:cNvPr id="8" name="正方形/長方形 7">
            <a:extLst>
              <a:ext uri="{FF2B5EF4-FFF2-40B4-BE49-F238E27FC236}">
                <a16:creationId xmlns:a16="http://schemas.microsoft.com/office/drawing/2014/main" id="{41C099B7-DBA7-15EC-3C0F-7F1DC5195D5E}"/>
              </a:ext>
            </a:extLst>
          </p:cNvPr>
          <p:cNvSpPr/>
          <p:nvPr/>
        </p:nvSpPr>
        <p:spPr>
          <a:xfrm>
            <a:off x="137877" y="3346990"/>
            <a:ext cx="11901723" cy="202011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08538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図 20">
            <a:extLst>
              <a:ext uri="{FF2B5EF4-FFF2-40B4-BE49-F238E27FC236}">
                <a16:creationId xmlns:a16="http://schemas.microsoft.com/office/drawing/2014/main" id="{7D545897-424E-8BC6-62AC-962DABA56FA9}"/>
              </a:ext>
            </a:extLst>
          </p:cNvPr>
          <p:cNvPicPr>
            <a:picLocks noChangeAspect="1"/>
          </p:cNvPicPr>
          <p:nvPr/>
        </p:nvPicPr>
        <p:blipFill>
          <a:blip r:embed="rId2"/>
          <a:stretch>
            <a:fillRect/>
          </a:stretch>
        </p:blipFill>
        <p:spPr>
          <a:xfrm>
            <a:off x="3975100" y="3240134"/>
            <a:ext cx="2743200" cy="3445984"/>
          </a:xfrm>
          <a:prstGeom prst="rect">
            <a:avLst/>
          </a:prstGeom>
        </p:spPr>
      </p:pic>
      <p:sp>
        <p:nvSpPr>
          <p:cNvPr id="4" name="スライド番号プレースホルダー 3">
            <a:extLst>
              <a:ext uri="{FF2B5EF4-FFF2-40B4-BE49-F238E27FC236}">
                <a16:creationId xmlns:a16="http://schemas.microsoft.com/office/drawing/2014/main" id="{46ED4DD3-D4E7-058C-7F03-4BFFA9FBB743}"/>
              </a:ext>
            </a:extLst>
          </p:cNvPr>
          <p:cNvSpPr>
            <a:spLocks noGrp="1"/>
          </p:cNvSpPr>
          <p:nvPr>
            <p:ph type="sldNum" sz="quarter" idx="12"/>
          </p:nvPr>
        </p:nvSpPr>
        <p:spPr/>
        <p:txBody>
          <a:bodyPr/>
          <a:lstStyle/>
          <a:p>
            <a:fld id="{F4EC9C95-8009-4180-AAA8-5F6B382748D2}" type="slidenum">
              <a:rPr kumimoji="1" lang="ja-JP" altLang="en-US" smtClean="0"/>
              <a:t>25</a:t>
            </a:fld>
            <a:endParaRPr kumimoji="1" lang="ja-JP" altLang="en-US"/>
          </a:p>
        </p:txBody>
      </p:sp>
      <p:sp>
        <p:nvSpPr>
          <p:cNvPr id="6" name="テキスト ボックス 5">
            <a:extLst>
              <a:ext uri="{FF2B5EF4-FFF2-40B4-BE49-F238E27FC236}">
                <a16:creationId xmlns:a16="http://schemas.microsoft.com/office/drawing/2014/main" id="{EB54603C-602B-976C-C47F-7FFB51B52D55}"/>
              </a:ext>
            </a:extLst>
          </p:cNvPr>
          <p:cNvSpPr txBox="1"/>
          <p:nvPr/>
        </p:nvSpPr>
        <p:spPr>
          <a:xfrm>
            <a:off x="254000" y="139700"/>
            <a:ext cx="6327373"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前受金請求書発行　報酬・前受金の入力</a:t>
            </a:r>
          </a:p>
        </p:txBody>
      </p:sp>
      <p:sp>
        <p:nvSpPr>
          <p:cNvPr id="8" name="正方形/長方形 7">
            <a:extLst>
              <a:ext uri="{FF2B5EF4-FFF2-40B4-BE49-F238E27FC236}">
                <a16:creationId xmlns:a16="http://schemas.microsoft.com/office/drawing/2014/main" id="{383384D8-ED7C-C6E5-86C4-2F88777E37AA}"/>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案件詳細画面、請求タブ右上の前受金請求書発行ボタンを押下してください、先ほど入力した金額が反映された請求書が発行されます。</a:t>
            </a:r>
          </a:p>
        </p:txBody>
      </p:sp>
      <p:pic>
        <p:nvPicPr>
          <p:cNvPr id="10" name="図 9">
            <a:extLst>
              <a:ext uri="{FF2B5EF4-FFF2-40B4-BE49-F238E27FC236}">
                <a16:creationId xmlns:a16="http://schemas.microsoft.com/office/drawing/2014/main" id="{0A12BA9C-864A-5250-FF91-7333D88242A7}"/>
              </a:ext>
            </a:extLst>
          </p:cNvPr>
          <p:cNvPicPr>
            <a:picLocks noChangeAspect="1"/>
          </p:cNvPicPr>
          <p:nvPr/>
        </p:nvPicPr>
        <p:blipFill>
          <a:blip r:embed="rId3"/>
          <a:stretch>
            <a:fillRect/>
          </a:stretch>
        </p:blipFill>
        <p:spPr>
          <a:xfrm>
            <a:off x="254000" y="1643115"/>
            <a:ext cx="6591435" cy="1279569"/>
          </a:xfrm>
          <a:prstGeom prst="rect">
            <a:avLst/>
          </a:prstGeom>
        </p:spPr>
      </p:pic>
      <p:pic>
        <p:nvPicPr>
          <p:cNvPr id="12" name="図 11">
            <a:extLst>
              <a:ext uri="{FF2B5EF4-FFF2-40B4-BE49-F238E27FC236}">
                <a16:creationId xmlns:a16="http://schemas.microsoft.com/office/drawing/2014/main" id="{08751552-2D17-DA17-470F-713775A754A0}"/>
              </a:ext>
            </a:extLst>
          </p:cNvPr>
          <p:cNvPicPr>
            <a:picLocks noChangeAspect="1"/>
          </p:cNvPicPr>
          <p:nvPr/>
        </p:nvPicPr>
        <p:blipFill>
          <a:blip r:embed="rId4"/>
          <a:stretch>
            <a:fillRect/>
          </a:stretch>
        </p:blipFill>
        <p:spPr>
          <a:xfrm>
            <a:off x="363314" y="3319093"/>
            <a:ext cx="2878166" cy="3219819"/>
          </a:xfrm>
          <a:prstGeom prst="rect">
            <a:avLst/>
          </a:prstGeom>
        </p:spPr>
      </p:pic>
      <p:sp>
        <p:nvSpPr>
          <p:cNvPr id="14" name="正方形/長方形 13">
            <a:extLst>
              <a:ext uri="{FF2B5EF4-FFF2-40B4-BE49-F238E27FC236}">
                <a16:creationId xmlns:a16="http://schemas.microsoft.com/office/drawing/2014/main" id="{4A3D3974-68BD-C30B-9C24-56C139AD1589}"/>
              </a:ext>
            </a:extLst>
          </p:cNvPr>
          <p:cNvSpPr/>
          <p:nvPr/>
        </p:nvSpPr>
        <p:spPr>
          <a:xfrm>
            <a:off x="5972018" y="2623015"/>
            <a:ext cx="987582" cy="18368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550E7402-773E-BE53-51C1-93C090355992}"/>
              </a:ext>
            </a:extLst>
          </p:cNvPr>
          <p:cNvSpPr/>
          <p:nvPr/>
        </p:nvSpPr>
        <p:spPr>
          <a:xfrm>
            <a:off x="254000" y="3262219"/>
            <a:ext cx="2987480" cy="327669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BCB1999-B266-5462-D71B-B2D0975B1765}"/>
              </a:ext>
            </a:extLst>
          </p:cNvPr>
          <p:cNvSpPr/>
          <p:nvPr/>
        </p:nvSpPr>
        <p:spPr>
          <a:xfrm>
            <a:off x="430206" y="4711700"/>
            <a:ext cx="2643194" cy="35564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コネクタ: 曲線 16">
            <a:extLst>
              <a:ext uri="{FF2B5EF4-FFF2-40B4-BE49-F238E27FC236}">
                <a16:creationId xmlns:a16="http://schemas.microsoft.com/office/drawing/2014/main" id="{92C839C2-E514-07FC-E3D8-CDD052FD8741}"/>
              </a:ext>
            </a:extLst>
          </p:cNvPr>
          <p:cNvCxnSpPr>
            <a:cxnSpLocks/>
          </p:cNvCxnSpPr>
          <p:nvPr/>
        </p:nvCxnSpPr>
        <p:spPr>
          <a:xfrm rot="10800000" flipV="1">
            <a:off x="2946400" y="2806700"/>
            <a:ext cx="3025622" cy="2070100"/>
          </a:xfrm>
          <a:prstGeom prst="curved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2" name="矢印: 右 21">
            <a:extLst>
              <a:ext uri="{FF2B5EF4-FFF2-40B4-BE49-F238E27FC236}">
                <a16:creationId xmlns:a16="http://schemas.microsoft.com/office/drawing/2014/main" id="{2073FD18-821C-2D79-C017-6A82D6F06DFB}"/>
              </a:ext>
            </a:extLst>
          </p:cNvPr>
          <p:cNvSpPr/>
          <p:nvPr/>
        </p:nvSpPr>
        <p:spPr>
          <a:xfrm>
            <a:off x="3417686" y="4929002"/>
            <a:ext cx="557414" cy="5446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3" name="グループ化 22">
            <a:extLst>
              <a:ext uri="{FF2B5EF4-FFF2-40B4-BE49-F238E27FC236}">
                <a16:creationId xmlns:a16="http://schemas.microsoft.com/office/drawing/2014/main" id="{21F8500C-C095-1401-8366-C2F27FA30694}"/>
              </a:ext>
            </a:extLst>
          </p:cNvPr>
          <p:cNvGrpSpPr/>
          <p:nvPr/>
        </p:nvGrpSpPr>
        <p:grpSpPr>
          <a:xfrm>
            <a:off x="7175499" y="1335338"/>
            <a:ext cx="4178300" cy="307777"/>
            <a:chOff x="7175500" y="1444823"/>
            <a:chExt cx="4178300" cy="307777"/>
          </a:xfrm>
        </p:grpSpPr>
        <p:cxnSp>
          <p:nvCxnSpPr>
            <p:cNvPr id="24" name="直線コネクタ 23">
              <a:extLst>
                <a:ext uri="{FF2B5EF4-FFF2-40B4-BE49-F238E27FC236}">
                  <a16:creationId xmlns:a16="http://schemas.microsoft.com/office/drawing/2014/main" id="{F46A21C1-9A69-E3FC-4904-9D172533E2E3}"/>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85B52C68-3998-D3B9-45E3-1FB7ED11E064}"/>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26" name="正方形/長方形 25">
            <a:extLst>
              <a:ext uri="{FF2B5EF4-FFF2-40B4-BE49-F238E27FC236}">
                <a16:creationId xmlns:a16="http://schemas.microsoft.com/office/drawing/2014/main" id="{79D44DE4-764A-7E19-076E-B3A0C6E1E995}"/>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請求入金タブで入力した前受金（行</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司それぞれ）が反映された請求書を自動作成</a:t>
            </a:r>
          </a:p>
        </p:txBody>
      </p:sp>
      <p:sp>
        <p:nvSpPr>
          <p:cNvPr id="27" name="楕円 26">
            <a:extLst>
              <a:ext uri="{FF2B5EF4-FFF2-40B4-BE49-F238E27FC236}">
                <a16:creationId xmlns:a16="http://schemas.microsoft.com/office/drawing/2014/main" id="{91229446-5179-EDD6-EEEB-9179690B1B72}"/>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8" name="楕円 27">
            <a:extLst>
              <a:ext uri="{FF2B5EF4-FFF2-40B4-BE49-F238E27FC236}">
                <a16:creationId xmlns:a16="http://schemas.microsoft.com/office/drawing/2014/main" id="{13A3B6BA-BB83-E0F5-E565-2F7D97F4B1B2}"/>
              </a:ext>
            </a:extLst>
          </p:cNvPr>
          <p:cNvSpPr/>
          <p:nvPr/>
        </p:nvSpPr>
        <p:spPr>
          <a:xfrm>
            <a:off x="106821" y="3047167"/>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pic>
        <p:nvPicPr>
          <p:cNvPr id="30" name="図 29">
            <a:extLst>
              <a:ext uri="{FF2B5EF4-FFF2-40B4-BE49-F238E27FC236}">
                <a16:creationId xmlns:a16="http://schemas.microsoft.com/office/drawing/2014/main" id="{BEEAA1DB-B46D-8C64-5ECE-C012EA4F944F}"/>
              </a:ext>
            </a:extLst>
          </p:cNvPr>
          <p:cNvPicPr>
            <a:picLocks noChangeAspect="1"/>
          </p:cNvPicPr>
          <p:nvPr/>
        </p:nvPicPr>
        <p:blipFill>
          <a:blip r:embed="rId5"/>
          <a:stretch>
            <a:fillRect/>
          </a:stretch>
        </p:blipFill>
        <p:spPr>
          <a:xfrm>
            <a:off x="6959600" y="3816307"/>
            <a:ext cx="4922267" cy="2146431"/>
          </a:xfrm>
          <a:prstGeom prst="rect">
            <a:avLst/>
          </a:prstGeom>
        </p:spPr>
      </p:pic>
      <p:sp>
        <p:nvSpPr>
          <p:cNvPr id="31" name="矢印: 右 30">
            <a:extLst>
              <a:ext uri="{FF2B5EF4-FFF2-40B4-BE49-F238E27FC236}">
                <a16:creationId xmlns:a16="http://schemas.microsoft.com/office/drawing/2014/main" id="{C47DEF23-D316-BA78-31DD-9F6E66359DEF}"/>
              </a:ext>
            </a:extLst>
          </p:cNvPr>
          <p:cNvSpPr/>
          <p:nvPr/>
        </p:nvSpPr>
        <p:spPr>
          <a:xfrm>
            <a:off x="6478384" y="4830932"/>
            <a:ext cx="557414" cy="5446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F85615A1-98B0-1B0C-330F-87D58F7486C9}"/>
              </a:ext>
            </a:extLst>
          </p:cNvPr>
          <p:cNvSpPr/>
          <p:nvPr/>
        </p:nvSpPr>
        <p:spPr>
          <a:xfrm>
            <a:off x="6999122" y="5344838"/>
            <a:ext cx="4829564" cy="61789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7BAB5B2E-95EF-E021-F27A-D40E7A0C75DA}"/>
              </a:ext>
            </a:extLst>
          </p:cNvPr>
          <p:cNvSpPr/>
          <p:nvPr/>
        </p:nvSpPr>
        <p:spPr>
          <a:xfrm>
            <a:off x="7192191" y="2922684"/>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案件詳細に表示されているナビゲーションの請求書発行に完了マークが自動で付与</a:t>
            </a:r>
          </a:p>
        </p:txBody>
      </p:sp>
      <p:sp>
        <p:nvSpPr>
          <p:cNvPr id="34" name="楕円 33">
            <a:extLst>
              <a:ext uri="{FF2B5EF4-FFF2-40B4-BE49-F238E27FC236}">
                <a16:creationId xmlns:a16="http://schemas.microsoft.com/office/drawing/2014/main" id="{98FE8B42-20E3-D424-5BEF-BA497FAA98D7}"/>
              </a:ext>
            </a:extLst>
          </p:cNvPr>
          <p:cNvSpPr/>
          <p:nvPr/>
        </p:nvSpPr>
        <p:spPr>
          <a:xfrm>
            <a:off x="7052490" y="2852704"/>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
        <p:nvSpPr>
          <p:cNvPr id="35" name="楕円 34">
            <a:extLst>
              <a:ext uri="{FF2B5EF4-FFF2-40B4-BE49-F238E27FC236}">
                <a16:creationId xmlns:a16="http://schemas.microsoft.com/office/drawing/2014/main" id="{A2EC726F-CCE3-4993-CE7F-85EDC14EB603}"/>
              </a:ext>
            </a:extLst>
          </p:cNvPr>
          <p:cNvSpPr/>
          <p:nvPr/>
        </p:nvSpPr>
        <p:spPr>
          <a:xfrm>
            <a:off x="6797286" y="5151870"/>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Tree>
    <p:extLst>
      <p:ext uri="{BB962C8B-B14F-4D97-AF65-F5344CB8AC3E}">
        <p14:creationId xmlns:p14="http://schemas.microsoft.com/office/powerpoint/2010/main" val="1506975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5B2A1-9CC2-BD18-9AE2-A5E481830F85}"/>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E6F70AA-AE98-9E59-245E-7E22D37CD76D}"/>
              </a:ext>
            </a:extLst>
          </p:cNvPr>
          <p:cNvSpPr>
            <a:spLocks noGrp="1"/>
          </p:cNvSpPr>
          <p:nvPr>
            <p:ph type="sldNum" sz="quarter" idx="12"/>
          </p:nvPr>
        </p:nvSpPr>
        <p:spPr/>
        <p:txBody>
          <a:bodyPr/>
          <a:lstStyle/>
          <a:p>
            <a:fld id="{F4EC9C95-8009-4180-AAA8-5F6B382748D2}" type="slidenum">
              <a:rPr kumimoji="1" lang="ja-JP" altLang="en-US" smtClean="0"/>
              <a:t>26</a:t>
            </a:fld>
            <a:endParaRPr kumimoji="1" lang="ja-JP" altLang="en-US"/>
          </a:p>
        </p:txBody>
      </p:sp>
      <p:sp>
        <p:nvSpPr>
          <p:cNvPr id="6" name="テキスト ボックス 5">
            <a:extLst>
              <a:ext uri="{FF2B5EF4-FFF2-40B4-BE49-F238E27FC236}">
                <a16:creationId xmlns:a16="http://schemas.microsoft.com/office/drawing/2014/main" id="{ACBF71F7-E5EB-6C5D-2906-A5F473DC5F4C}"/>
              </a:ext>
            </a:extLst>
          </p:cNvPr>
          <p:cNvSpPr txBox="1"/>
          <p:nvPr/>
        </p:nvSpPr>
        <p:spPr>
          <a:xfrm>
            <a:off x="254000" y="139700"/>
            <a:ext cx="2698175"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前受金入金通知</a:t>
            </a:r>
          </a:p>
        </p:txBody>
      </p:sp>
      <p:sp>
        <p:nvSpPr>
          <p:cNvPr id="8" name="正方形/長方形 7">
            <a:extLst>
              <a:ext uri="{FF2B5EF4-FFF2-40B4-BE49-F238E27FC236}">
                <a16:creationId xmlns:a16="http://schemas.microsoft.com/office/drawing/2014/main" id="{F3131EA8-BA48-BAAE-BB1F-662ECDEC0980}"/>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経理が入金処理をすると、入金済通知が届きます。また、入金御礼連絡を促すタスクが優先度高いタスクとして自動作成され、チームメンバーに共有されます。</a:t>
            </a:r>
          </a:p>
        </p:txBody>
      </p:sp>
      <p:grpSp>
        <p:nvGrpSpPr>
          <p:cNvPr id="23" name="グループ化 22">
            <a:extLst>
              <a:ext uri="{FF2B5EF4-FFF2-40B4-BE49-F238E27FC236}">
                <a16:creationId xmlns:a16="http://schemas.microsoft.com/office/drawing/2014/main" id="{1B3A7CED-41AF-2642-3A66-D3DF3907FFCA}"/>
              </a:ext>
            </a:extLst>
          </p:cNvPr>
          <p:cNvGrpSpPr/>
          <p:nvPr/>
        </p:nvGrpSpPr>
        <p:grpSpPr>
          <a:xfrm>
            <a:off x="7175499" y="1335338"/>
            <a:ext cx="4178300" cy="307777"/>
            <a:chOff x="7175500" y="1444823"/>
            <a:chExt cx="4178300" cy="307777"/>
          </a:xfrm>
        </p:grpSpPr>
        <p:cxnSp>
          <p:nvCxnSpPr>
            <p:cNvPr id="24" name="直線コネクタ 23">
              <a:extLst>
                <a:ext uri="{FF2B5EF4-FFF2-40B4-BE49-F238E27FC236}">
                  <a16:creationId xmlns:a16="http://schemas.microsoft.com/office/drawing/2014/main" id="{1FB5B2C0-3C78-BBDF-7DBA-93621A523B9F}"/>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051DB7AE-D304-5260-9F36-D33084B6F561}"/>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26" name="正方形/長方形 25">
            <a:extLst>
              <a:ext uri="{FF2B5EF4-FFF2-40B4-BE49-F238E27FC236}">
                <a16:creationId xmlns:a16="http://schemas.microsoft.com/office/drawing/2014/main" id="{21A69317-60D8-6DA4-2D1A-6AFCB87F879D}"/>
              </a:ext>
            </a:extLst>
          </p:cNvPr>
          <p:cNvSpPr/>
          <p:nvPr/>
        </p:nvSpPr>
        <p:spPr>
          <a:xfrm>
            <a:off x="7175499" y="1960616"/>
            <a:ext cx="4178300"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請求入金タブで入力した前受金（行</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司それぞれ）が反映された請求書を自動作成</a:t>
            </a:r>
          </a:p>
        </p:txBody>
      </p:sp>
      <p:sp>
        <p:nvSpPr>
          <p:cNvPr id="27" name="楕円 26">
            <a:extLst>
              <a:ext uri="{FF2B5EF4-FFF2-40B4-BE49-F238E27FC236}">
                <a16:creationId xmlns:a16="http://schemas.microsoft.com/office/drawing/2014/main" id="{BBE55504-75C5-2244-5C03-0FC1CDB3CF1B}"/>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pic>
        <p:nvPicPr>
          <p:cNvPr id="11" name="図 10">
            <a:extLst>
              <a:ext uri="{FF2B5EF4-FFF2-40B4-BE49-F238E27FC236}">
                <a16:creationId xmlns:a16="http://schemas.microsoft.com/office/drawing/2014/main" id="{49C02605-0100-FCC3-0206-DB985858EE5E}"/>
              </a:ext>
            </a:extLst>
          </p:cNvPr>
          <p:cNvPicPr>
            <a:picLocks noChangeAspect="1"/>
          </p:cNvPicPr>
          <p:nvPr/>
        </p:nvPicPr>
        <p:blipFill>
          <a:blip r:embed="rId2"/>
          <a:stretch>
            <a:fillRect/>
          </a:stretch>
        </p:blipFill>
        <p:spPr>
          <a:xfrm>
            <a:off x="363314" y="1960616"/>
            <a:ext cx="5896798" cy="2581635"/>
          </a:xfrm>
          <a:prstGeom prst="rect">
            <a:avLst/>
          </a:prstGeom>
        </p:spPr>
      </p:pic>
      <p:sp>
        <p:nvSpPr>
          <p:cNvPr id="7" name="正方形/長方形 6">
            <a:extLst>
              <a:ext uri="{FF2B5EF4-FFF2-40B4-BE49-F238E27FC236}">
                <a16:creationId xmlns:a16="http://schemas.microsoft.com/office/drawing/2014/main" id="{108B64F3-9DAD-4912-BEF4-D4AE71536B12}"/>
              </a:ext>
            </a:extLst>
          </p:cNvPr>
          <p:cNvSpPr/>
          <p:nvPr/>
        </p:nvSpPr>
        <p:spPr>
          <a:xfrm>
            <a:off x="527032" y="2903978"/>
            <a:ext cx="5568968" cy="75362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32FAF6DF-5ACB-9037-6852-36CFF37712ED}"/>
              </a:ext>
            </a:extLst>
          </p:cNvPr>
          <p:cNvSpPr/>
          <p:nvPr/>
        </p:nvSpPr>
        <p:spPr>
          <a:xfrm>
            <a:off x="254000" y="270224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18" name="正方形/長方形 17">
            <a:extLst>
              <a:ext uri="{FF2B5EF4-FFF2-40B4-BE49-F238E27FC236}">
                <a16:creationId xmlns:a16="http://schemas.microsoft.com/office/drawing/2014/main" id="{33CD8F96-7AC4-CBB1-6009-DEF1DF6C2CE6}"/>
              </a:ext>
            </a:extLst>
          </p:cNvPr>
          <p:cNvSpPr/>
          <p:nvPr/>
        </p:nvSpPr>
        <p:spPr>
          <a:xfrm>
            <a:off x="527032" y="1919855"/>
            <a:ext cx="5568968" cy="75362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A2D5A4D9-4D56-AA91-E9F5-1F46220F4105}"/>
              </a:ext>
            </a:extLst>
          </p:cNvPr>
          <p:cNvSpPr/>
          <p:nvPr/>
        </p:nvSpPr>
        <p:spPr>
          <a:xfrm>
            <a:off x="254000" y="1741393"/>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sp>
        <p:nvSpPr>
          <p:cNvPr id="20" name="正方形/長方形 19">
            <a:extLst>
              <a:ext uri="{FF2B5EF4-FFF2-40B4-BE49-F238E27FC236}">
                <a16:creationId xmlns:a16="http://schemas.microsoft.com/office/drawing/2014/main" id="{F21666A8-6A0B-DD40-8AF2-D0396E94999F}"/>
              </a:ext>
            </a:extLst>
          </p:cNvPr>
          <p:cNvSpPr/>
          <p:nvPr/>
        </p:nvSpPr>
        <p:spPr>
          <a:xfrm>
            <a:off x="7175499" y="2992688"/>
            <a:ext cx="4178300" cy="1058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入金通知と同時に入金御礼連絡を促すタスクが受注担当および管理担当それぞれに作成される。また、当タスクは優先度が高いため急ぎタスクとして、要確認案件バナーにも表示され、チームメンバー全体に共有される</a:t>
            </a:r>
          </a:p>
        </p:txBody>
      </p:sp>
      <p:sp>
        <p:nvSpPr>
          <p:cNvPr id="29" name="楕円 28">
            <a:extLst>
              <a:ext uri="{FF2B5EF4-FFF2-40B4-BE49-F238E27FC236}">
                <a16:creationId xmlns:a16="http://schemas.microsoft.com/office/drawing/2014/main" id="{1DA34F4B-E0F1-6BDA-E58C-834E8D744644}"/>
              </a:ext>
            </a:extLst>
          </p:cNvPr>
          <p:cNvSpPr/>
          <p:nvPr/>
        </p:nvSpPr>
        <p:spPr>
          <a:xfrm>
            <a:off x="7035798" y="2922709"/>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２</a:t>
            </a:r>
            <a:endParaRPr kumimoji="1" lang="ja-JP" altLang="en-US" b="1" dirty="0"/>
          </a:p>
        </p:txBody>
      </p:sp>
      <p:pic>
        <p:nvPicPr>
          <p:cNvPr id="31" name="図 30">
            <a:extLst>
              <a:ext uri="{FF2B5EF4-FFF2-40B4-BE49-F238E27FC236}">
                <a16:creationId xmlns:a16="http://schemas.microsoft.com/office/drawing/2014/main" id="{0374C454-1F1F-3B20-3D21-BAA743C688A9}"/>
              </a:ext>
            </a:extLst>
          </p:cNvPr>
          <p:cNvPicPr>
            <a:picLocks noChangeAspect="1"/>
          </p:cNvPicPr>
          <p:nvPr/>
        </p:nvPicPr>
        <p:blipFill>
          <a:blip r:embed="rId3"/>
          <a:stretch>
            <a:fillRect/>
          </a:stretch>
        </p:blipFill>
        <p:spPr>
          <a:xfrm>
            <a:off x="381329" y="4772753"/>
            <a:ext cx="5878783" cy="1482779"/>
          </a:xfrm>
          <a:prstGeom prst="rect">
            <a:avLst/>
          </a:prstGeom>
        </p:spPr>
      </p:pic>
      <p:cxnSp>
        <p:nvCxnSpPr>
          <p:cNvPr id="32" name="コネクタ: 曲線 31">
            <a:extLst>
              <a:ext uri="{FF2B5EF4-FFF2-40B4-BE49-F238E27FC236}">
                <a16:creationId xmlns:a16="http://schemas.microsoft.com/office/drawing/2014/main" id="{6FF8D9D5-36E7-757D-D046-441FE0290537}"/>
              </a:ext>
            </a:extLst>
          </p:cNvPr>
          <p:cNvCxnSpPr>
            <a:cxnSpLocks/>
            <a:stCxn id="18" idx="3"/>
          </p:cNvCxnSpPr>
          <p:nvPr/>
        </p:nvCxnSpPr>
        <p:spPr>
          <a:xfrm flipH="1">
            <a:off x="4800600" y="2296666"/>
            <a:ext cx="1295400" cy="2948434"/>
          </a:xfrm>
          <a:prstGeom prst="curvedConnector4">
            <a:avLst>
              <a:gd name="adj1" fmla="val -17647"/>
              <a:gd name="adj2" fmla="val 5639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3658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F96AB-07DB-443C-4F01-4114C029D53F}"/>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730A48E4-61B1-5FE8-1756-A10F8BA3B550}"/>
              </a:ext>
            </a:extLst>
          </p:cNvPr>
          <p:cNvSpPr>
            <a:spLocks noGrp="1"/>
          </p:cNvSpPr>
          <p:nvPr>
            <p:ph type="sldNum" sz="quarter" idx="12"/>
          </p:nvPr>
        </p:nvSpPr>
        <p:spPr/>
        <p:txBody>
          <a:bodyPr/>
          <a:lstStyle/>
          <a:p>
            <a:fld id="{F4EC9C95-8009-4180-AAA8-5F6B382748D2}" type="slidenum">
              <a:rPr kumimoji="1" lang="ja-JP" altLang="en-US" smtClean="0"/>
              <a:t>27</a:t>
            </a:fld>
            <a:endParaRPr kumimoji="1" lang="ja-JP" altLang="en-US"/>
          </a:p>
        </p:txBody>
      </p:sp>
      <p:sp>
        <p:nvSpPr>
          <p:cNvPr id="5" name="正方形/長方形 4">
            <a:extLst>
              <a:ext uri="{FF2B5EF4-FFF2-40B4-BE49-F238E27FC236}">
                <a16:creationId xmlns:a16="http://schemas.microsoft.com/office/drawing/2014/main" id="{B1E04320-1BAF-D9DE-F177-26AA41EFB912}"/>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B614FE9-F334-625A-FF77-AF009DB65EEB}"/>
              </a:ext>
            </a:extLst>
          </p:cNvPr>
          <p:cNvSpPr txBox="1"/>
          <p:nvPr/>
        </p:nvSpPr>
        <p:spPr>
          <a:xfrm>
            <a:off x="800100" y="2275482"/>
            <a:ext cx="3570208"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契約書類受領</a:t>
            </a:r>
          </a:p>
        </p:txBody>
      </p:sp>
      <p:sp>
        <p:nvSpPr>
          <p:cNvPr id="7" name="テキスト ボックス 6">
            <a:extLst>
              <a:ext uri="{FF2B5EF4-FFF2-40B4-BE49-F238E27FC236}">
                <a16:creationId xmlns:a16="http://schemas.microsoft.com/office/drawing/2014/main" id="{1D8460F2-CA24-9061-7D43-6118E0186DE2}"/>
              </a:ext>
            </a:extLst>
          </p:cNvPr>
          <p:cNvSpPr txBox="1"/>
          <p:nvPr/>
        </p:nvSpPr>
        <p:spPr>
          <a:xfrm>
            <a:off x="800100" y="3131106"/>
            <a:ext cx="3512500" cy="646331"/>
          </a:xfrm>
          <a:prstGeom prst="rect">
            <a:avLst/>
          </a:prstGeom>
          <a:noFill/>
        </p:spPr>
        <p:txBody>
          <a:bodyPr wrap="none" rtlCol="0">
            <a:spAutoFit/>
          </a:bodyPr>
          <a:lstStyle/>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契約書や委任状、印鑑証明書等の</a:t>
            </a:r>
            <a:endParaRPr kumimoji="1" lang="en-US" altLang="ja-JP" b="1" i="0" dirty="0">
              <a:solidFill>
                <a:schemeClr val="bg1"/>
              </a:solidFill>
              <a:effectLst/>
              <a:latin typeface="Meiryo UI" panose="020B0604030504040204" pitchFamily="50" charset="-128"/>
              <a:ea typeface="Meiryo UI" panose="020B0604030504040204" pitchFamily="50" charset="-128"/>
            </a:endParaRPr>
          </a:p>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契約書類の受領の流れ</a:t>
            </a:r>
          </a:p>
        </p:txBody>
      </p:sp>
      <p:grpSp>
        <p:nvGrpSpPr>
          <p:cNvPr id="2" name="グループ化 1">
            <a:extLst>
              <a:ext uri="{FF2B5EF4-FFF2-40B4-BE49-F238E27FC236}">
                <a16:creationId xmlns:a16="http://schemas.microsoft.com/office/drawing/2014/main" id="{93B1947C-F0EF-31C2-1AEC-18A1D8720CB3}"/>
              </a:ext>
            </a:extLst>
          </p:cNvPr>
          <p:cNvGrpSpPr/>
          <p:nvPr/>
        </p:nvGrpSpPr>
        <p:grpSpPr>
          <a:xfrm>
            <a:off x="5626099" y="1971213"/>
            <a:ext cx="6265617" cy="3614138"/>
            <a:chOff x="3932535" y="1971213"/>
            <a:chExt cx="7959182" cy="3614138"/>
          </a:xfrm>
        </p:grpSpPr>
        <p:sp>
          <p:nvSpPr>
            <p:cNvPr id="8" name="矢印: 五方向 7">
              <a:extLst>
                <a:ext uri="{FF2B5EF4-FFF2-40B4-BE49-F238E27FC236}">
                  <a16:creationId xmlns:a16="http://schemas.microsoft.com/office/drawing/2014/main" id="{A217F31F-5A21-0B0A-A5F6-B8E1284429EB}"/>
                </a:ext>
              </a:extLst>
            </p:cNvPr>
            <p:cNvSpPr/>
            <p:nvPr/>
          </p:nvSpPr>
          <p:spPr>
            <a:xfrm>
              <a:off x="3980070" y="2929506"/>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面談実施</a:t>
              </a:r>
            </a:p>
          </p:txBody>
        </p:sp>
        <p:sp>
          <p:nvSpPr>
            <p:cNvPr id="9" name="矢印: 五方向 8">
              <a:extLst>
                <a:ext uri="{FF2B5EF4-FFF2-40B4-BE49-F238E27FC236}">
                  <a16:creationId xmlns:a16="http://schemas.microsoft.com/office/drawing/2014/main" id="{C325558F-BE47-7578-8EF1-1FA020DFC0AE}"/>
                </a:ext>
              </a:extLst>
            </p:cNvPr>
            <p:cNvSpPr/>
            <p:nvPr/>
          </p:nvSpPr>
          <p:spPr>
            <a:xfrm>
              <a:off x="5362826" y="2935021"/>
              <a:ext cx="1275843" cy="846632"/>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solidFill>
                    <a:schemeClr val="bg1"/>
                  </a:solidFill>
                  <a:latin typeface="Meiryo UI" panose="020B0604030504040204" pitchFamily="50" charset="-128"/>
                  <a:ea typeface="Meiryo UI" panose="020B0604030504040204" pitchFamily="50" charset="-128"/>
                </a:rPr>
                <a:t>面談シート作成</a:t>
              </a:r>
              <a:endParaRPr kumimoji="1" lang="en-US" altLang="ja-JP" sz="1000" dirty="0">
                <a:solidFill>
                  <a:schemeClr val="bg1"/>
                </a:solidFill>
                <a:latin typeface="Meiryo UI" panose="020B0604030504040204" pitchFamily="50" charset="-128"/>
                <a:ea typeface="Meiryo UI" panose="020B0604030504040204" pitchFamily="50" charset="-128"/>
              </a:endParaRPr>
            </a:p>
          </p:txBody>
        </p:sp>
        <p:sp>
          <p:nvSpPr>
            <p:cNvPr id="10" name="矢印: 五方向 9">
              <a:extLst>
                <a:ext uri="{FF2B5EF4-FFF2-40B4-BE49-F238E27FC236}">
                  <a16:creationId xmlns:a16="http://schemas.microsoft.com/office/drawing/2014/main" id="{F93C08B0-5C87-7258-CA92-9FA4C68B3A9F}"/>
                </a:ext>
              </a:extLst>
            </p:cNvPr>
            <p:cNvSpPr/>
            <p:nvPr/>
          </p:nvSpPr>
          <p:spPr>
            <a:xfrm>
              <a:off x="6751763" y="2935021"/>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面談結果登録</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550B4DE0-A473-DA79-F422-2C0D1CC58AFC}"/>
                </a:ext>
              </a:extLst>
            </p:cNvPr>
            <p:cNvSpPr/>
            <p:nvPr/>
          </p:nvSpPr>
          <p:spPr>
            <a:xfrm>
              <a:off x="8177276" y="2922971"/>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endParaRPr lang="en-US" altLang="ja-JP" sz="1000" dirty="0">
                <a:solidFill>
                  <a:schemeClr val="bg1"/>
                </a:solidFill>
                <a:latin typeface="Meiryo UI" panose="020B0604030504040204" pitchFamily="50" charset="-128"/>
                <a:ea typeface="Meiryo UI" panose="020B0604030504040204" pitchFamily="50" charset="-128"/>
              </a:endParaRPr>
            </a:p>
            <a:p>
              <a:pPr algn="ctr"/>
              <a:r>
                <a:rPr lang="ja-JP" altLang="en-US" sz="1000" dirty="0">
                  <a:solidFill>
                    <a:schemeClr val="bg1"/>
                  </a:solidFill>
                  <a:latin typeface="Meiryo UI" panose="020B0604030504040204" pitchFamily="50" charset="-128"/>
                  <a:ea typeface="Meiryo UI" panose="020B0604030504040204" pitchFamily="50" charset="-128"/>
                </a:rPr>
                <a:t>作成</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2" name="矢印: 五方向 11">
              <a:extLst>
                <a:ext uri="{FF2B5EF4-FFF2-40B4-BE49-F238E27FC236}">
                  <a16:creationId xmlns:a16="http://schemas.microsoft.com/office/drawing/2014/main" id="{FAF059C7-F3E5-695C-19F5-489E308AD8D5}"/>
                </a:ext>
              </a:extLst>
            </p:cNvPr>
            <p:cNvSpPr/>
            <p:nvPr/>
          </p:nvSpPr>
          <p:spPr>
            <a:xfrm>
              <a:off x="9520935" y="2922971"/>
              <a:ext cx="1275843" cy="846632"/>
            </a:xfrm>
            <a:prstGeom prst="homePlate">
              <a:avLst>
                <a:gd name="adj" fmla="val 29518"/>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前受け金請求書発行</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sp>
          <p:nvSpPr>
            <p:cNvPr id="13" name="矢印: 五方向 12">
              <a:extLst>
                <a:ext uri="{FF2B5EF4-FFF2-40B4-BE49-F238E27FC236}">
                  <a16:creationId xmlns:a16="http://schemas.microsoft.com/office/drawing/2014/main" id="{B01AD8DD-9132-4C98-A0D5-1B2FB263D2FA}"/>
                </a:ext>
              </a:extLst>
            </p:cNvPr>
            <p:cNvSpPr/>
            <p:nvPr/>
          </p:nvSpPr>
          <p:spPr>
            <a:xfrm>
              <a:off x="8163761" y="2531038"/>
              <a:ext cx="3727956" cy="296640"/>
            </a:xfrm>
            <a:prstGeom prst="homePlate">
              <a:avLst>
                <a:gd name="adj" fmla="val 29518"/>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000" dirty="0">
                  <a:latin typeface="Meiryo UI" panose="020B0604030504040204" pitchFamily="50" charset="-128"/>
                  <a:ea typeface="Meiryo UI" panose="020B0604030504040204" pitchFamily="50" charset="-128"/>
                </a:rPr>
                <a:t>受注</a:t>
              </a:r>
            </a:p>
          </p:txBody>
        </p:sp>
        <p:sp>
          <p:nvSpPr>
            <p:cNvPr id="14" name="矢印: 五方向 13">
              <a:extLst>
                <a:ext uri="{FF2B5EF4-FFF2-40B4-BE49-F238E27FC236}">
                  <a16:creationId xmlns:a16="http://schemas.microsoft.com/office/drawing/2014/main" id="{14848265-510A-628D-1998-A34E5BC7BD7B}"/>
                </a:ext>
              </a:extLst>
            </p:cNvPr>
            <p:cNvSpPr/>
            <p:nvPr/>
          </p:nvSpPr>
          <p:spPr>
            <a:xfrm>
              <a:off x="6759253" y="3930865"/>
              <a:ext cx="2566263" cy="408163"/>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管理担当</a:t>
              </a:r>
              <a:r>
                <a:rPr kumimoji="1" lang="ja-JP" altLang="en-US" sz="1000" dirty="0">
                  <a:solidFill>
                    <a:schemeClr val="bg1"/>
                  </a:solidFill>
                  <a:latin typeface="Meiryo UI" panose="020B0604030504040204" pitchFamily="50" charset="-128"/>
                  <a:ea typeface="Meiryo UI" panose="020B0604030504040204" pitchFamily="50" charset="-128"/>
                </a:rPr>
                <a:t>アサイン</a:t>
              </a:r>
            </a:p>
          </p:txBody>
        </p:sp>
        <p:sp>
          <p:nvSpPr>
            <p:cNvPr id="15" name="矢印: 五方向 14">
              <a:extLst>
                <a:ext uri="{FF2B5EF4-FFF2-40B4-BE49-F238E27FC236}">
                  <a16:creationId xmlns:a16="http://schemas.microsoft.com/office/drawing/2014/main" id="{8A861B89-56A9-53CC-025E-D6FB885D76C5}"/>
                </a:ext>
              </a:extLst>
            </p:cNvPr>
            <p:cNvSpPr/>
            <p:nvPr/>
          </p:nvSpPr>
          <p:spPr>
            <a:xfrm>
              <a:off x="4090519" y="4982669"/>
              <a:ext cx="7801198" cy="408163"/>
            </a:xfrm>
            <a:prstGeom prst="homePlate">
              <a:avLst>
                <a:gd name="adj" fmla="val 2951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契約書類</a:t>
              </a:r>
              <a:r>
                <a:rPr kumimoji="1" lang="ja-JP" altLang="en-US" sz="1000" dirty="0">
                  <a:solidFill>
                    <a:schemeClr val="bg1"/>
                  </a:solidFill>
                  <a:latin typeface="Meiryo UI" panose="020B0604030504040204" pitchFamily="50" charset="-128"/>
                  <a:ea typeface="Meiryo UI" panose="020B0604030504040204" pitchFamily="50" charset="-128"/>
                </a:rPr>
                <a:t>受領</a:t>
              </a:r>
            </a:p>
          </p:txBody>
        </p:sp>
        <p:sp>
          <p:nvSpPr>
            <p:cNvPr id="16" name="矢印: 五方向 15">
              <a:extLst>
                <a:ext uri="{FF2B5EF4-FFF2-40B4-BE49-F238E27FC236}">
                  <a16:creationId xmlns:a16="http://schemas.microsoft.com/office/drawing/2014/main" id="{982F9C95-6380-3564-F370-276DCD53AB55}"/>
                </a:ext>
              </a:extLst>
            </p:cNvPr>
            <p:cNvSpPr/>
            <p:nvPr/>
          </p:nvSpPr>
          <p:spPr>
            <a:xfrm>
              <a:off x="8163761" y="4467553"/>
              <a:ext cx="2595151" cy="386739"/>
            </a:xfrm>
            <a:prstGeom prst="homePlate">
              <a:avLst>
                <a:gd name="adj" fmla="val 2951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オーダーシート</a:t>
              </a:r>
              <a:r>
                <a:rPr kumimoji="1" lang="ja-JP" altLang="en-US" sz="1000" dirty="0">
                  <a:solidFill>
                    <a:schemeClr val="bg1"/>
                  </a:solidFill>
                  <a:latin typeface="Meiryo UI" panose="020B0604030504040204" pitchFamily="50" charset="-128"/>
                  <a:ea typeface="Meiryo UI" panose="020B0604030504040204" pitchFamily="50" charset="-128"/>
                </a:rPr>
                <a:t>最終化</a:t>
              </a:r>
            </a:p>
          </p:txBody>
        </p:sp>
        <p:sp>
          <p:nvSpPr>
            <p:cNvPr id="17" name="矢印: 五方向 16">
              <a:extLst>
                <a:ext uri="{FF2B5EF4-FFF2-40B4-BE49-F238E27FC236}">
                  <a16:creationId xmlns:a16="http://schemas.microsoft.com/office/drawing/2014/main" id="{1D7219E1-F2DC-41B8-7698-54264123B324}"/>
                </a:ext>
              </a:extLst>
            </p:cNvPr>
            <p:cNvSpPr/>
            <p:nvPr/>
          </p:nvSpPr>
          <p:spPr>
            <a:xfrm>
              <a:off x="3980070" y="2531038"/>
              <a:ext cx="4047537" cy="296640"/>
            </a:xfrm>
            <a:prstGeom prst="homePlate">
              <a:avLst>
                <a:gd name="adj" fmla="val 29518"/>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ja-JP" sz="1000" dirty="0">
                  <a:latin typeface="Meiryo UI" panose="020B0604030504040204" pitchFamily="50" charset="-128"/>
                  <a:ea typeface="Meiryo UI" panose="020B0604030504040204" pitchFamily="50" charset="-128"/>
                </a:rPr>
                <a:t>-</a:t>
              </a:r>
              <a:endParaRPr kumimoji="1" lang="ja-JP" altLang="en-US" sz="1000" dirty="0">
                <a:latin typeface="Meiryo UI" panose="020B0604030504040204" pitchFamily="50" charset="-128"/>
                <a:ea typeface="Meiryo UI" panose="020B0604030504040204" pitchFamily="50" charset="-128"/>
              </a:endParaRPr>
            </a:p>
          </p:txBody>
        </p:sp>
        <p:sp>
          <p:nvSpPr>
            <p:cNvPr id="18" name="四角形: 角を丸くする 17">
              <a:extLst>
                <a:ext uri="{FF2B5EF4-FFF2-40B4-BE49-F238E27FC236}">
                  <a16:creationId xmlns:a16="http://schemas.microsoft.com/office/drawing/2014/main" id="{A02F568A-E308-7F30-9847-996EECDEE19F}"/>
                </a:ext>
              </a:extLst>
            </p:cNvPr>
            <p:cNvSpPr/>
            <p:nvPr/>
          </p:nvSpPr>
          <p:spPr>
            <a:xfrm>
              <a:off x="7130521" y="2011839"/>
              <a:ext cx="2012287" cy="138455"/>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日中～</a:t>
              </a:r>
              <a:r>
                <a:rPr lang="en-US" altLang="ja-JP" sz="900" b="1" dirty="0">
                  <a:solidFill>
                    <a:sysClr val="windowText" lastClr="000000"/>
                  </a:solidFill>
                  <a:latin typeface="Meiryo UI" panose="020B0604030504040204" pitchFamily="50" charset="-128"/>
                  <a:ea typeface="Meiryo UI" panose="020B0604030504040204" pitchFamily="50" charset="-128"/>
                </a:rPr>
                <a:t>N+1</a:t>
              </a:r>
              <a:r>
                <a:rPr lang="ja-JP" altLang="en-US" sz="900" b="1" dirty="0">
                  <a:solidFill>
                    <a:sysClr val="windowText" lastClr="000000"/>
                  </a:solidFill>
                  <a:latin typeface="Meiryo UI" panose="020B0604030504040204" pitchFamily="50" charset="-128"/>
                  <a:ea typeface="Meiryo UI" panose="020B0604030504040204" pitchFamily="50" charset="-128"/>
                </a:rPr>
                <a:t>日</a:t>
              </a:r>
              <a:r>
                <a:rPr lang="en-US" altLang="ja-JP" sz="900" b="1" dirty="0">
                  <a:solidFill>
                    <a:sysClr val="windowText" lastClr="000000"/>
                  </a:solidFill>
                  <a:latin typeface="Meiryo UI" panose="020B0604030504040204" pitchFamily="50" charset="-128"/>
                  <a:ea typeface="Meiryo UI" panose="020B0604030504040204" pitchFamily="50" charset="-128"/>
                </a:rPr>
                <a:t> AM10:00</a:t>
              </a:r>
              <a:endParaRPr kumimoji="1" lang="ja-JP" altLang="en-US" sz="900" b="1" dirty="0">
                <a:solidFill>
                  <a:sysClr val="windowText" lastClr="000000"/>
                </a:solidFill>
                <a:latin typeface="Meiryo UI" panose="020B0604030504040204" pitchFamily="50" charset="-128"/>
                <a:ea typeface="Meiryo UI" panose="020B0604030504040204" pitchFamily="50" charset="-128"/>
              </a:endParaRPr>
            </a:p>
          </p:txBody>
        </p:sp>
        <p:sp>
          <p:nvSpPr>
            <p:cNvPr id="19" name="四角形: 角を丸くする 18">
              <a:extLst>
                <a:ext uri="{FF2B5EF4-FFF2-40B4-BE49-F238E27FC236}">
                  <a16:creationId xmlns:a16="http://schemas.microsoft.com/office/drawing/2014/main" id="{782C1775-47B7-0BB1-F3E5-EE987BDDD63F}"/>
                </a:ext>
              </a:extLst>
            </p:cNvPr>
            <p:cNvSpPr/>
            <p:nvPr/>
          </p:nvSpPr>
          <p:spPr>
            <a:xfrm>
              <a:off x="10239616" y="1997952"/>
              <a:ext cx="849051" cy="152342"/>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＋５日</a:t>
              </a:r>
            </a:p>
          </p:txBody>
        </p:sp>
        <p:grpSp>
          <p:nvGrpSpPr>
            <p:cNvPr id="20" name="グループ化 19">
              <a:extLst>
                <a:ext uri="{FF2B5EF4-FFF2-40B4-BE49-F238E27FC236}">
                  <a16:creationId xmlns:a16="http://schemas.microsoft.com/office/drawing/2014/main" id="{C94BB6DC-F3F8-AE7B-CA78-63DEC5704C41}"/>
                </a:ext>
              </a:extLst>
            </p:cNvPr>
            <p:cNvGrpSpPr/>
            <p:nvPr/>
          </p:nvGrpSpPr>
          <p:grpSpPr>
            <a:xfrm>
              <a:off x="8108672" y="2150295"/>
              <a:ext cx="2578875" cy="3435056"/>
              <a:chOff x="8108672" y="2180680"/>
              <a:chExt cx="2578875" cy="4340492"/>
            </a:xfrm>
          </p:grpSpPr>
          <p:cxnSp>
            <p:nvCxnSpPr>
              <p:cNvPr id="23" name="直線コネクタ 22">
                <a:extLst>
                  <a:ext uri="{FF2B5EF4-FFF2-40B4-BE49-F238E27FC236}">
                    <a16:creationId xmlns:a16="http://schemas.microsoft.com/office/drawing/2014/main" id="{21DA536F-032B-4545-6BA1-E961092537C6}"/>
                  </a:ext>
                </a:extLst>
              </p:cNvPr>
              <p:cNvCxnSpPr>
                <a:cxnSpLocks/>
                <a:stCxn id="18" idx="2"/>
              </p:cNvCxnSpPr>
              <p:nvPr/>
            </p:nvCxnSpPr>
            <p:spPr>
              <a:xfrm flipH="1">
                <a:off x="8108672" y="2180680"/>
                <a:ext cx="27992"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502E3B8B-AB43-E190-DFEC-72C7D5AA7D38}"/>
                  </a:ext>
                </a:extLst>
              </p:cNvPr>
              <p:cNvCxnSpPr>
                <a:cxnSpLocks/>
                <a:stCxn id="19" idx="2"/>
              </p:cNvCxnSpPr>
              <p:nvPr/>
            </p:nvCxnSpPr>
            <p:spPr>
              <a:xfrm>
                <a:off x="10664141" y="2180680"/>
                <a:ext cx="23406" cy="4340492"/>
              </a:xfrm>
              <a:prstGeom prst="line">
                <a:avLst/>
              </a:prstGeom>
              <a:ln>
                <a:solidFill>
                  <a:srgbClr val="FFC000"/>
                </a:solidFill>
                <a:prstDash val="dash"/>
              </a:ln>
            </p:spPr>
            <p:style>
              <a:lnRef idx="2">
                <a:schemeClr val="accent1"/>
              </a:lnRef>
              <a:fillRef idx="0">
                <a:schemeClr val="accent1"/>
              </a:fillRef>
              <a:effectRef idx="1">
                <a:schemeClr val="accent1"/>
              </a:effectRef>
              <a:fontRef idx="minor">
                <a:schemeClr val="tx1"/>
              </a:fontRef>
            </p:style>
          </p:cxnSp>
        </p:grpSp>
        <p:sp>
          <p:nvSpPr>
            <p:cNvPr id="21" name="四角形: 角を丸くする 20">
              <a:extLst>
                <a:ext uri="{FF2B5EF4-FFF2-40B4-BE49-F238E27FC236}">
                  <a16:creationId xmlns:a16="http://schemas.microsoft.com/office/drawing/2014/main" id="{89174C8B-FD42-16CB-E37F-88829E4A5641}"/>
                </a:ext>
              </a:extLst>
            </p:cNvPr>
            <p:cNvSpPr/>
            <p:nvPr/>
          </p:nvSpPr>
          <p:spPr>
            <a:xfrm>
              <a:off x="3932535" y="1971213"/>
              <a:ext cx="791257" cy="170717"/>
            </a:xfrm>
            <a:prstGeom prst="roundRect">
              <a:avLst>
                <a:gd name="adj" fmla="val 5000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b="1" dirty="0">
                  <a:solidFill>
                    <a:sysClr val="windowText" lastClr="000000"/>
                  </a:solidFill>
                  <a:latin typeface="Meiryo UI" panose="020B0604030504040204" pitchFamily="50" charset="-128"/>
                  <a:ea typeface="Meiryo UI" panose="020B0604030504040204" pitchFamily="50" charset="-128"/>
                </a:rPr>
                <a:t>N</a:t>
              </a:r>
              <a:r>
                <a:rPr lang="ja-JP" altLang="en-US" sz="900" b="1" dirty="0">
                  <a:solidFill>
                    <a:sysClr val="windowText" lastClr="000000"/>
                  </a:solidFill>
                  <a:latin typeface="Meiryo UI" panose="020B0604030504040204" pitchFamily="50" charset="-128"/>
                  <a:ea typeface="Meiryo UI" panose="020B0604030504040204" pitchFamily="50" charset="-128"/>
                </a:rPr>
                <a:t>日</a:t>
              </a:r>
            </a:p>
          </p:txBody>
        </p:sp>
        <p:cxnSp>
          <p:nvCxnSpPr>
            <p:cNvPr id="22" name="直線コネクタ 21">
              <a:extLst>
                <a:ext uri="{FF2B5EF4-FFF2-40B4-BE49-F238E27FC236}">
                  <a16:creationId xmlns:a16="http://schemas.microsoft.com/office/drawing/2014/main" id="{9E6F1F5A-B6E5-E65C-905C-7E268CF4728F}"/>
                </a:ext>
              </a:extLst>
            </p:cNvPr>
            <p:cNvCxnSpPr>
              <a:cxnSpLocks/>
            </p:cNvCxnSpPr>
            <p:nvPr/>
          </p:nvCxnSpPr>
          <p:spPr>
            <a:xfrm>
              <a:off x="3980070" y="2237223"/>
              <a:ext cx="7911647" cy="0"/>
            </a:xfrm>
            <a:prstGeom prst="line">
              <a:avLst/>
            </a:prstGeom>
            <a:ln>
              <a:solidFill>
                <a:srgbClr val="FFC000"/>
              </a:solidFill>
              <a:headEnd type="oval" w="lg" len="lg"/>
              <a:tailEnd type="arrow"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190275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9F9F229-A50E-7C56-FD32-FFD4038625C3}"/>
              </a:ext>
            </a:extLst>
          </p:cNvPr>
          <p:cNvSpPr>
            <a:spLocks noGrp="1"/>
          </p:cNvSpPr>
          <p:nvPr>
            <p:ph type="sldNum" sz="quarter" idx="12"/>
          </p:nvPr>
        </p:nvSpPr>
        <p:spPr/>
        <p:txBody>
          <a:bodyPr/>
          <a:lstStyle/>
          <a:p>
            <a:fld id="{F4EC9C95-8009-4180-AAA8-5F6B382748D2}" type="slidenum">
              <a:rPr kumimoji="1" lang="ja-JP" altLang="en-US" smtClean="0"/>
              <a:t>28</a:t>
            </a:fld>
            <a:endParaRPr kumimoji="1" lang="ja-JP" altLang="en-US"/>
          </a:p>
        </p:txBody>
      </p:sp>
      <p:pic>
        <p:nvPicPr>
          <p:cNvPr id="6" name="図 5">
            <a:extLst>
              <a:ext uri="{FF2B5EF4-FFF2-40B4-BE49-F238E27FC236}">
                <a16:creationId xmlns:a16="http://schemas.microsoft.com/office/drawing/2014/main" id="{F3709BD4-1943-8A47-5B23-C0FF6BAC969C}"/>
              </a:ext>
            </a:extLst>
          </p:cNvPr>
          <p:cNvPicPr>
            <a:picLocks noChangeAspect="1"/>
          </p:cNvPicPr>
          <p:nvPr/>
        </p:nvPicPr>
        <p:blipFill>
          <a:blip r:embed="rId2"/>
          <a:srcRect l="34443"/>
          <a:stretch>
            <a:fillRect/>
          </a:stretch>
        </p:blipFill>
        <p:spPr>
          <a:xfrm>
            <a:off x="381000" y="1691917"/>
            <a:ext cx="3040455" cy="2367321"/>
          </a:xfrm>
          <a:prstGeom prst="rect">
            <a:avLst/>
          </a:prstGeom>
        </p:spPr>
      </p:pic>
      <p:sp>
        <p:nvSpPr>
          <p:cNvPr id="8" name="テキスト ボックス 7">
            <a:extLst>
              <a:ext uri="{FF2B5EF4-FFF2-40B4-BE49-F238E27FC236}">
                <a16:creationId xmlns:a16="http://schemas.microsoft.com/office/drawing/2014/main" id="{3BF3D4C2-FDC6-29C2-C1CD-117387684396}"/>
              </a:ext>
            </a:extLst>
          </p:cNvPr>
          <p:cNvSpPr txBox="1"/>
          <p:nvPr/>
        </p:nvSpPr>
        <p:spPr>
          <a:xfrm>
            <a:off x="254000" y="139700"/>
            <a:ext cx="4038285"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到着物受信の通知を受領</a:t>
            </a:r>
          </a:p>
        </p:txBody>
      </p:sp>
      <p:sp>
        <p:nvSpPr>
          <p:cNvPr id="10" name="正方形/長方形 9">
            <a:extLst>
              <a:ext uri="{FF2B5EF4-FFF2-40B4-BE49-F238E27FC236}">
                <a16:creationId xmlns:a16="http://schemas.microsoft.com/office/drawing/2014/main" id="{2454E27C-EDB2-EEF1-2E25-AAB0BDE7EC48}"/>
              </a:ext>
            </a:extLst>
          </p:cNvPr>
          <p:cNvSpPr/>
          <p:nvPr/>
        </p:nvSpPr>
        <p:spPr>
          <a:xfrm>
            <a:off x="363314" y="662920"/>
            <a:ext cx="11547609" cy="4569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事務管理が到着物を受け取り、管理</a:t>
            </a:r>
            <a:r>
              <a:rPr lang="en-US" altLang="ja-JP" sz="1400" b="1" dirty="0">
                <a:solidFill>
                  <a:schemeClr val="tx1"/>
                </a:solidFill>
                <a:latin typeface="Meiryo UI" panose="020B0604030504040204" pitchFamily="50" charset="-128"/>
                <a:ea typeface="Meiryo UI" panose="020B0604030504040204" pitchFamily="50" charset="-128"/>
              </a:rPr>
              <a:t>/</a:t>
            </a:r>
            <a:r>
              <a:rPr lang="ja-JP" altLang="en-US" sz="1400" b="1" dirty="0">
                <a:solidFill>
                  <a:schemeClr val="tx1"/>
                </a:solidFill>
                <a:latin typeface="Meiryo UI" panose="020B0604030504040204" pitchFamily="50" charset="-128"/>
                <a:ea typeface="Meiryo UI" panose="020B0604030504040204" pitchFamily="50" charset="-128"/>
              </a:rPr>
              <a:t>受注担当宛ての郵送物と判断した場合、中身を開けずに、郵送物到着連絡が受注</a:t>
            </a:r>
            <a:r>
              <a:rPr lang="en-US" altLang="ja-JP" sz="1400" b="1" dirty="0">
                <a:solidFill>
                  <a:schemeClr val="tx1"/>
                </a:solidFill>
                <a:latin typeface="Meiryo UI" panose="020B0604030504040204" pitchFamily="50" charset="-128"/>
                <a:ea typeface="Meiryo UI" panose="020B0604030504040204" pitchFamily="50" charset="-128"/>
              </a:rPr>
              <a:t>/</a:t>
            </a:r>
            <a:r>
              <a:rPr lang="ja-JP" altLang="en-US" sz="1400" b="1" dirty="0">
                <a:solidFill>
                  <a:schemeClr val="tx1"/>
                </a:solidFill>
                <a:latin typeface="Meiryo UI" panose="020B0604030504040204" pitchFamily="50" charset="-128"/>
                <a:ea typeface="Meiryo UI" panose="020B0604030504040204" pitchFamily="50" charset="-128"/>
              </a:rPr>
              <a:t>管理担当宛てにアラートされる。</a:t>
            </a:r>
            <a:endParaRPr lang="en-US" altLang="ja-JP" sz="1400" b="1" dirty="0">
              <a:solidFill>
                <a:schemeClr val="tx1"/>
              </a:solidFill>
              <a:latin typeface="Meiryo UI" panose="020B0604030504040204" pitchFamily="50" charset="-128"/>
              <a:ea typeface="Meiryo UI" panose="020B0604030504040204" pitchFamily="50" charset="-128"/>
            </a:endParaRPr>
          </a:p>
          <a:p>
            <a:r>
              <a:rPr lang="ja-JP" altLang="en-US" sz="1400" b="1" dirty="0">
                <a:solidFill>
                  <a:schemeClr val="tx1"/>
                </a:solidFill>
                <a:latin typeface="Meiryo UI" panose="020B0604030504040204" pitchFamily="50" charset="-128"/>
                <a:ea typeface="Meiryo UI" panose="020B0604030504040204" pitchFamily="50" charset="-128"/>
              </a:rPr>
              <a:t>アラートを受け取り、郵送物を開封した後、内容物を到着受信簿に登録する必要がある。</a:t>
            </a:r>
          </a:p>
        </p:txBody>
      </p:sp>
      <p:pic>
        <p:nvPicPr>
          <p:cNvPr id="12" name="図 11">
            <a:extLst>
              <a:ext uri="{FF2B5EF4-FFF2-40B4-BE49-F238E27FC236}">
                <a16:creationId xmlns:a16="http://schemas.microsoft.com/office/drawing/2014/main" id="{FF738929-788B-0365-FED7-367CBB0434A8}"/>
              </a:ext>
            </a:extLst>
          </p:cNvPr>
          <p:cNvPicPr>
            <a:picLocks noChangeAspect="1"/>
          </p:cNvPicPr>
          <p:nvPr/>
        </p:nvPicPr>
        <p:blipFill>
          <a:blip r:embed="rId3"/>
          <a:stretch>
            <a:fillRect/>
          </a:stretch>
        </p:blipFill>
        <p:spPr>
          <a:xfrm>
            <a:off x="6948537" y="1691917"/>
            <a:ext cx="4862463" cy="3741730"/>
          </a:xfrm>
          <a:prstGeom prst="rect">
            <a:avLst/>
          </a:prstGeom>
        </p:spPr>
      </p:pic>
      <p:pic>
        <p:nvPicPr>
          <p:cNvPr id="14" name="図 13">
            <a:extLst>
              <a:ext uri="{FF2B5EF4-FFF2-40B4-BE49-F238E27FC236}">
                <a16:creationId xmlns:a16="http://schemas.microsoft.com/office/drawing/2014/main" id="{E1E41294-EF43-B7B2-15F7-BA148324A2FB}"/>
              </a:ext>
            </a:extLst>
          </p:cNvPr>
          <p:cNvPicPr>
            <a:picLocks noChangeAspect="1"/>
          </p:cNvPicPr>
          <p:nvPr/>
        </p:nvPicPr>
        <p:blipFill>
          <a:blip r:embed="rId4"/>
          <a:stretch>
            <a:fillRect/>
          </a:stretch>
        </p:blipFill>
        <p:spPr>
          <a:xfrm>
            <a:off x="3598905" y="1643115"/>
            <a:ext cx="3172182" cy="3429000"/>
          </a:xfrm>
          <a:prstGeom prst="rect">
            <a:avLst/>
          </a:prstGeom>
        </p:spPr>
      </p:pic>
      <p:sp>
        <p:nvSpPr>
          <p:cNvPr id="16" name="正方形/長方形 15">
            <a:extLst>
              <a:ext uri="{FF2B5EF4-FFF2-40B4-BE49-F238E27FC236}">
                <a16:creationId xmlns:a16="http://schemas.microsoft.com/office/drawing/2014/main" id="{E1B5B0E8-E9AB-7DF2-411B-461FE2961C83}"/>
              </a:ext>
            </a:extLst>
          </p:cNvPr>
          <p:cNvSpPr/>
          <p:nvPr/>
        </p:nvSpPr>
        <p:spPr>
          <a:xfrm>
            <a:off x="439199" y="3302000"/>
            <a:ext cx="2812001" cy="4953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F011CB6-D9CC-F7DC-1D96-6337EF469C24}"/>
              </a:ext>
            </a:extLst>
          </p:cNvPr>
          <p:cNvSpPr/>
          <p:nvPr/>
        </p:nvSpPr>
        <p:spPr>
          <a:xfrm>
            <a:off x="3598905" y="2862314"/>
            <a:ext cx="3040455" cy="179858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893E9532-E47B-4E40-ABD8-2143D72914A6}"/>
              </a:ext>
            </a:extLst>
          </p:cNvPr>
          <p:cNvSpPr/>
          <p:nvPr/>
        </p:nvSpPr>
        <p:spPr>
          <a:xfrm>
            <a:off x="6948537" y="3019528"/>
            <a:ext cx="4862463" cy="261927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コネクタ: 曲線 18">
            <a:extLst>
              <a:ext uri="{FF2B5EF4-FFF2-40B4-BE49-F238E27FC236}">
                <a16:creationId xmlns:a16="http://schemas.microsoft.com/office/drawing/2014/main" id="{9F923489-92E9-BD63-51C4-1D616537AF28}"/>
              </a:ext>
            </a:extLst>
          </p:cNvPr>
          <p:cNvCxnSpPr>
            <a:cxnSpLocks/>
          </p:cNvCxnSpPr>
          <p:nvPr/>
        </p:nvCxnSpPr>
        <p:spPr>
          <a:xfrm>
            <a:off x="3251200" y="3500438"/>
            <a:ext cx="347705" cy="296862"/>
          </a:xfrm>
          <a:prstGeom prst="curvedConnector3">
            <a:avLst>
              <a:gd name="adj1" fmla="val 5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コネクタ: 曲線 21">
            <a:extLst>
              <a:ext uri="{FF2B5EF4-FFF2-40B4-BE49-F238E27FC236}">
                <a16:creationId xmlns:a16="http://schemas.microsoft.com/office/drawing/2014/main" id="{271C8407-9C19-8002-CBBE-5436397671E0}"/>
              </a:ext>
            </a:extLst>
          </p:cNvPr>
          <p:cNvCxnSpPr>
            <a:cxnSpLocks/>
            <a:endCxn id="18" idx="1"/>
          </p:cNvCxnSpPr>
          <p:nvPr/>
        </p:nvCxnSpPr>
        <p:spPr>
          <a:xfrm rot="16200000" flipH="1">
            <a:off x="6597866" y="3978493"/>
            <a:ext cx="392164" cy="309177"/>
          </a:xfrm>
          <a:prstGeom prst="curved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613EAE50-5B14-AB72-0407-B31A192EECE1}"/>
              </a:ext>
            </a:extLst>
          </p:cNvPr>
          <p:cNvSpPr/>
          <p:nvPr/>
        </p:nvSpPr>
        <p:spPr>
          <a:xfrm>
            <a:off x="363314" y="5669321"/>
            <a:ext cx="2887886"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到着物受信のアラートがマイページに届く。アラートをクリックすると、到着受信簿の該当行に直接ジャンプ</a:t>
            </a:r>
          </a:p>
        </p:txBody>
      </p:sp>
      <p:sp>
        <p:nvSpPr>
          <p:cNvPr id="27" name="正方形/長方形 26">
            <a:extLst>
              <a:ext uri="{FF2B5EF4-FFF2-40B4-BE49-F238E27FC236}">
                <a16:creationId xmlns:a16="http://schemas.microsoft.com/office/drawing/2014/main" id="{D0299307-CF8D-8613-7F57-DDE333853285}"/>
              </a:ext>
            </a:extLst>
          </p:cNvPr>
          <p:cNvSpPr/>
          <p:nvPr/>
        </p:nvSpPr>
        <p:spPr>
          <a:xfrm>
            <a:off x="3751473" y="5638800"/>
            <a:ext cx="2887886"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到着物を開けて、内容を登録する。</a:t>
            </a:r>
          </a:p>
        </p:txBody>
      </p:sp>
      <p:sp>
        <p:nvSpPr>
          <p:cNvPr id="28" name="正方形/長方形 27">
            <a:extLst>
              <a:ext uri="{FF2B5EF4-FFF2-40B4-BE49-F238E27FC236}">
                <a16:creationId xmlns:a16="http://schemas.microsoft.com/office/drawing/2014/main" id="{1B27E00D-9F12-961B-4155-4CDB5BA42C80}"/>
              </a:ext>
            </a:extLst>
          </p:cNvPr>
          <p:cNvSpPr/>
          <p:nvPr/>
        </p:nvSpPr>
        <p:spPr>
          <a:xfrm>
            <a:off x="7139632" y="5608279"/>
            <a:ext cx="4214168" cy="6649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登録した内容が案件詳細の契約手続きタブに受信済として自動反映される。</a:t>
            </a:r>
          </a:p>
        </p:txBody>
      </p:sp>
    </p:spTree>
    <p:extLst>
      <p:ext uri="{BB962C8B-B14F-4D97-AF65-F5344CB8AC3E}">
        <p14:creationId xmlns:p14="http://schemas.microsoft.com/office/powerpoint/2010/main" val="1571242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DBF17-39A4-78CD-A0F6-A1D4D8B9FC9F}"/>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2096AB17-2CBC-1E11-F80B-D0CA846764E8}"/>
              </a:ext>
            </a:extLst>
          </p:cNvPr>
          <p:cNvSpPr>
            <a:spLocks noGrp="1"/>
          </p:cNvSpPr>
          <p:nvPr>
            <p:ph type="sldNum" sz="quarter" idx="12"/>
          </p:nvPr>
        </p:nvSpPr>
        <p:spPr/>
        <p:txBody>
          <a:bodyPr/>
          <a:lstStyle/>
          <a:p>
            <a:fld id="{F4EC9C95-8009-4180-AAA8-5F6B382748D2}" type="slidenum">
              <a:rPr kumimoji="1" lang="ja-JP" altLang="en-US" smtClean="0"/>
              <a:t>29</a:t>
            </a:fld>
            <a:endParaRPr kumimoji="1" lang="ja-JP" altLang="en-US"/>
          </a:p>
        </p:txBody>
      </p:sp>
      <p:sp>
        <p:nvSpPr>
          <p:cNvPr id="6" name="テキスト ボックス 5">
            <a:extLst>
              <a:ext uri="{FF2B5EF4-FFF2-40B4-BE49-F238E27FC236}">
                <a16:creationId xmlns:a16="http://schemas.microsoft.com/office/drawing/2014/main" id="{D77716A7-0C08-29B9-01FF-5C5C41839030}"/>
              </a:ext>
            </a:extLst>
          </p:cNvPr>
          <p:cNvSpPr txBox="1"/>
          <p:nvPr/>
        </p:nvSpPr>
        <p:spPr>
          <a:xfrm>
            <a:off x="254000" y="139700"/>
            <a:ext cx="5336717"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全ての作業着手前の手続きが完了</a:t>
            </a:r>
            <a:endParaRPr kumimoji="1" lang="en-US" altLang="ja-JP" sz="2800" b="1" dirty="0">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6D5F73DB-5745-2396-DAB2-9736C2079C4B}"/>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管理担当アサイン、オーダーシート最終化、契約書類の受領、前受金請求書の発行を完了させると、案件詳細ページに表示されているナビゲーションがすべて完了になり、作業着手準備に進むボタンが押下可能になる。押下すると、事務管理担当に引き継がれる。</a:t>
            </a:r>
            <a:endParaRPr lang="en-US" altLang="ja-JP" sz="1400" dirty="0">
              <a:solidFill>
                <a:schemeClr val="tx1"/>
              </a:solidFill>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4EC98065-A4AE-F7C5-92F6-7A531688A4DB}"/>
              </a:ext>
            </a:extLst>
          </p:cNvPr>
          <p:cNvPicPr>
            <a:picLocks noChangeAspect="1"/>
          </p:cNvPicPr>
          <p:nvPr/>
        </p:nvPicPr>
        <p:blipFill>
          <a:blip r:embed="rId2"/>
          <a:stretch>
            <a:fillRect/>
          </a:stretch>
        </p:blipFill>
        <p:spPr>
          <a:xfrm>
            <a:off x="363314" y="1965775"/>
            <a:ext cx="11353800" cy="2926450"/>
          </a:xfrm>
          <a:prstGeom prst="rect">
            <a:avLst/>
          </a:prstGeom>
        </p:spPr>
      </p:pic>
    </p:spTree>
    <p:extLst>
      <p:ext uri="{BB962C8B-B14F-4D97-AF65-F5344CB8AC3E}">
        <p14:creationId xmlns:p14="http://schemas.microsoft.com/office/powerpoint/2010/main" val="3896506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5A07C3AD-79D7-3EAF-82D7-7DA43391045B}"/>
              </a:ext>
            </a:extLst>
          </p:cNvPr>
          <p:cNvSpPr>
            <a:spLocks noGrp="1"/>
          </p:cNvSpPr>
          <p:nvPr>
            <p:ph type="sldNum" sz="quarter" idx="12"/>
          </p:nvPr>
        </p:nvSpPr>
        <p:spPr/>
        <p:txBody>
          <a:bodyPr/>
          <a:lstStyle/>
          <a:p>
            <a:fld id="{F4EC9C95-8009-4180-AAA8-5F6B382748D2}" type="slidenum">
              <a:rPr kumimoji="1" lang="ja-JP" altLang="en-US" smtClean="0"/>
              <a:t>30</a:t>
            </a:fld>
            <a:endParaRPr kumimoji="1" lang="ja-JP" altLang="en-US"/>
          </a:p>
        </p:txBody>
      </p:sp>
      <p:sp>
        <p:nvSpPr>
          <p:cNvPr id="5" name="正方形/長方形 4">
            <a:extLst>
              <a:ext uri="{FF2B5EF4-FFF2-40B4-BE49-F238E27FC236}">
                <a16:creationId xmlns:a16="http://schemas.microsoft.com/office/drawing/2014/main" id="{D52CDD98-4F44-31E1-FDCA-93B0098508FB}"/>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260EC8A-053F-8B85-7FC3-886D813A5F79}"/>
              </a:ext>
            </a:extLst>
          </p:cNvPr>
          <p:cNvSpPr txBox="1"/>
          <p:nvPr/>
        </p:nvSpPr>
        <p:spPr>
          <a:xfrm>
            <a:off x="800100" y="2275482"/>
            <a:ext cx="4786888" cy="769441"/>
          </a:xfrm>
          <a:prstGeom prst="rect">
            <a:avLst/>
          </a:prstGeom>
          <a:noFill/>
        </p:spPr>
        <p:txBody>
          <a:bodyPr wrap="none" rtlCol="0">
            <a:spAutoFit/>
          </a:bodyPr>
          <a:lstStyle/>
          <a:p>
            <a:pPr algn="l" fontAlgn="t"/>
            <a:r>
              <a:rPr kumimoji="1" lang="ja-JP" altLang="en-US" sz="4400" b="1" i="0" dirty="0">
                <a:solidFill>
                  <a:schemeClr val="bg1"/>
                </a:solidFill>
                <a:effectLst/>
                <a:latin typeface="Meiryo UI" panose="020B0604030504040204" pitchFamily="50" charset="-128"/>
                <a:ea typeface="Meiryo UI" panose="020B0604030504040204" pitchFamily="50" charset="-128"/>
              </a:rPr>
              <a:t>受注担当マイページ</a:t>
            </a:r>
          </a:p>
        </p:txBody>
      </p:sp>
      <p:sp>
        <p:nvSpPr>
          <p:cNvPr id="7" name="テキスト ボックス 6">
            <a:extLst>
              <a:ext uri="{FF2B5EF4-FFF2-40B4-BE49-F238E27FC236}">
                <a16:creationId xmlns:a16="http://schemas.microsoft.com/office/drawing/2014/main" id="{66D5D986-2923-F7B7-76BC-0A9E9711D34A}"/>
              </a:ext>
            </a:extLst>
          </p:cNvPr>
          <p:cNvSpPr txBox="1"/>
          <p:nvPr/>
        </p:nvSpPr>
        <p:spPr>
          <a:xfrm>
            <a:off x="800100" y="3131106"/>
            <a:ext cx="3898824" cy="369332"/>
          </a:xfrm>
          <a:prstGeom prst="rect">
            <a:avLst/>
          </a:prstGeom>
          <a:noFill/>
        </p:spPr>
        <p:txBody>
          <a:bodyPr wrap="none" rtlCol="0">
            <a:spAutoFit/>
          </a:bodyPr>
          <a:lstStyle/>
          <a:p>
            <a:pPr algn="l" fontAlgn="t"/>
            <a:r>
              <a:rPr kumimoji="1" lang="ja-JP" altLang="en-US" b="1" i="0" dirty="0">
                <a:solidFill>
                  <a:schemeClr val="bg1"/>
                </a:solidFill>
                <a:effectLst/>
                <a:latin typeface="Meiryo UI" panose="020B0604030504040204" pitchFamily="50" charset="-128"/>
                <a:ea typeface="Meiryo UI" panose="020B0604030504040204" pitchFamily="50" charset="-128"/>
              </a:rPr>
              <a:t>アラートやタスク、担当案件の一括管理</a:t>
            </a:r>
          </a:p>
        </p:txBody>
      </p:sp>
    </p:spTree>
    <p:extLst>
      <p:ext uri="{BB962C8B-B14F-4D97-AF65-F5344CB8AC3E}">
        <p14:creationId xmlns:p14="http://schemas.microsoft.com/office/powerpoint/2010/main" val="891862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93231188-71A0-6975-55A8-D580D5F64F19}"/>
              </a:ext>
            </a:extLst>
          </p:cNvPr>
          <p:cNvSpPr>
            <a:spLocks noGrp="1"/>
          </p:cNvSpPr>
          <p:nvPr>
            <p:ph type="sldNum" sz="quarter" idx="12"/>
          </p:nvPr>
        </p:nvSpPr>
        <p:spPr/>
        <p:txBody>
          <a:bodyPr/>
          <a:lstStyle/>
          <a:p>
            <a:fld id="{F4EC9C95-8009-4180-AAA8-5F6B382748D2}" type="slidenum">
              <a:rPr kumimoji="1" lang="ja-JP" altLang="en-US" smtClean="0"/>
              <a:t>31</a:t>
            </a:fld>
            <a:endParaRPr kumimoji="1" lang="ja-JP" altLang="en-US"/>
          </a:p>
        </p:txBody>
      </p:sp>
      <p:sp>
        <p:nvSpPr>
          <p:cNvPr id="6" name="テキスト ボックス 5">
            <a:extLst>
              <a:ext uri="{FF2B5EF4-FFF2-40B4-BE49-F238E27FC236}">
                <a16:creationId xmlns:a16="http://schemas.microsoft.com/office/drawing/2014/main" id="{52027983-98C8-329F-74A7-E8E4FB57EAC1}"/>
              </a:ext>
            </a:extLst>
          </p:cNvPr>
          <p:cNvSpPr txBox="1"/>
          <p:nvPr/>
        </p:nvSpPr>
        <p:spPr>
          <a:xfrm>
            <a:off x="254000" y="139700"/>
            <a:ext cx="4112601"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受注担当マイページ　</a:t>
            </a:r>
            <a:r>
              <a:rPr kumimoji="1" lang="en-US" altLang="ja-JP" sz="2800" b="1" dirty="0">
                <a:latin typeface="Meiryo UI" panose="020B0604030504040204" pitchFamily="50" charset="-128"/>
                <a:ea typeface="Meiryo UI" panose="020B0604030504040204" pitchFamily="50" charset="-128"/>
              </a:rPr>
              <a:t>TOP</a:t>
            </a:r>
            <a:endParaRPr kumimoji="1" lang="ja-JP" altLang="en-US" sz="2800" b="1"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CB3A146D-393E-FD71-94BD-46DF8E96627C}"/>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受注担当マイページにはこれまで面談した案件や現在進行中の案件等の一覧に加えて、自分宛のタスクや各種アラート、管理担当からの報連相等の進捗を管理するものや案件の請求状況を確認可能</a:t>
            </a:r>
          </a:p>
        </p:txBody>
      </p:sp>
      <p:pic>
        <p:nvPicPr>
          <p:cNvPr id="14" name="図 13">
            <a:extLst>
              <a:ext uri="{FF2B5EF4-FFF2-40B4-BE49-F238E27FC236}">
                <a16:creationId xmlns:a16="http://schemas.microsoft.com/office/drawing/2014/main" id="{18CF2E58-3001-EF6F-CD6B-978F1027635B}"/>
              </a:ext>
            </a:extLst>
          </p:cNvPr>
          <p:cNvPicPr>
            <a:picLocks noChangeAspect="1"/>
          </p:cNvPicPr>
          <p:nvPr/>
        </p:nvPicPr>
        <p:blipFill>
          <a:blip r:embed="rId2"/>
          <a:stretch>
            <a:fillRect/>
          </a:stretch>
        </p:blipFill>
        <p:spPr>
          <a:xfrm>
            <a:off x="254000" y="1961073"/>
            <a:ext cx="6515100" cy="4395277"/>
          </a:xfrm>
          <a:prstGeom prst="rect">
            <a:avLst/>
          </a:prstGeom>
        </p:spPr>
      </p:pic>
      <p:grpSp>
        <p:nvGrpSpPr>
          <p:cNvPr id="15" name="グループ化 14">
            <a:extLst>
              <a:ext uri="{FF2B5EF4-FFF2-40B4-BE49-F238E27FC236}">
                <a16:creationId xmlns:a16="http://schemas.microsoft.com/office/drawing/2014/main" id="{CEDFCAD9-4DEC-5688-EE92-13B86B0842C2}"/>
              </a:ext>
            </a:extLst>
          </p:cNvPr>
          <p:cNvGrpSpPr/>
          <p:nvPr/>
        </p:nvGrpSpPr>
        <p:grpSpPr>
          <a:xfrm>
            <a:off x="7175499" y="1335338"/>
            <a:ext cx="4178300" cy="307777"/>
            <a:chOff x="7175500" y="1444823"/>
            <a:chExt cx="4178300" cy="307777"/>
          </a:xfrm>
        </p:grpSpPr>
        <p:cxnSp>
          <p:nvCxnSpPr>
            <p:cNvPr id="16" name="直線コネクタ 15">
              <a:extLst>
                <a:ext uri="{FF2B5EF4-FFF2-40B4-BE49-F238E27FC236}">
                  <a16:creationId xmlns:a16="http://schemas.microsoft.com/office/drawing/2014/main" id="{8964E621-2044-3421-B3AC-BD18DB998ED1}"/>
                </a:ext>
              </a:extLst>
            </p:cNvPr>
            <p:cNvCxnSpPr/>
            <p:nvPr/>
          </p:nvCxnSpPr>
          <p:spPr>
            <a:xfrm>
              <a:off x="7175500" y="1752600"/>
              <a:ext cx="41783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CF3AF679-2D58-FDDC-4D93-1CF2BA7D5293}"/>
                </a:ext>
              </a:extLst>
            </p:cNvPr>
            <p:cNvSpPr txBox="1"/>
            <p:nvPr/>
          </p:nvSpPr>
          <p:spPr>
            <a:xfrm>
              <a:off x="8886982" y="1444823"/>
              <a:ext cx="755335" cy="307777"/>
            </a:xfrm>
            <a:prstGeom prst="rect">
              <a:avLst/>
            </a:prstGeom>
            <a:noFill/>
          </p:spPr>
          <p:txBody>
            <a:bodyPr wrap="none" rtlCol="0">
              <a:spAutoFit/>
            </a:bodyPr>
            <a:lstStyle/>
            <a:p>
              <a:pPr algn="l" fontAlgn="t"/>
              <a:r>
                <a:rPr kumimoji="1" lang="ja-JP" altLang="en-US" sz="1400" b="1" i="0" dirty="0">
                  <a:solidFill>
                    <a:srgbClr val="0B0B0B"/>
                  </a:solidFill>
                  <a:effectLst/>
                  <a:latin typeface="Meiryo UI" panose="020B0604030504040204" pitchFamily="50" charset="-128"/>
                  <a:ea typeface="Meiryo UI" panose="020B0604030504040204" pitchFamily="50" charset="-128"/>
                </a:rPr>
                <a:t>ポイント</a:t>
              </a:r>
            </a:p>
          </p:txBody>
        </p:sp>
      </p:grpSp>
      <p:sp>
        <p:nvSpPr>
          <p:cNvPr id="18" name="正方形/長方形 17">
            <a:extLst>
              <a:ext uri="{FF2B5EF4-FFF2-40B4-BE49-F238E27FC236}">
                <a16:creationId xmlns:a16="http://schemas.microsoft.com/office/drawing/2014/main" id="{CB5CD483-8984-EE33-4FB4-C06264EA5735}"/>
              </a:ext>
            </a:extLst>
          </p:cNvPr>
          <p:cNvSpPr/>
          <p:nvPr/>
        </p:nvSpPr>
        <p:spPr>
          <a:xfrm>
            <a:off x="7175499" y="1960615"/>
            <a:ext cx="4178300" cy="11381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期限超過したタスクやアラート、未入金請求等が発生した</a:t>
            </a:r>
            <a:r>
              <a:rPr lang="ja-JP" altLang="en-US" sz="1200" dirty="0">
                <a:solidFill>
                  <a:schemeClr val="tx1"/>
                </a:solidFill>
                <a:latin typeface="Meiryo UI" panose="020B0604030504040204" pitchFamily="50" charset="-128"/>
                <a:ea typeface="Meiryo UI" panose="020B0604030504040204" pitchFamily="50" charset="-128"/>
              </a:rPr>
              <a:t>場合に要確認、要注意バナーに緊急度に応じて格納される。このバナーに格納されたタスク等は自身だけでなく、チームメンバー全員にも共有されるため、自身が対応不可でも、手が空いている他のメンバーがフォローし合うことが可能</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9" name="楕円 18">
            <a:extLst>
              <a:ext uri="{FF2B5EF4-FFF2-40B4-BE49-F238E27FC236}">
                <a16:creationId xmlns:a16="http://schemas.microsoft.com/office/drawing/2014/main" id="{4ED1F0CD-C120-D0F9-59E5-D075285C69A0}"/>
              </a:ext>
            </a:extLst>
          </p:cNvPr>
          <p:cNvSpPr/>
          <p:nvPr/>
        </p:nvSpPr>
        <p:spPr>
          <a:xfrm>
            <a:off x="7035798" y="1890636"/>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
        <p:nvSpPr>
          <p:cNvPr id="21" name="正方形/長方形 20">
            <a:extLst>
              <a:ext uri="{FF2B5EF4-FFF2-40B4-BE49-F238E27FC236}">
                <a16:creationId xmlns:a16="http://schemas.microsoft.com/office/drawing/2014/main" id="{E290E125-4812-5C65-D061-2DED08A8207F}"/>
              </a:ext>
            </a:extLst>
          </p:cNvPr>
          <p:cNvSpPr/>
          <p:nvPr/>
        </p:nvSpPr>
        <p:spPr>
          <a:xfrm>
            <a:off x="3350056" y="1966378"/>
            <a:ext cx="3419043" cy="82762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図 22">
            <a:extLst>
              <a:ext uri="{FF2B5EF4-FFF2-40B4-BE49-F238E27FC236}">
                <a16:creationId xmlns:a16="http://schemas.microsoft.com/office/drawing/2014/main" id="{2C2F251C-5882-E85B-4854-09B10499B67A}"/>
              </a:ext>
            </a:extLst>
          </p:cNvPr>
          <p:cNvPicPr>
            <a:picLocks noChangeAspect="1"/>
          </p:cNvPicPr>
          <p:nvPr/>
        </p:nvPicPr>
        <p:blipFill>
          <a:blip r:embed="rId3"/>
          <a:stretch>
            <a:fillRect/>
          </a:stretch>
        </p:blipFill>
        <p:spPr>
          <a:xfrm>
            <a:off x="3511550" y="2083603"/>
            <a:ext cx="3096057" cy="581106"/>
          </a:xfrm>
          <a:prstGeom prst="rect">
            <a:avLst/>
          </a:prstGeom>
        </p:spPr>
      </p:pic>
      <p:sp>
        <p:nvSpPr>
          <p:cNvPr id="24" name="楕円 23">
            <a:extLst>
              <a:ext uri="{FF2B5EF4-FFF2-40B4-BE49-F238E27FC236}">
                <a16:creationId xmlns:a16="http://schemas.microsoft.com/office/drawing/2014/main" id="{0F75A11E-3F1D-3240-53A5-21757FE1DF44}"/>
              </a:ext>
            </a:extLst>
          </p:cNvPr>
          <p:cNvSpPr/>
          <p:nvPr/>
        </p:nvSpPr>
        <p:spPr>
          <a:xfrm>
            <a:off x="3148219" y="1832024"/>
            <a:ext cx="403672" cy="385934"/>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１</a:t>
            </a:r>
          </a:p>
        </p:txBody>
      </p:sp>
    </p:spTree>
    <p:extLst>
      <p:ext uri="{BB962C8B-B14F-4D97-AF65-F5344CB8AC3E}">
        <p14:creationId xmlns:p14="http://schemas.microsoft.com/office/powerpoint/2010/main" val="1141480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77DED2A-0599-DD19-50B3-17E65B04C837}"/>
              </a:ext>
            </a:extLst>
          </p:cNvPr>
          <p:cNvSpPr>
            <a:spLocks noGrp="1"/>
          </p:cNvSpPr>
          <p:nvPr>
            <p:ph type="sldNum" sz="quarter" idx="12"/>
          </p:nvPr>
        </p:nvSpPr>
        <p:spPr/>
        <p:txBody>
          <a:bodyPr/>
          <a:lstStyle/>
          <a:p>
            <a:fld id="{F4EC9C95-8009-4180-AAA8-5F6B382748D2}" type="slidenum">
              <a:rPr kumimoji="1" lang="ja-JP" altLang="en-US" smtClean="0"/>
              <a:t>32</a:t>
            </a:fld>
            <a:endParaRPr kumimoji="1" lang="ja-JP" altLang="en-US"/>
          </a:p>
        </p:txBody>
      </p:sp>
      <p:sp>
        <p:nvSpPr>
          <p:cNvPr id="6" name="テキスト ボックス 5">
            <a:extLst>
              <a:ext uri="{FF2B5EF4-FFF2-40B4-BE49-F238E27FC236}">
                <a16:creationId xmlns:a16="http://schemas.microsoft.com/office/drawing/2014/main" id="{928BF870-8D10-4E20-CCC6-7F99487FDEDC}"/>
              </a:ext>
            </a:extLst>
          </p:cNvPr>
          <p:cNvSpPr txBox="1"/>
          <p:nvPr/>
        </p:nvSpPr>
        <p:spPr>
          <a:xfrm>
            <a:off x="254000" y="139700"/>
            <a:ext cx="6684843"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受注担当マイページ　要注意・要確認バナー</a:t>
            </a:r>
          </a:p>
        </p:txBody>
      </p:sp>
      <p:graphicFrame>
        <p:nvGraphicFramePr>
          <p:cNvPr id="9" name="表 8">
            <a:extLst>
              <a:ext uri="{FF2B5EF4-FFF2-40B4-BE49-F238E27FC236}">
                <a16:creationId xmlns:a16="http://schemas.microsoft.com/office/drawing/2014/main" id="{75B27C46-042C-0026-55E9-F19992B00287}"/>
              </a:ext>
            </a:extLst>
          </p:cNvPr>
          <p:cNvGraphicFramePr>
            <a:graphicFrameLocks noGrp="1"/>
          </p:cNvGraphicFramePr>
          <p:nvPr>
            <p:extLst>
              <p:ext uri="{D42A27DB-BD31-4B8C-83A1-F6EECF244321}">
                <p14:modId xmlns:p14="http://schemas.microsoft.com/office/powerpoint/2010/main" val="898890127"/>
              </p:ext>
            </p:extLst>
          </p:nvPr>
        </p:nvGraphicFramePr>
        <p:xfrm>
          <a:off x="4394200" y="1403350"/>
          <a:ext cx="7162800" cy="4953000"/>
        </p:xfrm>
        <a:graphic>
          <a:graphicData uri="http://schemas.openxmlformats.org/drawingml/2006/table">
            <a:tbl>
              <a:tblPr/>
              <a:tblGrid>
                <a:gridCol w="1790700">
                  <a:extLst>
                    <a:ext uri="{9D8B030D-6E8A-4147-A177-3AD203B41FA5}">
                      <a16:colId xmlns:a16="http://schemas.microsoft.com/office/drawing/2014/main" val="1415113844"/>
                    </a:ext>
                  </a:extLst>
                </a:gridCol>
                <a:gridCol w="1790700">
                  <a:extLst>
                    <a:ext uri="{9D8B030D-6E8A-4147-A177-3AD203B41FA5}">
                      <a16:colId xmlns:a16="http://schemas.microsoft.com/office/drawing/2014/main" val="1557284113"/>
                    </a:ext>
                  </a:extLst>
                </a:gridCol>
                <a:gridCol w="1790700">
                  <a:extLst>
                    <a:ext uri="{9D8B030D-6E8A-4147-A177-3AD203B41FA5}">
                      <a16:colId xmlns:a16="http://schemas.microsoft.com/office/drawing/2014/main" val="2995647850"/>
                    </a:ext>
                  </a:extLst>
                </a:gridCol>
                <a:gridCol w="1790700">
                  <a:extLst>
                    <a:ext uri="{9D8B030D-6E8A-4147-A177-3AD203B41FA5}">
                      <a16:colId xmlns:a16="http://schemas.microsoft.com/office/drawing/2014/main" val="2616840828"/>
                    </a:ext>
                  </a:extLst>
                </a:gridCol>
              </a:tblGrid>
              <a:tr h="433737">
                <a:tc>
                  <a:txBody>
                    <a:bodyPr/>
                    <a:lstStyle/>
                    <a:p>
                      <a:pPr marL="0" marR="0" indent="0" algn="ctr" fontAlgn="t">
                        <a:buNone/>
                      </a:pPr>
                      <a:r>
                        <a:rPr lang="ja-JP" sz="1200" b="0" i="0" dirty="0">
                          <a:solidFill>
                            <a:schemeClr val="bg1"/>
                          </a:solidFill>
                          <a:effectLst/>
                          <a:latin typeface="Meiryo UI" panose="020B0604030504040204" pitchFamily="50" charset="-128"/>
                          <a:ea typeface="Meiryo UI" panose="020B0604030504040204" pitchFamily="50" charset="-128"/>
                        </a:rPr>
                        <a:t>種別</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fontAlgn="t">
                        <a:buNone/>
                      </a:pPr>
                      <a:r>
                        <a:rPr lang="ja-JP" sz="1200" b="0" i="0" dirty="0">
                          <a:solidFill>
                            <a:schemeClr val="bg1"/>
                          </a:solidFill>
                          <a:effectLst/>
                          <a:latin typeface="Meiryo UI" panose="020B0604030504040204" pitchFamily="50" charset="-128"/>
                          <a:ea typeface="Meiryo UI" panose="020B0604030504040204" pitchFamily="50" charset="-128"/>
                        </a:rPr>
                        <a:t>出る条件</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fontAlgn="t">
                        <a:buNone/>
                      </a:pPr>
                      <a:r>
                        <a:rPr lang="ja-JP" sz="1200" b="0" i="0">
                          <a:solidFill>
                            <a:schemeClr val="bg1"/>
                          </a:solidFill>
                          <a:effectLst/>
                          <a:latin typeface="Meiryo UI" panose="020B0604030504040204" pitchFamily="50" charset="-128"/>
                          <a:ea typeface="Meiryo UI" panose="020B0604030504040204" pitchFamily="50" charset="-128"/>
                        </a:rPr>
                        <a:t>要確認(黄)</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fontAlgn="t">
                        <a:buNone/>
                      </a:pPr>
                      <a:r>
                        <a:rPr lang="ja-JP" sz="1200" b="0" i="0" dirty="0">
                          <a:solidFill>
                            <a:schemeClr val="bg1"/>
                          </a:solidFill>
                          <a:effectLst/>
                          <a:latin typeface="Meiryo UI" panose="020B0604030504040204" pitchFamily="50" charset="-128"/>
                          <a:ea typeface="Meiryo UI" panose="020B0604030504040204" pitchFamily="50" charset="-128"/>
                        </a:rPr>
                        <a:t>要注意(赤)</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464592491"/>
                  </a:ext>
                </a:extLst>
              </a:tr>
              <a:tr h="72756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入金待ちの請求</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自分の案件の請求が 入金待ち で入金期日超過</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5営業日〜</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14暦日〜</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25033417"/>
                  </a:ext>
                </a:extLst>
              </a:tr>
              <a:tr h="72756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自分担当の未完了タスク</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自分にアサインされた 着手前/対応中 のタスクが期日超過</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5営業日〜</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14暦日〜</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63812374"/>
                  </a:ext>
                </a:extLst>
              </a:tr>
              <a:tr h="1021381">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超急ぎタスク</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自分担当の 超急ぎ 未完了タスク（例：前受金入金御礼連絡）</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期日に関係なく常時</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4010112"/>
                  </a:ext>
                </a:extLst>
              </a:tr>
              <a:tr h="1021381">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管理担当 未アサイン</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受注/戻り受注/作業着手準備 かつ 管理担当未設定 かつ 受注日から 2営業日超過</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常時（赤）</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9648227"/>
                  </a:ext>
                </a:extLst>
              </a:tr>
              <a:tr h="1021381">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案件報告：至急</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自分の案件で、管理担当からの案件報告が状態至急！！かつ未確認(依頼中)</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常時（赤）</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842349"/>
                  </a:ext>
                </a:extLst>
              </a:tr>
            </a:tbl>
          </a:graphicData>
        </a:graphic>
      </p:graphicFrame>
      <p:pic>
        <p:nvPicPr>
          <p:cNvPr id="11" name="図 10">
            <a:extLst>
              <a:ext uri="{FF2B5EF4-FFF2-40B4-BE49-F238E27FC236}">
                <a16:creationId xmlns:a16="http://schemas.microsoft.com/office/drawing/2014/main" id="{A38435A3-038D-5C8A-B1FE-AC13F6A85154}"/>
              </a:ext>
            </a:extLst>
          </p:cNvPr>
          <p:cNvPicPr>
            <a:picLocks noChangeAspect="1"/>
          </p:cNvPicPr>
          <p:nvPr/>
        </p:nvPicPr>
        <p:blipFill>
          <a:blip r:embed="rId2"/>
          <a:stretch>
            <a:fillRect/>
          </a:stretch>
        </p:blipFill>
        <p:spPr>
          <a:xfrm>
            <a:off x="254000" y="3078936"/>
            <a:ext cx="3730191" cy="700128"/>
          </a:xfrm>
          <a:prstGeom prst="rect">
            <a:avLst/>
          </a:prstGeom>
        </p:spPr>
      </p:pic>
      <p:sp>
        <p:nvSpPr>
          <p:cNvPr id="13" name="正方形/長方形 12">
            <a:extLst>
              <a:ext uri="{FF2B5EF4-FFF2-40B4-BE49-F238E27FC236}">
                <a16:creationId xmlns:a16="http://schemas.microsoft.com/office/drawing/2014/main" id="{6DCE8379-1655-4479-574E-C3918EC97EED}"/>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下表の内容が各条件に基づいて、要確認</a:t>
            </a:r>
            <a:r>
              <a:rPr lang="en-US" altLang="ja-JP" sz="1400" b="1" dirty="0">
                <a:solidFill>
                  <a:schemeClr val="tx1"/>
                </a:solidFill>
                <a:latin typeface="Meiryo UI" panose="020B0604030504040204" pitchFamily="50" charset="-128"/>
                <a:ea typeface="Meiryo UI" panose="020B0604030504040204" pitchFamily="50" charset="-128"/>
              </a:rPr>
              <a:t>/</a:t>
            </a:r>
            <a:r>
              <a:rPr lang="ja-JP" altLang="en-US" sz="1400" b="1" dirty="0">
                <a:solidFill>
                  <a:schemeClr val="tx1"/>
                </a:solidFill>
                <a:latin typeface="Meiryo UI" panose="020B0604030504040204" pitchFamily="50" charset="-128"/>
                <a:ea typeface="Meiryo UI" panose="020B0604030504040204" pitchFamily="50" charset="-128"/>
              </a:rPr>
              <a:t>要注意バナーに出力される。</a:t>
            </a:r>
          </a:p>
        </p:txBody>
      </p:sp>
    </p:spTree>
    <p:extLst>
      <p:ext uri="{BB962C8B-B14F-4D97-AF65-F5344CB8AC3E}">
        <p14:creationId xmlns:p14="http://schemas.microsoft.com/office/powerpoint/2010/main" val="2758778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9C117D06-1953-7172-2373-E25F57B0BC63}"/>
              </a:ext>
            </a:extLst>
          </p:cNvPr>
          <p:cNvSpPr>
            <a:spLocks noGrp="1"/>
          </p:cNvSpPr>
          <p:nvPr>
            <p:ph type="sldNum" sz="quarter" idx="12"/>
          </p:nvPr>
        </p:nvSpPr>
        <p:spPr/>
        <p:txBody>
          <a:bodyPr/>
          <a:lstStyle/>
          <a:p>
            <a:fld id="{F4EC9C95-8009-4180-AAA8-5F6B382748D2}" type="slidenum">
              <a:rPr kumimoji="1" lang="ja-JP" altLang="en-US" smtClean="0"/>
              <a:t>33</a:t>
            </a:fld>
            <a:endParaRPr kumimoji="1" lang="ja-JP" altLang="en-US"/>
          </a:p>
        </p:txBody>
      </p:sp>
      <p:sp>
        <p:nvSpPr>
          <p:cNvPr id="6" name="テキスト ボックス 5">
            <a:extLst>
              <a:ext uri="{FF2B5EF4-FFF2-40B4-BE49-F238E27FC236}">
                <a16:creationId xmlns:a16="http://schemas.microsoft.com/office/drawing/2014/main" id="{8317D972-2FBA-B382-160B-0B7D6E46DA58}"/>
              </a:ext>
            </a:extLst>
          </p:cNvPr>
          <p:cNvSpPr txBox="1"/>
          <p:nvPr/>
        </p:nvSpPr>
        <p:spPr>
          <a:xfrm>
            <a:off x="254000" y="139700"/>
            <a:ext cx="4624984"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受注担当マイページ　アラート</a:t>
            </a:r>
          </a:p>
        </p:txBody>
      </p:sp>
      <p:graphicFrame>
        <p:nvGraphicFramePr>
          <p:cNvPr id="7" name="表 6">
            <a:extLst>
              <a:ext uri="{FF2B5EF4-FFF2-40B4-BE49-F238E27FC236}">
                <a16:creationId xmlns:a16="http://schemas.microsoft.com/office/drawing/2014/main" id="{573C120B-6DA4-B209-D18F-EFA4001FD83A}"/>
              </a:ext>
            </a:extLst>
          </p:cNvPr>
          <p:cNvGraphicFramePr>
            <a:graphicFrameLocks noGrp="1"/>
          </p:cNvGraphicFramePr>
          <p:nvPr>
            <p:extLst>
              <p:ext uri="{D42A27DB-BD31-4B8C-83A1-F6EECF244321}">
                <p14:modId xmlns:p14="http://schemas.microsoft.com/office/powerpoint/2010/main" val="979181714"/>
              </p:ext>
            </p:extLst>
          </p:nvPr>
        </p:nvGraphicFramePr>
        <p:xfrm>
          <a:off x="4330700" y="1484967"/>
          <a:ext cx="6750050" cy="4710113"/>
        </p:xfrm>
        <a:graphic>
          <a:graphicData uri="http://schemas.openxmlformats.org/drawingml/2006/table">
            <a:tbl>
              <a:tblPr/>
              <a:tblGrid>
                <a:gridCol w="1521986">
                  <a:extLst>
                    <a:ext uri="{9D8B030D-6E8A-4147-A177-3AD203B41FA5}">
                      <a16:colId xmlns:a16="http://schemas.microsoft.com/office/drawing/2014/main" val="1856014049"/>
                    </a:ext>
                  </a:extLst>
                </a:gridCol>
                <a:gridCol w="5228064">
                  <a:extLst>
                    <a:ext uri="{9D8B030D-6E8A-4147-A177-3AD203B41FA5}">
                      <a16:colId xmlns:a16="http://schemas.microsoft.com/office/drawing/2014/main" val="2048133114"/>
                    </a:ext>
                  </a:extLst>
                </a:gridCol>
              </a:tblGrid>
              <a:tr h="261217">
                <a:tc>
                  <a:txBody>
                    <a:bodyPr/>
                    <a:lstStyle/>
                    <a:p>
                      <a:pPr marL="0" marR="0" indent="0" algn="ctr" fontAlgn="t">
                        <a:buNone/>
                      </a:pPr>
                      <a:r>
                        <a:rPr lang="ja-JP" sz="1200" b="0" i="0" dirty="0">
                          <a:solidFill>
                            <a:schemeClr val="bg1"/>
                          </a:solidFill>
                          <a:effectLst/>
                          <a:latin typeface="Meiryo UI" panose="020B0604030504040204" pitchFamily="50" charset="-128"/>
                          <a:ea typeface="Meiryo UI" panose="020B0604030504040204" pitchFamily="50" charset="-128"/>
                        </a:rPr>
                        <a:t>カテゴリ</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fontAlgn="t">
                        <a:buNone/>
                      </a:pPr>
                      <a:r>
                        <a:rPr lang="ja-JP" sz="1200" b="0" i="0" dirty="0">
                          <a:solidFill>
                            <a:schemeClr val="bg1"/>
                          </a:solidFill>
                          <a:effectLst/>
                          <a:latin typeface="Meiryo UI" panose="020B0604030504040204" pitchFamily="50" charset="-128"/>
                          <a:ea typeface="Meiryo UI" panose="020B0604030504040204" pitchFamily="50" charset="-128"/>
                        </a:rPr>
                        <a:t>条件</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799166758"/>
                  </a:ext>
                </a:extLst>
              </a:tr>
              <a:tr h="346840">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クレーム案件</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クレームあり かつ 受注/対応中</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869780"/>
                  </a:ext>
                </a:extLst>
              </a:tr>
              <a:tr h="34684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オーダーシート未完成</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受注/戻り受注 かつ OS未完成</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2696222"/>
                  </a:ext>
                </a:extLst>
              </a:tr>
              <a:tr h="626981">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契約手続き 未了</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受注系/依頼確定待ち かつ 契約関連書類が未回収（後日郵送/依頼者取得で未到着）</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7582335"/>
                  </a:ext>
                </a:extLst>
              </a:tr>
              <a:tr h="34684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入金期日 超過</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自分の案件に入金期日超過の未入金請求あり</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85492678"/>
                  </a:ext>
                </a:extLst>
              </a:tr>
              <a:tr h="486911">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面談メモ未記載</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面談予定日超過 かつ 面談メモ未記載 かつ 面談設定済/検討中/依頼確定待ち</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8147333"/>
                  </a:ext>
                </a:extLst>
              </a:tr>
              <a:tr h="486911">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お客様回答予定日 超過/間近</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検討中系 かつ 回答予定日が2日以内 かつ「検討状況の確認」未完了</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516648"/>
                  </a:ext>
                </a:extLst>
              </a:tr>
              <a:tr h="346840">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タスク期限超過</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自分担当の未完了タスクで期限超過</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3001585"/>
                  </a:ext>
                </a:extLst>
              </a:tr>
              <a:tr h="486911">
                <a:tc>
                  <a:txBody>
                    <a:bodyPr/>
                    <a:lstStyle/>
                    <a:p>
                      <a:pPr marL="0" marR="0" indent="0" algn="l" fontAlgn="t">
                        <a:buNone/>
                      </a:pPr>
                      <a:r>
                        <a:rPr lang="ja-JP" sz="1200" b="0" i="0">
                          <a:solidFill>
                            <a:srgbClr val="0B0B0B"/>
                          </a:solidFill>
                          <a:effectLst/>
                          <a:latin typeface="Meiryo UI" panose="020B0604030504040204" pitchFamily="50" charset="-128"/>
                          <a:ea typeface="Meiryo UI" panose="020B0604030504040204" pitchFamily="50" charset="-128"/>
                        </a:rPr>
                        <a:t>案件報告</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sz="1200" b="0" i="0" dirty="0">
                          <a:solidFill>
                            <a:srgbClr val="0B0B0B"/>
                          </a:solidFill>
                          <a:effectLst/>
                          <a:latin typeface="Meiryo UI" panose="020B0604030504040204" pitchFamily="50" charset="-128"/>
                          <a:ea typeface="Meiryo UI" panose="020B0604030504040204" pitchFamily="50" charset="-128"/>
                        </a:rPr>
                        <a:t>自分が確認者の案件報告が届いている（管理担当→受注担当）</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4715233"/>
                  </a:ext>
                </a:extLst>
              </a:tr>
              <a:tr h="486911">
                <a:tc>
                  <a:txBody>
                    <a:bodyPr/>
                    <a:lstStyle/>
                    <a:p>
                      <a:pPr marL="0" marR="0" indent="0" algn="l" fontAlgn="t">
                        <a:buNone/>
                      </a:pPr>
                      <a:r>
                        <a:rPr lang="ja-JP" altLang="en-US" sz="1200" b="0" i="0" dirty="0">
                          <a:solidFill>
                            <a:srgbClr val="0B0B0B"/>
                          </a:solidFill>
                          <a:effectLst/>
                          <a:latin typeface="Meiryo UI" panose="020B0604030504040204" pitchFamily="50" charset="-128"/>
                          <a:ea typeface="Meiryo UI" panose="020B0604030504040204" pitchFamily="50" charset="-128"/>
                        </a:rPr>
                        <a:t>到着物あり</a:t>
                      </a:r>
                      <a:endParaRPr lang="ja-JP" sz="1200" b="0" i="0" dirty="0">
                        <a:solidFill>
                          <a:srgbClr val="0B0B0B"/>
                        </a:solidFill>
                        <a:effectLst/>
                        <a:latin typeface="Meiryo UI" panose="020B0604030504040204" pitchFamily="50" charset="-128"/>
                        <a:ea typeface="Meiryo UI" panose="020B0604030504040204" pitchFamily="50" charset="-128"/>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altLang="en-US" sz="1200" b="0" i="0" dirty="0">
                          <a:solidFill>
                            <a:srgbClr val="0B0B0B"/>
                          </a:solidFill>
                          <a:effectLst/>
                          <a:latin typeface="Meiryo UI" panose="020B0604030504040204" pitchFamily="50" charset="-128"/>
                          <a:ea typeface="Meiryo UI" panose="020B0604030504040204" pitchFamily="50" charset="-128"/>
                        </a:rPr>
                        <a:t>受注担当管理担当宛ての到着物を受領した際</a:t>
                      </a:r>
                      <a:endParaRPr lang="ja-JP" sz="1200" b="0" i="0" dirty="0">
                        <a:solidFill>
                          <a:srgbClr val="0B0B0B"/>
                        </a:solidFill>
                        <a:effectLst/>
                        <a:latin typeface="Meiryo UI" panose="020B0604030504040204" pitchFamily="50" charset="-128"/>
                        <a:ea typeface="Meiryo UI" panose="020B0604030504040204" pitchFamily="50" charset="-128"/>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1213556"/>
                  </a:ext>
                </a:extLst>
              </a:tr>
              <a:tr h="486911">
                <a:tc>
                  <a:txBody>
                    <a:bodyPr/>
                    <a:lstStyle/>
                    <a:p>
                      <a:pPr marL="0" marR="0" indent="0" algn="l" fontAlgn="t">
                        <a:buNone/>
                      </a:pPr>
                      <a:r>
                        <a:rPr lang="ja-JP" altLang="en-US" sz="1200" b="0" i="0" dirty="0">
                          <a:solidFill>
                            <a:srgbClr val="0B0B0B"/>
                          </a:solidFill>
                          <a:effectLst/>
                          <a:latin typeface="Meiryo UI" panose="020B0604030504040204" pitchFamily="50" charset="-128"/>
                          <a:ea typeface="Meiryo UI" panose="020B0604030504040204" pitchFamily="50" charset="-128"/>
                        </a:rPr>
                        <a:t>受注担当宛てタスクあり</a:t>
                      </a:r>
                      <a:endParaRPr lang="ja-JP" sz="1200" b="0" i="0" dirty="0">
                        <a:solidFill>
                          <a:srgbClr val="0B0B0B"/>
                        </a:solidFill>
                        <a:effectLst/>
                        <a:latin typeface="Meiryo UI" panose="020B0604030504040204" pitchFamily="50" charset="-128"/>
                        <a:ea typeface="Meiryo UI" panose="020B0604030504040204" pitchFamily="50" charset="-128"/>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fontAlgn="t">
                        <a:buNone/>
                      </a:pPr>
                      <a:r>
                        <a:rPr lang="ja-JP" altLang="en-US" sz="1200" b="0" i="0" dirty="0">
                          <a:solidFill>
                            <a:srgbClr val="0B0B0B"/>
                          </a:solidFill>
                          <a:effectLst/>
                          <a:latin typeface="Meiryo UI" panose="020B0604030504040204" pitchFamily="50" charset="-128"/>
                          <a:ea typeface="Meiryo UI" panose="020B0604030504040204" pitchFamily="50" charset="-128"/>
                        </a:rPr>
                        <a:t>自身宛てのタスクが作成されたとき</a:t>
                      </a:r>
                      <a:endParaRPr lang="ja-JP" sz="1200" b="0" i="0" dirty="0">
                        <a:solidFill>
                          <a:srgbClr val="0B0B0B"/>
                        </a:solidFill>
                        <a:effectLst/>
                        <a:latin typeface="Meiryo UI" panose="020B0604030504040204" pitchFamily="50" charset="-128"/>
                        <a:ea typeface="Meiryo UI" panose="020B0604030504040204" pitchFamily="50" charset="-128"/>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8389424"/>
                  </a:ext>
                </a:extLst>
              </a:tr>
            </a:tbl>
          </a:graphicData>
        </a:graphic>
      </p:graphicFrame>
      <p:sp>
        <p:nvSpPr>
          <p:cNvPr id="9" name="正方形/長方形 8">
            <a:extLst>
              <a:ext uri="{FF2B5EF4-FFF2-40B4-BE49-F238E27FC236}">
                <a16:creationId xmlns:a16="http://schemas.microsoft.com/office/drawing/2014/main" id="{5E79D832-87EE-C5B0-B2FB-02FB495DF698}"/>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下表の内容が受注担当向けに通知されるアラート内容</a:t>
            </a:r>
          </a:p>
        </p:txBody>
      </p:sp>
      <p:pic>
        <p:nvPicPr>
          <p:cNvPr id="11" name="図 10">
            <a:extLst>
              <a:ext uri="{FF2B5EF4-FFF2-40B4-BE49-F238E27FC236}">
                <a16:creationId xmlns:a16="http://schemas.microsoft.com/office/drawing/2014/main" id="{D8C16059-12F7-0A9F-311D-6A4C3E24FB7E}"/>
              </a:ext>
            </a:extLst>
          </p:cNvPr>
          <p:cNvPicPr>
            <a:picLocks noChangeAspect="1"/>
          </p:cNvPicPr>
          <p:nvPr/>
        </p:nvPicPr>
        <p:blipFill>
          <a:blip r:embed="rId2"/>
          <a:stretch>
            <a:fillRect/>
          </a:stretch>
        </p:blipFill>
        <p:spPr>
          <a:xfrm>
            <a:off x="363314" y="2006600"/>
            <a:ext cx="3779390" cy="3999384"/>
          </a:xfrm>
          <a:prstGeom prst="rect">
            <a:avLst/>
          </a:prstGeom>
        </p:spPr>
      </p:pic>
      <p:pic>
        <p:nvPicPr>
          <p:cNvPr id="13" name="図 12">
            <a:extLst>
              <a:ext uri="{FF2B5EF4-FFF2-40B4-BE49-F238E27FC236}">
                <a16:creationId xmlns:a16="http://schemas.microsoft.com/office/drawing/2014/main" id="{80E72D22-BBDB-3CEA-AF63-002ED76F4375}"/>
              </a:ext>
            </a:extLst>
          </p:cNvPr>
          <p:cNvPicPr>
            <a:picLocks noChangeAspect="1"/>
          </p:cNvPicPr>
          <p:nvPr/>
        </p:nvPicPr>
        <p:blipFill>
          <a:blip r:embed="rId3"/>
          <a:stretch>
            <a:fillRect/>
          </a:stretch>
        </p:blipFill>
        <p:spPr>
          <a:xfrm>
            <a:off x="363314" y="1483380"/>
            <a:ext cx="2913286" cy="1423537"/>
          </a:xfrm>
          <a:prstGeom prst="rect">
            <a:avLst/>
          </a:prstGeom>
        </p:spPr>
      </p:pic>
    </p:spTree>
    <p:extLst>
      <p:ext uri="{BB962C8B-B14F-4D97-AF65-F5344CB8AC3E}">
        <p14:creationId xmlns:p14="http://schemas.microsoft.com/office/powerpoint/2010/main" val="1356333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791E765-ED2C-308E-DE35-93AF4425CC47}"/>
              </a:ext>
            </a:extLst>
          </p:cNvPr>
          <p:cNvSpPr>
            <a:spLocks noGrp="1"/>
          </p:cNvSpPr>
          <p:nvPr>
            <p:ph type="sldNum" sz="quarter" idx="12"/>
          </p:nvPr>
        </p:nvSpPr>
        <p:spPr/>
        <p:txBody>
          <a:bodyPr/>
          <a:lstStyle/>
          <a:p>
            <a:fld id="{F4EC9C95-8009-4180-AAA8-5F6B382748D2}" type="slidenum">
              <a:rPr kumimoji="1" lang="ja-JP" altLang="en-US" smtClean="0"/>
              <a:t>34</a:t>
            </a:fld>
            <a:endParaRPr kumimoji="1" lang="ja-JP" altLang="en-US"/>
          </a:p>
        </p:txBody>
      </p:sp>
      <p:pic>
        <p:nvPicPr>
          <p:cNvPr id="6" name="図 5">
            <a:extLst>
              <a:ext uri="{FF2B5EF4-FFF2-40B4-BE49-F238E27FC236}">
                <a16:creationId xmlns:a16="http://schemas.microsoft.com/office/drawing/2014/main" id="{8D10C83A-67BB-6E6F-FCF9-72701DD48B0F}"/>
              </a:ext>
            </a:extLst>
          </p:cNvPr>
          <p:cNvPicPr>
            <a:picLocks noChangeAspect="1"/>
          </p:cNvPicPr>
          <p:nvPr/>
        </p:nvPicPr>
        <p:blipFill>
          <a:blip r:embed="rId2"/>
          <a:stretch>
            <a:fillRect/>
          </a:stretch>
        </p:blipFill>
        <p:spPr>
          <a:xfrm>
            <a:off x="363314" y="1699328"/>
            <a:ext cx="7904386" cy="4520547"/>
          </a:xfrm>
          <a:prstGeom prst="rect">
            <a:avLst/>
          </a:prstGeom>
        </p:spPr>
      </p:pic>
      <p:sp>
        <p:nvSpPr>
          <p:cNvPr id="8" name="テキスト ボックス 7">
            <a:extLst>
              <a:ext uri="{FF2B5EF4-FFF2-40B4-BE49-F238E27FC236}">
                <a16:creationId xmlns:a16="http://schemas.microsoft.com/office/drawing/2014/main" id="{907EC9F5-059C-60DF-5246-05F9A7725780}"/>
              </a:ext>
            </a:extLst>
          </p:cNvPr>
          <p:cNvSpPr txBox="1"/>
          <p:nvPr/>
        </p:nvSpPr>
        <p:spPr>
          <a:xfrm>
            <a:off x="254000" y="139700"/>
            <a:ext cx="4730782" cy="523220"/>
          </a:xfrm>
          <a:prstGeom prst="rect">
            <a:avLst/>
          </a:prstGeom>
          <a:noFill/>
        </p:spPr>
        <p:txBody>
          <a:bodyPr wrap="none" rtlCol="0">
            <a:spAutoFit/>
          </a:bodyPr>
          <a:lstStyle/>
          <a:p>
            <a:r>
              <a:rPr lang="ja-JP" altLang="en-US" sz="2800" b="1" dirty="0">
                <a:latin typeface="Meiryo UI" panose="020B0604030504040204" pitchFamily="50" charset="-128"/>
                <a:ea typeface="Meiryo UI" panose="020B0604030504040204" pitchFamily="50" charset="-128"/>
              </a:rPr>
              <a:t>受注担当マイページ　請求タブ</a:t>
            </a:r>
          </a:p>
        </p:txBody>
      </p:sp>
      <p:sp>
        <p:nvSpPr>
          <p:cNvPr id="10" name="正方形/長方形 9">
            <a:extLst>
              <a:ext uri="{FF2B5EF4-FFF2-40B4-BE49-F238E27FC236}">
                <a16:creationId xmlns:a16="http://schemas.microsoft.com/office/drawing/2014/main" id="{348CE925-0E1B-BFCF-62AB-BEC46E377DD4}"/>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自分の担当案件の請求状況を一覧で確認可能</a:t>
            </a:r>
          </a:p>
        </p:txBody>
      </p:sp>
    </p:spTree>
    <p:extLst>
      <p:ext uri="{BB962C8B-B14F-4D97-AF65-F5344CB8AC3E}">
        <p14:creationId xmlns:p14="http://schemas.microsoft.com/office/powerpoint/2010/main" val="2329099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E52051C2-ADF0-8486-9662-7CAF41B4ECDE}"/>
              </a:ext>
            </a:extLst>
          </p:cNvPr>
          <p:cNvSpPr>
            <a:spLocks noGrp="1"/>
          </p:cNvSpPr>
          <p:nvPr>
            <p:ph type="sldNum" sz="quarter" idx="12"/>
          </p:nvPr>
        </p:nvSpPr>
        <p:spPr/>
        <p:txBody>
          <a:bodyPr/>
          <a:lstStyle/>
          <a:p>
            <a:fld id="{F4EC9C95-8009-4180-AAA8-5F6B382748D2}" type="slidenum">
              <a:rPr kumimoji="1" lang="ja-JP" altLang="en-US" smtClean="0"/>
              <a:t>35</a:t>
            </a:fld>
            <a:endParaRPr kumimoji="1" lang="ja-JP" altLang="en-US"/>
          </a:p>
        </p:txBody>
      </p:sp>
      <p:sp>
        <p:nvSpPr>
          <p:cNvPr id="8" name="テキスト ボックス 7">
            <a:extLst>
              <a:ext uri="{FF2B5EF4-FFF2-40B4-BE49-F238E27FC236}">
                <a16:creationId xmlns:a16="http://schemas.microsoft.com/office/drawing/2014/main" id="{AB0F9241-9C13-6195-6E90-4D0F655875C5}"/>
              </a:ext>
            </a:extLst>
          </p:cNvPr>
          <p:cNvSpPr txBox="1"/>
          <p:nvPr/>
        </p:nvSpPr>
        <p:spPr>
          <a:xfrm>
            <a:off x="254000" y="139700"/>
            <a:ext cx="6413935" cy="523220"/>
          </a:xfrm>
          <a:prstGeom prst="rect">
            <a:avLst/>
          </a:prstGeom>
          <a:noFill/>
        </p:spPr>
        <p:txBody>
          <a:bodyPr wrap="none" rtlCol="0">
            <a:spAutoFit/>
          </a:bodyPr>
          <a:lstStyle/>
          <a:p>
            <a:r>
              <a:rPr kumimoji="1" lang="ja-JP" altLang="en-US" sz="2800" b="1" dirty="0">
                <a:latin typeface="Meiryo UI" panose="020B0604030504040204" pitchFamily="50" charset="-128"/>
                <a:ea typeface="Meiryo UI" panose="020B0604030504040204" pitchFamily="50" charset="-128"/>
              </a:rPr>
              <a:t>受注担当マイページ　案件報告・報連相等</a:t>
            </a:r>
          </a:p>
        </p:txBody>
      </p:sp>
      <p:sp>
        <p:nvSpPr>
          <p:cNvPr id="10" name="正方形/長方形 9">
            <a:extLst>
              <a:ext uri="{FF2B5EF4-FFF2-40B4-BE49-F238E27FC236}">
                <a16:creationId xmlns:a16="http://schemas.microsoft.com/office/drawing/2014/main" id="{19B84114-83F6-D911-B9D5-3F9134D3902B}"/>
              </a:ext>
            </a:extLst>
          </p:cNvPr>
          <p:cNvSpPr/>
          <p:nvPr/>
        </p:nvSpPr>
        <p:spPr>
          <a:xfrm>
            <a:off x="363314" y="662920"/>
            <a:ext cx="11547609" cy="523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Meiryo UI" panose="020B0604030504040204" pitchFamily="50" charset="-128"/>
                <a:ea typeface="Meiryo UI" panose="020B0604030504040204" pitchFamily="50" charset="-128"/>
              </a:rPr>
              <a:t>管理担当等から週次の定期報告や適宜報連相を受け取り、マイページに一覧で表示される。確認ボタンを押す際に、必要に応じてタスク化し、管理担当や事務管理担当に追加作業等の依頼が可能。</a:t>
            </a:r>
          </a:p>
        </p:txBody>
      </p:sp>
      <p:grpSp>
        <p:nvGrpSpPr>
          <p:cNvPr id="36" name="グループ化 35">
            <a:extLst>
              <a:ext uri="{FF2B5EF4-FFF2-40B4-BE49-F238E27FC236}">
                <a16:creationId xmlns:a16="http://schemas.microsoft.com/office/drawing/2014/main" id="{2196FE84-FE16-C182-CB37-952D2BCDE7B2}"/>
              </a:ext>
            </a:extLst>
          </p:cNvPr>
          <p:cNvGrpSpPr/>
          <p:nvPr/>
        </p:nvGrpSpPr>
        <p:grpSpPr>
          <a:xfrm>
            <a:off x="4180466" y="1755298"/>
            <a:ext cx="6401731" cy="3072499"/>
            <a:chOff x="4180466" y="1755298"/>
            <a:chExt cx="6401731" cy="3072499"/>
          </a:xfrm>
        </p:grpSpPr>
        <p:pic>
          <p:nvPicPr>
            <p:cNvPr id="6" name="図 5">
              <a:extLst>
                <a:ext uri="{FF2B5EF4-FFF2-40B4-BE49-F238E27FC236}">
                  <a16:creationId xmlns:a16="http://schemas.microsoft.com/office/drawing/2014/main" id="{9992BBB6-C1E4-FE57-5540-402F8966C887}"/>
                </a:ext>
              </a:extLst>
            </p:cNvPr>
            <p:cNvPicPr>
              <a:picLocks noChangeAspect="1"/>
            </p:cNvPicPr>
            <p:nvPr/>
          </p:nvPicPr>
          <p:blipFill>
            <a:blip r:embed="rId2"/>
            <a:stretch>
              <a:fillRect/>
            </a:stretch>
          </p:blipFill>
          <p:spPr>
            <a:xfrm>
              <a:off x="4180466" y="1755298"/>
              <a:ext cx="6373234" cy="3072499"/>
            </a:xfrm>
            <a:prstGeom prst="rect">
              <a:avLst/>
            </a:prstGeom>
          </p:spPr>
        </p:pic>
        <p:sp>
          <p:nvSpPr>
            <p:cNvPr id="14" name="正方形/長方形 13">
              <a:extLst>
                <a:ext uri="{FF2B5EF4-FFF2-40B4-BE49-F238E27FC236}">
                  <a16:creationId xmlns:a16="http://schemas.microsoft.com/office/drawing/2014/main" id="{4BCFB2A4-7118-471F-8673-CC9855F06178}"/>
                </a:ext>
              </a:extLst>
            </p:cNvPr>
            <p:cNvSpPr/>
            <p:nvPr/>
          </p:nvSpPr>
          <p:spPr>
            <a:xfrm>
              <a:off x="7016304" y="2393595"/>
              <a:ext cx="1441896" cy="23530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C56BEDCE-81EE-5D90-FE60-48A0592079CD}"/>
                </a:ext>
              </a:extLst>
            </p:cNvPr>
            <p:cNvSpPr/>
            <p:nvPr/>
          </p:nvSpPr>
          <p:spPr>
            <a:xfrm>
              <a:off x="4192054" y="3700854"/>
              <a:ext cx="6390143" cy="88105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8" name="グループ化 37">
            <a:extLst>
              <a:ext uri="{FF2B5EF4-FFF2-40B4-BE49-F238E27FC236}">
                <a16:creationId xmlns:a16="http://schemas.microsoft.com/office/drawing/2014/main" id="{DE459F63-A235-3504-DB2D-ADBFA60BA7B5}"/>
              </a:ext>
            </a:extLst>
          </p:cNvPr>
          <p:cNvGrpSpPr/>
          <p:nvPr/>
        </p:nvGrpSpPr>
        <p:grpSpPr>
          <a:xfrm>
            <a:off x="749300" y="2107774"/>
            <a:ext cx="2882900" cy="4074606"/>
            <a:chOff x="749300" y="2107774"/>
            <a:chExt cx="2882900" cy="4074606"/>
          </a:xfrm>
        </p:grpSpPr>
        <p:pic>
          <p:nvPicPr>
            <p:cNvPr id="12" name="図 11">
              <a:extLst>
                <a:ext uri="{FF2B5EF4-FFF2-40B4-BE49-F238E27FC236}">
                  <a16:creationId xmlns:a16="http://schemas.microsoft.com/office/drawing/2014/main" id="{DB118C76-DCDD-DC14-3C80-347AEE8A7B11}"/>
                </a:ext>
              </a:extLst>
            </p:cNvPr>
            <p:cNvPicPr>
              <a:picLocks noChangeAspect="1"/>
            </p:cNvPicPr>
            <p:nvPr/>
          </p:nvPicPr>
          <p:blipFill>
            <a:blip r:embed="rId3"/>
            <a:stretch>
              <a:fillRect/>
            </a:stretch>
          </p:blipFill>
          <p:spPr>
            <a:xfrm>
              <a:off x="749300" y="2107774"/>
              <a:ext cx="2743200" cy="4074606"/>
            </a:xfrm>
            <a:prstGeom prst="rect">
              <a:avLst/>
            </a:prstGeom>
          </p:spPr>
        </p:pic>
        <p:sp>
          <p:nvSpPr>
            <p:cNvPr id="35" name="正方形/長方形 34">
              <a:extLst>
                <a:ext uri="{FF2B5EF4-FFF2-40B4-BE49-F238E27FC236}">
                  <a16:creationId xmlns:a16="http://schemas.microsoft.com/office/drawing/2014/main" id="{4422DA10-3C2D-9B71-6BF3-2FA54EDEF153}"/>
                </a:ext>
              </a:extLst>
            </p:cNvPr>
            <p:cNvSpPr/>
            <p:nvPr/>
          </p:nvSpPr>
          <p:spPr>
            <a:xfrm>
              <a:off x="2594519" y="5791200"/>
              <a:ext cx="1037681" cy="39118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6" name="コネクタ: 曲線 15">
            <a:extLst>
              <a:ext uri="{FF2B5EF4-FFF2-40B4-BE49-F238E27FC236}">
                <a16:creationId xmlns:a16="http://schemas.microsoft.com/office/drawing/2014/main" id="{C718CA4E-4774-02B4-94A7-03489BFF30C8}"/>
              </a:ext>
            </a:extLst>
          </p:cNvPr>
          <p:cNvCxnSpPr>
            <a:cxnSpLocks/>
            <a:stCxn id="35" idx="0"/>
            <a:endCxn id="15" idx="1"/>
          </p:cNvCxnSpPr>
          <p:nvPr/>
        </p:nvCxnSpPr>
        <p:spPr>
          <a:xfrm rot="5400000" flipH="1" flipV="1">
            <a:off x="2827799" y="4426945"/>
            <a:ext cx="1649817" cy="1078694"/>
          </a:xfrm>
          <a:prstGeom prst="curved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9" name="図 18">
            <a:extLst>
              <a:ext uri="{FF2B5EF4-FFF2-40B4-BE49-F238E27FC236}">
                <a16:creationId xmlns:a16="http://schemas.microsoft.com/office/drawing/2014/main" id="{CB041DF2-CA9C-DED8-6504-631E53D5D4F4}"/>
              </a:ext>
            </a:extLst>
          </p:cNvPr>
          <p:cNvPicPr>
            <a:picLocks noChangeAspect="1"/>
          </p:cNvPicPr>
          <p:nvPr/>
        </p:nvPicPr>
        <p:blipFill>
          <a:blip r:embed="rId4"/>
          <a:stretch>
            <a:fillRect/>
          </a:stretch>
        </p:blipFill>
        <p:spPr>
          <a:xfrm>
            <a:off x="749300" y="1402825"/>
            <a:ext cx="1333687" cy="704949"/>
          </a:xfrm>
          <a:prstGeom prst="rect">
            <a:avLst/>
          </a:prstGeom>
        </p:spPr>
      </p:pic>
      <p:grpSp>
        <p:nvGrpSpPr>
          <p:cNvPr id="29" name="グループ化 28">
            <a:extLst>
              <a:ext uri="{FF2B5EF4-FFF2-40B4-BE49-F238E27FC236}">
                <a16:creationId xmlns:a16="http://schemas.microsoft.com/office/drawing/2014/main" id="{8799EEA0-9B79-9436-E4F6-6B3132554909}"/>
              </a:ext>
            </a:extLst>
          </p:cNvPr>
          <p:cNvGrpSpPr/>
          <p:nvPr/>
        </p:nvGrpSpPr>
        <p:grpSpPr>
          <a:xfrm>
            <a:off x="9267873" y="4286478"/>
            <a:ext cx="2571653" cy="2220954"/>
            <a:chOff x="6231614" y="4336808"/>
            <a:chExt cx="2571653" cy="2220954"/>
          </a:xfrm>
        </p:grpSpPr>
        <p:pic>
          <p:nvPicPr>
            <p:cNvPr id="21" name="図 20">
              <a:extLst>
                <a:ext uri="{FF2B5EF4-FFF2-40B4-BE49-F238E27FC236}">
                  <a16:creationId xmlns:a16="http://schemas.microsoft.com/office/drawing/2014/main" id="{15DEF48C-08E4-FD96-F794-CA1540AB0D75}"/>
                </a:ext>
              </a:extLst>
            </p:cNvPr>
            <p:cNvPicPr>
              <a:picLocks noChangeAspect="1"/>
            </p:cNvPicPr>
            <p:nvPr/>
          </p:nvPicPr>
          <p:blipFill>
            <a:blip r:embed="rId5"/>
            <a:stretch>
              <a:fillRect/>
            </a:stretch>
          </p:blipFill>
          <p:spPr>
            <a:xfrm>
              <a:off x="6231614" y="4336808"/>
              <a:ext cx="2571653" cy="2202104"/>
            </a:xfrm>
            <a:prstGeom prst="rect">
              <a:avLst/>
            </a:prstGeom>
          </p:spPr>
        </p:pic>
        <p:sp>
          <p:nvSpPr>
            <p:cNvPr id="25" name="正方形/長方形 24">
              <a:extLst>
                <a:ext uri="{FF2B5EF4-FFF2-40B4-BE49-F238E27FC236}">
                  <a16:creationId xmlns:a16="http://schemas.microsoft.com/office/drawing/2014/main" id="{48067F9D-F247-18A3-4DBD-FB51E246CA51}"/>
                </a:ext>
              </a:extLst>
            </p:cNvPr>
            <p:cNvSpPr/>
            <p:nvPr/>
          </p:nvSpPr>
          <p:spPr>
            <a:xfrm>
              <a:off x="6260111" y="4355658"/>
              <a:ext cx="2543156" cy="220210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6" name="コネクタ: 曲線 25">
            <a:extLst>
              <a:ext uri="{FF2B5EF4-FFF2-40B4-BE49-F238E27FC236}">
                <a16:creationId xmlns:a16="http://schemas.microsoft.com/office/drawing/2014/main" id="{C15A0268-CFC4-8F07-8507-C2EFE410281A}"/>
              </a:ext>
            </a:extLst>
          </p:cNvPr>
          <p:cNvCxnSpPr>
            <a:cxnSpLocks/>
            <a:stCxn id="15" idx="2"/>
            <a:endCxn id="25" idx="1"/>
          </p:cNvCxnSpPr>
          <p:nvPr/>
        </p:nvCxnSpPr>
        <p:spPr>
          <a:xfrm rot="16200000" flipH="1">
            <a:off x="7929514" y="4039523"/>
            <a:ext cx="824469" cy="1909244"/>
          </a:xfrm>
          <a:prstGeom prst="curved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2450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fontAlgn="t">
          <a:defRPr sz="1200" b="0" i="0" dirty="0" smtClean="0">
            <a:solidFill>
              <a:srgbClr val="0B0B0B"/>
            </a:solidFill>
            <a:effectLst/>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TotalTime>
  <Words>2623</Words>
  <Application>Microsoft Office PowerPoint</Application>
  <PresentationFormat>ワイド画面</PresentationFormat>
  <Paragraphs>364</Paragraphs>
  <Slides>35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35</vt:i4>
      </vt:variant>
    </vt:vector>
  </HeadingPairs>
  <TitlesOfParts>
    <vt:vector size="41" baseType="lpstr">
      <vt:lpstr>Meiryo UI</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優 福島</dc:creator>
  <cp:lastModifiedBy>優 福島</cp:lastModifiedBy>
  <cp:revision>3</cp:revision>
  <dcterms:created xsi:type="dcterms:W3CDTF">2026-08-04T16:39:06Z</dcterms:created>
  <dcterms:modified xsi:type="dcterms:W3CDTF">2026-08-04T23:07:56Z</dcterms:modified>
</cp:coreProperties>
</file>