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今日は細かい操作ではなく「なぜこの形か（分業を支える）」と「どう移行するか」を共有します。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この1枚が全体の地図。以降は「分業を、システムがどう支えるか」を具体で見せる。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★ここが起点。面談シート＝オーダーシート＝タスクの設計図。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669280" cy="56692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108960"/>
            <a:ext cx="3840480" cy="3840480"/>
          </a:xfrm>
          <a:prstGeom prst="ellipse">
            <a:avLst/>
          </a:prstGeom>
          <a:solidFill>
            <a:srgbClr val="232C63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相続プラットフォーム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新システム 移行説明会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受注・管理・事務管理の「分業」を、システムでつなぐ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5760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相続事業部</a:t>
            </a:r>
            <a:pPr indent="0" marL="0">
              <a:buNone/>
            </a:pPr>
            <a:r>
              <a:rPr lang="en-US" sz="14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    20XX年X月X日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今日の流れ（約90〜120分）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417320" y="15819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417320" y="191109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分業でこそ、多くの案件を処理できる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386584"/>
            <a:ext cx="548640" cy="548640"/>
          </a:xfrm>
          <a:prstGeom prst="ellipse">
            <a:avLst/>
          </a:prstGeom>
          <a:solidFill>
            <a:srgbClr val="2C6E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23682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案件はこう流れる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面談シート→オーダーシート→タスク→実務→納品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" y="3172968"/>
            <a:ext cx="548640" cy="548640"/>
          </a:xfrm>
          <a:prstGeom prst="ellipse">
            <a:avLst/>
          </a:prstGeom>
          <a:solidFill>
            <a:srgbClr val="2C6E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3つのロールの世界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17320" y="3483864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受注／管理／事務管理、それぞれの価値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417320" y="394106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分業を止めない仕組み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42702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アラート・報連相・マイページ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4745736"/>
            <a:ext cx="548640" cy="548640"/>
          </a:xfrm>
          <a:prstGeom prst="ellipse">
            <a:avLst/>
          </a:prstGeom>
          <a:solidFill>
            <a:srgbClr val="2C6E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417320" y="472744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ライブデモ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17320" y="50566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1件を面談から納品まで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532120"/>
            <a:ext cx="548640" cy="548640"/>
          </a:xfrm>
          <a:prstGeom prst="ellipse">
            <a:avLst/>
          </a:prstGeom>
          <a:solidFill>
            <a:srgbClr val="2C6E8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17320" y="55138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移行方針とロードマップ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17320" y="5843016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まず少数から、一緒に育てる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21040" y="1600200"/>
            <a:ext cx="3200400" cy="4663440"/>
          </a:xfrm>
          <a:prstGeom prst="roundRect">
            <a:avLst>
              <a:gd name="adj" fmla="val 1714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システムのトップ画面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設計思想 — 分業でこそ、多くの案件を処理できる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オーシャンの分業体制を、より効率的に。受注・管理・事務管理が役割に集中し、システムがつなぐ。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面談・受注・オーダーシート作成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4340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C6E8F"/>
          </a:solidFill>
          <a:ln/>
        </p:spPr>
      </p:sp>
      <p:sp>
        <p:nvSpPr>
          <p:cNvPr id="11" name="Text 9"/>
          <p:cNvSpPr/>
          <p:nvPr/>
        </p:nvSpPr>
        <p:spPr>
          <a:xfrm>
            <a:off x="434340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着手前フォロー・進捗管理・納品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9659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1965960"/>
            <a:ext cx="3429000" cy="685800"/>
          </a:xfrm>
          <a:prstGeom prst="roundRect">
            <a:avLst>
              <a:gd name="adj" fmla="val 10667"/>
            </a:avLst>
          </a:prstGeom>
          <a:solidFill>
            <a:srgbClr val="2E8B6F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1965960"/>
            <a:ext cx="3429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75320" y="26974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タスク実務・書類作成・到着管理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10881360" cy="1965960"/>
          </a:xfrm>
          <a:prstGeom prst="roundRect">
            <a:avLst>
              <a:gd name="adj" fmla="val 3721"/>
            </a:avLst>
          </a:prstGeom>
          <a:solidFill>
            <a:srgbClr val="F4F8FF"/>
          </a:solidFill>
          <a:ln w="12700">
            <a:solidFill>
              <a:srgbClr val="D5E4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それを支える仕組み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012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期限を可視化・停滞を防ぐ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アラート・報連相・マイダッシュボード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8056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48056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受信簿・確認簿・タスク管理簿をシステム内に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01000" y="4754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AIで効率化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01000" y="5138928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書類作成・進捗サマリー・AIナビ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案件はこう流れる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20724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紙をやめ即入力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295144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32304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2948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32304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432304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42032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即アサインで体制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087368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24528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EEF3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5172" y="2057400"/>
            <a:ext cx="512064" cy="512064"/>
          </a:xfrm>
          <a:prstGeom prst="ellipse">
            <a:avLst/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24528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着手準備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224528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管理・事務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34256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揃って着手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879592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16752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7396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016752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対応中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16752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26480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AIサマリーで把握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671816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808976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89620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08976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08976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18704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全請求発行で完了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464040" y="3108960"/>
            <a:ext cx="155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601200" y="1828800"/>
            <a:ext cx="1673352" cy="3566160"/>
          </a:xfrm>
          <a:prstGeom prst="roundRect">
            <a:avLst>
              <a:gd name="adj" fmla="val 437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181844" y="2057400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601200" y="2697480"/>
            <a:ext cx="1673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納品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601200" y="310896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710928" y="3520440"/>
            <a:ext cx="14538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確認して納品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画面・ボタンは日々改善中。今日は「流れ」で押さえてください。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AI面談シート — 紙をやめて、そのままオーダーシートへ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手書きでもタイピングでもOK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404872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手描きメモをAIが画像認識して自動入力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311810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相続ステーション連携の「面談設定済」案件に結果を登録するだけ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831336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チャットワークでの報告は不要（LP担当への報告文も自動作成）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544568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</a:t>
            </a:r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面談直後に入力 → 後工程が自動で組み上がる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0" y="169164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面談シート（手書き／AI認識）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受注担当 → 管理担当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オーダーシートが、タスクと書類管理の土台になる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面談シートに作業指示を足すだけでオーダーシート完成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404872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オーダーシートを元に、必要なタスクを自動作成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311810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到着受信簿が案件に紐づき、取得すべき書類（契約書類・戸籍 等）を事前設定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831336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到着物の処理は、毎回新規作成せず「候補から選ぶだけ」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544568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お客様・各行政機関からの書類取得状況を一元管理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0" y="169164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オーダーシート／到着受信簿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着手前のフォローを"見える化"（管理担当）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作業着手準備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6012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この4つが揃うと進める（ナビで可視化）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2788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オーダーシート作成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344728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契約書類の受領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410565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前受金の請求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" y="476402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管理担当のアサイン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F0F5FC"/>
          </a:solidFill>
          <a:ln w="12700">
            <a:solidFill>
              <a:srgbClr val="D5E2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920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作業着手準備 → 作業進行中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83680" y="251460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前受金の入金・オーダーシート最終化・タスク出しが完了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333756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事務管理ダッシュボードに「ファイル化待ち」で起票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416052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物理ファイルでファイル化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583680" y="4983480"/>
            <a:ext cx="4800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3406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作業進行中へ／事務管理タスク開始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080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「次に何をすれば進むか」が常に見える → 着手前の抜けを防ぐ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TASK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事務管理タスクの仕組み（着手OK・受領次第OK・優先度）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3736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着手OK フラグ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73736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次に着手してよいタスクに付ける → 事務管理タスク一覧に表示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69748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97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6E8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受領次第OK フラグ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69748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到着受信簿で書類と紐づけると → 着手OK に自動で切替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657600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5760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優先度 3段階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5760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普通 / 急ぎ / 超急ぎ。優先度の高い順に上から表示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CEFCF"/>
          </a:solidFill>
          <a:ln w="12700">
            <a:solidFill>
              <a:srgbClr val="E1A33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A5A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急ぎ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0312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F7DCDC"/>
          </a:solidFill>
          <a:ln w="12700">
            <a:solidFill>
              <a:srgbClr val="D6454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252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超急ぎ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20440" y="4892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一覧では行ごとに色付け（急ぎ=黄・超急ぎ=赤）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173736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事務管理タスク一覧（優先度順）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たくさん抱えても、パンクしない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着手前フォロー：OS最終化・初期タスク出し・契約書類/入金の確認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404872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作業着手したら、AIが進捗サマリーを自動作成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311810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必要最低限の情報アクセスで、案件の進捗をすぐ把握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831336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細かい事務タスクは見ない → 頭がパンクしない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544568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</a:t>
            </a:r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本当に困ったときだけ、報連相で事務管理をヘルプ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0" y="169164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案件進捗サマリー（AI）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事務管理担当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紙・エクセルの複雑なタスク管理を、全部システムで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85800" y="1691640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到着物の管理／戸籍請求時の料金チェック／管理担当への相談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85800" y="2404872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AI書類作成（戸籍請求書・名寄せ請求書 等）で資料作成を効率化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85800" y="3118104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横断でも「事務管理進捗タブ」で案件全体の進行度を把握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3831336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02000"/>
              </a:lnSpc>
              <a:buSzPct val="100000"/>
              <a:buChar char="•"/>
            </a:pP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タスク詳細で、直近タスクの進捗も確認できる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4544568"/>
            <a:ext cx="6446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 </a:t>
            </a:r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紙・エクセルからの卒業 → 抜け漏れと転記をなくす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6640" y="1691640"/>
            <a:ext cx="4160520" cy="4480560"/>
          </a:xfrm>
          <a:prstGeom prst="roundRect">
            <a:avLst>
              <a:gd name="adj" fmla="val 1319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事務管理進捗タブ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9966960" y="731520"/>
            <a:ext cx="822960" cy="822960"/>
          </a:xfrm>
          <a:prstGeom prst="ellipse">
            <a:avLst/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1A3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★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分業を、止めない仕組み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期限を可視化 → 気づける → フォローし合える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ALERT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 — どんな時に出る？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7B73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26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要確認案件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少し放置。早めに（黄）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703320" y="169164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5842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要注意案件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70332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放置が続いた／至急（赤）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こんな時に光る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タスクの期日超過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414223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入金（請求）の期日超過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8114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管理担当が未アサインのまま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50200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案件報告の「至急！！」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545896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前受金の未請求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放置が続くと 黄→赤 に自動昇格。誰かが忘れても、システムが赤で知らせる。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92240" y="1691640"/>
            <a:ext cx="5029200" cy="4480560"/>
          </a:xfrm>
          <a:prstGeom prst="roundRect">
            <a:avLst>
              <a:gd name="adj" fmla="val 1224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マイページ上部の 要確認/要注意 バナー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報告・相談 — 残せる・助けを呼べる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691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進捗サマリー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97680" y="16916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週次報告がワンクリック（AI要約つき）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441448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44144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報連相（報告/連絡/相談）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44144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適宜。宛先を選んで送る・受けたら確認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91256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19125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管理担当ヘルプ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97680" y="31912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詰まったら助けを求める（至急は赤バナー直結）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941064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94106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クレーム報告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97680" y="39410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記録する（重いと案件が紫フラグ）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690872"/>
            <a:ext cx="146304" cy="566928"/>
          </a:xfrm>
          <a:prstGeom prst="roundRect">
            <a:avLst>
              <a:gd name="adj" fmla="val 31250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46908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依頼者連絡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97680" y="469087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お客様とのやり取りを記録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0080" y="5897880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どの報連相からでも </a:t>
            </a:r>
            <a:pPr indent="0" marL="0">
              <a:buNone/>
            </a:pPr>
            <a:r>
              <a:rPr lang="en-US" sz="1400" b="1" dirty="0">
                <a:solidFill>
                  <a:srgbClr val="2E8B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その場でタスク化</a:t>
            </a:r>
            <a:pPr indent="0" marL="0">
              <a:buNone/>
            </a:pPr>
            <a:r>
              <a:rPr lang="en-US" sz="1400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できる。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06640" y="1691640"/>
            <a:ext cx="4160520" cy="4206240"/>
          </a:xfrm>
          <a:prstGeom prst="roundRect">
            <a:avLst>
              <a:gd name="adj" fmla="val 1319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 / 報連相ウィンドウ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MYPAGE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マイページ／マイダッシュボード — 司令塔とフォロー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4592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自分の案件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64592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色（黄/赤/紫）で優先が一目で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6916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20116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040880" y="18928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出した報告 / 受けた報告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040880" y="235000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案件報告・報連相の送受信を管理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4592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自分のタスク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64592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やることを一元管理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310896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34290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33101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アラート＋通知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040880" y="376732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「やること」と「履歴」を集約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さらに、チームの超過タスクを一覧化 → みんなでフォローできる（マイダッシュボード）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5217"/>
            </a:avLst>
          </a:prstGeom>
          <a:solidFill>
            <a:srgbClr val="EEF3FC"/>
          </a:solidFill>
          <a:ln w="15875">
            <a:solidFill>
              <a:srgbClr val="CADCFC"/>
            </a:solidFill>
            <a:prstDash val="dash"/>
          </a:ln>
        </p:spPr>
        <p:txBody>
          <a:bodyPr wrap="square" lIns="1016" tIns="1016" rIns="1016" bIns="1016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▲  </a:t>
            </a:r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チームダッシュボード（超過タスクのフォロー）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DIGITAL &amp; AI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紙をデジタル化、AIで効率化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受信簿・確認簿・タスク管理簿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紙・エクセルを全部システム内に。探せる・残る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202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戸籍請求書・名寄せ請求書などをすぐ作成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2024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21945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30632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AIナビ（予定）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「この案件どう進める？」を相談できる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迷わない・手が止まらない。効率化で、分業をさらに速く。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9184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1A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LIVE DEMO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1件を、面談から納品まで通します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サンプル：田中家 相続手続き（横浜市の不動産・みずほ銀行）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面談登録 → オーダーシート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タスク自動生成／受信簿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72400" y="36576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受注 → 割り振り → 着手準備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ファイル化 → 作業進行中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206240" y="4526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業務完了 → 納品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MIGRATION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移行方針：まず少数から、一緒に育てる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〜1ヶ月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 1〜2件だけ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新規案件のうち"事故が少なそうなもの"で慣れる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06908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E1A3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1772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1ヶ月後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要望を集めて改善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現場の声を元にアップデート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0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46720" y="1783080"/>
            <a:ext cx="3429000" cy="3566160"/>
          </a:xfrm>
          <a:prstGeom prst="roundRect">
            <a:avLst>
              <a:gd name="adj" fmla="val 213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0" y="2011680"/>
            <a:ext cx="2011680" cy="502920"/>
          </a:xfrm>
          <a:prstGeom prst="roundRect">
            <a:avLst>
              <a:gd name="adj" fmla="val 90909"/>
            </a:avLst>
          </a:prstGeom>
          <a:solidFill>
            <a:srgbClr val="2E8B6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STEP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210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321040" y="31089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件数を増やしながら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21040" y="388620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アップデートを回し続ける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完璧じゃなくていい。まず少数で慣れて、すぐ直す。それを繰り返します。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今後のアップデート予定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01168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AI書類作成の拡大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対応する書類を増やし、作成の手間をさらに削減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96596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1500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2628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AIナビ（業務相談）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61772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「この案件どう進める？」をその場で相談できる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46720" y="196596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0" y="22402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0" y="310896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現場の要望で改善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321040" y="379476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アンケート・フィードバックを継続反映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" y="5532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使いながら、どんどん便利にしていきます。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困ったとき・お願い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3911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面談は"その場で"入力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94960" y="178308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紙をやめ、面談直後に。後工程が自動で組み上がる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2783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91640" y="297180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迷ったら / 要望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94960" y="297180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マニュアル（/manual）＋遠慮なくフィードバック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1605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41655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691640" y="41605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A2E4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まず慣れる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394960" y="41605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各チーム1〜2件から。抱え込まず報連相で共有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「完璧じゃなくていい、一緒に育てる」— それが今日一番のお願いです。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3774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3657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ご質問・ご不安、なんでもどうぞ。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4297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A6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まず1〜2件、一緒に動かしてみましょう。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2026-08-03T19:56:56Z</dcterms:created>
  <dcterms:modified xsi:type="dcterms:W3CDTF">2026-08-03T19:56:56Z</dcterms:modified>
</cp:coreProperties>
</file>