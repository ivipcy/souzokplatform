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今日は細かい操作ではなく「なぜこの形か（分業を支える）」と「どう移行するか」を共有します。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この1枚が全体の地図。以降は「分業を、システムがどう支えるか」を具体で見せる。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★ここが起点。面談シート＝オーダーシート＝タスクの設計図。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108960"/>
            <a:ext cx="3840480" cy="3840480"/>
          </a:xfrm>
          <a:prstGeom prst="ellipse">
            <a:avLst/>
          </a:prstGeom>
          <a:solidFill>
            <a:srgbClr val="232C63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相続プラットフォーム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新システム 移行説明会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受注・管理・事務管理の「分業」を、システムでつなぐ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相続事業部</a:t>
            </a:r>
            <a:pPr indent="0" marL="0">
              <a:buNone/>
            </a:pPr>
            <a:r>
              <a:rPr lang="en-US" sz="1400" dirty="0">
                <a:solidFill>
                  <a:srgbClr val="9AA6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   20XX年X月X日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今日の流れ（約90〜120分）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17320" y="15819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設計思想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17320" y="191109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分業でこそ、多くの案件を処理できる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86584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6829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案件はこう流れる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17320" y="26974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面談シート→オーダーシート→タスク→実務→納品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172968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1546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3つのロールの世界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17320" y="34838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受注／管理／事務管理、それぞれの価値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395935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394106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分業を止めない仕組み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17320" y="42702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アラート・報連相・マイページ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4745736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47274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ライブデモ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417320" y="50566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1件を面談から納品まで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532120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55138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移行方針とロードマップ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17320" y="58430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まず少数から、一緒に育てる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321040" y="1600200"/>
            <a:ext cx="3200400" cy="4663440"/>
          </a:xfrm>
          <a:prstGeom prst="roundRect">
            <a:avLst>
              <a:gd name="adj" fmla="val 1714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システムのトップ画面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なぜ変えるのか — 何が、どう変わる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2103120" cy="502920"/>
          </a:xfrm>
          <a:prstGeom prst="roundRect">
            <a:avLst>
              <a:gd name="adj" fmla="val 10909"/>
            </a:avLst>
          </a:prstGeom>
          <a:solidFill>
            <a:srgbClr val="F2F4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88920" y="1691640"/>
            <a:ext cx="4297680" cy="502920"/>
          </a:xfrm>
          <a:prstGeom prst="roundRect">
            <a:avLst>
              <a:gd name="adj" fmla="val 10909"/>
            </a:avLst>
          </a:prstGeom>
          <a:solidFill>
            <a:srgbClr val="FBF2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45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223760" y="1691640"/>
            <a:ext cx="4297680" cy="502920"/>
          </a:xfrm>
          <a:prstGeom prst="roundRect">
            <a:avLst>
              <a:gd name="adj" fmla="val 10909"/>
            </a:avLst>
          </a:prstGeom>
          <a:solidFill>
            <a:srgbClr val="F0F7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3317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3317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記録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2788920" y="2331720"/>
            <a:ext cx="4297680" cy="1051560"/>
          </a:xfrm>
          <a:prstGeom prst="roundRect">
            <a:avLst>
              <a:gd name="adj" fmla="val 6957"/>
            </a:avLst>
          </a:prstGeom>
          <a:solidFill>
            <a:srgbClr val="FBF2F2"/>
          </a:solidFill>
          <a:ln w="12700">
            <a:solidFill>
              <a:srgbClr val="F0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71800" y="233172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7A3B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面談は紙→転記／相談はチャットで流れて消える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223760" y="2331720"/>
            <a:ext cx="4297680" cy="1051560"/>
          </a:xfrm>
          <a:prstGeom prst="roundRect">
            <a:avLst>
              <a:gd name="adj" fmla="val 6957"/>
            </a:avLst>
          </a:prstGeom>
          <a:solidFill>
            <a:srgbClr val="F0F7F3"/>
          </a:solidFill>
          <a:ln w="12700">
            <a:solidFill>
              <a:srgbClr val="D5E7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06640" y="233172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C5A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面談シートに即入力＝そのままOS／報告・相談は案件に残り、必要な人へ通知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56616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56616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タスク管理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2788920" y="3566160"/>
            <a:ext cx="4297680" cy="1051560"/>
          </a:xfrm>
          <a:prstGeom prst="roundRect">
            <a:avLst>
              <a:gd name="adj" fmla="val 6957"/>
            </a:avLst>
          </a:prstGeom>
          <a:solidFill>
            <a:srgbClr val="FBF2F2"/>
          </a:solidFill>
          <a:ln w="12700">
            <a:solidFill>
              <a:srgbClr val="F0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71800" y="356616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7A3B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重要タスクが人の頭の中だけ→漏れる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223760" y="3566160"/>
            <a:ext cx="4297680" cy="1051560"/>
          </a:xfrm>
          <a:prstGeom prst="roundRect">
            <a:avLst>
              <a:gd name="adj" fmla="val 6957"/>
            </a:avLst>
          </a:prstGeom>
          <a:solidFill>
            <a:srgbClr val="F0F7F3"/>
          </a:solidFill>
          <a:ln w="12700">
            <a:solidFill>
              <a:srgbClr val="D5E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356616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C5A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オーダーシートからタスクを自動設計／抜けはアラートで通知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80060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80060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見える化・フォロー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2788920" y="4800600"/>
            <a:ext cx="4297680" cy="1051560"/>
          </a:xfrm>
          <a:prstGeom prst="roundRect">
            <a:avLst>
              <a:gd name="adj" fmla="val 6957"/>
            </a:avLst>
          </a:prstGeom>
          <a:solidFill>
            <a:srgbClr val="FBF2F2"/>
          </a:solidFill>
          <a:ln w="12700">
            <a:solidFill>
              <a:srgbClr val="F0D9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71800" y="480060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7A3B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案件の進捗が横から見えない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23760" y="4800600"/>
            <a:ext cx="4297680" cy="1051560"/>
          </a:xfrm>
          <a:prstGeom prst="roundRect">
            <a:avLst>
              <a:gd name="adj" fmla="val 6957"/>
            </a:avLst>
          </a:prstGeom>
          <a:solidFill>
            <a:srgbClr val="F0F7F3"/>
          </a:solidFill>
          <a:ln w="12700">
            <a:solidFill>
              <a:srgbClr val="D5E7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0" y="480060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C5A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進捗・フラグ（黄/赤/紫）＋マイページで、みんながフォローできる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設計思想 — 分業でこそ、多くの案件を処理できる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オーシャンの分業体制を、より効率的に。受注・管理・事務管理が役割に集中し、システムがつなぐ。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659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面談・受注・オーダーシート作成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965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2C6E8F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19659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着手前フォロー・進捗管理・納品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46720" y="196596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1965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2E8B6F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0" y="19659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事務管理担当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7532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タスク実務・書類作成・到着管理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4114800"/>
            <a:ext cx="10881360" cy="1965960"/>
          </a:xfrm>
          <a:prstGeom prst="roundRect">
            <a:avLst>
              <a:gd name="adj" fmla="val 3721"/>
            </a:avLst>
          </a:prstGeom>
          <a:solidFill>
            <a:srgbClr val="F4F8FF"/>
          </a:solidFill>
          <a:ln w="12700">
            <a:solidFill>
              <a:srgbClr val="D5E4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それを支える仕組み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012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期限を可視化・停滞を防ぐ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51389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アラート・報連相・マイダッシュボード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紙をデジタル化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480560" y="51389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受信簿・確認簿・タスク管理簿をシステム内に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0100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AIで効率化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001000" y="51389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書類作成・進捗サマリー・AIナビ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FLOW × ROLES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分業体制はこう回る — 誰が・いつ・何を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ステータスが進むと、バトンが次のロールへ渡る。どのフェーズを誰が担うか＝分業がそのまま可視化されます。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965960" cy="502920"/>
          </a:xfrm>
          <a:prstGeom prst="rect">
            <a:avLst/>
          </a:prstGeom>
          <a:solidFill>
            <a:srgbClr val="141A3C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ロール ＼ フェーズ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606040" y="1874520"/>
            <a:ext cx="1783080" cy="50292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面談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0" y="1874520"/>
            <a:ext cx="1783080" cy="50292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受注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172200" y="1874520"/>
            <a:ext cx="1783080" cy="50292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着手準備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955280" y="1874520"/>
            <a:ext cx="1783080" cy="50292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作業進行中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738360" y="1874520"/>
            <a:ext cx="1783080" cy="50292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業務完了・納品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1965960" cy="1078992"/>
          </a:xfrm>
          <a:prstGeom prst="rect">
            <a:avLst/>
          </a:prstGeom>
          <a:solidFill>
            <a:srgbClr val="EEF2FF"/>
          </a:solidFill>
          <a:ln w="15875">
            <a:solidFill>
              <a:srgbClr val="FFFFFF"/>
            </a:solidFill>
          </a:ln>
        </p:spPr>
        <p:txBody>
          <a:bodyPr wrap="square" lIns="1143" tIns="1143" rIns="1143" bIns="1143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 </a:t>
            </a:r>
            <a:pPr algn="l" indent="0" marL="0">
              <a:buNone/>
            </a:pPr>
            <a:r>
              <a:rPr lang="en-US" sz="1150" b="1" dirty="0">
                <a:solidFill>
                  <a:srgbClr val="3730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06040" y="2377440"/>
            <a:ext cx="1783080" cy="1078992"/>
          </a:xfrm>
          <a:prstGeom prst="rect">
            <a:avLst/>
          </a:prstGeom>
          <a:solidFill>
            <a:srgbClr val="EEF3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面談シート入力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4389120" y="2377440"/>
            <a:ext cx="1783080" cy="1078992"/>
          </a:xfrm>
          <a:prstGeom prst="rect">
            <a:avLst/>
          </a:prstGeom>
          <a:solidFill>
            <a:srgbClr val="EEF3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オーダーシート作成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6172200" y="2377440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955280" y="2377440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738360" y="2377440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456432"/>
            <a:ext cx="1965960" cy="1078992"/>
          </a:xfrm>
          <a:prstGeom prst="rect">
            <a:avLst/>
          </a:prstGeom>
          <a:solidFill>
            <a:srgbClr val="EEF2FF"/>
          </a:solidFill>
          <a:ln w="15875">
            <a:solidFill>
              <a:srgbClr val="FFFFFF"/>
            </a:solidFill>
          </a:ln>
        </p:spPr>
        <p:txBody>
          <a:bodyPr wrap="square" lIns="1143" tIns="1143" rIns="1143" bIns="1143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C6E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 </a:t>
            </a:r>
            <a:pPr algn="l" indent="0" marL="0">
              <a:buNone/>
            </a:pPr>
            <a:r>
              <a:rPr lang="en-US" sz="1150" b="1" dirty="0">
                <a:solidFill>
                  <a:srgbClr val="3730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06040" y="3456432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89120" y="3456432"/>
            <a:ext cx="1783080" cy="1078992"/>
          </a:xfrm>
          <a:prstGeom prst="rect">
            <a:avLst/>
          </a:prstGeom>
          <a:solidFill>
            <a:srgbClr val="E9F3F0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5E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割振り→アサイン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6172200" y="3456432"/>
            <a:ext cx="1783080" cy="1078992"/>
          </a:xfrm>
          <a:prstGeom prst="rect">
            <a:avLst/>
          </a:prstGeom>
          <a:solidFill>
            <a:srgbClr val="E9F3F0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5E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OS最終化・タスク出し・着手前フォロー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7955280" y="3456432"/>
            <a:ext cx="1783080" cy="1078992"/>
          </a:xfrm>
          <a:prstGeom prst="rect">
            <a:avLst/>
          </a:prstGeom>
          <a:solidFill>
            <a:srgbClr val="E9F3F0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5E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進捗管理(AI要約)・報連相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9738360" y="3456432"/>
            <a:ext cx="1783080" cy="1078992"/>
          </a:xfrm>
          <a:prstGeom prst="rect">
            <a:avLst/>
          </a:prstGeom>
          <a:solidFill>
            <a:srgbClr val="E9F3F0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5E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業務完了・納品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640080" y="4535424"/>
            <a:ext cx="1965960" cy="1078992"/>
          </a:xfrm>
          <a:prstGeom prst="rect">
            <a:avLst/>
          </a:prstGeom>
          <a:solidFill>
            <a:srgbClr val="EEF2FF"/>
          </a:solidFill>
          <a:ln w="15875">
            <a:solidFill>
              <a:srgbClr val="FFFFFF"/>
            </a:solidFill>
          </a:ln>
        </p:spPr>
        <p:txBody>
          <a:bodyPr wrap="square" lIns="1143" tIns="1143" rIns="1143" bIns="1143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E8B6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 </a:t>
            </a:r>
            <a:pPr algn="l" indent="0" marL="0">
              <a:buNone/>
            </a:pPr>
            <a:r>
              <a:rPr lang="en-US" sz="1150" b="1" dirty="0">
                <a:solidFill>
                  <a:srgbClr val="3730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事務管理担当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06040" y="4535424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89120" y="4535424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72200" y="4535424"/>
            <a:ext cx="1783080" cy="1078992"/>
          </a:xfrm>
          <a:prstGeom prst="rect">
            <a:avLst/>
          </a:prstGeom>
          <a:solidFill>
            <a:srgbClr val="EDF6F1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ファイル化→着手OK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7955280" y="4535424"/>
            <a:ext cx="1783080" cy="1078992"/>
          </a:xfrm>
          <a:prstGeom prst="rect">
            <a:avLst/>
          </a:prstGeom>
          <a:solidFill>
            <a:srgbClr val="EDF6F1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事務タスク実務・到着管理・AI書類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9738360" y="4535424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5751576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案件詳細のナビが「次に進む条件」を、アラートが「遅れ」を教えるので、バトンが滞らない。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AI面談シート — 紙をやめて、そのままオーダーシートへ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手書きでもタイピングでもOK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手描きメモをAIが画像認識して自動入力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相続ステーション連携の「面談設定済」案件に結果を登録するだけ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チャットワークでの報告は不要（LP担当への報告文も自動作成）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</a:t>
            </a:r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面談直後に入力 → 後工程が自動で組み上がる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面談シート（手書き／AI認識）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 → 管理担当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オーダーシートから、必要なタスクを自動生成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面談シートに作業指示を足すだけでオーダーシート完成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オーダーシートの内容を元に、案件に必要なタスクを自動で作成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戸籍請求・財産調査・書類作成など、やることが最初から並ぶ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</a:t>
            </a:r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管理担当は抜けを気にせず、タスクを確認・調整して進めるだけ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オーダーシート／自動生成されたタスク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書類管理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到着受信簿 — 紙の受領管理をシステムへ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今は紙で管理 → 案件に紐づく「到着受信簿」で一元管理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案件で受領する書類はあらかじめ設定。到着待ちは「受領待ち」を選ぶだけ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到着した書類をタスクに紐づけ → タスクの着手OKフラグが自動で立つ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お客様・各行政機関からの取得状況をまとめて把握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</a:t>
            </a:r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到着した書類をベースに、最終的な納品対応までつながる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到着受信簿（受領待ち／到着処理）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NAVIGATION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着手前のフォローを"見える化"（管理担当）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 → 作業着手準備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この4つが揃うと進める（ナビで可視化）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オーダーシート作成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05840" y="344728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契約書類の受領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410565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前受金の請求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005840" y="476402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管理担当のアサイン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0F5FC"/>
          </a:solidFill>
          <a:ln w="12700">
            <a:solidFill>
              <a:srgbClr val="D5E2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6E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作業着手準備 → 作業進行中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25146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前受金の入金・オーダーシート最終化・タスク出しが完了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0" y="333756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事務管理ダッシュボードに「ファイル化待ち」で起票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41605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物理ファイルでファイル化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49834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作業進行中へ／事務管理タスク開始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080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「次に何をすれば進むか」が常に見える → 着手前の抜けを防ぐ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事務管理タスクの仕組み（着手OK・受領次第OK・優先度）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675120" cy="822960"/>
          </a:xfrm>
          <a:prstGeom prst="roundRect">
            <a:avLst>
              <a:gd name="adj" fmla="val 8889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着手OK フラグ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0" y="17373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次に着手してよいタスクに付ける → 事務管理タスク一覧に表示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6675120" cy="822960"/>
          </a:xfrm>
          <a:prstGeom prst="roundRect">
            <a:avLst>
              <a:gd name="adj" fmla="val 8889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97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受領次第OK フラグ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0" y="26974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到着受信簿で書類と紐づけると → 着手OK に自動で切替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657600"/>
            <a:ext cx="6675120" cy="822960"/>
          </a:xfrm>
          <a:prstGeom prst="roundRect">
            <a:avLst>
              <a:gd name="adj" fmla="val 8889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優先度 3段階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7600" y="36576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普通 / 急ぎ / 超急ぎ。優先度の高い順に上から表示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892040"/>
            <a:ext cx="1280160" cy="502920"/>
          </a:xfrm>
          <a:prstGeom prst="roundRect">
            <a:avLst>
              <a:gd name="adj" fmla="val 9091"/>
            </a:avLst>
          </a:prstGeom>
          <a:solidFill>
            <a:srgbClr val="FCEFCF"/>
          </a:solidFill>
          <a:ln w="12700">
            <a:solidFill>
              <a:srgbClr val="E1A3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急ぎ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03120" y="4892040"/>
            <a:ext cx="1280160" cy="502920"/>
          </a:xfrm>
          <a:prstGeom prst="roundRect">
            <a:avLst>
              <a:gd name="adj" fmla="val 9091"/>
            </a:avLst>
          </a:prstGeom>
          <a:solidFill>
            <a:srgbClr val="F7DCDC"/>
          </a:solidFill>
          <a:ln w="12700">
            <a:solidFill>
              <a:srgbClr val="D6454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0252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超急ぎ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20440" y="4892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一覧では行ごとに色付け（急ぎ=黄・超急ぎ=赤）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06640" y="173736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事務管理タスク一覧（優先度順）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たくさん抱えても、パンクしない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着手前フォロー：OS最終化・初期タスク出し・契約書類/入金の確認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作業着手したら、AIが進捗サマリーを自動作成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必要最低限の情報アクセスで、案件の進捗をすぐ把握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細かい事務タスクは見ない → 頭がパンクしない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</a:t>
            </a:r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本当に困ったときだけ、報連相で事務管理をヘルプ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案件進捗サマリー（AI）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紙・エクセルの複雑なタスク管理を、全部システムで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到着物の管理／戸籍請求時の料金チェック／管理担当への相談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AI書類作成（戸籍請求書・名寄せ請求書 等）で資料作成を効率化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横断でも「事務管理進捗タブ」で案件全体の進行度を把握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タスク詳細で、直近タスクの進捗も確認できる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</a:t>
            </a:r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紙・エクセルからの卒業 → 抜け漏れと転記をなくす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事務管理進捗タブ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84048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9966960" y="731520"/>
            <a:ext cx="822960" cy="822960"/>
          </a:xfrm>
          <a:prstGeom prst="ellipse">
            <a:avLst/>
          </a:prstGeom>
          <a:solidFill>
            <a:srgbClr val="E1A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1A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分業を、止めない仕組み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期限を可視化 → 気づける → フォローし合える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ALERT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 — どんな時に、何色で出る？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マイページ上部の2つのバナーに件数が出ます。放置が続くと 黄 → 赤 に自動で上がります。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FFF9EC"/>
          </a:solidFill>
          <a:ln w="12700">
            <a:solidFill>
              <a:srgbClr val="F0DB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116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F7B73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26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要確認案件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546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5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早めに（黄）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2743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タスクの期日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206240" y="27432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5営業日 超過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3192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入金（請求）の期日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206240" y="3319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5営業日 超過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389534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未対応（最後に開いてから）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206240" y="389534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5営業日 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447141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週次報告の漏れ／回答予定日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206240" y="44714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漏れ・間近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504748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面談メモ 未記載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178308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FCEEE9"/>
          </a:solidFill>
          <a:ln w="12700">
            <a:solidFill>
              <a:srgbClr val="F0C9B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20116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F584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要注意案件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7824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今すぐ（赤）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2743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タスク／入金の期日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8298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2週間(14日) 以上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33192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管理担当が未アサイン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829800" y="33192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受注から2営業日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389534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前受金が未請求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829800" y="389534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受注から5営業日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447141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完了予定日 超過／前受金 未入金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83680" y="504748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未対応 ／ 案件報告の「至急！！」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829800" y="504748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10営業日 超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5989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3B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クレーム／大クレーム</a:t>
            </a:r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は案件が </a:t>
            </a:r>
            <a:pPr indent="0" marL="0">
              <a:buNone/>
            </a:pPr>
            <a:r>
              <a:rPr lang="en-US" sz="1250" b="1" dirty="0">
                <a:solidFill>
                  <a:srgbClr val="7A3B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紫フラグ</a:t>
            </a:r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　営業日＝日曜のみ休み（土曜は営業日）。放置が続くと 黄→赤 に自動昇格。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報告・相談 — 残せる・助けを呼べる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69164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進捗サマリー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0" y="16916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週次報告がワンクリック（AI要約つき）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441448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44144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報連相（報告/連絡/相談）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97680" y="24414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適宜。宛先を選んで送る・受けたら確認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191256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19125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管理担当ヘルプ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319125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詰まったら助けを求める（至急は赤バナー直結）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941064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94106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クレーム報告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97680" y="39410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記録する（重いと案件が紫フラグ）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690872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6908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依頼者連絡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97680" y="46908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お客様とのやり取りを記録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8978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どの報連相からでも </a:t>
            </a:r>
            <a:pPr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その場でタスク化</a:t>
            </a:r>
            <a:pPr indent="0" marL="0">
              <a:buNone/>
            </a:pPr>
            <a:r>
              <a:rPr lang="en-US" sz="140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できる。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06640" y="1691640"/>
            <a:ext cx="4160520" cy="420624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案件報告 / 報連相ウィンドウ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MYPAGE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マイページ／マイダッシュボード — 司令塔とフォロー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45920" y="18928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自分の案件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645920" y="2350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色（黄/赤/紫）で優先が一目で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35040" y="169164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20116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0" y="18928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出した報告 / 受けた報告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040880" y="2350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案件報告・報連相の送受信を管理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10896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45920" y="33101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自分のタスク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645920" y="37673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やることを一元管理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035040" y="310896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34290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40880" y="33101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アラート＋通知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040880" y="37673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「やること」と「履歴」を集約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4754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さらに、チームの超過タスクを一覧化 → みんなでフォローできる（マイダッシュボード）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チームダッシュボード（超過タスクのフォロー）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DIGITAL &amp; 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紙をデジタル化、AIで効率化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01168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受信簿・確認簿・タスク管理簿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紙・エクセルを全部システム内に。探せる・残る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26280" y="30632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AI書類作成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戸籍請求書・名寄せ請求書などをすぐ作成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0" y="30632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AIナビ（予定）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「この案件どう進める？」を相談できる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迷わない・手が止まらない。効率化で、分業をさらに速く。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3291840"/>
            <a:ext cx="5029200" cy="5029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1件を、面談から納品まで通します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サンプル：田中家 相続手続き（横浜市の不動産・みずほ銀行）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面談登録 → オーダーシート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0624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タスク自動生成／受信簿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 → 割り振り → 着手準備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ファイル化 → 作業進行中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20624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業務完了 → 納品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移行方針：まず少数から、一緒に育てる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2011680" cy="502920"/>
          </a:xfrm>
          <a:prstGeom prst="roundRect">
            <a:avLst>
              <a:gd name="adj" fmla="val 90909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〜1ヶ月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各チーム 1〜2件だけ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新規案件のうち"事故が少なそうなもの"で慣れる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69080" y="3291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011680"/>
            <a:ext cx="2011680" cy="502920"/>
          </a:xfrm>
          <a:prstGeom prst="roundRect">
            <a:avLst>
              <a:gd name="adj" fmla="val 90909"/>
            </a:avLst>
          </a:prstGeom>
          <a:solidFill>
            <a:srgbClr val="E1A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2697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1ヶ月後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17720" y="31089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要望を集めて改善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3886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現場の声を元にアップデート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72400" y="3291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4672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2011680"/>
            <a:ext cx="2011680" cy="502920"/>
          </a:xfrm>
          <a:prstGeom prst="roundRect">
            <a:avLst>
              <a:gd name="adj" fmla="val 90909"/>
            </a:avLst>
          </a:prstGeom>
          <a:solidFill>
            <a:srgbClr val="2E8B6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21040" y="2697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〜3ヶ月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31089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件数を増やしながら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21040" y="3886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アップデートを回し続ける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完璧じゃなくていい。まず少数で慣れて、すぐ直す。それを繰り返します。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今後のアップデート予定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011680" y="224028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AI書類作成の拡大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1440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対応する書類を増やし、作成の手間をさらに削減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96596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224028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26280" y="31089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AIナビ（業務相談）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61772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「この案件どう進める？」をその場で相談できる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96596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0" y="224028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0" y="31089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現場の要望で改善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32104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アンケート・フィードバックを継続反映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使いながら、どんどん便利にしていきます。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困ったとき・お願い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3911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91640" y="17830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面談は"その場で"入力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394960" y="178308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紙をやめ、面談直後に。後工程が自動で組み上がる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22783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91640" y="29718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 / 要望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394960" y="29718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マニュアル（/manual）＋遠慮なくフィードバック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41655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91640" y="41605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まず慣れる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394960" y="41605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各チーム1〜2件から。抱え込まず報連相で共有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「完璧じゃなくていい、一緒に育てる」— それが今日一番のお願いです。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943600" cy="59436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 &amp; 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ご質問・ご不安、なんでもどうぞ。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まず1〜2件、一緒に動かしてみましょう。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2026-08-03T21:16:28Z</dcterms:created>
  <dcterms:modified xsi:type="dcterms:W3CDTF">2026-08-03T21:16:28Z</dcterms:modified>
</cp:coreProperties>
</file>