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今日は細かい操作ではなく「なぜこの形か（分業を支える）」と「どう移行するか」を共有します。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この1枚が全体の地図。以降は「分業を、システムがどう支えるか」を具体で見せる。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★ここが起点。面談シート＝オーダーシート＝タスクの設計図。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232C6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相続プラットフォーム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新システム 移行説明会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受注・管理・事務管理の「分業」を、システムでつなぐ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相続事業部</a:t>
            </a:r>
            <a:pPr indent="0" marL="0">
              <a:buNone/>
            </a:pPr>
            <a:r>
              <a:rPr lang="en-US" sz="1400" dirty="0">
                <a:solidFill>
                  <a:srgbClr val="9AA6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   20XX年X月X日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今日の流れ（約90〜120分）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548640" cy="54864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17320" y="15819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設計思想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17320" y="191109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分業でこそ、多くの案件を処理できる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2386584"/>
            <a:ext cx="548640" cy="548640"/>
          </a:xfrm>
          <a:prstGeom prst="ellipse">
            <a:avLst/>
          </a:prstGeom>
          <a:solidFill>
            <a:srgbClr val="2C6E8F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3682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案件はこう流れる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17320" y="26974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面談シート→オーダーシート→タスク→実務→納品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72968"/>
            <a:ext cx="548640" cy="548640"/>
          </a:xfrm>
          <a:prstGeom prst="ellipse">
            <a:avLst/>
          </a:prstGeom>
          <a:solidFill>
            <a:srgbClr val="2C6E8F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154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3つのロールの世界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483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受注／管理／事務管理、それぞれの価値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3959352"/>
            <a:ext cx="548640" cy="54864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94106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分業を止めない仕組み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2702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アラート・報連相・マイページ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4745736"/>
            <a:ext cx="548640" cy="548640"/>
          </a:xfrm>
          <a:prstGeom prst="ellipse">
            <a:avLst/>
          </a:prstGeom>
          <a:solidFill>
            <a:srgbClr val="2C6E8F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727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ライブデモ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50566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1件を面談から納品まで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5532120"/>
            <a:ext cx="548640" cy="548640"/>
          </a:xfrm>
          <a:prstGeom prst="ellipse">
            <a:avLst/>
          </a:prstGeom>
          <a:solidFill>
            <a:srgbClr val="2C6E8F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5138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移行方針とロードマップ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417320" y="5843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まず少数から、一緒に育てる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321040" y="1600200"/>
            <a:ext cx="3200400" cy="4663440"/>
          </a:xfrm>
          <a:prstGeom prst="roundRect">
            <a:avLst>
              <a:gd name="adj" fmla="val 2857"/>
            </a:avLst>
          </a:prstGeom>
          <a:solidFill>
            <a:srgbClr val="F3F6FD"/>
          </a:solidFill>
          <a:ln w="15875">
            <a:solidFill>
              <a:srgbClr val="CDD8EE"/>
            </a:solidFill>
            <a:prstDash val="dash"/>
          </a:ln>
          <a:effectLst>
            <a:outerShdw sx="100000" sy="100000" kx="0" ky="0" algn="bl" rotWithShape="0" blurRad="101600" dist="25400" dir="5400000">
              <a:srgbClr val="AEBBD6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58200" y="1600200"/>
            <a:ext cx="2926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AAB6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
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システムのトップ画面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なぜ変えるのか — 何が、どう変わる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F2F4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88920" y="1691640"/>
            <a:ext cx="4297680" cy="502920"/>
          </a:xfrm>
          <a:prstGeom prst="roundRect">
            <a:avLst>
              <a:gd name="adj" fmla="val 10909"/>
            </a:avLst>
          </a:prstGeom>
          <a:solidFill>
            <a:srgbClr val="FB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223760" y="1691640"/>
            <a:ext cx="4297680" cy="502920"/>
          </a:xfrm>
          <a:prstGeom prst="roundRect">
            <a:avLst>
              <a:gd name="adj" fmla="val 10909"/>
            </a:avLst>
          </a:prstGeom>
          <a:solidFill>
            <a:srgbClr val="F0F7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2103120" cy="1051560"/>
          </a:xfrm>
          <a:prstGeom prst="roundRect">
            <a:avLst>
              <a:gd name="adj" fmla="val 8696"/>
            </a:avLst>
          </a:prstGeom>
          <a:solidFill>
            <a:srgbClr val="EEF2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3317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記録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2788920" y="2331720"/>
            <a:ext cx="4297680" cy="1051560"/>
          </a:xfrm>
          <a:prstGeom prst="roundRect">
            <a:avLst>
              <a:gd name="adj" fmla="val 8696"/>
            </a:avLst>
          </a:prstGeom>
          <a:solidFill>
            <a:srgbClr val="FBF2F2"/>
          </a:solidFill>
          <a:ln w="12700">
            <a:solidFill>
              <a:srgbClr val="F0D9D9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971800" y="233172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7A3B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面談は紙→転記／相談はチャットで流れて消える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223760" y="2331720"/>
            <a:ext cx="4297680" cy="1051560"/>
          </a:xfrm>
          <a:prstGeom prst="roundRect">
            <a:avLst>
              <a:gd name="adj" fmla="val 8696"/>
            </a:avLst>
          </a:prstGeom>
          <a:solidFill>
            <a:srgbClr val="F0F7F3"/>
          </a:solidFill>
          <a:ln w="12700">
            <a:solidFill>
              <a:srgbClr val="D5E7DE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406640" y="233172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5A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面談シートに即入力＝そのままOS／報告・相談は案件に残り、必要な人へ通知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66160"/>
            <a:ext cx="2103120" cy="1051560"/>
          </a:xfrm>
          <a:prstGeom prst="roundRect">
            <a:avLst>
              <a:gd name="adj" fmla="val 8696"/>
            </a:avLst>
          </a:prstGeom>
          <a:solidFill>
            <a:srgbClr val="EEF2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56616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タスク管理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2788920" y="3566160"/>
            <a:ext cx="4297680" cy="1051560"/>
          </a:xfrm>
          <a:prstGeom prst="roundRect">
            <a:avLst>
              <a:gd name="adj" fmla="val 8696"/>
            </a:avLst>
          </a:prstGeom>
          <a:solidFill>
            <a:srgbClr val="FBF2F2"/>
          </a:solidFill>
          <a:ln w="12700">
            <a:solidFill>
              <a:srgbClr val="F0D9D9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71800" y="356616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7A3B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重要タスクが人の頭の中だけ→漏れる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223760" y="3566160"/>
            <a:ext cx="4297680" cy="1051560"/>
          </a:xfrm>
          <a:prstGeom prst="roundRect">
            <a:avLst>
              <a:gd name="adj" fmla="val 8696"/>
            </a:avLst>
          </a:prstGeom>
          <a:solidFill>
            <a:srgbClr val="F0F7F3"/>
          </a:solidFill>
          <a:ln w="12700">
            <a:solidFill>
              <a:srgbClr val="D5E7DE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406640" y="356616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5A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オーダーシートからタスクを自動設計／抜けはアラートで通知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800600"/>
            <a:ext cx="2103120" cy="1051560"/>
          </a:xfrm>
          <a:prstGeom prst="roundRect">
            <a:avLst>
              <a:gd name="adj" fmla="val 8696"/>
            </a:avLst>
          </a:prstGeom>
          <a:solidFill>
            <a:srgbClr val="EEF2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80060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見える化・フォロー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2788920" y="4800600"/>
            <a:ext cx="4297680" cy="1051560"/>
          </a:xfrm>
          <a:prstGeom prst="roundRect">
            <a:avLst>
              <a:gd name="adj" fmla="val 8696"/>
            </a:avLst>
          </a:prstGeom>
          <a:solidFill>
            <a:srgbClr val="FBF2F2"/>
          </a:solidFill>
          <a:ln w="12700">
            <a:solidFill>
              <a:srgbClr val="F0D9D9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971800" y="480060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7A3B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案件の進捗が横から見えない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223760" y="4800600"/>
            <a:ext cx="4297680" cy="1051560"/>
          </a:xfrm>
          <a:prstGeom prst="roundRect">
            <a:avLst>
              <a:gd name="adj" fmla="val 8696"/>
            </a:avLst>
          </a:prstGeom>
          <a:solidFill>
            <a:srgbClr val="F0F7F3"/>
          </a:solidFill>
          <a:ln w="12700">
            <a:solidFill>
              <a:srgbClr val="D5E7DE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06640" y="480060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5A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進捗・フラグ（黄/赤/紫）＋マイページで、みんながフォローできる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CONCEPT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設計思想 — 分業でこそ、多くの案件を処理できる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オーシャンの分業体制を、より効率的に。受注・管理・事務管理が役割に集中し、システムがつなぐ。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面談・受注・オーダーシート作成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2C6E8F"/>
          </a:solidFill>
          <a:ln/>
        </p:spPr>
      </p:sp>
      <p:sp>
        <p:nvSpPr>
          <p:cNvPr id="12" name="Text 10"/>
          <p:cNvSpPr/>
          <p:nvPr/>
        </p:nvSpPr>
        <p:spPr>
          <a:xfrm>
            <a:off x="434340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着手前フォロー・進捗管理・納品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965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2E8B6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7532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タスク実務・書類作成・到着管理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10881360" cy="1965960"/>
          </a:xfrm>
          <a:prstGeom prst="roundRect">
            <a:avLst>
              <a:gd name="adj" fmla="val 4651"/>
            </a:avLst>
          </a:prstGeom>
          <a:solidFill>
            <a:srgbClr val="F4F8FF"/>
          </a:solidFill>
          <a:ln w="12700">
            <a:solidFill>
              <a:srgbClr val="D5E4FB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6012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それを支える仕組み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6012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期限を可視化・停滞を防ぐ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アラート・報連相・マイダッシュボード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紙をデジタル化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8056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受信簿・確認簿・タスク管理簿をシステム内に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0100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AIで効率化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0100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書類作成・進捗サマリー・AIナビ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FLOW × ROLES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分業体制はこう回る — 誰が・いつ・何を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ステータスが進むと、バトンが次のロールへ渡る。どのフェーズを誰が担うか＝分業がそのまま可視化されます。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965960" cy="502920"/>
          </a:xfrm>
          <a:prstGeom prst="rect">
            <a:avLst/>
          </a:prstGeom>
          <a:solidFill>
            <a:srgbClr val="11173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ロール ＼ フェーズ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0604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面談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受注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17220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着手準備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作業進行中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3836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業務完了・納品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377440"/>
            <a:ext cx="1965960" cy="1078992"/>
          </a:xfrm>
          <a:prstGeom prst="rect">
            <a:avLst/>
          </a:prstGeom>
          <a:solidFill>
            <a:srgbClr val="EEF2FF"/>
          </a:solidFill>
          <a:ln w="15875">
            <a:solidFill>
              <a:srgbClr val="FFFFFF"/>
            </a:solidFill>
          </a:ln>
        </p:spPr>
        <p:txBody>
          <a:bodyPr wrap="square" lIns="1143" tIns="1143" rIns="1143" bIns="1143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 </a:t>
            </a:r>
            <a:pPr algn="l" indent="0" marL="0">
              <a:buNone/>
            </a:pPr>
            <a:r>
              <a:rPr lang="en-US" sz="1150" b="1" dirty="0">
                <a:solidFill>
                  <a:srgbClr val="3730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06040" y="2377440"/>
            <a:ext cx="1783080" cy="1078992"/>
          </a:xfrm>
          <a:prstGeom prst="rect">
            <a:avLst/>
          </a:prstGeom>
          <a:solidFill>
            <a:srgbClr val="EEF3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面談シート入力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4389120" y="2377440"/>
            <a:ext cx="1783080" cy="1078992"/>
          </a:xfrm>
          <a:prstGeom prst="rect">
            <a:avLst/>
          </a:prstGeom>
          <a:solidFill>
            <a:srgbClr val="EEF3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オーダーシート作成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6172200" y="2377440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955280" y="2377440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38360" y="2377440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456432"/>
            <a:ext cx="1965960" cy="1078992"/>
          </a:xfrm>
          <a:prstGeom prst="rect">
            <a:avLst/>
          </a:prstGeom>
          <a:solidFill>
            <a:srgbClr val="EEF2FF"/>
          </a:solidFill>
          <a:ln w="15875">
            <a:solidFill>
              <a:srgbClr val="FFFFFF"/>
            </a:solidFill>
          </a:ln>
        </p:spPr>
        <p:txBody>
          <a:bodyPr wrap="square" lIns="1143" tIns="1143" rIns="1143" bIns="1143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 </a:t>
            </a:r>
            <a:pPr algn="l" indent="0" marL="0">
              <a:buNone/>
            </a:pPr>
            <a:r>
              <a:rPr lang="en-US" sz="1150" b="1" dirty="0">
                <a:solidFill>
                  <a:srgbClr val="3730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06040" y="3456432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割振り→アサイン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617220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OS最終化・タスク出し・着手前フォロー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795528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進捗管理(AI要約)・報連相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973836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業務完了・納品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640080" y="4535424"/>
            <a:ext cx="1965960" cy="1078992"/>
          </a:xfrm>
          <a:prstGeom prst="rect">
            <a:avLst/>
          </a:prstGeom>
          <a:solidFill>
            <a:srgbClr val="EEF2FF"/>
          </a:solidFill>
          <a:ln w="15875">
            <a:solidFill>
              <a:srgbClr val="FFFFFF"/>
            </a:solidFill>
          </a:ln>
        </p:spPr>
        <p:txBody>
          <a:bodyPr wrap="square" lIns="1143" tIns="1143" rIns="1143" bIns="1143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 </a:t>
            </a:r>
            <a:pPr algn="l" indent="0" marL="0">
              <a:buNone/>
            </a:pPr>
            <a:r>
              <a:rPr lang="en-US" sz="1150" b="1" dirty="0">
                <a:solidFill>
                  <a:srgbClr val="3730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606040" y="4535424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9120" y="4535424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72200" y="4535424"/>
            <a:ext cx="1783080" cy="1078992"/>
          </a:xfrm>
          <a:prstGeom prst="rect">
            <a:avLst/>
          </a:prstGeom>
          <a:solidFill>
            <a:srgbClr val="EDF6F1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ファイル化→着手OK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7955280" y="4535424"/>
            <a:ext cx="1783080" cy="1078992"/>
          </a:xfrm>
          <a:prstGeom prst="rect">
            <a:avLst/>
          </a:prstGeom>
          <a:solidFill>
            <a:srgbClr val="EDF6F1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事務タスク実務・到着管理・AI書類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9738360" y="4535424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575157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案件詳細のナビが「次に進む条件」を、アラートが「遅れ」を教えるので、バトンが滞らない。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AI面談シート — 紙をやめて、そのままオーダーシートへ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95773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810512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手書きでもタイピングでもOK</a:t>
            </a:r>
            <a:endParaRPr lang="en-US" sz="1380" dirty="0"/>
          </a:p>
        </p:txBody>
      </p:sp>
      <p:sp>
        <p:nvSpPr>
          <p:cNvPr id="8" name="Shape 6"/>
          <p:cNvSpPr/>
          <p:nvPr/>
        </p:nvSpPr>
        <p:spPr>
          <a:xfrm>
            <a:off x="640080" y="2726741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" y="2873959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726741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手描きメモをAIが画像認識して自動入力</a:t>
            </a:r>
            <a:endParaRPr lang="en-US" sz="1380" dirty="0"/>
          </a:p>
        </p:txBody>
      </p:sp>
      <p:sp>
        <p:nvSpPr>
          <p:cNvPr id="11" name="Shape 9"/>
          <p:cNvSpPr/>
          <p:nvPr/>
        </p:nvSpPr>
        <p:spPr>
          <a:xfrm>
            <a:off x="640080" y="3642970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" y="3790188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54480" y="3642970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相続ステーション連携の「面談設定済」案件に結果を登録するだけ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640080" y="4559198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1248" y="4706417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54480" y="4559198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チャットワークでの報告は不要（LP担当への報告文も自動作成）</a:t>
            </a:r>
            <a:endParaRPr lang="en-US" sz="1380" dirty="0"/>
          </a:p>
        </p:txBody>
      </p:sp>
      <p:sp>
        <p:nvSpPr>
          <p:cNvPr id="17" name="Shape 15"/>
          <p:cNvSpPr/>
          <p:nvPr/>
        </p:nvSpPr>
        <p:spPr>
          <a:xfrm>
            <a:off x="640080" y="5475427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8EC"/>
          </a:solidFill>
          <a:ln w="12700">
            <a:solidFill>
              <a:srgbClr val="E0A64B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5622646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0A64B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54480" y="5475427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面談直後に入力 → 後工程が自動で組み上がる</a:t>
            </a:r>
            <a:endParaRPr lang="en-US" sz="1380" dirty="0"/>
          </a:p>
        </p:txBody>
      </p:sp>
      <p:sp>
        <p:nvSpPr>
          <p:cNvPr id="20" name="Shape 18"/>
          <p:cNvSpPr/>
          <p:nvPr/>
        </p:nvSpPr>
        <p:spPr>
          <a:xfrm>
            <a:off x="7452360" y="1810512"/>
            <a:ext cx="4114800" cy="4434840"/>
          </a:xfrm>
          <a:prstGeom prst="roundRect">
            <a:avLst>
              <a:gd name="adj" fmla="val 2222"/>
            </a:avLst>
          </a:prstGeom>
          <a:solidFill>
            <a:srgbClr val="F3F6FD"/>
          </a:solidFill>
          <a:ln w="15875">
            <a:solidFill>
              <a:srgbClr val="CDD8EE"/>
            </a:solidFill>
            <a:prstDash val="dash"/>
          </a:ln>
          <a:effectLst>
            <a:outerShdw sx="100000" sy="100000" kx="0" ky="0" algn="bl" rotWithShape="0" blurRad="101600" dist="25400" dir="5400000">
              <a:srgbClr val="AEBBD6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0" y="1810512"/>
            <a:ext cx="3840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AAB6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
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面談シート（手書き／AI認識）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 → 管理担当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オーダーシートから、必要なタスクを自動生成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6446520" cy="998982"/>
          </a:xfrm>
          <a:prstGeom prst="roundRect">
            <a:avLst>
              <a:gd name="adj" fmla="val 9153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072259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810512"/>
            <a:ext cx="534924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面談シートに作業指示を足すだけでオーダーシート完成</a:t>
            </a:r>
            <a:endParaRPr lang="en-US" sz="1380" dirty="0"/>
          </a:p>
        </p:txBody>
      </p:sp>
      <p:sp>
        <p:nvSpPr>
          <p:cNvPr id="8" name="Shape 6"/>
          <p:cNvSpPr/>
          <p:nvPr/>
        </p:nvSpPr>
        <p:spPr>
          <a:xfrm>
            <a:off x="640080" y="2955798"/>
            <a:ext cx="6446520" cy="998982"/>
          </a:xfrm>
          <a:prstGeom prst="roundRect">
            <a:avLst>
              <a:gd name="adj" fmla="val 9153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" y="3217545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955798"/>
            <a:ext cx="534924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オーダーシートの内容を元に、案件に必要なタスクを自動で作成</a:t>
            </a:r>
            <a:endParaRPr lang="en-US" sz="1380" dirty="0"/>
          </a:p>
        </p:txBody>
      </p:sp>
      <p:sp>
        <p:nvSpPr>
          <p:cNvPr id="11" name="Shape 9"/>
          <p:cNvSpPr/>
          <p:nvPr/>
        </p:nvSpPr>
        <p:spPr>
          <a:xfrm>
            <a:off x="640080" y="4101084"/>
            <a:ext cx="6446520" cy="998982"/>
          </a:xfrm>
          <a:prstGeom prst="roundRect">
            <a:avLst>
              <a:gd name="adj" fmla="val 9153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" y="4362831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54480" y="4101084"/>
            <a:ext cx="534924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戸籍請求・財産調査・書類作成など、やることが最初から並ぶ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640080" y="5246370"/>
            <a:ext cx="6446520" cy="998982"/>
          </a:xfrm>
          <a:prstGeom prst="roundRect">
            <a:avLst>
              <a:gd name="adj" fmla="val 9153"/>
            </a:avLst>
          </a:prstGeom>
          <a:solidFill>
            <a:srgbClr val="FFF8EC"/>
          </a:solidFill>
          <a:ln w="12700">
            <a:solidFill>
              <a:srgbClr val="E0A64B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1248" y="5508117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0A64B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54480" y="5246370"/>
            <a:ext cx="534924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管理担当は抜けを気にせず、タスクを確認・調整して進めるだけ</a:t>
            </a:r>
            <a:endParaRPr lang="en-US" sz="1380" dirty="0"/>
          </a:p>
        </p:txBody>
      </p:sp>
      <p:sp>
        <p:nvSpPr>
          <p:cNvPr id="17" name="Shape 15"/>
          <p:cNvSpPr/>
          <p:nvPr/>
        </p:nvSpPr>
        <p:spPr>
          <a:xfrm>
            <a:off x="7452360" y="1810512"/>
            <a:ext cx="4114800" cy="4434840"/>
          </a:xfrm>
          <a:prstGeom prst="roundRect">
            <a:avLst>
              <a:gd name="adj" fmla="val 2222"/>
            </a:avLst>
          </a:prstGeom>
          <a:solidFill>
            <a:srgbClr val="F3F6FD"/>
          </a:solidFill>
          <a:ln w="15875">
            <a:solidFill>
              <a:srgbClr val="CDD8EE"/>
            </a:solidFill>
            <a:prstDash val="dash"/>
          </a:ln>
          <a:effectLst>
            <a:outerShdw sx="100000" sy="100000" kx="0" ky="0" algn="bl" rotWithShape="0" blurRad="101600" dist="25400" dir="5400000">
              <a:srgbClr val="AEBBD6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589520" y="1810512"/>
            <a:ext cx="3840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AAB6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
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オーダーシート／自動生成されたタスク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書類管理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 — 紙の受領管理をシステムへ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95773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810512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今は紙で管理 → 案件に紐づく「到着受信簿」で一元管理</a:t>
            </a:r>
            <a:endParaRPr lang="en-US" sz="1380" dirty="0"/>
          </a:p>
        </p:txBody>
      </p:sp>
      <p:sp>
        <p:nvSpPr>
          <p:cNvPr id="8" name="Shape 6"/>
          <p:cNvSpPr/>
          <p:nvPr/>
        </p:nvSpPr>
        <p:spPr>
          <a:xfrm>
            <a:off x="640080" y="2726741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" y="2873959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726741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案件で受領する書類はあらかじめ設定。到着待ちは「受領待ち」を選ぶだけ</a:t>
            </a:r>
            <a:endParaRPr lang="en-US" sz="1380" dirty="0"/>
          </a:p>
        </p:txBody>
      </p:sp>
      <p:sp>
        <p:nvSpPr>
          <p:cNvPr id="11" name="Shape 9"/>
          <p:cNvSpPr/>
          <p:nvPr/>
        </p:nvSpPr>
        <p:spPr>
          <a:xfrm>
            <a:off x="640080" y="3642970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" y="3790188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54480" y="3642970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到着した書類をタスクに紐づけ → タスクの着手OKフラグが自動で立つ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640080" y="4559198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1248" y="4706417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54480" y="4559198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お客様・各行政機関からの取得状況をまとめて把握</a:t>
            </a:r>
            <a:endParaRPr lang="en-US" sz="1380" dirty="0"/>
          </a:p>
        </p:txBody>
      </p:sp>
      <p:sp>
        <p:nvSpPr>
          <p:cNvPr id="17" name="Shape 15"/>
          <p:cNvSpPr/>
          <p:nvPr/>
        </p:nvSpPr>
        <p:spPr>
          <a:xfrm>
            <a:off x="640080" y="5475427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8EC"/>
          </a:solidFill>
          <a:ln w="12700">
            <a:solidFill>
              <a:srgbClr val="E0A64B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5622646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0A64B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54480" y="5475427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到着した書類をベースに、最終的な納品対応までつながる</a:t>
            </a:r>
            <a:endParaRPr lang="en-US" sz="1380" dirty="0"/>
          </a:p>
        </p:txBody>
      </p:sp>
      <p:sp>
        <p:nvSpPr>
          <p:cNvPr id="20" name="Shape 18"/>
          <p:cNvSpPr/>
          <p:nvPr/>
        </p:nvSpPr>
        <p:spPr>
          <a:xfrm>
            <a:off x="7452360" y="1810512"/>
            <a:ext cx="4114800" cy="4434840"/>
          </a:xfrm>
          <a:prstGeom prst="roundRect">
            <a:avLst>
              <a:gd name="adj" fmla="val 2222"/>
            </a:avLst>
          </a:prstGeom>
          <a:solidFill>
            <a:srgbClr val="F3F6FD"/>
          </a:solidFill>
          <a:ln w="15875">
            <a:solidFill>
              <a:srgbClr val="CDD8EE"/>
            </a:solidFill>
            <a:prstDash val="dash"/>
          </a:ln>
          <a:effectLst>
            <a:outerShdw sx="100000" sy="100000" kx="0" ky="0" algn="bl" rotWithShape="0" blurRad="101600" dist="25400" dir="5400000">
              <a:srgbClr val="AEBBD6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0" y="1810512"/>
            <a:ext cx="3840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AAB6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
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到着受信簿（受領待ち／到着処理）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NAVIGATION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着手前のフォローを"見える化"（管理担当）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→ 作業着手準備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この4つが揃うと進める（ナビで可視化）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7889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オーダーシート作成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34472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契約書類の受領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05840" y="410565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前受金の請求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05840" y="47640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管理担当のアサイン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0F5FC"/>
          </a:solidFill>
          <a:ln w="12700">
            <a:solidFill>
              <a:srgbClr val="D5E2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作業着手準備 → 作業進行中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0" y="25146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前受金の入金・オーダーシート最終化・タスク出しが完了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33756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事務管理ダッシュボードに「ファイル化待ち」で起票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160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物理ファイルでファイル化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0" y="49834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作業進行中へ／事務管理タスク開始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「次に何をすれば進むか」が常に見える → 着手前の抜けを防ぐ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事務管理タスクの仕組み（着手OK・受領次第OK・優先度）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6675120" cy="822960"/>
          </a:xfrm>
          <a:prstGeom prst="roundRect">
            <a:avLst>
              <a:gd name="adj" fmla="val 11111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着手OK フラグ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7373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次に着手してよいタスクに付ける → 事務管理タスク一覧に表示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6675120" cy="822960"/>
          </a:xfrm>
          <a:prstGeom prst="roundRect">
            <a:avLst>
              <a:gd name="adj" fmla="val 11111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697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受領次第OK フラグ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0" y="26974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到着受信簿で書類と紐づけると → 着手OK に自動で切替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6675120" cy="822960"/>
          </a:xfrm>
          <a:prstGeom prst="roundRect">
            <a:avLst>
              <a:gd name="adj" fmla="val 11111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優先度 3段階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0" y="36576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普通 / 急ぎ / 超急ぎ。優先度の高い順に上から表示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489204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FCEFCF"/>
          </a:solidFill>
          <a:ln w="12700">
            <a:solidFill>
              <a:srgbClr val="E1A3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急ぎ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03120" y="489204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F7DCDC"/>
          </a:solidFill>
          <a:ln w="12700">
            <a:solidFill>
              <a:srgbClr val="D645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252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超急ぎ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4892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一覧では行ごとに色付け（急ぎ=黄・超急ぎ=赤）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160520" cy="4480560"/>
          </a:xfrm>
          <a:prstGeom prst="roundRect">
            <a:avLst>
              <a:gd name="adj" fmla="val 2198"/>
            </a:avLst>
          </a:prstGeom>
          <a:solidFill>
            <a:srgbClr val="F3F6FD"/>
          </a:solidFill>
          <a:ln w="15875">
            <a:solidFill>
              <a:srgbClr val="CDD8EE"/>
            </a:solidFill>
            <a:prstDash val="dash"/>
          </a:ln>
          <a:effectLst>
            <a:outerShdw sx="100000" sy="100000" kx="0" ky="0" algn="bl" rotWithShape="0" blurRad="101600" dist="25400" dir="5400000">
              <a:srgbClr val="AEBBD6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543800" y="1737360"/>
            <a:ext cx="38862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AAB6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
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事務管理タスク一覧（優先度順）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たくさん抱えても、パンクしない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95773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810512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着手前フォロー：OS最終化・初期タスク出し・契約書類/入金の確認</a:t>
            </a:r>
            <a:endParaRPr lang="en-US" sz="1380" dirty="0"/>
          </a:p>
        </p:txBody>
      </p:sp>
      <p:sp>
        <p:nvSpPr>
          <p:cNvPr id="8" name="Shape 6"/>
          <p:cNvSpPr/>
          <p:nvPr/>
        </p:nvSpPr>
        <p:spPr>
          <a:xfrm>
            <a:off x="640080" y="2726741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" y="2873959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726741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作業着手したら、AIが進捗サマリーを自動作成</a:t>
            </a:r>
            <a:endParaRPr lang="en-US" sz="1380" dirty="0"/>
          </a:p>
        </p:txBody>
      </p:sp>
      <p:sp>
        <p:nvSpPr>
          <p:cNvPr id="11" name="Shape 9"/>
          <p:cNvSpPr/>
          <p:nvPr/>
        </p:nvSpPr>
        <p:spPr>
          <a:xfrm>
            <a:off x="640080" y="3642970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" y="3790188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54480" y="3642970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必要最低限の情報アクセスで、案件の進捗をすぐ把握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640080" y="4559198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1248" y="4706417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54480" y="4559198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細かい事務タスクは見ない → 頭がパンクしない</a:t>
            </a:r>
            <a:endParaRPr lang="en-US" sz="1380" dirty="0"/>
          </a:p>
        </p:txBody>
      </p:sp>
      <p:sp>
        <p:nvSpPr>
          <p:cNvPr id="17" name="Shape 15"/>
          <p:cNvSpPr/>
          <p:nvPr/>
        </p:nvSpPr>
        <p:spPr>
          <a:xfrm>
            <a:off x="640080" y="5475427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8EC"/>
          </a:solidFill>
          <a:ln w="12700">
            <a:solidFill>
              <a:srgbClr val="E0A64B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5622646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0A64B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54480" y="5475427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本当に困ったときだけ、報連相で事務管理をヘルプ</a:t>
            </a:r>
            <a:endParaRPr lang="en-US" sz="1380" dirty="0"/>
          </a:p>
        </p:txBody>
      </p:sp>
      <p:sp>
        <p:nvSpPr>
          <p:cNvPr id="20" name="Shape 18"/>
          <p:cNvSpPr/>
          <p:nvPr/>
        </p:nvSpPr>
        <p:spPr>
          <a:xfrm>
            <a:off x="7452360" y="1810512"/>
            <a:ext cx="4114800" cy="4434840"/>
          </a:xfrm>
          <a:prstGeom prst="roundRect">
            <a:avLst>
              <a:gd name="adj" fmla="val 2222"/>
            </a:avLst>
          </a:prstGeom>
          <a:solidFill>
            <a:srgbClr val="F3F6FD"/>
          </a:solidFill>
          <a:ln w="15875">
            <a:solidFill>
              <a:srgbClr val="CDD8EE"/>
            </a:solidFill>
            <a:prstDash val="dash"/>
          </a:ln>
          <a:effectLst>
            <a:outerShdw sx="100000" sy="100000" kx="0" ky="0" algn="bl" rotWithShape="0" blurRad="101600" dist="25400" dir="5400000">
              <a:srgbClr val="AEBBD6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0" y="1810512"/>
            <a:ext cx="3840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AAB6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
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案件進捗サマリー（AI）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紙・エクセルの複雑なタスク管理を、全部システムで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95773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810512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到着物の管理／戸籍請求時の料金チェック／管理担当への相談</a:t>
            </a:r>
            <a:endParaRPr lang="en-US" sz="1380" dirty="0"/>
          </a:p>
        </p:txBody>
      </p:sp>
      <p:sp>
        <p:nvSpPr>
          <p:cNvPr id="8" name="Shape 6"/>
          <p:cNvSpPr/>
          <p:nvPr/>
        </p:nvSpPr>
        <p:spPr>
          <a:xfrm>
            <a:off x="640080" y="2726741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" y="2873959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726741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AI書類作成（戸籍請求書・名寄せ請求書 等）で資料作成を効率化</a:t>
            </a:r>
            <a:endParaRPr lang="en-US" sz="1380" dirty="0"/>
          </a:p>
        </p:txBody>
      </p:sp>
      <p:sp>
        <p:nvSpPr>
          <p:cNvPr id="11" name="Shape 9"/>
          <p:cNvSpPr/>
          <p:nvPr/>
        </p:nvSpPr>
        <p:spPr>
          <a:xfrm>
            <a:off x="640080" y="3642970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" y="3790188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54480" y="3642970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横断でも「事務管理進捗タブ」で案件全体の進行度を把握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640080" y="4559198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1248" y="4706417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54480" y="4559198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タスク詳細で、直近タスクの進捗も確認できる</a:t>
            </a:r>
            <a:endParaRPr lang="en-US" sz="1380" dirty="0"/>
          </a:p>
        </p:txBody>
      </p:sp>
      <p:sp>
        <p:nvSpPr>
          <p:cNvPr id="17" name="Shape 15"/>
          <p:cNvSpPr/>
          <p:nvPr/>
        </p:nvSpPr>
        <p:spPr>
          <a:xfrm>
            <a:off x="640080" y="5475427"/>
            <a:ext cx="6446520" cy="769925"/>
          </a:xfrm>
          <a:prstGeom prst="roundRect">
            <a:avLst>
              <a:gd name="adj" fmla="val 11876"/>
            </a:avLst>
          </a:prstGeom>
          <a:solidFill>
            <a:srgbClr val="FFF8EC"/>
          </a:solidFill>
          <a:ln w="12700">
            <a:solidFill>
              <a:srgbClr val="E0A64B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5622646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0A64B"/>
          </a:solidFill>
          <a:ln/>
          <a:effectLst>
            <a:outerShdw sx="100000" sy="100000" kx="0" ky="0" algn="bl" rotWithShape="0" blurRad="88900" dist="25400" dir="5400000">
              <a:srgbClr val="8FA0C4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54480" y="5475427"/>
            <a:ext cx="5349240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8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紙・エクセルからの卒業 → 抜け漏れと転記をなくす</a:t>
            </a:r>
            <a:endParaRPr lang="en-US" sz="1380" dirty="0"/>
          </a:p>
        </p:txBody>
      </p:sp>
      <p:sp>
        <p:nvSpPr>
          <p:cNvPr id="20" name="Shape 18"/>
          <p:cNvSpPr/>
          <p:nvPr/>
        </p:nvSpPr>
        <p:spPr>
          <a:xfrm>
            <a:off x="7452360" y="1810512"/>
            <a:ext cx="4114800" cy="4434840"/>
          </a:xfrm>
          <a:prstGeom prst="roundRect">
            <a:avLst>
              <a:gd name="adj" fmla="val 2222"/>
            </a:avLst>
          </a:prstGeom>
          <a:solidFill>
            <a:srgbClr val="F3F6FD"/>
          </a:solidFill>
          <a:ln w="15875">
            <a:solidFill>
              <a:srgbClr val="CDD8EE"/>
            </a:solidFill>
            <a:prstDash val="dash"/>
          </a:ln>
          <a:effectLst>
            <a:outerShdw sx="100000" sy="100000" kx="0" ky="0" algn="bl" rotWithShape="0" blurRad="101600" dist="25400" dir="5400000">
              <a:srgbClr val="AEBBD6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0" y="1810512"/>
            <a:ext cx="3840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AAB6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
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事務管理進捗タブ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9966960" y="731520"/>
            <a:ext cx="822960" cy="822960"/>
          </a:xfrm>
          <a:prstGeom prst="ellipse">
            <a:avLst/>
          </a:prstGeom>
          <a:solidFill>
            <a:srgbClr val="E1A33A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7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分業を、止めない仕組み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期限を可視化 → 気づける → フォローし合える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ALERT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 — どんな時に、何色で出る？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マイページ上部の2つのバナーに件数が出ます。放置が続くと 黄 → 赤 に自動で上がります。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57800" cy="3977640"/>
          </a:xfrm>
          <a:prstGeom prst="roundRect">
            <a:avLst>
              <a:gd name="adj" fmla="val 2299"/>
            </a:avLst>
          </a:prstGeom>
          <a:solidFill>
            <a:srgbClr val="FFF9EC"/>
          </a:solidFill>
          <a:ln w="12700">
            <a:solidFill>
              <a:srgbClr val="F0DBB0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011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7B7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6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要確認案件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546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5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早めに（黄）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743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タスクの期日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206240" y="2743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超過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33192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入金（請求）の期日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206240" y="3319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超過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9534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未対応（最後に開いてから）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38953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447141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週次報告の漏れ／回答予定日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206240" y="4471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漏れ・間近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50474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面談メモ 未記載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1783080"/>
            <a:ext cx="5257800" cy="3977640"/>
          </a:xfrm>
          <a:prstGeom prst="roundRect">
            <a:avLst>
              <a:gd name="adj" fmla="val 2299"/>
            </a:avLst>
          </a:prstGeom>
          <a:solidFill>
            <a:srgbClr val="FCEEE9"/>
          </a:solidFill>
          <a:ln w="12700">
            <a:solidFill>
              <a:srgbClr val="F0C9BC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37960" y="2011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584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要注意案件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今すぐ（赤）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0" y="2743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タスク／入金の期日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8298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2週間(14日) 以上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3319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管理担当が未アサイン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829800" y="33192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受注から2営業日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0" y="389534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前受金が未請求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829800" y="389534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受注から5営業日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447141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完了予定日 超過／前受金 未入金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83680" y="504748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未対応 ／ 案件報告の「至急！！」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829800" y="5047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10営業日 超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クレーム／大クレーム</a:t>
            </a:r>
            <a:pPr indent="0" marL="0">
              <a:buNone/>
            </a:pPr>
            <a:r>
              <a:rPr lang="en-US" sz="125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は案件が </a:t>
            </a:r>
            <a:pPr indent="0" marL="0">
              <a:buNone/>
            </a:pPr>
            <a:r>
              <a:rPr lang="en-US" sz="1250" b="1" dirty="0">
                <a:solidFill>
                  <a:srgbClr val="7A3B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紫フラグ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　営業日＝日曜のみ休み（土曜は営業日）。放置が続くと 黄→赤 に自動昇格。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報告・相談 — 残せる・助けを呼べる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6916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進捗サマリー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週次報告がワンクリック（AI要約つき）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4414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報連相（報告/連絡/相談）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24414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適宜。宛先を選んで送る・受けたら確認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191256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19125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管理担当ヘルプ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297680" y="319125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詰まったら助けを求める（至急は赤バナー直結）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41064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94106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クレーム報告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97680" y="39410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記録する（重いと案件が紫フラグ）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690872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6908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依頼者連絡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297680" y="46908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お客様とのやり取りを記録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どの報連相からでも </a:t>
            </a:r>
            <a:pPr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その場でタスク化</a:t>
            </a:r>
            <a:pPr indent="0" marL="0">
              <a:buNone/>
            </a:pPr>
            <a:r>
              <a:rPr lang="en-US" sz="1400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できる。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406640" y="1691640"/>
            <a:ext cx="4160520" cy="4206240"/>
          </a:xfrm>
          <a:prstGeom prst="roundRect">
            <a:avLst>
              <a:gd name="adj" fmla="val 2198"/>
            </a:avLst>
          </a:prstGeom>
          <a:solidFill>
            <a:srgbClr val="F3F6FD"/>
          </a:solidFill>
          <a:ln w="15875">
            <a:solidFill>
              <a:srgbClr val="CDD8EE"/>
            </a:solidFill>
            <a:prstDash val="dash"/>
          </a:ln>
          <a:effectLst>
            <a:outerShdw sx="100000" sy="100000" kx="0" ky="0" algn="bl" rotWithShape="0" blurRad="101600" dist="25400" dir="5400000">
              <a:srgbClr val="AEBBD6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543800" y="1691640"/>
            <a:ext cx="3886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AAB6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
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案件報告 / 報連相ウィンドウ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MYPAGE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マイページ／マイダッシュボード — 司令塔とフォロー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074920" cy="1234440"/>
          </a:xfrm>
          <a:prstGeom prst="roundRect">
            <a:avLst>
              <a:gd name="adj" fmla="val 7407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45920" y="18928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自分の案件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4592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色（黄/赤/紫）で優先が一目で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35040" y="1691640"/>
            <a:ext cx="5074920" cy="1234440"/>
          </a:xfrm>
          <a:prstGeom prst="roundRect">
            <a:avLst>
              <a:gd name="adj" fmla="val 7407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040880" y="18928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出した報告 / 受けた報告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04088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案件報告・報連相の送受信を管理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5074920" cy="1234440"/>
          </a:xfrm>
          <a:prstGeom prst="roundRect">
            <a:avLst>
              <a:gd name="adj" fmla="val 7407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45920" y="33101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自分のタスク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645920" y="37673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やることを一元管理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3108960"/>
            <a:ext cx="5074920" cy="1234440"/>
          </a:xfrm>
          <a:prstGeom prst="roundRect">
            <a:avLst>
              <a:gd name="adj" fmla="val 7407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09360" y="3429000"/>
            <a:ext cx="548640" cy="54864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40880" y="33101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アラート＋通知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040880" y="37673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「やること」と「履歴」を集約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さらに、チームの超過タスクを一覧化 → みんなでフォローできる（マイダッシュボード）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3F6FD"/>
          </a:solidFill>
          <a:ln w="15875">
            <a:solidFill>
              <a:srgbClr val="CDD8EE"/>
            </a:solidFill>
            <a:prstDash val="dash"/>
          </a:ln>
          <a:effectLst>
            <a:outerShdw sx="100000" sy="100000" kx="0" ky="0" algn="bl" rotWithShape="0" blurRad="101600" dist="25400" dir="5400000">
              <a:srgbClr val="AEBBD6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53492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AAB6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
</a:t>
            </a:r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チームダッシュボード（超過タスクのフォロー）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DIGITAL &amp;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紙をデジタル化、AIで効率化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01168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受信簿・確認簿・タスク管理簿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紙・エクセルを全部システム内に。探せる・残る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92024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71500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2628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戸籍請求書・名寄せ請求書などをすぐ作成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192024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41832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AIナビ（予定）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2104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「この案件どう進める？」を相談できる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迷わない・手が止まらない。効率化で、分業をさらに速く。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5029200" cy="5029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1件を、面談から納品まで通します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サンプル：田中家 相続手続き（横浜市の不動産・みずほ銀行）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面談登録 → オーダーシート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0624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タスク自動生成／受信簿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→ 割り振り → 着手準備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ファイル化 → 作業進行中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2062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 → 納品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MIGRATION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移行方針：まず少数から、一緒に育てる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29000" cy="3566160"/>
          </a:xfrm>
          <a:prstGeom prst="roundRect">
            <a:avLst>
              <a:gd name="adj" fmla="val 2667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〜1ヶ月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各チーム 1〜2件だけ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新規案件のうち"事故が少なそうなもの"で慣れる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6908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43400" y="1783080"/>
            <a:ext cx="3429000" cy="3566160"/>
          </a:xfrm>
          <a:prstGeom prst="roundRect">
            <a:avLst>
              <a:gd name="adj" fmla="val 2667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772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1ヶ月後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要望を集めて改善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1772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現場の声を元にアップデート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77240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46720" y="1783080"/>
            <a:ext cx="3429000" cy="3566160"/>
          </a:xfrm>
          <a:prstGeom prst="roundRect">
            <a:avLst>
              <a:gd name="adj" fmla="val 2667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2104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2E8B6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〜3ヶ月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件数を増やしながら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2104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アップデートを回し続ける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完璧じゃなくていい。まず少数で慣れて、すぐ直す。それを繰り返します。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ROADMAP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今後のアップデート予定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01168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AI書類作成の拡大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対応する書類を増やし、作成の手間をさらに削減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71500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2628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AIナビ（業務相談）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「この案件どう進める？」をその場で相談できる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196596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41832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現場の要望で改善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832104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アンケート・フィードバックを継続反映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使いながら、どんどん便利にしていきます。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0A64B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4F46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247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困ったとき・お願い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039112"/>
            <a:ext cx="502920" cy="50292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9164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面談は"その場で"入力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394960" y="178308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紙をやめ、面談直後に。後工程が自動で組み上がる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3227832"/>
            <a:ext cx="502920" cy="50292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29718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/ 要望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394960" y="29718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マニュアル（/manual）＋遠慮なくフィードバック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F7F9FD"/>
          </a:solidFill>
          <a:ln w="12700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8FA0C4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416552"/>
            <a:ext cx="502920" cy="502920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8FA0C4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91640" y="41605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まず慣れる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394960" y="41605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各チーム1〜2件から。抱え込まず報連相で共有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「完璧じゃなくていい、一緒に育てる」— それが今日一番のお願いです。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943600" cy="59436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ご質問・ご不安、なんでもどうぞ。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まず1〜2件、一緒に動かしてみましょう。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2026-08-03T21:53:56Z</dcterms:created>
  <dcterms:modified xsi:type="dcterms:W3CDTF">2026-08-03T21:53:56Z</dcterms:modified>
</cp:coreProperties>
</file>