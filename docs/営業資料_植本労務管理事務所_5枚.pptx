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859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spc="40" kern="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社会保険労務士法人 植本労務管理事務所 御中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609600" y="2247900"/>
            <a:ext cx="685800" cy="28575"/>
          </a:xfrm>
          <a:prstGeom prst="rect">
            <a:avLst/>
          </a:prstGeom>
          <a:solidFill>
            <a:srgbClr val="D79762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2457450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導入のご提案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09600" y="321945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紙の事務所業務を、AIでまるごとデジタルに。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3562350"/>
            <a:ext cx="895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書類作成の自動化から、顧客・進捗・書類の一元管理、AIアバターの相談窓口、ホームページの作成・更新まで。日々の業務を楽にしながら、事務所の発信力も高めるご提案です。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9600" y="5295900"/>
            <a:ext cx="10972800" cy="9525"/>
          </a:xfrm>
          <a:prstGeom prst="rect">
            <a:avLst/>
          </a:prstGeom>
          <a:solidFill>
            <a:srgbClr val="434A52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548640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 CONGEN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" y="5753100"/>
            <a:ext cx="476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C81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AIソリューション開発／AIアバター事業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572500" y="5486400"/>
            <a:ext cx="3009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80" kern="0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OVERVIEW /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62865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ご提案の全体像 ― AIでできる4つのこと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0477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相続手続きの実務会社向けに内製し、いま実際に稼働している業務管理システムと、自社開発のAIアバターがベースです。同じ仕組みを、社労士業務に応用します。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9600" y="1447800"/>
            <a:ext cx="2628900" cy="3390900"/>
          </a:xfrm>
          <a:prstGeom prst="roundRect">
            <a:avLst>
              <a:gd name="adj" fmla="val 1812"/>
            </a:avLst>
          </a:prstGeom>
          <a:solidFill>
            <a:srgbClr val="F1F2F1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" y="165735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0100" y="1924050"/>
            <a:ext cx="22479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書類作成を、AIで自動化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0100" y="2647950"/>
            <a:ext cx="2247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案件情報を差し込んで、定型書類を自動作成。手打ちと転記ミスをなくします。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0100" y="3505200"/>
            <a:ext cx="22479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相続実務では契約書・委任状・請求書など12種が稼働中。36協定・雇用契約書・各種届出書のような社労士の定型書式にも、同じ仕組みが使えます。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90900" y="1447800"/>
            <a:ext cx="2628900" cy="3390900"/>
          </a:xfrm>
          <a:prstGeom prst="roundRect">
            <a:avLst>
              <a:gd name="adj" fmla="val 1812"/>
            </a:avLst>
          </a:prstGeom>
          <a:solidFill>
            <a:srgbClr val="F1F2F1"/>
          </a:solidFill>
          <a:ln/>
        </p:spPr>
      </p:sp>
      <p:sp>
        <p:nvSpPr>
          <p:cNvPr id="11" name="Text 9"/>
          <p:cNvSpPr/>
          <p:nvPr/>
        </p:nvSpPr>
        <p:spPr>
          <a:xfrm>
            <a:off x="3581400" y="165735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81400" y="1924050"/>
            <a:ext cx="22479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紙の業務を、全部デジタルに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81400" y="2647950"/>
            <a:ext cx="2247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顧客情報・タスクと進捗・預かり書類・請求と入金消込まで、1つのシステムで管理。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81400" y="3505200"/>
            <a:ext cx="22479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預かり書類は受信簿で「何が届いて何が未着か」を管理し、案件ごとのフォルダに電子保管。進捗はAIが要約し、聞かなくても分かる状態にします。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447800"/>
            <a:ext cx="2628900" cy="3390900"/>
          </a:xfrm>
          <a:prstGeom prst="roundRect">
            <a:avLst>
              <a:gd name="adj" fmla="val 1812"/>
            </a:avLst>
          </a:prstGeom>
          <a:solidFill>
            <a:srgbClr val="F1F2F1"/>
          </a:solidFill>
          <a:ln/>
        </p:spPr>
      </p:sp>
      <p:sp>
        <p:nvSpPr>
          <p:cNvPr id="16" name="Text 14"/>
          <p:cNvSpPr/>
          <p:nvPr/>
        </p:nvSpPr>
        <p:spPr>
          <a:xfrm>
            <a:off x="6362700" y="165735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62700" y="1924050"/>
            <a:ext cx="22479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AIアバターの相談窓口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62700" y="2647950"/>
            <a:ext cx="2247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事務所オリジナルのキャラクターが、チャットで相談の一次対応。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62700" y="3505200"/>
            <a:ext cx="22479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ブラウザで動き、専用アプリは不要。人には聞きにくい労務の悩みほど、相手がアバターだと聞けます。顧問先への提供商材にもなります。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53500" y="1447800"/>
            <a:ext cx="2628900" cy="3390900"/>
          </a:xfrm>
          <a:prstGeom prst="roundRect">
            <a:avLst>
              <a:gd name="adj" fmla="val 1812"/>
            </a:avLst>
          </a:prstGeom>
          <a:solidFill>
            <a:srgbClr val="F1F2F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165735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0" y="1924050"/>
            <a:ext cx="22479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HP作成・更新も、AIで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0" y="2647950"/>
            <a:ext cx="2247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事務所ホームページの制作・リニューアルから、日々の更新までAIで速く回します。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0" y="3505200"/>
            <a:ext cx="22479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お知らせ・コラム・制度改正の解説記事などの下書きをAIが作り、確認して載せるだけに。採用や顧問先向けの情報発信を、手間なく続けられます。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9600" y="5143500"/>
            <a:ext cx="10972800" cy="704850"/>
          </a:xfrm>
          <a:prstGeom prst="roundRect">
            <a:avLst>
              <a:gd name="adj" fmla="val 6757"/>
            </a:avLst>
          </a:prstGeom>
          <a:solidFill>
            <a:srgbClr val="23272C"/>
          </a:solidFill>
          <a:ln/>
        </p:spPr>
      </p:sp>
      <p:sp>
        <p:nvSpPr>
          <p:cNvPr id="26" name="Text 24"/>
          <p:cNvSpPr/>
          <p:nvPr/>
        </p:nvSpPr>
        <p:spPr>
          <a:xfrm>
            <a:off x="876300" y="5143500"/>
            <a:ext cx="10439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少人数で多くの顧問先を支える事務所ほど、効果が出ます。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長年つみ重ねた実務ノウハウは、AIのナレッジベースとして事務所の資産に残します。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9600" y="655320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CONGEN Inc.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430000" y="6553200"/>
            <a:ext cx="152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80" kern="0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WORKS /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62865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AIネイティブな業務管理システム ― 相続実務で稼働中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047750"/>
            <a:ext cx="10972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汎用SaaSに業務を合わせるのではなく、業務にシステムを合わせた。その上でAIを、日々の入力・進捗把握・書類作成の動線そのものに組み込んでいます。業務の変化に合わせ、これまで255回作り替えてきました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9600" y="1504950"/>
            <a:ext cx="2643188" cy="1219200"/>
          </a:xfrm>
          <a:prstGeom prst="roundRect">
            <a:avLst>
              <a:gd name="adj" fmla="val 3125"/>
            </a:avLst>
          </a:prstGeom>
          <a:solidFill>
            <a:srgbClr val="F1F2F1"/>
          </a:solidFill>
          <a:ln/>
        </p:spPr>
      </p:sp>
      <p:sp>
        <p:nvSpPr>
          <p:cNvPr id="6" name="Text 4"/>
          <p:cNvSpPr/>
          <p:nvPr/>
        </p:nvSpPr>
        <p:spPr>
          <a:xfrm>
            <a:off x="781050" y="1657350"/>
            <a:ext cx="23002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手書きメモのAI反映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1050" y="1905000"/>
            <a:ext cx="230028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タブレットの専用アプリで、面談中の手書きメモをその場でテキスト化。氏名・住所などをAIが読み取り、案件情報へ自動反映。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6138" y="1504950"/>
            <a:ext cx="2643188" cy="1219200"/>
          </a:xfrm>
          <a:prstGeom prst="roundRect">
            <a:avLst>
              <a:gd name="adj" fmla="val 3125"/>
            </a:avLst>
          </a:prstGeom>
          <a:solidFill>
            <a:srgbClr val="F1F2F1"/>
          </a:solidFill>
          <a:ln/>
        </p:spPr>
      </p:sp>
      <p:sp>
        <p:nvSpPr>
          <p:cNvPr id="9" name="Text 7"/>
          <p:cNvSpPr/>
          <p:nvPr/>
        </p:nvSpPr>
        <p:spPr>
          <a:xfrm>
            <a:off x="3557588" y="1657350"/>
            <a:ext cx="23002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57588" y="1905000"/>
            <a:ext cx="230028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案件情報を差し込んで、契約書・委任状・請求書など定型12種を自動作成。できた書類はそのまま案件に添付・保管。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62675" y="1504950"/>
            <a:ext cx="2643188" cy="1219200"/>
          </a:xfrm>
          <a:prstGeom prst="roundRect">
            <a:avLst>
              <a:gd name="adj" fmla="val 3125"/>
            </a:avLst>
          </a:prstGeom>
          <a:solidFill>
            <a:srgbClr val="F1F2F1"/>
          </a:solidFill>
          <a:ln/>
        </p:spPr>
      </p:sp>
      <p:sp>
        <p:nvSpPr>
          <p:cNvPr id="12" name="Text 10"/>
          <p:cNvSpPr/>
          <p:nvPr/>
        </p:nvSpPr>
        <p:spPr>
          <a:xfrm>
            <a:off x="6334125" y="1657350"/>
            <a:ext cx="23002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案件サマリAI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34125" y="1905000"/>
            <a:ext cx="230028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案件を開くと、工程ごとの作業メモと実施結果をAIが要約。「いまどこまで進んでいるか」が1〜2文で分かる。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939213" y="1504950"/>
            <a:ext cx="2643188" cy="1219200"/>
          </a:xfrm>
          <a:prstGeom prst="roundRect">
            <a:avLst>
              <a:gd name="adj" fmla="val 3125"/>
            </a:avLst>
          </a:prstGeom>
          <a:solidFill>
            <a:srgbClr val="F1F2F1"/>
          </a:solidFill>
          <a:ln/>
        </p:spPr>
      </p:sp>
      <p:sp>
        <p:nvSpPr>
          <p:cNvPr id="15" name="Text 13"/>
          <p:cNvSpPr/>
          <p:nvPr/>
        </p:nvSpPr>
        <p:spPr>
          <a:xfrm>
            <a:off x="9110663" y="1657350"/>
            <a:ext cx="23002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ナレッジベース×AI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10663" y="1905000"/>
            <a:ext cx="230028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業務ナレッジを検索付きマニュアルとしてアプリ内に集約。執筆・整理はAIがサポートし、ノウハウが個人に溜まらず残る。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9600" y="2914650"/>
            <a:ext cx="3619500" cy="2286000"/>
          </a:xfrm>
          <a:prstGeom prst="roundRect">
            <a:avLst>
              <a:gd name="adj" fmla="val 2083"/>
            </a:avLst>
          </a:prstGeom>
          <a:solidFill>
            <a:srgbClr val="23272C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" y="310515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b="1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効果（試算）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8200" y="3333750"/>
            <a:ext cx="3162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約10%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の稼働削減を見込む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8200" y="3790950"/>
            <a:ext cx="3162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従来100人体制での試算・目標値です。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8200" y="3943350"/>
            <a:ext cx="3162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実測値ではありません。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8200" y="4191000"/>
            <a:ext cx="3162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00" b="1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消えるのは　</a:t>
            </a:r>
            <a:pPr algn="l"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面談メモの清書と転記／同じ情報の二重入力／書類の手打ち／入金消込の目視突合／進捗確認の問い合わせ／紙書類の探索と保管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1500" y="2914650"/>
            <a:ext cx="7200900" cy="2286000"/>
          </a:xfrm>
          <a:prstGeom prst="roundRect">
            <a:avLst>
              <a:gd name="adj" fmla="val 2083"/>
            </a:avLst>
          </a:prstGeom>
          <a:solidFill>
            <a:srgbClr val="F1F2F1"/>
          </a:solidFill>
          <a:ln/>
        </p:spPr>
      </p:sp>
      <p:sp>
        <p:nvSpPr>
          <p:cNvPr id="24" name="Text 22"/>
          <p:cNvSpPr/>
          <p:nvPr/>
        </p:nvSpPr>
        <p:spPr>
          <a:xfrm>
            <a:off x="4610100" y="30861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社労士業務では、こう使えます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10100" y="3314700"/>
            <a:ext cx="6743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左＝相続業務での実装（稼働中）　→　右＝社労士業務での応用イメージ（ご提案）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10100" y="3543300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案件＝相続手続き1件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81850" y="3543300"/>
            <a:ext cx="190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91400" y="3543300"/>
            <a:ext cx="3962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顧問先ごとの手続き（入退社・算定基礎・年度更新・就業規則改定・助成金申請）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0100" y="3867150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面談メモの手書き→AI反映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81850" y="3867150"/>
            <a:ext cx="190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91400" y="3867150"/>
            <a:ext cx="3962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顧問先訪問・労務相談のヒアリング。その場のメモをAIが項目化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0100" y="4191000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必要書類の受領管理／期限アラート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81850" y="4191000"/>
            <a:ext cx="190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91400" y="4191000"/>
            <a:ext cx="3962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顧問先からの預かり書類の抜け漏れ防止。法定期限の遅延は色で把握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0100" y="4514850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書類の自動作成（12種）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81850" y="4514850"/>
            <a:ext cx="190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91400" y="4514850"/>
            <a:ext cx="3962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36協定・雇用契約書・就業規則の変更届・委任状などの差し込み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10100" y="4838700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請求パターン＋入金のCSV突合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81850" y="4838700"/>
            <a:ext cx="190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91400" y="4838700"/>
            <a:ext cx="3962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顧問料（月額）＋スポット報酬の請求と、入金消込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9600" y="5391150"/>
            <a:ext cx="1097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規模感：業務用のデータの入れ物 約70種／稼働環境 Azure（東京）／AIは Claude を利用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9600" y="655320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CONGEN Inc.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430000" y="6553200"/>
            <a:ext cx="152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80" kern="0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AVATAR &amp; WEB /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62865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聞きにくいことを、聞ける相手をつくる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047750"/>
            <a:ext cx="10972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開発のAIアバターを、事務所オリジナルのキャラクターで。ブラウザで動作し、専用アプリは不要。発話を感情分析し、表情と声で反応します。人には聞きにくい労務の悩みほど、相手がアバターだと聞けます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9600" y="1524000"/>
            <a:ext cx="3556000" cy="1866900"/>
          </a:xfrm>
          <a:prstGeom prst="roundRect">
            <a:avLst>
              <a:gd name="adj" fmla="val 2041"/>
            </a:avLst>
          </a:prstGeom>
          <a:solidFill>
            <a:srgbClr val="F1F2F1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" y="169545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0100" y="19431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顧問先の従業員向け 相談窓口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0100" y="2400300"/>
            <a:ext cx="317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労務の悩みを、匿名でチャット相談。上司や担当者に直接は聞きにくい話題の受け皿になり、相談は整理して社労士へつなぎます。顧問先への提供商材になります。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18000" y="1524000"/>
            <a:ext cx="3556000" cy="1866900"/>
          </a:xfrm>
          <a:prstGeom prst="roundRect">
            <a:avLst>
              <a:gd name="adj" fmla="val 2041"/>
            </a:avLst>
          </a:prstGeom>
          <a:solidFill>
            <a:srgbClr val="F1F2F1"/>
          </a:solidFill>
          <a:ln/>
        </p:spPr>
      </p:sp>
      <p:sp>
        <p:nvSpPr>
          <p:cNvPr id="10" name="Text 8"/>
          <p:cNvSpPr/>
          <p:nvPr/>
        </p:nvSpPr>
        <p:spPr>
          <a:xfrm>
            <a:off x="4508500" y="169545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08500" y="19431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手続き・よくある質問の一次対応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08500" y="2400300"/>
            <a:ext cx="317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「この手続きに何が必要？」のような定型の質問はアバターが引き受け、職員は判断が要る相談に集中できます。事務所の受付チャットとしても使えます。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26400" y="1524000"/>
            <a:ext cx="3556000" cy="1866900"/>
          </a:xfrm>
          <a:prstGeom prst="roundRect">
            <a:avLst>
              <a:gd name="adj" fmla="val 2041"/>
            </a:avLst>
          </a:prstGeom>
          <a:solidFill>
            <a:srgbClr val="F1F2F1"/>
          </a:solidFill>
          <a:ln/>
        </p:spPr>
      </p:sp>
      <p:sp>
        <p:nvSpPr>
          <p:cNvPr id="14" name="Text 12"/>
          <p:cNvSpPr/>
          <p:nvPr/>
        </p:nvSpPr>
        <p:spPr>
          <a:xfrm>
            <a:off x="8216900" y="169545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16900" y="19431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ブランドに合うオリジナルキャラクター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16900" y="2400300"/>
            <a:ext cx="317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事務所の雰囲気に合わせたキャラクターを制作から実装まで自社対応。短期間・低コストで、事務所の「顔」になる相談相手を用意できます。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9600" y="3543300"/>
            <a:ext cx="1097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AIアバターが判断・助言を確定することはありません。一次対応と案内・整理に限定し、個別の判断は社労士におつなぎする設計です。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9600" y="3924300"/>
            <a:ext cx="10972800" cy="1676400"/>
          </a:xfrm>
          <a:prstGeom prst="roundRect">
            <a:avLst>
              <a:gd name="adj" fmla="val 2841"/>
            </a:avLst>
          </a:prstGeom>
          <a:solidFill>
            <a:srgbClr val="23272C"/>
          </a:solidFill>
          <a:ln/>
        </p:spPr>
      </p:sp>
      <p:sp>
        <p:nvSpPr>
          <p:cNvPr id="19" name="Text 17"/>
          <p:cNvSpPr/>
          <p:nvPr/>
        </p:nvSpPr>
        <p:spPr>
          <a:xfrm>
            <a:off x="876300" y="413385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あわせて：ホームページの作成・更新も、AIで効率化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6300" y="4457700"/>
            <a:ext cx="3378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制作・リニューアル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6300" y="4686300"/>
            <a:ext cx="3378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事務所ホームページの新規制作・作り直しをAIで速く。アバター相談窓口をHPに載せることもできます。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6900" y="4457700"/>
            <a:ext cx="3378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日々の更新を止めない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06900" y="4686300"/>
            <a:ext cx="3378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お知らせ・コラム・制度改正の解説記事の下書きをAIが作成。確認して載せるだけにして、発信を続けられます。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37500" y="4457700"/>
            <a:ext cx="3378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採用・顧問先獲得の入口に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37500" y="4686300"/>
            <a:ext cx="3378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更新が続くHPは、採用応募や顧問先からの相談の入口になります。内容の相談から一緒にやります。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9600" y="655320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CONGEN Inc.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53200"/>
            <a:ext cx="152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80" kern="0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ABOUT US /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4295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AIの精鋭集団でありながら、現場に寄り添うチーム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1620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技術を納めて終わりにせず、現場の言葉と業務の流れに入り込んで一緒に作る。その進め方を、お客様に評価いただいています。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171450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52600" y="1695450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株式会社CONGEN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600" y="2095500"/>
            <a:ext cx="4762500" cy="9525"/>
          </a:xfrm>
          <a:prstGeom prst="rect">
            <a:avLst/>
          </a:prstGeom>
          <a:solidFill>
            <a:srgbClr val="434A52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224790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52600" y="2228850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福島 優（Fukushima Suguru）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600" y="2628900"/>
            <a:ext cx="4762500" cy="9525"/>
          </a:xfrm>
          <a:prstGeom prst="rect">
            <a:avLst/>
          </a:prstGeom>
          <a:solidFill>
            <a:srgbClr val="434A52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" y="278130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52600" y="2762250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2024年12月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600" y="3162300"/>
            <a:ext cx="4762500" cy="9525"/>
          </a:xfrm>
          <a:prstGeom prst="rect">
            <a:avLst/>
          </a:prstGeom>
          <a:solidFill>
            <a:srgbClr val="434A52"/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" y="331470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52600" y="3295650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AIソリューション開発／AIアバター事業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600" y="3695700"/>
            <a:ext cx="4762500" cy="9525"/>
          </a:xfrm>
          <a:prstGeom prst="rect">
            <a:avLst/>
          </a:prstGeom>
          <a:solidFill>
            <a:srgbClr val="434A52"/>
          </a:solidFill>
          <a:ln/>
        </p:spPr>
      </p:sp>
      <p:sp>
        <p:nvSpPr>
          <p:cNvPr id="17" name="Text 15"/>
          <p:cNvSpPr/>
          <p:nvPr/>
        </p:nvSpPr>
        <p:spPr>
          <a:xfrm>
            <a:off x="609600" y="384810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52600" y="3829050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企業課題を解くAIを自社開発・実装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600" y="4229100"/>
            <a:ext cx="4762500" cy="9525"/>
          </a:xfrm>
          <a:prstGeom prst="rect">
            <a:avLst/>
          </a:prstGeom>
          <a:solidFill>
            <a:srgbClr val="434A52"/>
          </a:solidFill>
          <a:ln/>
        </p:spPr>
      </p:sp>
      <p:sp>
        <p:nvSpPr>
          <p:cNvPr id="20" name="Shape 18"/>
          <p:cNvSpPr/>
          <p:nvPr/>
        </p:nvSpPr>
        <p:spPr>
          <a:xfrm>
            <a:off x="5829300" y="1638300"/>
            <a:ext cx="5753100" cy="800100"/>
          </a:xfrm>
          <a:prstGeom prst="roundRect">
            <a:avLst>
              <a:gd name="adj" fmla="val 5952"/>
            </a:avLst>
          </a:prstGeom>
          <a:solidFill>
            <a:srgbClr val="2E343B"/>
          </a:solidFill>
          <a:ln/>
        </p:spPr>
      </p:sp>
      <p:sp>
        <p:nvSpPr>
          <p:cNvPr id="21" name="Text 19"/>
          <p:cNvSpPr/>
          <p:nvPr/>
        </p:nvSpPr>
        <p:spPr>
          <a:xfrm>
            <a:off x="6038850" y="177165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b="1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自社開発力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38850" y="2000250"/>
            <a:ext cx="5334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訪問介護・診療・士業の面談等で使える新AIソリューションを自社開発。用途に合わせて素早く実装します。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29300" y="2533650"/>
            <a:ext cx="5753100" cy="800100"/>
          </a:xfrm>
          <a:prstGeom prst="roundRect">
            <a:avLst>
              <a:gd name="adj" fmla="val 5952"/>
            </a:avLst>
          </a:prstGeom>
          <a:solidFill>
            <a:srgbClr val="2E343B"/>
          </a:solidFill>
          <a:ln/>
        </p:spPr>
      </p:sp>
      <p:sp>
        <p:nvSpPr>
          <p:cNvPr id="24" name="Text 22"/>
          <p:cNvSpPr/>
          <p:nvPr/>
        </p:nvSpPr>
        <p:spPr>
          <a:xfrm>
            <a:off x="6038850" y="26670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b="1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AIアバター事業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38850" y="2895600"/>
            <a:ext cx="5334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ブランドに合うキャラクターを低コスト×短時間で開発。行動を促す独自設計を持っています。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29300" y="3429000"/>
            <a:ext cx="5753100" cy="800100"/>
          </a:xfrm>
          <a:prstGeom prst="roundRect">
            <a:avLst>
              <a:gd name="adj" fmla="val 5952"/>
            </a:avLst>
          </a:prstGeom>
          <a:solidFill>
            <a:srgbClr val="2E343B"/>
          </a:solidFill>
          <a:ln/>
        </p:spPr>
      </p:sp>
      <p:sp>
        <p:nvSpPr>
          <p:cNvPr id="27" name="Text 25"/>
          <p:cNvSpPr/>
          <p:nvPr/>
        </p:nvSpPr>
        <p:spPr>
          <a:xfrm>
            <a:off x="6038850" y="356235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b="1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実装実績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38850" y="3790950"/>
            <a:ext cx="5334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大手リース会社・京セラ等との取引実績。京都市の課題解決にもAIを活用。相続実務会社の業務管理システムを内製・稼働中。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9600" y="4762500"/>
            <a:ext cx="10972800" cy="609600"/>
          </a:xfrm>
          <a:prstGeom prst="roundRect">
            <a:avLst>
              <a:gd name="adj" fmla="val 7813"/>
            </a:avLst>
          </a:prstGeom>
          <a:solidFill>
            <a:srgbClr val="2E343B"/>
          </a:solidFill>
          <a:ln/>
        </p:spPr>
      </p:sp>
      <p:sp>
        <p:nvSpPr>
          <p:cNvPr id="30" name="Text 28"/>
          <p:cNvSpPr/>
          <p:nvPr/>
        </p:nvSpPr>
        <p:spPr>
          <a:xfrm>
            <a:off x="876300" y="4762500"/>
            <a:ext cx="10439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創業2か月でIBMスタートアップアクセラ採択　／　IVS登壇・京セラ賞受賞　／　京都市補助金採択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09600" y="5619750"/>
            <a:ext cx="1097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まずは、業務を見せてください。実務の手順をうかがい、AIで置き換えられる候補を並べ、効果の大きいところから小さく始めます。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9600" y="5905500"/>
            <a:ext cx="1097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 CONGEN　／　AIソリューション開発・AIアバター事業　／　2026年8月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2026-08-28T14:49:47Z</dcterms:created>
  <dcterms:modified xsi:type="dcterms:W3CDTF">2026-08-28T14:49:47Z</dcterms:modified>
</cp:coreProperties>
</file>